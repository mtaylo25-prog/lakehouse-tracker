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3.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4.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5.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6.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7.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7870eb0-c073-6d01-3fb7-32011dc73542}">
          <p14:sldIdLst>
            <p14:sldId id="256"/>
            <p14:sldId id="257"/>
            <p14:sldId id="258"/>
          </p14:sldIdLst>
        </p14:section>
        <p14:section name="Market and why fiber" id="{81682df2-8db5-727d-d7d0-7a675ade0b48}">
          <p14:sldIdLst>
            <p14:sldId id="259"/>
            <p14:sldId id="260"/>
            <p14:sldId id="261"/>
            <p14:sldId id="262"/>
          </p14:sldIdLst>
        </p14:section>
        <p14:section name="Product" id="{e4411bb8-e16f-e11e-f471-5d42d2cbd8f1}">
          <p14:sldIdLst>
            <p14:sldId id="263"/>
            <p14:sldId id="264"/>
            <p14:sldId id="265"/>
            <p14:sldId id="266"/>
          </p14:sldIdLst>
        </p14:section>
        <p14:section name="Structure and compliance" id="{2c551c77-eab0-42b9-9a21-e956bd654776}">
          <p14:sldIdLst>
            <p14:sldId id="267"/>
            <p14:sldId id="268"/>
            <p14:sldId id="269"/>
            <p14:sldId id="270"/>
            <p14:sldId id="271"/>
          </p14:sldIdLst>
        </p14:section>
        <p14:section name="Launch" id="{8262a98a-80be-a20c-c186-b22c6e441696}">
          <p14:sldIdLst>
            <p14:sldId id="272"/>
            <p14:sldId id="273"/>
            <p14:sldId id="274"/>
          </p14:sldIdLst>
        </p14:section>
        <p14:section name="Economics" id="{3e46fb9a-f46b-f275-df31-b818a66f4616}">
          <p14:sldIdLst>
            <p14:sldId id="275"/>
            <p14:sldId id="276"/>
            <p14:sldId id="277"/>
            <p14:sldId id="278"/>
            <p14:sldId id="279"/>
            <p14:sldId id="280"/>
            <p14:sldId id="281"/>
            <p14:sldId id="282"/>
            <p14:sldId id="283"/>
            <p14:sldId id="284"/>
            <p14:sldId id="285"/>
            <p14:sldId id="286"/>
            <p14:sldId id="287"/>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stacked"/>
        <c:varyColors val="0"/>
        <c:ser>
          <c:idx val="0"/>
          <c:order val="0"/>
          <c:tx>
            <c:strRef>
              <c:f>Sheet1!$B$1</c:f>
              <c:strCache>
                <c:ptCount val="1"/>
                <c:pt idx="0">
                  <c:v>base</c:v>
                </c:pt>
              </c:strCache>
            </c:strRef>
          </c:tx>
          <c:spPr>
            <a:noFill/>
            <a:effectLst/>
          </c:spPr>
          <c:invertIfNegative val="0"/>
          <c:dLbls>
            <c:delete val="1"/>
          </c:dLbls>
          <c:cat>
            <c:multiLvlStrRef>
              <c:f>Sheet1!$A$2:$A$6</c:f>
              <c:multiLvlStrCache>
                <c:ptCount val="5"/>
                <c:lvl>
                  <c:pt idx="0">
                    <c:v>Copper 순이익</c:v>
                  </c:pt>
                  <c:pt idx="1">
                    <c:v>Fiber 판정 상승분</c:v>
                  </c:pt>
                  <c:pt idx="2">
                    <c:v>Fiber 순이익</c:v>
                  </c:pt>
                  <c:pt idx="3">
                    <c:v>Stress 감소분</c:v>
                  </c:pt>
                  <c:pt idx="4">
                    <c:v>Stress 순이익</c:v>
                  </c:pt>
                </c:lvl>
              </c:multiLvlStrCache>
            </c:multiLvlStrRef>
          </c:cat>
          <c:val>
            <c:numRef>
              <c:f>Sheet1!$B$2:$B$6</c:f>
              <c:numCache>
                <c:formatCode>General</c:formatCode>
                <c:ptCount val="5"/>
                <c:pt idx="0">
                  <c:v>0</c:v>
                </c:pt>
                <c:pt idx="1">
                  <c:v>7.997</c:v>
                </c:pt>
                <c:pt idx="2">
                  <c:v>0</c:v>
                </c:pt>
                <c:pt idx="3">
                  <c:v>7.25906993006993</c:v>
                </c:pt>
                <c:pt idx="4">
                  <c:v>0</c:v>
                </c:pt>
              </c:numCache>
            </c:numRef>
          </c:val>
        </c:ser>
        <c:ser>
          <c:idx val="1"/>
          <c:order val="1"/>
          <c:tx>
            <c:strRef>
              <c:f>Sheet1!$C$1</c:f>
              <c:strCache>
                <c:ptCount val="1"/>
                <c:pt idx="0">
                  <c:v>net</c:v>
                </c:pt>
              </c:strCache>
            </c:strRef>
          </c:tx>
          <c:spPr>
            <a:solidFill>
              <a:srgbClr val="2DE2FF"/>
            </a:solidFill>
            <a:effectLst/>
          </c:spPr>
          <c:invertIfNegative val="0"/>
          <c:dLbls>
            <c:numFmt formatCode="$0.00;($0.00);" sourceLinked="0"/>
            <c:txPr>
              <a:bodyPr/>
              <a:lstStyle/>
              <a:p>
                <a:pPr>
                  <a:defRPr b="1" i="0" strike="noStrike" sz="1000" u="none">
                    <a:solidFill>
                      <a:srgbClr val="0A0F1E"/>
                    </a:solidFill>
                    <a:latin typeface="Noto Sans KR"/>
                    <a:ea typeface="Noto Sans KR"/>
                  </a:defRPr>
                </a:pPr>
              </a:p>
            </c:txPr>
            <c:dLblPos val="ctr"/>
            <c:showLegendKey val="0"/>
            <c:showVal val="1"/>
            <c:showCatName val="0"/>
            <c:showSerName val="0"/>
            <c:showPercent val="0"/>
            <c:showBubbleSize val="0"/>
            <c:showLeaderLines val="0"/>
          </c:dLbls>
          <c:cat>
            <c:multiLvlStrRef>
              <c:f>Sheet1!$A$2:$A$6</c:f>
              <c:multiLvlStrCache>
                <c:ptCount val="5"/>
                <c:lvl>
                  <c:pt idx="0">
                    <c:v>Copper 순이익</c:v>
                  </c:pt>
                  <c:pt idx="1">
                    <c:v>Fiber 판정 상승분</c:v>
                  </c:pt>
                  <c:pt idx="2">
                    <c:v>Fiber 순이익</c:v>
                  </c:pt>
                  <c:pt idx="3">
                    <c:v>Stress 감소분</c:v>
                  </c:pt>
                  <c:pt idx="4">
                    <c:v>Stress 순이익</c:v>
                  </c:pt>
                </c:lvl>
              </c:multiLvlStrCache>
            </c:multiLvlStrRef>
          </c:cat>
          <c:val>
            <c:numRef>
              <c:f>Sheet1!$C$2:$C$6</c:f>
              <c:numCache>
                <c:formatCode>General</c:formatCode>
                <c:ptCount val="5"/>
                <c:pt idx="0">
                  <c:v>7.997</c:v>
                </c:pt>
                <c:pt idx="1">
                  <c:v>0</c:v>
                </c:pt>
                <c:pt idx="2">
                  <c:v>10.033686993007</c:v>
                </c:pt>
                <c:pt idx="3">
                  <c:v>0</c:v>
                </c:pt>
                <c:pt idx="4">
                  <c:v>7.25906993006993</c:v>
                </c:pt>
              </c:numCache>
            </c:numRef>
          </c:val>
        </c:ser>
        <c:ser>
          <c:idx val="2"/>
          <c:order val="2"/>
          <c:tx>
            <c:strRef>
              <c:f>Sheet1!$D$1</c:f>
              <c:strCache>
                <c:ptCount val="1"/>
                <c:pt idx="0">
                  <c:v>uplift</c:v>
                </c:pt>
              </c:strCache>
            </c:strRef>
          </c:tx>
          <c:spPr>
            <a:solidFill>
              <a:srgbClr val="3DDC97"/>
            </a:solidFill>
            <a:effectLst/>
          </c:spPr>
          <c:invertIfNegative val="0"/>
          <c:dLbls>
            <c:numFmt formatCode="$0.00;($0.00);" sourceLinked="0"/>
            <c:txPr>
              <a:bodyPr/>
              <a:lstStyle/>
              <a:p>
                <a:pPr>
                  <a:defRPr b="1" i="0" strike="noStrike" sz="1000" u="none">
                    <a:solidFill>
                      <a:srgbClr val="0A0F1E"/>
                    </a:solidFill>
                    <a:latin typeface="Noto Sans KR"/>
                    <a:ea typeface="Noto Sans KR"/>
                  </a:defRPr>
                </a:pPr>
              </a:p>
            </c:txPr>
            <c:dLblPos val="ctr"/>
            <c:showLegendKey val="0"/>
            <c:showVal val="1"/>
            <c:showCatName val="0"/>
            <c:showSerName val="0"/>
            <c:showPercent val="0"/>
            <c:showBubbleSize val="0"/>
            <c:showLeaderLines val="0"/>
          </c:dLbls>
          <c:cat>
            <c:multiLvlStrRef>
              <c:f>Sheet1!$A$2:$A$6</c:f>
              <c:multiLvlStrCache>
                <c:ptCount val="5"/>
                <c:lvl>
                  <c:pt idx="0">
                    <c:v>Copper 순이익</c:v>
                  </c:pt>
                  <c:pt idx="1">
                    <c:v>Fiber 판정 상승분</c:v>
                  </c:pt>
                  <c:pt idx="2">
                    <c:v>Fiber 순이익</c:v>
                  </c:pt>
                  <c:pt idx="3">
                    <c:v>Stress 감소분</c:v>
                  </c:pt>
                  <c:pt idx="4">
                    <c:v>Stress 순이익</c:v>
                  </c:pt>
                </c:lvl>
              </c:multiLvlStrCache>
            </c:multiLvlStrRef>
          </c:cat>
          <c:val>
            <c:numRef>
              <c:f>Sheet1!$D$2:$D$6</c:f>
              <c:numCache>
                <c:formatCode>General</c:formatCode>
                <c:ptCount val="5"/>
                <c:pt idx="0">
                  <c:v>0</c:v>
                </c:pt>
                <c:pt idx="1">
                  <c:v>2.036686993007</c:v>
                </c:pt>
                <c:pt idx="2">
                  <c:v>0</c:v>
                </c:pt>
                <c:pt idx="3">
                  <c:v>0</c:v>
                </c:pt>
                <c:pt idx="4">
                  <c:v>0</c:v>
                </c:pt>
              </c:numCache>
            </c:numRef>
          </c:val>
        </c:ser>
        <c:ser>
          <c:idx val="3"/>
          <c:order val="3"/>
          <c:tx>
            <c:strRef>
              <c:f>Sheet1!$E$1</c:f>
              <c:strCache>
                <c:ptCount val="1"/>
                <c:pt idx="0">
                  <c:v>penalty</c:v>
                </c:pt>
              </c:strCache>
            </c:strRef>
          </c:tx>
          <c:spPr>
            <a:solidFill>
              <a:srgbClr val="FFB547"/>
            </a:solidFill>
            <a:effectLst/>
          </c:spPr>
          <c:invertIfNegative val="0"/>
          <c:dLbls>
            <c:numFmt formatCode="$0.00;($0.00);" sourceLinked="0"/>
            <c:txPr>
              <a:bodyPr/>
              <a:lstStyle/>
              <a:p>
                <a:pPr>
                  <a:defRPr b="1" i="0" strike="noStrike" sz="1000" u="none">
                    <a:solidFill>
                      <a:srgbClr val="0A0F1E"/>
                    </a:solidFill>
                    <a:latin typeface="Noto Sans KR"/>
                    <a:ea typeface="Noto Sans KR"/>
                  </a:defRPr>
                </a:pPr>
              </a:p>
            </c:txPr>
            <c:dLblPos val="ctr"/>
            <c:showLegendKey val="0"/>
            <c:showVal val="1"/>
            <c:showCatName val="0"/>
            <c:showSerName val="0"/>
            <c:showPercent val="0"/>
            <c:showBubbleSize val="0"/>
            <c:showLeaderLines val="0"/>
          </c:dLbls>
          <c:cat>
            <c:multiLvlStrRef>
              <c:f>Sheet1!$A$2:$A$6</c:f>
              <c:multiLvlStrCache>
                <c:ptCount val="5"/>
                <c:lvl>
                  <c:pt idx="0">
                    <c:v>Copper 순이익</c:v>
                  </c:pt>
                  <c:pt idx="1">
                    <c:v>Fiber 판정 상승분</c:v>
                  </c:pt>
                  <c:pt idx="2">
                    <c:v>Fiber 순이익</c:v>
                  </c:pt>
                  <c:pt idx="3">
                    <c:v>Stress 감소분</c:v>
                  </c:pt>
                  <c:pt idx="4">
                    <c:v>Stress 순이익</c:v>
                  </c:pt>
                </c:lvl>
              </c:multiLvlStrCache>
            </c:multiLvlStrRef>
          </c:cat>
          <c:val>
            <c:numRef>
              <c:f>Sheet1!$E$2:$E$6</c:f>
              <c:numCache>
                <c:formatCode>General</c:formatCode>
                <c:ptCount val="5"/>
                <c:pt idx="0">
                  <c:v>0</c:v>
                </c:pt>
                <c:pt idx="1">
                  <c:v>0</c:v>
                </c:pt>
                <c:pt idx="2">
                  <c:v>0</c:v>
                </c:pt>
                <c:pt idx="3">
                  <c:v>0.737930069930069</c:v>
                </c:pt>
                <c:pt idx="4">
                  <c:v>0</c:v>
                </c:pt>
              </c:numCache>
            </c:numRef>
          </c:val>
        </c:ser>
        <c:dLbls>
          <c:numFmt formatCode="$0.00;($0.00);" sourceLinked="0"/>
          <c:txPr>
            <a:bodyPr/>
            <a:lstStyle/>
            <a:p>
              <a:pPr>
                <a:defRPr b="1" i="0" strike="noStrike" sz="1000" u="none">
                  <a:solidFill>
                    <a:srgbClr val="0A0F1E"/>
                  </a:solidFill>
                  <a:latin typeface="Noto Sans KR"/>
                  <a:ea typeface="Noto Sans KR"/>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A5C4"/>
                </a:solidFill>
                <a:latin typeface="Noto Sans KR"/>
                <a:ea typeface="Noto Sans KR"/>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6350" cap="flat">
              <a:solidFill>
                <a:srgbClr val="26304F"/>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9AA5C4"/>
                </a:solidFill>
                <a:latin typeface="Noto Sans KR"/>
                <a:ea typeface="Noto Sans KR"/>
              </a:defRPr>
            </a:pPr>
            <a:endParaRPr lang="en-US"/>
          </a:p>
        </c:txPr>
        <c:crossAx val="2094734554"/>
        <c:crosses val="autoZero"/>
        <c:crossBetween val="between"/>
        <c:majorUnit val="2"/>
      </c:valAx>
      <c:spPr>
        <a:solidFill>
          <a:srgbClr val="141C36"/>
        </a:solidFill>
        <a:ln>
          <a:noFill/>
        </a:ln>
        <a:effectLst/>
      </c:spPr>
    </c:plotArea>
    <c:plotVisOnly val="1"/>
    <c:dispBlanksAs val="span"/>
  </c:chart>
  <c:spPr>
    <a:solidFill>
      <a:srgbClr val="141C3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stacked"/>
        <c:varyColors val="0"/>
        <c:ser>
          <c:idx val="0"/>
          <c:order val="0"/>
          <c:tx>
            <c:strRef>
              <c:f>Sheet1!$B$1</c:f>
              <c:strCache>
                <c:ptCount val="1"/>
                <c:pt idx="0">
                  <c:v>base</c:v>
                </c:pt>
              </c:strCache>
            </c:strRef>
          </c:tx>
          <c:spPr>
            <a:noFill/>
            <a:effectLst/>
          </c:spPr>
          <c:invertIfNegative val="0"/>
          <c:dLbls>
            <c:delete val="1"/>
          </c:dLbls>
          <c:cat>
            <c:multiLvlStrRef>
              <c:f>Sheet1!$A$2:$A$8</c:f>
              <c:multiLvlStrCache>
                <c:ptCount val="7"/>
                <c:lvl>
                  <c:pt idx="0">
                    <c:v>가격</c:v>
                  </c:pt>
                  <c:pt idx="1">
                    <c:v>착지 원가</c:v>
                  </c:pt>
                  <c:pt idx="2">
                    <c:v>판매 수수료 15%</c:v>
                  </c:pt>
                  <c:pt idx="3">
                    <c:v>FBA 수수료</c:v>
                  </c:pt>
                  <c:pt idx="4">
                    <c:v>광고</c:v>
                  </c:pt>
                  <c:pt idx="5">
                    <c:v>반품과 보관</c:v>
                  </c:pt>
                  <c:pt idx="6">
                    <c:v>순이익</c:v>
                  </c:pt>
                </c:lvl>
              </c:multiLvlStrCache>
            </c:multiLvlStrRef>
          </c:cat>
          <c:val>
            <c:numRef>
              <c:f>Sheet1!$B$2:$B$8</c:f>
              <c:numCache>
                <c:formatCode>General</c:formatCode>
                <c:ptCount val="7"/>
                <c:pt idx="0">
                  <c:v>0</c:v>
                </c:pt>
                <c:pt idx="1">
                  <c:v>27.893800000000002</c:v>
                </c:pt>
                <c:pt idx="2">
                  <c:v>21.145300000000002</c:v>
                </c:pt>
                <c:pt idx="3">
                  <c:v>15.645300000000002</c:v>
                </c:pt>
                <c:pt idx="4">
                  <c:v>10.246500000000003</c:v>
                </c:pt>
                <c:pt idx="5">
                  <c:v>7.997000000000003</c:v>
                </c:pt>
                <c:pt idx="6">
                  <c:v>0</c:v>
                </c:pt>
              </c:numCache>
            </c:numRef>
          </c:val>
        </c:ser>
        <c:ser>
          <c:idx val="1"/>
          <c:order val="1"/>
          <c:tx>
            <c:strRef>
              <c:f>Sheet1!$C$1</c:f>
              <c:strCache>
                <c:ptCount val="1"/>
                <c:pt idx="0">
                  <c:v>price</c:v>
                </c:pt>
              </c:strCache>
            </c:strRef>
          </c:tx>
          <c:spPr>
            <a:solidFill>
              <a:srgbClr val="2DE2FF"/>
            </a:solidFill>
            <a:effectLst/>
          </c:spPr>
          <c:invertIfNegative val="0"/>
          <c:dLbls>
            <c:numFmt formatCode="$0.00;($0.00);" sourceLinked="0"/>
            <c:txPr>
              <a:bodyPr/>
              <a:lstStyle/>
              <a:p>
                <a:pPr>
                  <a:defRPr b="1" i="0" strike="noStrike" sz="1050" u="none">
                    <a:solidFill>
                      <a:srgbClr val="0A0F1E"/>
                    </a:solidFill>
                    <a:latin typeface="Noto Sans KR"/>
                    <a:ea typeface="Noto Sans KR"/>
                  </a:defRPr>
                </a:pPr>
              </a:p>
            </c:txPr>
            <c:dLblPos val="ctr"/>
            <c:showLegendKey val="0"/>
            <c:showVal val="1"/>
            <c:showCatName val="0"/>
            <c:showSerName val="0"/>
            <c:showPercent val="0"/>
            <c:showBubbleSize val="0"/>
            <c:showLeaderLines val="0"/>
          </c:dLbls>
          <c:cat>
            <c:multiLvlStrRef>
              <c:f>Sheet1!$A$2:$A$8</c:f>
              <c:multiLvlStrCache>
                <c:ptCount val="7"/>
                <c:lvl>
                  <c:pt idx="0">
                    <c:v>가격</c:v>
                  </c:pt>
                  <c:pt idx="1">
                    <c:v>착지 원가</c:v>
                  </c:pt>
                  <c:pt idx="2">
                    <c:v>판매 수수료 15%</c:v>
                  </c:pt>
                  <c:pt idx="3">
                    <c:v>FBA 수수료</c:v>
                  </c:pt>
                  <c:pt idx="4">
                    <c:v>광고</c:v>
                  </c:pt>
                  <c:pt idx="5">
                    <c:v>반품과 보관</c:v>
                  </c:pt>
                  <c:pt idx="6">
                    <c:v>순이익</c:v>
                  </c:pt>
                </c:lvl>
              </c:multiLvlStrCache>
            </c:multiLvlStrRef>
          </c:cat>
          <c:val>
            <c:numRef>
              <c:f>Sheet1!$C$2:$C$8</c:f>
              <c:numCache>
                <c:formatCode>General</c:formatCode>
                <c:ptCount val="7"/>
                <c:pt idx="0">
                  <c:v>44.99</c:v>
                </c:pt>
                <c:pt idx="1">
                  <c:v>0</c:v>
                </c:pt>
                <c:pt idx="2">
                  <c:v>0</c:v>
                </c:pt>
                <c:pt idx="3">
                  <c:v>0</c:v>
                </c:pt>
                <c:pt idx="4">
                  <c:v>0</c:v>
                </c:pt>
                <c:pt idx="5">
                  <c:v>0</c:v>
                </c:pt>
                <c:pt idx="6">
                  <c:v>0</c:v>
                </c:pt>
              </c:numCache>
            </c:numRef>
          </c:val>
        </c:ser>
        <c:ser>
          <c:idx val="2"/>
          <c:order val="2"/>
          <c:tx>
            <c:strRef>
              <c:f>Sheet1!$D$1</c:f>
              <c:strCache>
                <c:ptCount val="1"/>
                <c:pt idx="0">
                  <c:v>cost</c:v>
                </c:pt>
              </c:strCache>
            </c:strRef>
          </c:tx>
          <c:spPr>
            <a:solidFill>
              <a:srgbClr val="FFB547"/>
            </a:solidFill>
            <a:effectLst/>
          </c:spPr>
          <c:invertIfNegative val="0"/>
          <c:dLbls>
            <c:numFmt formatCode="$0.00;($0.00);" sourceLinked="0"/>
            <c:txPr>
              <a:bodyPr/>
              <a:lstStyle/>
              <a:p>
                <a:pPr>
                  <a:defRPr b="1" i="0" strike="noStrike" sz="1050" u="none">
                    <a:solidFill>
                      <a:srgbClr val="0A0F1E"/>
                    </a:solidFill>
                    <a:latin typeface="Noto Sans KR"/>
                    <a:ea typeface="Noto Sans KR"/>
                  </a:defRPr>
                </a:pPr>
              </a:p>
            </c:txPr>
            <c:dLblPos val="ctr"/>
            <c:showLegendKey val="0"/>
            <c:showVal val="1"/>
            <c:showCatName val="0"/>
            <c:showSerName val="0"/>
            <c:showPercent val="0"/>
            <c:showBubbleSize val="0"/>
            <c:showLeaderLines val="0"/>
          </c:dLbls>
          <c:cat>
            <c:multiLvlStrRef>
              <c:f>Sheet1!$A$2:$A$8</c:f>
              <c:multiLvlStrCache>
                <c:ptCount val="7"/>
                <c:lvl>
                  <c:pt idx="0">
                    <c:v>가격</c:v>
                  </c:pt>
                  <c:pt idx="1">
                    <c:v>착지 원가</c:v>
                  </c:pt>
                  <c:pt idx="2">
                    <c:v>판매 수수료 15%</c:v>
                  </c:pt>
                  <c:pt idx="3">
                    <c:v>FBA 수수료</c:v>
                  </c:pt>
                  <c:pt idx="4">
                    <c:v>광고</c:v>
                  </c:pt>
                  <c:pt idx="5">
                    <c:v>반품과 보관</c:v>
                  </c:pt>
                  <c:pt idx="6">
                    <c:v>순이익</c:v>
                  </c:pt>
                </c:lvl>
              </c:multiLvlStrCache>
            </c:multiLvlStrRef>
          </c:cat>
          <c:val>
            <c:numRef>
              <c:f>Sheet1!$D$2:$D$8</c:f>
              <c:numCache>
                <c:formatCode>General</c:formatCode>
                <c:ptCount val="7"/>
                <c:pt idx="0">
                  <c:v>0</c:v>
                </c:pt>
                <c:pt idx="1">
                  <c:v>17.0962</c:v>
                </c:pt>
                <c:pt idx="2">
                  <c:v>6.7485</c:v>
                </c:pt>
                <c:pt idx="3">
                  <c:v>5.5</c:v>
                </c:pt>
                <c:pt idx="4">
                  <c:v>5.3988</c:v>
                </c:pt>
                <c:pt idx="5">
                  <c:v>2.2495</c:v>
                </c:pt>
                <c:pt idx="6">
                  <c:v>0</c:v>
                </c:pt>
              </c:numCache>
            </c:numRef>
          </c:val>
        </c:ser>
        <c:ser>
          <c:idx val="3"/>
          <c:order val="3"/>
          <c:tx>
            <c:strRef>
              <c:f>Sheet1!$E$1</c:f>
              <c:strCache>
                <c:ptCount val="1"/>
                <c:pt idx="0">
                  <c:v>net</c:v>
                </c:pt>
              </c:strCache>
            </c:strRef>
          </c:tx>
          <c:spPr>
            <a:solidFill>
              <a:srgbClr val="3DDC97"/>
            </a:solidFill>
            <a:effectLst/>
          </c:spPr>
          <c:invertIfNegative val="0"/>
          <c:dLbls>
            <c:numFmt formatCode="$0.00;($0.00);" sourceLinked="0"/>
            <c:txPr>
              <a:bodyPr/>
              <a:lstStyle/>
              <a:p>
                <a:pPr>
                  <a:defRPr b="1" i="0" strike="noStrike" sz="1050" u="none">
                    <a:solidFill>
                      <a:srgbClr val="0A0F1E"/>
                    </a:solidFill>
                    <a:latin typeface="Noto Sans KR"/>
                    <a:ea typeface="Noto Sans KR"/>
                  </a:defRPr>
                </a:pPr>
              </a:p>
            </c:txPr>
            <c:dLblPos val="ctr"/>
            <c:showLegendKey val="0"/>
            <c:showVal val="1"/>
            <c:showCatName val="0"/>
            <c:showSerName val="0"/>
            <c:showPercent val="0"/>
            <c:showBubbleSize val="0"/>
            <c:showLeaderLines val="0"/>
          </c:dLbls>
          <c:cat>
            <c:multiLvlStrRef>
              <c:f>Sheet1!$A$2:$A$8</c:f>
              <c:multiLvlStrCache>
                <c:ptCount val="7"/>
                <c:lvl>
                  <c:pt idx="0">
                    <c:v>가격</c:v>
                  </c:pt>
                  <c:pt idx="1">
                    <c:v>착지 원가</c:v>
                  </c:pt>
                  <c:pt idx="2">
                    <c:v>판매 수수료 15%</c:v>
                  </c:pt>
                  <c:pt idx="3">
                    <c:v>FBA 수수료</c:v>
                  </c:pt>
                  <c:pt idx="4">
                    <c:v>광고</c:v>
                  </c:pt>
                  <c:pt idx="5">
                    <c:v>반품과 보관</c:v>
                  </c:pt>
                  <c:pt idx="6">
                    <c:v>순이익</c:v>
                  </c:pt>
                </c:lvl>
              </c:multiLvlStrCache>
            </c:multiLvlStrRef>
          </c:cat>
          <c:val>
            <c:numRef>
              <c:f>Sheet1!$E$2:$E$8</c:f>
              <c:numCache>
                <c:formatCode>General</c:formatCode>
                <c:ptCount val="7"/>
                <c:pt idx="0">
                  <c:v>0</c:v>
                </c:pt>
                <c:pt idx="1">
                  <c:v>0</c:v>
                </c:pt>
                <c:pt idx="2">
                  <c:v>0</c:v>
                </c:pt>
                <c:pt idx="3">
                  <c:v>0</c:v>
                </c:pt>
                <c:pt idx="4">
                  <c:v>0</c:v>
                </c:pt>
                <c:pt idx="5">
                  <c:v>0</c:v>
                </c:pt>
                <c:pt idx="6">
                  <c:v>7.997</c:v>
                </c:pt>
              </c:numCache>
            </c:numRef>
          </c:val>
        </c:ser>
        <c:dLbls>
          <c:numFmt formatCode="$0.00;($0.00);" sourceLinked="0"/>
          <c:txPr>
            <a:bodyPr/>
            <a:lstStyle/>
            <a:p>
              <a:pPr>
                <a:defRPr b="1" i="0" strike="noStrike" sz="1050" u="none">
                  <a:solidFill>
                    <a:srgbClr val="0A0F1E"/>
                  </a:solidFill>
                  <a:latin typeface="Noto Sans KR"/>
                  <a:ea typeface="Noto Sans KR"/>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9AA5C4"/>
                </a:solidFill>
                <a:latin typeface="Noto Sans KR"/>
                <a:ea typeface="Noto Sans KR"/>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26304F"/>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9AA5C4"/>
                </a:solidFill>
                <a:latin typeface="Noto Sans KR"/>
                <a:ea typeface="Noto Sans KR"/>
              </a:defRPr>
            </a:pPr>
            <a:endParaRPr lang="en-US"/>
          </a:p>
        </c:txPr>
        <c:crossAx val="2094734554"/>
        <c:crosses val="autoZero"/>
        <c:crossBetween val="between"/>
        <c:majorUnit val="10"/>
      </c:valAx>
      <c:spPr>
        <a:solidFill>
          <a:srgbClr val="141C36"/>
        </a:solidFill>
        <a:ln>
          <a:noFill/>
        </a:ln>
        <a:effectLst/>
      </c:spPr>
    </c:plotArea>
    <c:plotVisOnly val="1"/>
    <c:dispBlanksAs val="span"/>
  </c:chart>
  <c:spPr>
    <a:solidFill>
      <a:srgbClr val="141C36"/>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net</c:v>
                </c:pt>
              </c:strCache>
            </c:strRef>
          </c:tx>
          <c:spPr>
            <a:solidFill>
              <a:srgbClr val="3DDC97"/>
            </a:solidFill>
            <a:effectLst/>
          </c:spPr>
          <c:invertIfNegative val="0"/>
          <c:dLbls>
            <c:numFmt formatCode="$0.00;($0.00)" sourceLinked="0"/>
            <c:txPr>
              <a:bodyPr/>
              <a:lstStyle/>
              <a:p>
                <a:pPr>
                  <a:defRPr b="0" i="0" strike="noStrike" sz="1050" u="none">
                    <a:solidFill>
                      <a:srgbClr val="F3F6FF"/>
                    </a:solidFill>
                    <a:latin typeface="Noto Sans KR"/>
                    <a:ea typeface="Noto Sans KR"/>
                  </a:defRPr>
                </a:pPr>
              </a:p>
            </c:txPr>
            <c:showLegendKey val="0"/>
            <c:showVal val="1"/>
            <c:showCatName val="0"/>
            <c:showSerName val="0"/>
            <c:showPercent val="0"/>
            <c:showBubbleSize val="0"/>
            <c:showLeaderLines val="0"/>
          </c:dLbls>
          <c:dPt>
            <c:idx val="0"/>
            <c:invertIfNegative val="0"/>
            <c:bubble3D val="0"/>
            <c:spPr>
              <a:solidFill>
                <a:srgbClr val="3DDC97"/>
              </a:solidFill>
              <a:effectLst/>
            </c:spPr>
          </c:dPt>
          <c:dPt>
            <c:idx val="1"/>
            <c:invertIfNegative val="0"/>
            <c:bubble3D val="0"/>
            <c:spPr>
              <a:solidFill>
                <a:srgbClr val="2DE2FF"/>
              </a:solidFill>
              <a:effectLst/>
            </c:spPr>
          </c:dPt>
          <c:dPt>
            <c:idx val="2"/>
            <c:invertIfNegative val="0"/>
            <c:bubble3D val="0"/>
            <c:spPr>
              <a:solidFill>
                <a:srgbClr val="FF4FD8"/>
              </a:solidFill>
              <a:effectLst/>
            </c:spPr>
          </c:dPt>
          <c:dPt>
            <c:idx val="3"/>
            <c:invertIfNegative val="0"/>
            <c:bubble3D val="0"/>
            <c:spPr>
              <a:solidFill>
                <a:srgbClr val="FF4FD8"/>
              </a:solidFill>
              <a:effectLst/>
            </c:spPr>
          </c:dPt>
          <c:cat>
            <c:multiLvlStrRef>
              <c:f>Sheet1!$A$2:$A$5</c:f>
              <c:multiLvlStrCache>
                <c:ptCount val="4"/>
                <c:lvl>
                  <c:pt idx="0">
                    <c:v>H2 기준</c:v>
                  </c:pt>
                  <c:pt idx="1">
                    <c:v>8월 모델</c:v>
                  </c:pt>
                  <c:pt idx="2">
                    <c:v>Alibaba 낮음</c:v>
                  </c:pt>
                  <c:pt idx="3">
                    <c:v>Alibaba 높음</c:v>
                  </c:pt>
                </c:lvl>
              </c:multiLvlStrCache>
            </c:multiLvlStrRef>
          </c:cat>
          <c:val>
            <c:numRef>
              <c:f>Sheet1!$B$2:$B$5</c:f>
              <c:numCache>
                <c:formatCode>General</c:formatCode>
                <c:ptCount val="4"/>
                <c:pt idx="0">
                  <c:v>11.8697797202797</c:v>
                </c:pt>
                <c:pt idx="1">
                  <c:v>7.997</c:v>
                </c:pt>
                <c:pt idx="2">
                  <c:v>-1.60882</c:v>
                </c:pt>
                <c:pt idx="3">
                  <c:v>-8.61382</c:v>
                </c:pt>
              </c:numCache>
            </c:numRef>
          </c:val>
        </c:ser>
        <c:dLbls>
          <c:numFmt formatCode="$0.00;($0.00)" sourceLinked="0"/>
          <c:txPr>
            <a:bodyPr/>
            <a:lstStyle/>
            <a:p>
              <a:pPr>
                <a:defRPr b="0" i="0" strike="noStrike" sz="1050" u="none">
                  <a:solidFill>
                    <a:srgbClr val="F3F6FF"/>
                  </a:solidFill>
                  <a:latin typeface="Noto Sans KR"/>
                  <a:ea typeface="Noto Sans KR"/>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9AA5C4"/>
                </a:solidFill>
                <a:latin typeface="Noto Sans KR"/>
                <a:ea typeface="Noto Sans KR"/>
              </a:defRPr>
            </a:pPr>
            <a:endParaRPr lang="en-US"/>
          </a:p>
        </c:txPr>
        <c:crossAx val="2094734552"/>
        <c:crosses val="autoZero"/>
        <c:auto val="1"/>
        <c:lblAlgn val="ctr"/>
        <c:noMultiLvlLbl val="1"/>
      </c:catAx>
      <c:valAx>
        <c:axId val="2094734552"/>
        <c:scaling>
          <c:orientation val="minMax"/>
          <c:max val="15"/>
          <c:min val="-10"/>
        </c:scaling>
        <c:delete val="0"/>
        <c:axPos val="l"/>
        <c:majorGridlines>
          <c:spPr>
            <a:ln w="6350" cap="flat">
              <a:solidFill>
                <a:srgbClr val="26304F"/>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9AA5C4"/>
                </a:solidFill>
                <a:latin typeface="Noto Sans KR"/>
                <a:ea typeface="Noto Sans KR"/>
              </a:defRPr>
            </a:pPr>
            <a:endParaRPr lang="en-US"/>
          </a:p>
        </c:txPr>
        <c:crossAx val="2094734554"/>
        <c:crosses val="autoZero"/>
        <c:crossBetween val="between"/>
        <c:majorUnit val="5"/>
      </c:valAx>
      <c:spPr>
        <a:solidFill>
          <a:srgbClr val="141C36"/>
        </a:solidFill>
        <a:ln>
          <a:noFill/>
        </a:ln>
        <a:effectLst/>
      </c:spPr>
    </c:plotArea>
    <c:plotVisOnly val="1"/>
    <c:dispBlanksAs val="span"/>
  </c:chart>
  <c:spPr>
    <a:solidFill>
      <a:srgbClr val="141C36"/>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Medium 매출</c:v>
                </c:pt>
              </c:strCache>
            </c:strRef>
          </c:tx>
          <c:spPr>
            <a:solidFill>
              <a:srgbClr val="2DE2FF"/>
            </a:solidFill>
            <a:ln w="38100" cap="flat">
              <a:solidFill>
                <a:srgbClr val="2DE2FF"/>
              </a:solidFill>
              <a:prstDash val="solid"/>
              <a:round/>
            </a:ln>
            <a:effectLst/>
          </c:spPr>
          <c:invertIfNegative val="0"/>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marker>
            <c:symbol val="none"/>
            <c:size val="6"/>
            <c:spPr>
              <a:solidFill>
                <a:srgbClr val="2DE2FF"/>
              </a:solidFill>
              <a:ln w="9525" cap="flat">
                <a:solidFill>
                  <a:srgbClr val="2DE2FF"/>
                </a:solidFill>
                <a:prstDash val="solid"/>
                <a:round/>
              </a:ln>
              <a:effectLst/>
            </c:spPr>
          </c:marker>
          <c:cat>
            <c:multiLvlStrRef>
              <c:f>Sheet1!$A$2:$A$19</c:f>
              <c:multiLvlStrCache>
                <c:ptCount val="1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lvl>
              </c:multiLvlStrCache>
            </c:multiLvlStrRef>
          </c:cat>
          <c:val>
            <c:numRef>
              <c:f>Sheet1!$B$2:$B$19</c:f>
              <c:numCache>
                <c:formatCode>General</c:formatCode>
                <c:ptCount val="18"/>
                <c:pt idx="0">
                  <c:v>6300</c:v>
                </c:pt>
                <c:pt idx="1">
                  <c:v>10080</c:v>
                </c:pt>
                <c:pt idx="2">
                  <c:v>15120</c:v>
                </c:pt>
                <c:pt idx="3">
                  <c:v>21000</c:v>
                </c:pt>
                <c:pt idx="4">
                  <c:v>27300</c:v>
                </c:pt>
                <c:pt idx="5">
                  <c:v>34440</c:v>
                </c:pt>
                <c:pt idx="6">
                  <c:v>42000</c:v>
                </c:pt>
                <c:pt idx="7">
                  <c:v>50400</c:v>
                </c:pt>
                <c:pt idx="8">
                  <c:v>58800</c:v>
                </c:pt>
                <c:pt idx="9">
                  <c:v>67200</c:v>
                </c:pt>
                <c:pt idx="10">
                  <c:v>75600</c:v>
                </c:pt>
                <c:pt idx="11">
                  <c:v>86100</c:v>
                </c:pt>
                <c:pt idx="12">
                  <c:v>94500</c:v>
                </c:pt>
                <c:pt idx="13">
                  <c:v>102900</c:v>
                </c:pt>
                <c:pt idx="14">
                  <c:v>109200</c:v>
                </c:pt>
                <c:pt idx="15">
                  <c:v>115500</c:v>
                </c:pt>
                <c:pt idx="16">
                  <c:v>121800</c:v>
                </c:pt>
                <c:pt idx="17">
                  <c:v>128100</c:v>
                </c:pt>
              </c:numCache>
            </c:numRef>
          </c:val>
          <c:smooth val="0"/>
        </c:ser>
        <c:ser>
          <c:idx val="1"/>
          <c:order val="1"/>
          <c:tx>
            <c:strRef>
              <c:f>Sheet1!$C$1</c:f>
              <c:strCache>
                <c:ptCount val="1"/>
                <c:pt idx="0">
                  <c:v>Medium 순이익</c:v>
                </c:pt>
              </c:strCache>
            </c:strRef>
          </c:tx>
          <c:spPr>
            <a:solidFill>
              <a:srgbClr val="3DDC97"/>
            </a:solidFill>
            <a:ln w="38100" cap="flat">
              <a:solidFill>
                <a:srgbClr val="3DDC97"/>
              </a:solidFill>
              <a:prstDash val="solid"/>
              <a:round/>
            </a:ln>
            <a:effectLst/>
          </c:spPr>
          <c:invertIfNegative val="0"/>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marker>
            <c:symbol val="none"/>
            <c:size val="6"/>
            <c:spPr>
              <a:solidFill>
                <a:srgbClr val="3DDC97"/>
              </a:solidFill>
              <a:ln w="9525" cap="flat">
                <a:solidFill>
                  <a:srgbClr val="3DDC97"/>
                </a:solidFill>
                <a:prstDash val="solid"/>
                <a:round/>
              </a:ln>
              <a:effectLst/>
            </c:spPr>
          </c:marker>
          <c:cat>
            <c:multiLvlStrRef>
              <c:f>Sheet1!$A$2:$A$19</c:f>
              <c:multiLvlStrCache>
                <c:ptCount val="1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lvl>
              </c:multiLvlStrCache>
            </c:multiLvlStrRef>
          </c:cat>
          <c:val>
            <c:numRef>
              <c:f>Sheet1!$C$2:$C$19</c:f>
              <c:numCache>
                <c:formatCode>General</c:formatCode>
                <c:ptCount val="18"/>
                <c:pt idx="0">
                  <c:v>-10458.99</c:v>
                </c:pt>
                <c:pt idx="1">
                  <c:v>-1000.39</c:v>
                </c:pt>
                <c:pt idx="2">
                  <c:v>-1055.59</c:v>
                </c:pt>
                <c:pt idx="3">
                  <c:v>560.01</c:v>
                </c:pt>
                <c:pt idx="4">
                  <c:v>995.01</c:v>
                </c:pt>
                <c:pt idx="5">
                  <c:v>1488.01</c:v>
                </c:pt>
                <c:pt idx="6">
                  <c:v>4950.01</c:v>
                </c:pt>
                <c:pt idx="7">
                  <c:v>6118.01</c:v>
                </c:pt>
                <c:pt idx="8">
                  <c:v>7286.01</c:v>
                </c:pt>
                <c:pt idx="9">
                  <c:v>8454.01</c:v>
                </c:pt>
                <c:pt idx="10">
                  <c:v>9622.01</c:v>
                </c:pt>
                <c:pt idx="11">
                  <c:v>11082.01</c:v>
                </c:pt>
                <c:pt idx="12">
                  <c:v>16030.01</c:v>
                </c:pt>
                <c:pt idx="13">
                  <c:v>17534.01</c:v>
                </c:pt>
                <c:pt idx="14">
                  <c:v>18662.01</c:v>
                </c:pt>
                <c:pt idx="15">
                  <c:v>19790.01</c:v>
                </c:pt>
                <c:pt idx="16">
                  <c:v>20918.01</c:v>
                </c:pt>
                <c:pt idx="17">
                  <c:v>22046.01</c:v>
                </c:pt>
              </c:numCache>
            </c:numRef>
          </c:val>
          <c:smooth val="0"/>
        </c:ser>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Low 매출</c:v>
                </c:pt>
              </c:strCache>
            </c:strRef>
          </c:tx>
          <c:spPr>
            <a:solidFill>
              <a:srgbClr val="FFB547"/>
            </a:solidFill>
            <a:ln w="15875" cap="flat">
              <a:solidFill>
                <a:srgbClr val="FFB547"/>
              </a:solidFill>
              <a:prstDash val="solid"/>
              <a:round/>
            </a:ln>
            <a:effectLst/>
          </c:spPr>
          <c:invertIfNegative val="0"/>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marker>
            <c:symbol val="none"/>
            <c:size val="6"/>
            <c:spPr>
              <a:solidFill>
                <a:srgbClr val="FFB547"/>
              </a:solidFill>
              <a:ln w="9525" cap="flat">
                <a:solidFill>
                  <a:srgbClr val="FFB547"/>
                </a:solidFill>
                <a:prstDash val="solid"/>
                <a:round/>
              </a:ln>
              <a:effectLst/>
            </c:spPr>
          </c:marker>
          <c:cat>
            <c:multiLvlStrRef>
              <c:f>Sheet1!$A$2:$A$19</c:f>
              <c:multiLvlStrCache>
                <c:ptCount val="1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lvl>
              </c:multiLvlStrCache>
            </c:multiLvlStrRef>
          </c:cat>
          <c:val>
            <c:numRef>
              <c:f>Sheet1!$D$2:$D$19</c:f>
              <c:numCache>
                <c:formatCode>General</c:formatCode>
                <c:ptCount val="18"/>
                <c:pt idx="0">
                  <c:v>3420</c:v>
                </c:pt>
                <c:pt idx="1">
                  <c:v>5472</c:v>
                </c:pt>
                <c:pt idx="2">
                  <c:v>8208</c:v>
                </c:pt>
                <c:pt idx="3">
                  <c:v>11400</c:v>
                </c:pt>
                <c:pt idx="4">
                  <c:v>14820</c:v>
                </c:pt>
                <c:pt idx="5">
                  <c:v>18696</c:v>
                </c:pt>
                <c:pt idx="6">
                  <c:v>22800</c:v>
                </c:pt>
                <c:pt idx="7">
                  <c:v>27360</c:v>
                </c:pt>
                <c:pt idx="8">
                  <c:v>31920</c:v>
                </c:pt>
                <c:pt idx="9">
                  <c:v>36480</c:v>
                </c:pt>
                <c:pt idx="10">
                  <c:v>41040</c:v>
                </c:pt>
                <c:pt idx="11">
                  <c:v>46740</c:v>
                </c:pt>
                <c:pt idx="12">
                  <c:v>51300</c:v>
                </c:pt>
                <c:pt idx="13">
                  <c:v>55860</c:v>
                </c:pt>
                <c:pt idx="14">
                  <c:v>59280</c:v>
                </c:pt>
                <c:pt idx="15">
                  <c:v>62700</c:v>
                </c:pt>
                <c:pt idx="16">
                  <c:v>66120</c:v>
                </c:pt>
                <c:pt idx="17">
                  <c:v>69540</c:v>
                </c:pt>
              </c:numCache>
            </c:numRef>
          </c:val>
          <c:smooth val="0"/>
        </c:ser>
        <c:ser>
          <c:idx val="3"/>
          <c:order val="3"/>
          <c:tx>
            <c:strRef>
              <c:f>Sheet1!$E$1</c:f>
              <c:strCache>
                <c:ptCount val="1"/>
                <c:pt idx="0">
                  <c:v>High 매출</c:v>
                </c:pt>
              </c:strCache>
            </c:strRef>
          </c:tx>
          <c:spPr>
            <a:solidFill>
              <a:srgbClr val="8B5CF6"/>
            </a:solidFill>
            <a:ln w="15875" cap="flat">
              <a:solidFill>
                <a:srgbClr val="8B5CF6"/>
              </a:solidFill>
              <a:prstDash val="solid"/>
              <a:round/>
            </a:ln>
            <a:effectLst/>
          </c:spPr>
          <c:invertIfNegative val="0"/>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marker>
            <c:symbol val="none"/>
            <c:size val="6"/>
            <c:spPr>
              <a:solidFill>
                <a:srgbClr val="FFB547"/>
              </a:solidFill>
              <a:ln w="9525" cap="flat">
                <a:solidFill>
                  <a:srgbClr val="8B5CF6"/>
                </a:solidFill>
                <a:prstDash val="solid"/>
                <a:round/>
              </a:ln>
              <a:effectLst/>
            </c:spPr>
          </c:marker>
          <c:cat>
            <c:multiLvlStrRef>
              <c:f>Sheet1!$A$2:$A$19</c:f>
              <c:multiLvlStrCache>
                <c:ptCount val="1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lvl>
              </c:multiLvlStrCache>
            </c:multiLvlStrRef>
          </c:cat>
          <c:val>
            <c:numRef>
              <c:f>Sheet1!$E$2:$E$19</c:f>
              <c:numCache>
                <c:formatCode>General</c:formatCode>
                <c:ptCount val="18"/>
                <c:pt idx="0">
                  <c:v>10019</c:v>
                </c:pt>
                <c:pt idx="1">
                  <c:v>15996</c:v>
                </c:pt>
                <c:pt idx="2">
                  <c:v>23994</c:v>
                </c:pt>
                <c:pt idx="3">
                  <c:v>33325</c:v>
                </c:pt>
                <c:pt idx="4">
                  <c:v>43344</c:v>
                </c:pt>
                <c:pt idx="5">
                  <c:v>54653</c:v>
                </c:pt>
                <c:pt idx="6">
                  <c:v>66650</c:v>
                </c:pt>
                <c:pt idx="7">
                  <c:v>79980</c:v>
                </c:pt>
                <c:pt idx="8">
                  <c:v>93310</c:v>
                </c:pt>
                <c:pt idx="9">
                  <c:v>106640</c:v>
                </c:pt>
                <c:pt idx="10">
                  <c:v>119970</c:v>
                </c:pt>
                <c:pt idx="11">
                  <c:v>136654</c:v>
                </c:pt>
                <c:pt idx="12">
                  <c:v>149984</c:v>
                </c:pt>
                <c:pt idx="13">
                  <c:v>163314</c:v>
                </c:pt>
                <c:pt idx="14">
                  <c:v>173290</c:v>
                </c:pt>
                <c:pt idx="15">
                  <c:v>183309</c:v>
                </c:pt>
                <c:pt idx="16">
                  <c:v>193285</c:v>
                </c:pt>
                <c:pt idx="17">
                  <c:v>203304</c:v>
                </c:pt>
              </c:numCache>
            </c:numRef>
          </c:val>
          <c:smooth val="0"/>
        </c:ser>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4"/>
          <c:order val="4"/>
          <c:tx>
            <c:strRef>
              <c:f>Sheet1!$F$1</c:f>
              <c:strCache>
                <c:ptCount val="1"/>
                <c:pt idx="0">
                  <c:v>Low 순이익</c:v>
                </c:pt>
              </c:strCache>
            </c:strRef>
          </c:tx>
          <c:spPr>
            <a:solidFill>
              <a:srgbClr val="FFB547"/>
            </a:solidFill>
            <a:ln w="15875" cap="flat">
              <a:solidFill>
                <a:srgbClr val="FFB547"/>
              </a:solidFill>
              <a:prstDash val="dash"/>
              <a:round/>
            </a:ln>
            <a:effectLst/>
          </c:spPr>
          <c:invertIfNegative val="0"/>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marker>
            <c:symbol val="none"/>
            <c:size val="6"/>
            <c:spPr>
              <a:solidFill>
                <a:srgbClr val="FFB547"/>
              </a:solidFill>
              <a:ln w="9525" cap="flat">
                <a:solidFill>
                  <a:srgbClr val="FFB547"/>
                </a:solidFill>
                <a:prstDash val="solid"/>
                <a:round/>
              </a:ln>
              <a:effectLst/>
            </c:spPr>
          </c:marker>
          <c:cat>
            <c:multiLvlStrRef>
              <c:f>Sheet1!$A$2:$A$19</c:f>
              <c:multiLvlStrCache>
                <c:ptCount val="1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lvl>
              </c:multiLvlStrCache>
            </c:multiLvlStrRef>
          </c:cat>
          <c:val>
            <c:numRef>
              <c:f>Sheet1!$F$2:$F$19</c:f>
              <c:numCache>
                <c:formatCode>General</c:formatCode>
                <c:ptCount val="18"/>
                <c:pt idx="0">
                  <c:v>-10919.19</c:v>
                </c:pt>
                <c:pt idx="1">
                  <c:v>-1736.71</c:v>
                </c:pt>
                <c:pt idx="2">
                  <c:v>-2160.07</c:v>
                </c:pt>
                <c:pt idx="3">
                  <c:v>-1741.99</c:v>
                </c:pt>
                <c:pt idx="4">
                  <c:v>-1997.59</c:v>
                </c:pt>
                <c:pt idx="5">
                  <c:v>-2287.27</c:v>
                </c:pt>
                <c:pt idx="6">
                  <c:v>-997.99</c:v>
                </c:pt>
                <c:pt idx="7">
                  <c:v>-1019.59</c:v>
                </c:pt>
                <c:pt idx="8">
                  <c:v>-1041.19</c:v>
                </c:pt>
                <c:pt idx="9">
                  <c:v>-1062.79</c:v>
                </c:pt>
                <c:pt idx="10">
                  <c:v>-1084.39</c:v>
                </c:pt>
                <c:pt idx="11">
                  <c:v>-1111.39</c:v>
                </c:pt>
                <c:pt idx="12">
                  <c:v>919.01</c:v>
                </c:pt>
                <c:pt idx="13">
                  <c:v>1079.81</c:v>
                </c:pt>
                <c:pt idx="14">
                  <c:v>1200.41000000001</c:v>
                </c:pt>
                <c:pt idx="15">
                  <c:v>1321.01</c:v>
                </c:pt>
                <c:pt idx="16">
                  <c:v>1441.61</c:v>
                </c:pt>
                <c:pt idx="17">
                  <c:v>1562.21</c:v>
                </c:pt>
              </c:numCache>
            </c:numRef>
          </c:val>
          <c:smooth val="0"/>
        </c:ser>
        <c:ser>
          <c:idx val="5"/>
          <c:order val="5"/>
          <c:tx>
            <c:strRef>
              <c:f>Sheet1!$G$1</c:f>
              <c:strCache>
                <c:ptCount val="1"/>
                <c:pt idx="0">
                  <c:v>High 순이익</c:v>
                </c:pt>
              </c:strCache>
            </c:strRef>
          </c:tx>
          <c:spPr>
            <a:solidFill>
              <a:srgbClr val="8B5CF6"/>
            </a:solidFill>
            <a:ln w="15875" cap="flat">
              <a:solidFill>
                <a:srgbClr val="8B5CF6"/>
              </a:solidFill>
              <a:prstDash val="dash"/>
              <a:round/>
            </a:ln>
            <a:effectLst/>
          </c:spPr>
          <c:invertIfNegative val="0"/>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marker>
            <c:symbol val="none"/>
            <c:size val="6"/>
            <c:spPr>
              <a:solidFill>
                <a:srgbClr val="FFB547"/>
              </a:solidFill>
              <a:ln w="9525" cap="flat">
                <a:solidFill>
                  <a:srgbClr val="8B5CF6"/>
                </a:solidFill>
                <a:prstDash val="solid"/>
                <a:round/>
              </a:ln>
              <a:effectLst/>
            </c:spPr>
          </c:marker>
          <c:cat>
            <c:multiLvlStrRef>
              <c:f>Sheet1!$A$2:$A$19</c:f>
              <c:multiLvlStrCache>
                <c:ptCount val="1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lvl>
              </c:multiLvlStrCache>
            </c:multiLvlStrRef>
          </c:cat>
          <c:val>
            <c:numRef>
              <c:f>Sheet1!$G$2:$G$19</c:f>
              <c:numCache>
                <c:formatCode>General</c:formatCode>
                <c:ptCount val="18"/>
                <c:pt idx="0">
                  <c:v>-9417.215</c:v>
                </c:pt>
                <c:pt idx="1">
                  <c:v>663.109999999999</c:v>
                </c:pt>
                <c:pt idx="2">
                  <c:v>1439.66</c:v>
                </c:pt>
                <c:pt idx="3">
                  <c:v>5011.635</c:v>
                </c:pt>
                <c:pt idx="4">
                  <c:v>6785.93</c:v>
                </c:pt>
                <c:pt idx="5">
                  <c:v>8788.675</c:v>
                </c:pt>
                <c:pt idx="6">
                  <c:v>15578.76</c:v>
                </c:pt>
                <c:pt idx="7">
                  <c:v>18872.51</c:v>
                </c:pt>
                <c:pt idx="8">
                  <c:v>22166.26</c:v>
                </c:pt>
                <c:pt idx="9">
                  <c:v>25460.01</c:v>
                </c:pt>
                <c:pt idx="10">
                  <c:v>28753.76</c:v>
                </c:pt>
                <c:pt idx="11">
                  <c:v>32876.26</c:v>
                </c:pt>
                <c:pt idx="12">
                  <c:v>40669.53</c:v>
                </c:pt>
                <c:pt idx="13">
                  <c:v>44363.18</c:v>
                </c:pt>
                <c:pt idx="14">
                  <c:v>47127.46</c:v>
                </c:pt>
                <c:pt idx="15">
                  <c:v>49903.655</c:v>
                </c:pt>
                <c:pt idx="16">
                  <c:v>52667.935</c:v>
                </c:pt>
                <c:pt idx="17">
                  <c:v>55444.13</c:v>
                </c:pt>
              </c:numCache>
            </c:numRef>
          </c:val>
          <c:smooth val="0"/>
        </c:ser>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9AA5C4"/>
                    </a:solidFill>
                    <a:latin typeface="Noto Sans KR"/>
                    <a:ea typeface="Noto Sans KR"/>
                  </a:defRPr>
                </a:pPr>
                <a:r>
                  <a:rPr sz="1000" b="0" i="0" u="none" strike="noStrike">
                    <a:solidFill>
                      <a:srgbClr val="9AA5C4"/>
                    </a:solidFill>
                    <a:latin typeface="Noto Sans KR"/>
                    <a:ea typeface="Noto Sans KR"/>
                  </a:rPr>
                  <a:t>모델 월</a:t>
                </a:r>
              </a:p>
            </c:rich>
          </c:tx>
          <c:layout/>
          <c:overlay val="0"/>
        </c:title>
        <c:numFmt formatCode="General" sourceLinked="1"/>
        <c:majorTickMark val="out"/>
        <c:minorTickMark val="none"/>
        <c:tickLblPos val="low"/>
        <c:spPr>
          <a:ln w="12700" cap="flat">
            <a:noFill/>
            <a:prstDash val="solid"/>
            <a:round/>
          </a:ln>
        </c:spPr>
        <c:txPr>
          <a:bodyPr/>
          <a:lstStyle/>
          <a:p>
            <a:pPr>
              <a:defRPr sz="1100" b="0" i="0" u="none" strike="noStrike">
                <a:solidFill>
                  <a:srgbClr val="9AA5C4"/>
                </a:solidFill>
                <a:latin typeface="Noto Sans KR"/>
                <a:ea typeface="Noto Sans KR"/>
              </a:defRPr>
            </a:pPr>
            <a:endParaRPr lang="en-US"/>
          </a:p>
        </c:txPr>
        <c:crossAx val="2094734552"/>
        <c:crosses val="autoZero"/>
        <c:auto val="1"/>
        <c:lblAlgn val="ctr"/>
        <c:noMultiLvlLbl val="1"/>
      </c:catAx>
      <c:valAx>
        <c:axId val="2094734552"/>
        <c:scaling>
          <c:orientation val="minMax"/>
          <c:max val="240000"/>
          <c:min val="-20000"/>
        </c:scaling>
        <c:delete val="0"/>
        <c:axPos val="l"/>
        <c:majorGridlines>
          <c:spPr>
            <a:ln w="6350" cap="flat">
              <a:solidFill>
                <a:srgbClr val="26304F"/>
              </a:solidFill>
              <a:prstDash val="solid"/>
              <a:round/>
            </a:ln>
          </c:spPr>
        </c:majorGridlines>
        <c:numFmt formatCode="$#,##0,&quot;K&quot;;($#,##0,&quot;K&quot;)" sourceLinked="0"/>
        <c:majorTickMark val="out"/>
        <c:minorTickMark val="none"/>
        <c:tickLblPos val="nextTo"/>
        <c:spPr>
          <a:ln w="12700" cap="flat">
            <a:noFill/>
            <a:prstDash val="solid"/>
            <a:round/>
          </a:ln>
        </c:spPr>
        <c:txPr>
          <a:bodyPr/>
          <a:lstStyle/>
          <a:p>
            <a:pPr>
              <a:defRPr sz="1100" b="0" i="0" u="none" strike="noStrike">
                <a:solidFill>
                  <a:srgbClr val="9AA5C4"/>
                </a:solidFill>
                <a:latin typeface="Noto Sans KR"/>
                <a:ea typeface="Noto Sans KR"/>
              </a:defRPr>
            </a:pPr>
            <a:endParaRPr lang="en-US"/>
          </a:p>
        </c:txPr>
        <c:crossAx val="2094734554"/>
        <c:crosses val="autoZero"/>
        <c:crossBetween val="between"/>
        <c:majorUnit val="40000"/>
      </c:valAx>
      <c:spPr>
        <a:solidFill>
          <a:srgbClr val="141C36"/>
        </a:solidFill>
        <a:ln>
          <a:noFill/>
        </a:ln>
        <a:effectLst/>
      </c:spPr>
    </c:plotArea>
    <c:legend>
      <c:legendPos val="b"/>
      <c:overlay val="0"/>
      <c:txPr>
        <a:bodyPr/>
        <a:lstStyle/>
        <a:p>
          <a:pPr>
            <a:defRPr sz="1100">
              <a:solidFill>
                <a:srgbClr val="9AA5C4"/>
              </a:solidFill>
              <a:latin typeface="Noto Sans KR"/>
              <a:ea typeface="Noto Sans KR"/>
              <a:cs typeface="Noto Sans KR"/>
            </a:defRPr>
          </a:pPr>
          <a:endParaRPr lang="en-US"/>
        </a:p>
      </c:txPr>
    </c:legend>
    <c:plotVisOnly val="1"/>
    <c:dispBlanksAs val="span"/>
  </c:chart>
  <c:spPr>
    <a:solidFill>
      <a:srgbClr val="141C36"/>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stacked"/>
        <c:varyColors val="0"/>
        <c:ser>
          <c:idx val="0"/>
          <c:order val="0"/>
          <c:tx>
            <c:strRef>
              <c:f>Sheet1!$B$1</c:f>
              <c:strCache>
                <c:ptCount val="1"/>
                <c:pt idx="0">
                  <c:v>아마존 US</c:v>
                </c:pt>
              </c:strCache>
            </c:strRef>
          </c:tx>
          <c:spPr>
            <a:solidFill>
              <a:srgbClr val="2DE2FF"/>
            </a:solidFill>
            <a:effectLst/>
          </c:spPr>
          <c:invertIfNegative val="0"/>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cat>
            <c:multiLvlStrRef>
              <c:f>Sheet1!$A$2:$A$6</c:f>
              <c:multiLvlStrCache>
                <c:ptCount val="5"/>
                <c:lvl>
                  <c:pt idx="0">
                    <c:v>1년차</c:v>
                  </c:pt>
                  <c:pt idx="1">
                    <c:v>2년차</c:v>
                  </c:pt>
                  <c:pt idx="2">
                    <c:v>3년차</c:v>
                  </c:pt>
                  <c:pt idx="3">
                    <c:v>4년차</c:v>
                  </c:pt>
                  <c:pt idx="4">
                    <c:v>5년차</c:v>
                  </c:pt>
                </c:lvl>
              </c:multiLvlStrCache>
            </c:multiLvlStrRef>
          </c:cat>
          <c:val>
            <c:numRef>
              <c:f>Sheet1!$B$2:$B$6</c:f>
              <c:numCache>
                <c:formatCode>General</c:formatCode>
                <c:ptCount val="5"/>
                <c:pt idx="0">
                  <c:v>494340</c:v>
                </c:pt>
                <c:pt idx="1">
                  <c:v>1528800</c:v>
                </c:pt>
                <c:pt idx="2">
                  <c:v>1965181</c:v>
                </c:pt>
                <c:pt idx="3">
                  <c:v>2263888</c:v>
                </c:pt>
                <c:pt idx="4">
                  <c:v>2434133</c:v>
                </c:pt>
              </c:numCache>
            </c:numRef>
          </c:val>
        </c:ser>
        <c:ser>
          <c:idx val="1"/>
          <c:order val="1"/>
          <c:tx>
            <c:strRef>
              <c:f>Sheet1!$C$1</c:f>
              <c:strCache>
                <c:ptCount val="1"/>
                <c:pt idx="0">
                  <c:v>eBay와 Walmart</c:v>
                </c:pt>
              </c:strCache>
            </c:strRef>
          </c:tx>
          <c:spPr>
            <a:solidFill>
              <a:srgbClr val="8B5CF6"/>
            </a:solidFill>
            <a:effectLst/>
          </c:spPr>
          <c:invertIfNegative val="0"/>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cat>
            <c:multiLvlStrRef>
              <c:f>Sheet1!$A$2:$A$6</c:f>
              <c:multiLvlStrCache>
                <c:ptCount val="5"/>
                <c:lvl>
                  <c:pt idx="0">
                    <c:v>1년차</c:v>
                  </c:pt>
                  <c:pt idx="1">
                    <c:v>2년차</c:v>
                  </c:pt>
                  <c:pt idx="2">
                    <c:v>3년차</c:v>
                  </c:pt>
                  <c:pt idx="3">
                    <c:v>4년차</c:v>
                  </c:pt>
                  <c:pt idx="4">
                    <c:v>5년차</c:v>
                  </c:pt>
                </c:lvl>
              </c:multiLvlStrCache>
            </c:multiLvlStrRef>
          </c:cat>
          <c:val>
            <c:numRef>
              <c:f>Sheet1!$C$2:$C$6</c:f>
              <c:numCache>
                <c:formatCode>General</c:formatCode>
                <c:ptCount val="5"/>
                <c:pt idx="0">
                  <c:v>0</c:v>
                </c:pt>
                <c:pt idx="1">
                  <c:v>122304</c:v>
                </c:pt>
                <c:pt idx="2">
                  <c:v>196518</c:v>
                </c:pt>
                <c:pt idx="3">
                  <c:v>271667</c:v>
                </c:pt>
                <c:pt idx="4">
                  <c:v>292096</c:v>
                </c:pt>
              </c:numCache>
            </c:numRef>
          </c:val>
        </c:ser>
        <c:ser>
          <c:idx val="2"/>
          <c:order val="2"/>
          <c:tx>
            <c:strRef>
              <c:f>Sheet1!$D$1</c:f>
              <c:strCache>
                <c:ptCount val="1"/>
                <c:pt idx="0">
                  <c:v>B2B 설치업체</c:v>
                </c:pt>
              </c:strCache>
            </c:strRef>
          </c:tx>
          <c:spPr>
            <a:solidFill>
              <a:srgbClr val="3DDC97"/>
            </a:solidFill>
            <a:effectLst/>
          </c:spPr>
          <c:invertIfNegative val="0"/>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cat>
            <c:multiLvlStrRef>
              <c:f>Sheet1!$A$2:$A$6</c:f>
              <c:multiLvlStrCache>
                <c:ptCount val="5"/>
                <c:lvl>
                  <c:pt idx="0">
                    <c:v>1년차</c:v>
                  </c:pt>
                  <c:pt idx="1">
                    <c:v>2년차</c:v>
                  </c:pt>
                  <c:pt idx="2">
                    <c:v>3년차</c:v>
                  </c:pt>
                  <c:pt idx="3">
                    <c:v>4년차</c:v>
                  </c:pt>
                  <c:pt idx="4">
                    <c:v>5년차</c:v>
                  </c:pt>
                </c:lvl>
              </c:multiLvlStrCache>
            </c:multiLvlStrRef>
          </c:cat>
          <c:val>
            <c:numRef>
              <c:f>Sheet1!$D$2:$D$6</c:f>
              <c:numCache>
                <c:formatCode>General</c:formatCode>
                <c:ptCount val="5"/>
                <c:pt idx="0">
                  <c:v>0</c:v>
                </c:pt>
                <c:pt idx="1">
                  <c:v>120000</c:v>
                </c:pt>
                <c:pt idx="2">
                  <c:v>350000</c:v>
                </c:pt>
                <c:pt idx="3">
                  <c:v>600000</c:v>
                </c:pt>
                <c:pt idx="4">
                  <c:v>850000</c:v>
                </c:pt>
              </c:numCache>
            </c:numRef>
          </c:val>
        </c:ser>
        <c:ser>
          <c:idx val="3"/>
          <c:order val="3"/>
          <c:tx>
            <c:strRef>
              <c:f>Sheet1!$E$1</c:f>
              <c:strCache>
                <c:ptCount val="1"/>
                <c:pt idx="0">
                  <c:v>DTC 사이트</c:v>
                </c:pt>
              </c:strCache>
            </c:strRef>
          </c:tx>
          <c:spPr>
            <a:solidFill>
              <a:srgbClr val="FFB547"/>
            </a:solidFill>
            <a:effectLst/>
          </c:spPr>
          <c:invertIfNegative val="0"/>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cat>
            <c:multiLvlStrRef>
              <c:f>Sheet1!$A$2:$A$6</c:f>
              <c:multiLvlStrCache>
                <c:ptCount val="5"/>
                <c:lvl>
                  <c:pt idx="0">
                    <c:v>1년차</c:v>
                  </c:pt>
                  <c:pt idx="1">
                    <c:v>2년차</c:v>
                  </c:pt>
                  <c:pt idx="2">
                    <c:v>3년차</c:v>
                  </c:pt>
                  <c:pt idx="3">
                    <c:v>4년차</c:v>
                  </c:pt>
                  <c:pt idx="4">
                    <c:v>5년차</c:v>
                  </c:pt>
                </c:lvl>
              </c:multiLvlStrCache>
            </c:multiLvlStrRef>
          </c:cat>
          <c:val>
            <c:numRef>
              <c:f>Sheet1!$E$2:$E$6</c:f>
              <c:numCache>
                <c:formatCode>General</c:formatCode>
                <c:ptCount val="5"/>
                <c:pt idx="0">
                  <c:v>0</c:v>
                </c:pt>
                <c:pt idx="1">
                  <c:v>0</c:v>
                </c:pt>
                <c:pt idx="2">
                  <c:v>100000</c:v>
                </c:pt>
                <c:pt idx="3">
                  <c:v>250000</c:v>
                </c:pt>
                <c:pt idx="4">
                  <c:v>400000</c:v>
                </c:pt>
              </c:numCache>
            </c:numRef>
          </c:val>
        </c:ser>
        <c:ser>
          <c:idx val="4"/>
          <c:order val="4"/>
          <c:tx>
            <c:strRef>
              <c:f>Sheet1!$F$1</c:f>
              <c:strCache>
                <c:ptCount val="1"/>
                <c:pt idx="0">
                  <c:v>아마존 캐나다</c:v>
                </c:pt>
              </c:strCache>
            </c:strRef>
          </c:tx>
          <c:spPr>
            <a:solidFill>
              <a:srgbClr val="FF4FD8"/>
            </a:solidFill>
            <a:effectLst/>
          </c:spPr>
          <c:invertIfNegative val="0"/>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cat>
            <c:multiLvlStrRef>
              <c:f>Sheet1!$A$2:$A$6</c:f>
              <c:multiLvlStrCache>
                <c:ptCount val="5"/>
                <c:lvl>
                  <c:pt idx="0">
                    <c:v>1년차</c:v>
                  </c:pt>
                  <c:pt idx="1">
                    <c:v>2년차</c:v>
                  </c:pt>
                  <c:pt idx="2">
                    <c:v>3년차</c:v>
                  </c:pt>
                  <c:pt idx="3">
                    <c:v>4년차</c:v>
                  </c:pt>
                  <c:pt idx="4">
                    <c:v>5년차</c:v>
                  </c:pt>
                </c:lvl>
              </c:multiLvlStrCache>
            </c:multiLvlStrRef>
          </c:cat>
          <c:val>
            <c:numRef>
              <c:f>Sheet1!$F$2:$F$6</c:f>
              <c:numCache>
                <c:formatCode>General</c:formatCode>
                <c:ptCount val="5"/>
                <c:pt idx="0">
                  <c:v>0</c:v>
                </c:pt>
                <c:pt idx="1">
                  <c:v>0</c:v>
                </c:pt>
                <c:pt idx="2">
                  <c:v>0</c:v>
                </c:pt>
                <c:pt idx="3">
                  <c:v>120000</c:v>
                </c:pt>
                <c:pt idx="4">
                  <c:v>250000</c:v>
                </c:pt>
              </c:numCache>
            </c:numRef>
          </c:val>
        </c:ser>
        <c:ser>
          <c:idx val="5"/>
          <c:order val="5"/>
          <c:tx>
            <c:strRef>
              <c:f>Sheet1!$G$1</c:f>
              <c:strCache>
                <c:ptCount val="1"/>
                <c:pt idx="0">
                  <c:v>프로 라인</c:v>
                </c:pt>
              </c:strCache>
            </c:strRef>
          </c:tx>
          <c:spPr>
            <a:solidFill>
              <a:srgbClr val="4F7CFF"/>
            </a:solidFill>
            <a:effectLst/>
          </c:spPr>
          <c:invertIfNegative val="0"/>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cat>
            <c:multiLvlStrRef>
              <c:f>Sheet1!$A$2:$A$6</c:f>
              <c:multiLvlStrCache>
                <c:ptCount val="5"/>
                <c:lvl>
                  <c:pt idx="0">
                    <c:v>1년차</c:v>
                  </c:pt>
                  <c:pt idx="1">
                    <c:v>2년차</c:v>
                  </c:pt>
                  <c:pt idx="2">
                    <c:v>3년차</c:v>
                  </c:pt>
                  <c:pt idx="3">
                    <c:v>4년차</c:v>
                  </c:pt>
                  <c:pt idx="4">
                    <c:v>5년차</c:v>
                  </c:pt>
                </c:lvl>
              </c:multiLvlStrCache>
            </c:multiLvlStrRef>
          </c:cat>
          <c:val>
            <c:numRef>
              <c:f>Sheet1!$G$2:$G$6</c:f>
              <c:numCache>
                <c:formatCode>General</c:formatCode>
                <c:ptCount val="5"/>
                <c:pt idx="0">
                  <c:v>0</c:v>
                </c:pt>
                <c:pt idx="1">
                  <c:v>0</c:v>
                </c:pt>
                <c:pt idx="2">
                  <c:v>0</c:v>
                </c:pt>
                <c:pt idx="3">
                  <c:v>150000</c:v>
                </c:pt>
                <c:pt idx="4">
                  <c:v>350000</c:v>
                </c:pt>
              </c:numCache>
            </c:numRef>
          </c:val>
        </c:ser>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9AA5C4"/>
                </a:solidFill>
                <a:latin typeface="Noto Sans KR"/>
                <a:ea typeface="Noto Sans KR"/>
              </a:defRPr>
            </a:pPr>
            <a:endParaRPr lang="en-US"/>
          </a:p>
        </c:txPr>
        <c:crossAx val="2094734552"/>
        <c:crosses val="autoZero"/>
        <c:auto val="1"/>
        <c:lblAlgn val="ctr"/>
        <c:noMultiLvlLbl val="1"/>
      </c:catAx>
      <c:valAx>
        <c:axId val="2094734552"/>
        <c:scaling>
          <c:orientation val="minMax"/>
          <c:max val="5000000"/>
          <c:min val="0"/>
        </c:scaling>
        <c:delete val="0"/>
        <c:axPos val="l"/>
        <c:majorGridlines>
          <c:spPr>
            <a:ln w="6350" cap="flat">
              <a:solidFill>
                <a:srgbClr val="26304F"/>
              </a:solidFill>
              <a:prstDash val="solid"/>
              <a:round/>
            </a:ln>
          </c:spPr>
        </c:majorGridlines>
        <c:numFmt formatCode="$#,##0.0,,&quot;M&quot;" sourceLinked="0"/>
        <c:majorTickMark val="out"/>
        <c:minorTickMark val="none"/>
        <c:tickLblPos val="nextTo"/>
        <c:spPr>
          <a:ln w="12700" cap="flat">
            <a:noFill/>
            <a:prstDash val="solid"/>
            <a:round/>
          </a:ln>
        </c:spPr>
        <c:txPr>
          <a:bodyPr/>
          <a:lstStyle/>
          <a:p>
            <a:pPr>
              <a:defRPr sz="1100" b="0" i="0" u="none" strike="noStrike">
                <a:solidFill>
                  <a:srgbClr val="9AA5C4"/>
                </a:solidFill>
                <a:latin typeface="Noto Sans KR"/>
                <a:ea typeface="Noto Sans KR"/>
              </a:defRPr>
            </a:pPr>
            <a:endParaRPr lang="en-US"/>
          </a:p>
        </c:txPr>
        <c:crossAx val="2094734554"/>
        <c:crosses val="autoZero"/>
        <c:crossBetween val="between"/>
        <c:majorUnit val="1000000"/>
      </c:valAx>
      <c:spPr>
        <a:solidFill>
          <a:srgbClr val="141C36"/>
        </a:solidFill>
        <a:ln>
          <a:noFill/>
        </a:ln>
        <a:effectLst/>
      </c:spPr>
    </c:plotArea>
    <c:legend>
      <c:legendPos val="b"/>
      <c:overlay val="0"/>
      <c:txPr>
        <a:bodyPr/>
        <a:lstStyle/>
        <a:p>
          <a:pPr>
            <a:defRPr sz="1100">
              <a:solidFill>
                <a:srgbClr val="9AA5C4"/>
              </a:solidFill>
              <a:latin typeface="Noto Sans KR"/>
              <a:ea typeface="Noto Sans KR"/>
              <a:cs typeface="Noto Sans KR"/>
            </a:defRPr>
          </a:pPr>
          <a:endParaRPr lang="en-US"/>
        </a:p>
      </c:txPr>
    </c:legend>
    <c:plotVisOnly val="1"/>
    <c:dispBlanksAs val="span"/>
  </c:chart>
  <c:spPr>
    <a:solidFill>
      <a:srgbClr val="141C36"/>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Medium</c:v>
                </c:pt>
              </c:strCache>
            </c:strRef>
          </c:tx>
          <c:spPr>
            <a:solidFill>
              <a:srgbClr val="2DE2FF"/>
            </a:solidFill>
            <a:ln w="38100" cap="flat">
              <a:solidFill>
                <a:srgbClr val="2DE2FF"/>
              </a:solidFill>
              <a:prstDash val="solid"/>
              <a:round/>
            </a:ln>
            <a:effectLst/>
          </c:spPr>
          <c:invertIfNegative val="0"/>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marker>
            <c:symbol val="none"/>
            <c:size val="6"/>
            <c:spPr>
              <a:solidFill>
                <a:srgbClr val="2DE2FF"/>
              </a:solidFill>
              <a:ln w="9525" cap="flat">
                <a:solidFill>
                  <a:srgbClr val="2DE2FF"/>
                </a:solidFill>
                <a:prstDash val="solid"/>
                <a:round/>
              </a:ln>
              <a:effectLst/>
            </c:spPr>
          </c:marker>
          <c:cat>
            <c:multiLvlStrRef>
              <c:f>Sheet1!$A$2:$A$27</c:f>
              <c:multiLvlStrCache>
                <c:ptCount val="26"/>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lvl>
              </c:multiLvlStrCache>
            </c:multiLvlStrRef>
          </c:cat>
          <c:val>
            <c:numRef>
              <c:f>Sheet1!$B$2:$B$27</c:f>
              <c:numCache>
                <c:formatCode>General</c:formatCode>
                <c:ptCount val="26"/>
                <c:pt idx="0">
                  <c:v>31129</c:v>
                </c:pt>
                <c:pt idx="1">
                  <c:v>8534</c:v>
                </c:pt>
                <c:pt idx="2">
                  <c:v>236</c:v>
                </c:pt>
                <c:pt idx="3">
                  <c:v>-9084</c:v>
                </c:pt>
                <c:pt idx="4">
                  <c:v>-18385</c:v>
                </c:pt>
                <c:pt idx="5">
                  <c:v>-30785</c:v>
                </c:pt>
                <c:pt idx="6">
                  <c:v>-40401</c:v>
                </c:pt>
                <c:pt idx="7">
                  <c:v>-48399</c:v>
                </c:pt>
                <c:pt idx="8">
                  <c:v>-55585</c:v>
                </c:pt>
                <c:pt idx="9">
                  <c:v>-64474</c:v>
                </c:pt>
                <c:pt idx="10">
                  <c:v>-76337</c:v>
                </c:pt>
                <c:pt idx="11">
                  <c:v>-87169</c:v>
                </c:pt>
                <c:pt idx="12">
                  <c:v>-96319</c:v>
                </c:pt>
                <c:pt idx="13">
                  <c:v>-95582</c:v>
                </c:pt>
                <c:pt idx="14">
                  <c:v>-85176</c:v>
                </c:pt>
                <c:pt idx="15">
                  <c:v>-72584</c:v>
                </c:pt>
                <c:pt idx="16">
                  <c:v>-58017</c:v>
                </c:pt>
                <c:pt idx="17">
                  <c:v>-41456</c:v>
                </c:pt>
                <c:pt idx="18">
                  <c:v>-22853</c:v>
                </c:pt>
                <c:pt idx="19">
                  <c:v>-1253</c:v>
                </c:pt>
                <c:pt idx="20">
                  <c:v>19120</c:v>
                </c:pt>
                <c:pt idx="21">
                  <c:v>35464</c:v>
                </c:pt>
                <c:pt idx="22">
                  <c:v>45474</c:v>
                </c:pt>
                <c:pt idx="23">
                  <c:v>57334</c:v>
                </c:pt>
                <c:pt idx="24">
                  <c:v>70496</c:v>
                </c:pt>
              </c:numCache>
            </c:numRef>
          </c:val>
          <c:smooth val="0"/>
        </c:ser>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Low</c:v>
                </c:pt>
              </c:strCache>
            </c:strRef>
          </c:tx>
          <c:spPr>
            <a:solidFill>
              <a:srgbClr val="FFB547"/>
            </a:solidFill>
            <a:ln w="15875" cap="flat">
              <a:solidFill>
                <a:srgbClr val="FFB547"/>
              </a:solidFill>
              <a:prstDash val="solid"/>
              <a:round/>
            </a:ln>
            <a:effectLst/>
          </c:spPr>
          <c:invertIfNegative val="0"/>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marker>
            <c:symbol val="none"/>
            <c:size val="6"/>
            <c:spPr>
              <a:solidFill>
                <a:srgbClr val="3DDC97"/>
              </a:solidFill>
              <a:ln w="9525" cap="flat">
                <a:solidFill>
                  <a:srgbClr val="FFB547"/>
                </a:solidFill>
                <a:prstDash val="solid"/>
                <a:round/>
              </a:ln>
              <a:effectLst/>
            </c:spPr>
          </c:marker>
          <c:cat>
            <c:multiLvlStrRef>
              <c:f>Sheet1!$A$2:$A$27</c:f>
              <c:multiLvlStrCache>
                <c:ptCount val="26"/>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lvl>
              </c:multiLvlStrCache>
            </c:multiLvlStrRef>
          </c:cat>
          <c:val>
            <c:numRef>
              <c:f>Sheet1!$C$2:$C$27</c:f>
              <c:numCache>
                <c:formatCode>General</c:formatCode>
                <c:ptCount val="26"/>
                <c:pt idx="0">
                  <c:v>33466</c:v>
                </c:pt>
                <c:pt idx="1">
                  <c:v>13979</c:v>
                </c:pt>
                <c:pt idx="2">
                  <c:v>7207</c:v>
                </c:pt>
                <c:pt idx="3">
                  <c:v>-612</c:v>
                </c:pt>
                <c:pt idx="4">
                  <c:v>-8977</c:v>
                </c:pt>
                <c:pt idx="5">
                  <c:v>-17819</c:v>
                </c:pt>
                <c:pt idx="6">
                  <c:v>-27321</c:v>
                </c:pt>
                <c:pt idx="7">
                  <c:v>-36512</c:v>
                </c:pt>
                <c:pt idx="8">
                  <c:v>-45426</c:v>
                </c:pt>
                <c:pt idx="9">
                  <c:v>-55427</c:v>
                </c:pt>
                <c:pt idx="10">
                  <c:v>-66489</c:v>
                </c:pt>
                <c:pt idx="11">
                  <c:v>-77489</c:v>
                </c:pt>
                <c:pt idx="12">
                  <c:v>-87881</c:v>
                </c:pt>
                <c:pt idx="13">
                  <c:v>-95246</c:v>
                </c:pt>
                <c:pt idx="14">
                  <c:v>-99899</c:v>
                </c:pt>
                <c:pt idx="15">
                  <c:v>-90263</c:v>
                </c:pt>
                <c:pt idx="16">
                  <c:v>-62927</c:v>
                </c:pt>
                <c:pt idx="17">
                  <c:v>-33831</c:v>
                </c:pt>
                <c:pt idx="18">
                  <c:v>-16100</c:v>
                </c:pt>
                <c:pt idx="19">
                  <c:v>-31463</c:v>
                </c:pt>
                <c:pt idx="20">
                  <c:v>-61874</c:v>
                </c:pt>
                <c:pt idx="21">
                  <c:v>-93744</c:v>
                </c:pt>
                <c:pt idx="22">
                  <c:v>-110347</c:v>
                </c:pt>
                <c:pt idx="23">
                  <c:v>-112042</c:v>
                </c:pt>
                <c:pt idx="24">
                  <c:v>-113736</c:v>
                </c:pt>
              </c:numCache>
            </c:numRef>
          </c:val>
          <c:smooth val="0"/>
        </c:ser>
        <c:ser>
          <c:idx val="2"/>
          <c:order val="2"/>
          <c:tx>
            <c:strRef>
              <c:f>Sheet1!$D$1</c:f>
              <c:strCache>
                <c:ptCount val="1"/>
                <c:pt idx="0">
                  <c:v>High</c:v>
                </c:pt>
              </c:strCache>
            </c:strRef>
          </c:tx>
          <c:spPr>
            <a:solidFill>
              <a:srgbClr val="3DDC97"/>
            </a:solidFill>
            <a:ln w="15875" cap="flat">
              <a:solidFill>
                <a:srgbClr val="3DDC97"/>
              </a:solidFill>
              <a:prstDash val="solid"/>
              <a:round/>
            </a:ln>
            <a:effectLst/>
          </c:spPr>
          <c:invertIfNegative val="0"/>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marker>
            <c:symbol val="none"/>
            <c:size val="6"/>
            <c:spPr>
              <a:solidFill>
                <a:srgbClr val="3DDC97"/>
              </a:solidFill>
              <a:ln w="9525" cap="flat">
                <a:solidFill>
                  <a:srgbClr val="3DDC97"/>
                </a:solidFill>
                <a:prstDash val="solid"/>
                <a:round/>
              </a:ln>
              <a:effectLst/>
            </c:spPr>
          </c:marker>
          <c:cat>
            <c:multiLvlStrRef>
              <c:f>Sheet1!$A$2:$A$27</c:f>
              <c:multiLvlStrCache>
                <c:ptCount val="26"/>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lvl>
              </c:multiLvlStrCache>
            </c:multiLvlStrRef>
          </c:cat>
          <c:val>
            <c:numRef>
              <c:f>Sheet1!$D$2:$D$27</c:f>
              <c:numCache>
                <c:formatCode>General</c:formatCode>
                <c:ptCount val="26"/>
                <c:pt idx="0">
                  <c:v>28893</c:v>
                </c:pt>
                <c:pt idx="1">
                  <c:v>6118</c:v>
                </c:pt>
                <c:pt idx="2">
                  <c:v>-1968</c:v>
                </c:pt>
                <c:pt idx="3">
                  <c:v>-10532</c:v>
                </c:pt>
                <c:pt idx="4">
                  <c:v>-17788</c:v>
                </c:pt>
                <c:pt idx="5">
                  <c:v>-28118</c:v>
                </c:pt>
                <c:pt idx="6">
                  <c:v>-33097</c:v>
                </c:pt>
                <c:pt idx="7">
                  <c:v>-34099</c:v>
                </c:pt>
                <c:pt idx="8">
                  <c:v>-32084</c:v>
                </c:pt>
                <c:pt idx="9">
                  <c:v>-30508</c:v>
                </c:pt>
                <c:pt idx="10">
                  <c:v>-29847</c:v>
                </c:pt>
                <c:pt idx="11">
                  <c:v>-26563</c:v>
                </c:pt>
                <c:pt idx="12">
                  <c:v>-20295</c:v>
                </c:pt>
                <c:pt idx="13">
                  <c:v>2256</c:v>
                </c:pt>
                <c:pt idx="14">
                  <c:v>41362</c:v>
                </c:pt>
                <c:pt idx="15">
                  <c:v>84877</c:v>
                </c:pt>
                <c:pt idx="16">
                  <c:v>132136</c:v>
                </c:pt>
                <c:pt idx="17">
                  <c:v>183195</c:v>
                </c:pt>
                <c:pt idx="18">
                  <c:v>238190</c:v>
                </c:pt>
                <c:pt idx="19">
                  <c:v>295858</c:v>
                </c:pt>
                <c:pt idx="20">
                  <c:v>350995</c:v>
                </c:pt>
                <c:pt idx="21">
                  <c:v>400798</c:v>
                </c:pt>
                <c:pt idx="22">
                  <c:v>444700</c:v>
                </c:pt>
                <c:pt idx="23">
                  <c:v>490559</c:v>
                </c:pt>
                <c:pt idx="24">
                  <c:v>536317</c:v>
                </c:pt>
              </c:numCache>
            </c:numRef>
          </c:val>
          <c:smooth val="0"/>
        </c:ser>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3"/>
          <c:order val="3"/>
          <c:tx>
            <c:strRef>
              <c:f>Sheet1!$E$1</c:f>
              <c:strCache>
                <c:ptCount val="1"/>
                <c:pt idx="0">
                  <c:v>최저점</c:v>
                </c:pt>
              </c:strCache>
            </c:strRef>
          </c:tx>
          <c:spPr>
            <a:solidFill>
              <a:srgbClr val="FF4FD8"/>
            </a:solidFill>
            <a:ln w="12700" cap="flat">
              <a:solidFill>
                <a:srgbClr val="FF4FD8"/>
              </a:solidFill>
              <a:prstDash val="solid"/>
              <a:round/>
            </a:ln>
            <a:effectLst/>
          </c:spPr>
          <c:invertIfNegative val="0"/>
          <c:dLbls>
            <c:numFmt formatCode="$#,##0;($#,##0)" sourceLinked="0"/>
            <c:txPr>
              <a:bodyPr/>
              <a:lstStyle/>
              <a:p>
                <a:pPr>
                  <a:defRPr b="1" i="0" strike="noStrike" sz="1000" u="none">
                    <a:solidFill>
                      <a:srgbClr val="FF4FD8"/>
                    </a:solidFill>
                    <a:latin typeface="Noto Sans KR"/>
                    <a:ea typeface="Noto Sans KR"/>
                  </a:defRPr>
                </a:pPr>
              </a:p>
            </c:txPr>
            <c:dLblPos val="b"/>
            <c:showLegendKey val="0"/>
            <c:showVal val="1"/>
            <c:showCatName val="0"/>
            <c:showSerName val="0"/>
            <c:showPercent val="0"/>
            <c:showBubbleSize val="0"/>
            <c:showLeaderLines val="0"/>
          </c:dLbls>
          <c:marker>
            <c:symbol val="circle"/>
            <c:size val="10"/>
            <c:spPr>
              <a:solidFill>
                <a:srgbClr val="FF4FD8"/>
              </a:solidFill>
              <a:ln w="9525" cap="flat">
                <a:solidFill>
                  <a:srgbClr val="FF4FD8"/>
                </a:solidFill>
                <a:prstDash val="solid"/>
                <a:round/>
              </a:ln>
              <a:effectLst/>
            </c:spPr>
          </c:marker>
          <c:cat>
            <c:multiLvlStrRef>
              <c:f>Sheet1!$A$2:$A$27</c:f>
              <c:multiLvlStrCache>
                <c:ptCount val="26"/>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lvl>
              </c:multiLvlStrCache>
            </c:multiLvlStrRef>
          </c:cat>
          <c:val>
            <c:numRef>
              <c:f>Sheet1!$E$2:$E$27</c:f>
              <c:numCache>
                <c:formatCode>General</c:formatCode>
                <c:ptCount val="26"/>
                <c:pt idx="7">
                  <c:v>-34099</c:v>
                </c:pt>
                <c:pt idx="12">
                  <c:v>-96319</c:v>
                </c:pt>
                <c:pt idx="24">
                  <c:v>-113736</c:v>
                </c:pt>
              </c:numCache>
            </c:numRef>
          </c:val>
          <c:smooth val="0"/>
        </c:ser>
        <c:dLbls>
          <c:numFmt formatCode="$#,##0;($#,##0)" sourceLinked="0"/>
          <c:txPr>
            <a:bodyPr/>
            <a:lstStyle/>
            <a:p>
              <a:pPr>
                <a:defRPr b="1" i="0" strike="noStrike" sz="1000" u="none">
                  <a:solidFill>
                    <a:srgbClr val="FF4FD8"/>
                  </a:solidFill>
                  <a:latin typeface="Noto Sans KR"/>
                  <a:ea typeface="Noto Sans KR"/>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9AA5C4"/>
                    </a:solidFill>
                    <a:latin typeface="Noto Sans KR"/>
                    <a:ea typeface="Noto Sans KR"/>
                  </a:defRPr>
                </a:pPr>
                <a:r>
                  <a:rPr sz="1000" b="0" i="0" u="none" strike="noStrike">
                    <a:solidFill>
                      <a:srgbClr val="9AA5C4"/>
                    </a:solidFill>
                    <a:latin typeface="Noto Sans KR"/>
                    <a:ea typeface="Noto Sans KR"/>
                  </a:rPr>
                  <a:t>모델 월</a:t>
                </a:r>
              </a:p>
            </c:rich>
          </c:tx>
          <c:layout/>
          <c:overlay val="0"/>
        </c:title>
        <c:numFmt formatCode="General" sourceLinked="1"/>
        <c:majorTickMark val="out"/>
        <c:minorTickMark val="none"/>
        <c:tickLblPos val="low"/>
        <c:spPr>
          <a:ln w="12700" cap="flat">
            <a:noFill/>
            <a:prstDash val="solid"/>
            <a:round/>
          </a:ln>
        </c:spPr>
        <c:txPr>
          <a:bodyPr/>
          <a:lstStyle/>
          <a:p>
            <a:pPr>
              <a:defRPr sz="1100" b="0" i="0" u="none" strike="noStrike">
                <a:solidFill>
                  <a:srgbClr val="9AA5C4"/>
                </a:solidFill>
                <a:latin typeface="Noto Sans KR"/>
                <a:ea typeface="Noto Sans KR"/>
              </a:defRPr>
            </a:pPr>
            <a:endParaRPr lang="en-US"/>
          </a:p>
        </c:txPr>
        <c:crossAx val="2094734552"/>
        <c:crosses val="autoZero"/>
        <c:auto val="1"/>
        <c:lblAlgn val="ctr"/>
        <c:noMultiLvlLbl val="1"/>
      </c:catAx>
      <c:valAx>
        <c:axId val="2094734552"/>
        <c:scaling>
          <c:orientation val="minMax"/>
          <c:max val="600000"/>
          <c:min val="-150000"/>
        </c:scaling>
        <c:delete val="0"/>
        <c:axPos val="l"/>
        <c:majorGridlines>
          <c:spPr>
            <a:ln w="6350" cap="flat">
              <a:solidFill>
                <a:srgbClr val="26304F"/>
              </a:solidFill>
              <a:prstDash val="solid"/>
              <a:round/>
            </a:ln>
          </c:spPr>
        </c:majorGridlines>
        <c:numFmt formatCode="$#,##0,&quot;K&quot;;($#,##0,&quot;K&quot;)" sourceLinked="0"/>
        <c:majorTickMark val="out"/>
        <c:minorTickMark val="none"/>
        <c:tickLblPos val="nextTo"/>
        <c:spPr>
          <a:ln w="12700" cap="flat">
            <a:noFill/>
            <a:prstDash val="solid"/>
            <a:round/>
          </a:ln>
        </c:spPr>
        <c:txPr>
          <a:bodyPr/>
          <a:lstStyle/>
          <a:p>
            <a:pPr>
              <a:defRPr sz="1100" b="0" i="0" u="none" strike="noStrike">
                <a:solidFill>
                  <a:srgbClr val="9AA5C4"/>
                </a:solidFill>
                <a:latin typeface="Noto Sans KR"/>
                <a:ea typeface="Noto Sans KR"/>
              </a:defRPr>
            </a:pPr>
            <a:endParaRPr lang="en-US"/>
          </a:p>
        </c:txPr>
        <c:crossAx val="2094734554"/>
        <c:crosses val="autoZero"/>
        <c:crossBetween val="between"/>
        <c:majorUnit val="150000"/>
      </c:valAx>
      <c:spPr>
        <a:solidFill>
          <a:srgbClr val="141C36"/>
        </a:solidFill>
        <a:ln>
          <a:noFill/>
        </a:ln>
        <a:effectLst/>
      </c:spPr>
    </c:plotArea>
    <c:legend>
      <c:legendPos val="b"/>
      <c:overlay val="0"/>
      <c:txPr>
        <a:bodyPr/>
        <a:lstStyle/>
        <a:p>
          <a:pPr>
            <a:defRPr sz="1100">
              <a:solidFill>
                <a:srgbClr val="9AA5C4"/>
              </a:solidFill>
              <a:latin typeface="Noto Sans KR"/>
              <a:ea typeface="Noto Sans KR"/>
              <a:cs typeface="Noto Sans KR"/>
            </a:defRPr>
          </a:pPr>
          <a:endParaRPr lang="en-US"/>
        </a:p>
      </c:txPr>
    </c:legend>
    <c:plotVisOnly val="1"/>
    <c:dispBlanksAs val="gap"/>
  </c:chart>
  <c:spPr>
    <a:solidFill>
      <a:srgbClr val="141C36"/>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stacked"/>
        <c:varyColors val="0"/>
        <c:ser>
          <c:idx val="0"/>
          <c:order val="0"/>
          <c:tx>
            <c:strRef>
              <c:f>Sheet1!$B$1</c:f>
              <c:strCache>
                <c:ptCount val="1"/>
                <c:pt idx="0">
                  <c:v>하방</c:v>
                </c:pt>
              </c:strCache>
            </c:strRef>
          </c:tx>
          <c:spPr>
            <a:solidFill>
              <a:srgbClr val="FF4FD8"/>
            </a:solidFill>
            <a:effectLst/>
          </c:spPr>
          <c:invertIfNegative val="0"/>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cat>
            <c:multiLvlStrRef>
              <c:f>Sheet1!$A$2:$A$7</c:f>
              <c:multiLvlStrCache>
                <c:ptCount val="6"/>
                <c:lvl>
                  <c:pt idx="0">
                    <c:v>반품률</c:v>
                  </c:pt>
                  <c:pt idx="1">
                    <c:v>환율 (USD당 KRW)</c:v>
                  </c:pt>
                  <c:pt idx="2">
                    <c:v>광고비</c:v>
                  </c:pt>
                  <c:pt idx="3">
                    <c:v>ASP</c:v>
                  </c:pt>
                  <c:pt idx="4">
                    <c:v>관세율</c:v>
                  </c:pt>
                  <c:pt idx="5">
                    <c:v>공장 원가 (FOB)</c:v>
                  </c:pt>
                </c:lvl>
              </c:multiLvlStrCache>
            </c:multiLvlStrRef>
          </c:cat>
          <c:val>
            <c:numRef>
              <c:f>Sheet1!$B$2:$B$7</c:f>
              <c:numCache>
                <c:formatCode>General</c:formatCode>
                <c:ptCount val="6"/>
                <c:pt idx="0">
                  <c:v>-114406</c:v>
                </c:pt>
                <c:pt idx="1">
                  <c:v>-85094</c:v>
                </c:pt>
                <c:pt idx="2">
                  <c:v>-137287</c:v>
                </c:pt>
                <c:pt idx="3">
                  <c:v>-150502</c:v>
                </c:pt>
                <c:pt idx="4">
                  <c:v>-85094</c:v>
                </c:pt>
                <c:pt idx="5">
                  <c:v>-1958155</c:v>
                </c:pt>
              </c:numCache>
            </c:numRef>
          </c:val>
        </c:ser>
        <c:ser>
          <c:idx val="1"/>
          <c:order val="1"/>
          <c:tx>
            <c:strRef>
              <c:f>Sheet1!$C$1</c:f>
              <c:strCache>
                <c:ptCount val="1"/>
                <c:pt idx="0">
                  <c:v>상방</c:v>
                </c:pt>
              </c:strCache>
            </c:strRef>
          </c:tx>
          <c:spPr>
            <a:solidFill>
              <a:srgbClr val="3DDC97"/>
            </a:solidFill>
            <a:effectLst/>
          </c:spPr>
          <c:invertIfNegative val="0"/>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cat>
            <c:multiLvlStrRef>
              <c:f>Sheet1!$A$2:$A$7</c:f>
              <c:multiLvlStrCache>
                <c:ptCount val="6"/>
                <c:lvl>
                  <c:pt idx="0">
                    <c:v>반품률</c:v>
                  </c:pt>
                  <c:pt idx="1">
                    <c:v>환율 (USD당 KRW)</c:v>
                  </c:pt>
                  <c:pt idx="2">
                    <c:v>광고비</c:v>
                  </c:pt>
                  <c:pt idx="3">
                    <c:v>ASP</c:v>
                  </c:pt>
                  <c:pt idx="4">
                    <c:v>관세율</c:v>
                  </c:pt>
                  <c:pt idx="5">
                    <c:v>공장 원가 (FOB)</c:v>
                  </c:pt>
                </c:lvl>
              </c:multiLvlStrCache>
            </c:multiLvlStrRef>
          </c:cat>
          <c:val>
            <c:numRef>
              <c:f>Sheet1!$C$2:$C$7</c:f>
              <c:numCache>
                <c:formatCode>General</c:formatCode>
                <c:ptCount val="6"/>
                <c:pt idx="0">
                  <c:v>22881</c:v>
                </c:pt>
                <c:pt idx="1">
                  <c:v>65879</c:v>
                </c:pt>
                <c:pt idx="2">
                  <c:v>137287</c:v>
                </c:pt>
                <c:pt idx="3">
                  <c:v>150502</c:v>
                </c:pt>
                <c:pt idx="4">
                  <c:v>234858</c:v>
                </c:pt>
                <c:pt idx="5">
                  <c:v>119216</c:v>
                </c:pt>
              </c:numCache>
            </c:numRef>
          </c:val>
        </c:ser>
        <c:dLbls>
          <c:numFmt formatCode="#,##0" sourceLinked="0"/>
          <c:txPr>
            <a:bodyPr/>
            <a:lstStyle/>
            <a:p>
              <a:pPr>
                <a:defRPr b="0" i="0" strike="noStrike" sz="1100" u="none">
                  <a:solidFill>
                    <a:srgbClr val="F3F6FF"/>
                  </a:solidFill>
                  <a:latin typeface="Noto Sans KR"/>
                  <a:ea typeface="Noto Sans KR"/>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noFill/>
            <a:prstDash val="solid"/>
            <a:round/>
          </a:ln>
        </c:spPr>
        <c:txPr>
          <a:bodyPr/>
          <a:lstStyle/>
          <a:p>
            <a:pPr>
              <a:defRPr sz="1000" b="0" i="0" u="none" strike="noStrike">
                <a:solidFill>
                  <a:srgbClr val="9AA5C4"/>
                </a:solidFill>
                <a:latin typeface="Noto Sans KR"/>
                <a:ea typeface="Noto Sans KR"/>
              </a:defRPr>
            </a:pPr>
            <a:endParaRPr lang="en-US"/>
          </a:p>
        </c:txPr>
        <c:crossAx val="2094734552"/>
        <c:crosses val="autoZero"/>
        <c:auto val="1"/>
        <c:lblAlgn val="ctr"/>
        <c:noMultiLvlLbl val="1"/>
      </c:catAx>
      <c:valAx>
        <c:axId val="2094734552"/>
        <c:scaling>
          <c:orientation val="minMax"/>
          <c:max val="300000"/>
          <c:min val="-400000"/>
        </c:scaling>
        <c:delete val="0"/>
        <c:axPos val="b"/>
        <c:majorGridlines>
          <c:spPr>
            <a:ln w="6350" cap="flat">
              <a:solidFill>
                <a:srgbClr val="26304F"/>
              </a:solidFill>
              <a:prstDash val="solid"/>
              <a:round/>
            </a:ln>
          </c:spPr>
        </c:majorGridlines>
        <c:numFmt formatCode="$#,##0,&quot;K&quot;;($#,##0,&quot;K&quot;)" sourceLinked="0"/>
        <c:majorTickMark val="out"/>
        <c:minorTickMark val="none"/>
        <c:tickLblPos val="low"/>
        <c:spPr>
          <a:ln w="12700" cap="flat">
            <a:noFill/>
            <a:prstDash val="solid"/>
            <a:round/>
          </a:ln>
        </c:spPr>
        <c:txPr>
          <a:bodyPr/>
          <a:lstStyle/>
          <a:p>
            <a:pPr>
              <a:defRPr sz="1100" b="0" i="0" u="none" strike="noStrike">
                <a:solidFill>
                  <a:srgbClr val="9AA5C4"/>
                </a:solidFill>
                <a:latin typeface="Noto Sans KR"/>
                <a:ea typeface="Noto Sans KR"/>
              </a:defRPr>
            </a:pPr>
            <a:endParaRPr lang="en-US"/>
          </a:p>
        </c:txPr>
        <c:crossAx val="2094734554"/>
        <c:crosses val="autoZero"/>
        <c:crossBetween val="between"/>
        <c:majorUnit val="100000"/>
      </c:valAx>
      <c:spPr>
        <a:solidFill>
          <a:srgbClr val="141C36"/>
        </a:solidFill>
        <a:ln>
          <a:noFill/>
        </a:ln>
        <a:effectLst/>
      </c:spPr>
    </c:plotArea>
    <c:legend>
      <c:legendPos val="b"/>
      <c:overlay val="0"/>
      <c:txPr>
        <a:bodyPr/>
        <a:lstStyle/>
        <a:p>
          <a:pPr>
            <a:defRPr sz="1100">
              <a:solidFill>
                <a:srgbClr val="9AA5C4"/>
              </a:solidFill>
              <a:latin typeface="Noto Sans KR"/>
              <a:ea typeface="Noto Sans KR"/>
              <a:cs typeface="Noto Sans KR"/>
            </a:defRPr>
          </a:pPr>
          <a:endParaRPr lang="en-US"/>
        </a:p>
      </c:txPr>
    </c:legend>
    <c:plotVisOnly val="1"/>
    <c:dispBlanksAs val="span"/>
  </c:chart>
  <c:spPr>
    <a:solidFill>
      <a:srgbClr val="141C36"/>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 제안서는 Lucy에게 세 가지 결정을 요청합니다. 출시 자금 투입, Lucy 단독 소유의 Wyoming LLC 설립, 서면 중단 기준을 둔 90일 테스트입니다. 별도 표기가 없으면 수치는 재무 모델의 Medium 케이스입니다. 브랜드명은 아직 미정이므로 모든 곳에 BRAND로 표기합니다.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핵심 숫자 다섯 개입니다. 18개월 매출 $1.17M, 순이익 $153K, 손익분기 8개월차, 5년차 매출 $4.58M, 2개월차까지 필요한 신용한도 $116K. Low 케이스는 18개월 내 손익분기에 이르지 못하고 12개월차 중단 기준에 걸립니다. 가장 중요한 가정 두 가지는 공장 원가와 관세 품목분류입니다.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세 결정에는 순서가 있습니다. 해외직접투자 신고와 LLC 은행 계좌가 자금에 달려 있으므로 자금이 먼저, 법인이 두 번째, 테스트가 세 번째입니다. 각 결정에는 나중에 확인할 수 있도록 숫자가 붙어 있습니다. 오늘 결정하지 않는 항목은 보류일 뿐 잊지 않습니다.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섹션 구분 슬라이드입니다.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전략 전체가 하나의 물리적 사실에 기대고 있습니다. 48Gbps에서 패시브 구리선은 약 3 m에서 멈춥니다. 그 이상 길이에서는 액티브 전자 회로나 광섬유가 필요하고, 거기서는 범용 구리 케이블과의 가격 경쟁이 사라집니다. 액티브 케이블의 방향성은 실제 단점이지만 당사의 방향 오류 방지 설계가 이를 판매 포인트로 바꿉니다.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네 세그먼트가 장거리 HDMI를 사고, 모두 구리선으로는 제대로 충족되지 않습니다. 세그먼트 규모는 출처를 찾을 때까지 플레이스홀더로 두며 시장 규모를 지어내지 않습니다. 유일한 확정 데이터는 한국 거래 구성으로, 8K 짧은 길이가 가장 잘 팔리고 가장 많이 남는다는 점입니다.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사다리는 7 m에서 20 m 8K 케이블과 30 m 4K 케이블로 구성되며 모두 부모 ASIN 하나 아래에 있습니다. 주력은 $44.99의 10 m 8K 케이블입니다. 개당 순이익은 상향식 H2 원가 기준이므로 8월 모델의 착지 원가 38% 가정보다 좋습니다. 22번 슬라이드에서 둘을 함께 보여 줍니다.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섹션 구분 슬라이드입니다.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현재 SKU는 10개이고 5개를 출시합니다. 8K 25 m와 50 m, 남은 4K 3개 길이는 부모 ASIN에 리뷰가 쌓이면 뒤따릅니다. 로드맵 제품은 실제 공장 품목이지만 미국 출시 시점과 ASP 3% 상승은 경영진 추정입니다.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각 차별점은 모델의 숫자나 채널에 연결됩니다. 방향 오류 방지 설계는 반품률을 움직이고, 보증과 등록은 3년차 DTC 채널에 공급할 이메일 목록을 만들며, CL3와 분리형 헤드는 2년차 설치업체 채널을 엽니다. 공장 확인이 전제이지만 기존 라인 외에 새 금형은 필요하지 않습니다.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브랜드 아래에 소비자 라인 둘과 프로 라인 하나가 있고 각각 부모 ASIN 하나를 갖습니다. 명칭 규칙은 스타일이 아니라 라이선스 요건입니다. 상자에 버전 번호를 쓰면 압류를 부릅니다. 상표는 법인과 별개이며 미국 변호사가 출원해야 하고, 출원 중 상태로도 Brand Registry가 가능합니다.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섹션 구분 슬라이드입니다.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Wyoming은 비용이 적고 프라이버시가 높으며 주 소득세가 없습니다. Delaware는 투자자가 올 때만 값어치가 있습니다. 미국 세금을 0으로 유지하는 두 가지는 조세조약의 PE 규칙과 누가 계약에 서명하는지에 대한 원칙입니다. Form 5472는 잊기 쉬운 신고이고 벌금이 $25,000이므로 첫날부터 컴플라이언스 달력에 올립니다.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해외직접투자 신고는 늦게 할 수 없는 단계입니다. 자본 이체 뒤가 아니라 앞에 옵니다. 사후 보고는 정례 업무지만 일정에 올려야 합니다. 개인사업자 문제는 세무사의 몫이며, 제안서는 개인 소유를 가정하고 대안을 표시합니다.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컴플라이언스 항목 여섯 개 중 셋은 공장 문서를 기다리고 있습니다. 항구 압류는 모든 것을 한 번에 멈추는 유일한 실패이므로 HDMI Adopter 증빙과 FCC 보고서가 파일에 들어오기 전에는 아무것도 선적하지 않습니다. Medium 케이스의 보험 기준은 2개월차에 도달합니다.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관세 시나리오 셋이 계획의 범위를 정합니다. 사전 품목분류 심사(binding ruling) 신청은 1주차에 CBP로 가며 30에서 90일이 걸립니다. Fiber 분류는 18개월 순이익 약 $53K의 가치가 있고 자금 부족분을 줄입니다. Stress 케이스는 $19K의 비용입니다. 12.5% 강제노동 세율은 어느 쪽이든 적용되므로 계획은 이를 절대 빼지 않습니다.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섹션 구분 슬라이드입니다.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담당자와 주차가 붙은 열 단계입니다. 1. 브랜드명과 상표. Lucy, 변호사. 1주차에서 2주차 2. Wyoming LLC와 EIN, 법인명 정확히 일치. Lucy, 변호사. 1주차에서 2주차 3. 자본 이체 전 한국 해외직접투자 신고. Lucy, 세무사. 2주차 4. USD 은행 계좌 (Mercury 또는 Relay). Lucy, Mark. 2주차에서 3주차 5. 관세사, 연간 보증, 품목분류 사전심사 신청. Mark, 관세사. 1주차 6. 아마존 Professional 계정, 세금 인터뷰, Brand Registry. Lucy, Mark. 3주차에서 4주차 7. 테스트 재고: 주력 5개 SKU, 각 100에서 300개, 항공 DDP, 출발 전 QC. Lucy, 공장. 4주차에서 8주차 8. 리스팅, 이미지, A+ 콘텐츠, 영상, PPC. Mark, VA. 6주차에서 9주차 9. 90일 검증: 전환율, TACOS, 반품률, SKU별 공헌이익. Mark, Lucy. 10주차에서 22주차 10. 승자 SKU는 해상 운송으로 확대, 패자 SKU 삭제. Lucy, Mark, 3PL. 22주차 이후. 다른 모든 것을 가로막는 세 항목은 1주차의 관세사 선임과 품목분류 사전심사 신청, 자본 이체 전 해외직접투자 신고, Brand Registry 신청입니다. 10주차에서 22주차가 테스트 기간이고 게이트 결정은 22주차에 합니다.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게이트 숫자는 첫 발주 전에 적어 두어 나중에 다투지 않게 합니다. 중단 트리거는 하나면 충분하고 통과는 모든 기준을 요구합니다. Low 케이스는 90일에 REVIEW, 12개월차에 KILL로 읽힙니다. 모델 스스로 언제 멈출지 말해 준다는 점이 핵심입니다.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섹션 구분 슬라이드입니다.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주력 케이블 한 개가 아마존에서 $8.00 순이익을 내는 데 비해 한국 도매에서는 $1.86 매출총이익입니다. 같은 물리적 제품에서 네 배가 넘는 이익입니다. 워터폴은 8월 모델의 착지 원가 38% 가정을 쓰는데, H2 원가 기준보다는 보수적이고 Alibaba 벤치마크보다는 낙관적입니다.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모델은 8월 거래의 H2 매입 원가를 FOB 가치로 환산해 만들었습니다. 유사 케이블의 Alibaba 견적은 두세 배 높습니다. 실제 미국 물량 가격이 그 견적 근처라면 주력 SKU는 $44.99에서 적자이므로, 법인이나 계정을 열기 전에 공장의 서면 견적이 첫 번째 조치입니다.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차트는 Medium의 월별 매출과 순이익을 굵은 선으로, Low와 High를 가는 선으로 보여 줍니다. Medium은 8개월차에 누적 손익분기에 이르고 18개월차에 연환산 매출 $1.54M, 순이익률 17.2%으로 마칩니다. Low는 18개월 내 손익분기에 이르지 못하고 High는 5개월차에 이릅니다.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Medium 케이스는 5년차에 매출 $4.58M, 순이익률 13.4%로 $4M에서 $5M 목표 밴드 안에 있습니다. High는 $8.30M에 이르고, Low는 $768K에 순이익 ($2K)로 정체하는 중단 케이스입니다. 아마존 US는 매년 가장 큰 채널이지만 5년차에는 매출의 약 절반으로 내려갑니다.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각 밴드는 예측이 아니라 조건의 묶음입니다. Medium은 게이트 후 해상 운송, 30%, 20%, 12%의 수량 성장, 일정대로 채널 추가가 필요합니다. High는 Fiber 판정과 물량 단가가 더 필요합니다. Low는 Copper 세율, 항공 운송, 수량 정체, 리스팅 정지로 잃어버린 분기 하나가 겹친 결과입니다.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채널은 한 번에 하나씩, 앞선 게이트를 통과한 뒤에만 더합니다. eBay는 추가 비용이 거의 없고, B2B 프로그램은 Mark의 2년차 핵심 과제이며, DTC 사이트는 이메일 목록이 생길 때까지 기다립니다. 아마존 캐나다와 프로 라인은 미국 라인이 먼저 검증되어야 하므로 4년차입니다. 연도별 추가 채널: 1년차 아마존 US만, 부모 ASIN 하나 아래 주력 5개 SKU. 2년차 eBay와 Walmart 오버플로 ($122K)와 B2B 설치업체 프로그램 ($120K). 3년차 DTC 사이트 ($100K)와 로드맵 SKU. 4년차 아마존 캐나다 ($120K)와 프로 라인 ($150K). 5년차 모든 채널 확대, Temu는 선택 사항이며 기준 케이스 미포함.</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케이블 사업을 죽이는 것은 마진이 아니라 운전자본입니다. 4개월차부터 흑자인 Medium 케이스조차 재고를 두 달 반 앞서 사고 아마존이 14일 늦게 정산하기 때문에 12개월차에 $96K만큼 0 아래로 내려갑니다. 신용한도는 잔액이 처음 마이너스가 되기 전인 2개월차까지 확보해야 합니다.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8월 요청액은 $39K였습니다. 모델은 그 금액이 출시는 감당하지만 재고 증가는 감당하지 못한다고 말합니다. 정직한 숫자는 Medium 케이스에서 자본 $39K에 2개월차까지의 신용한도 $116K입니다. Low 케이스는 더 많은 돈이 필요한 뒤 12개월차 게이트에서 실패하므로, 중단 기준은 대표만큼 대출자도 보호합니다.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공장 원가가 다른 모든 동인을 압도하므로 서면 FOB 견적이 첫 번째 조치입니다. 그다음 관세 판정, ASP, 광고비가 각각 5년차 순이익을 약 $299K 움직입니다. 환율은 KRW 노출이 매입 가격뿐이어서 생각보다 영향이 적습니다.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모든 레버는 워크북의 가정 셀 하나에 대응하므로 각각 따로 검증할 수 있습니다. 판정, 해상 운송, FBA 크기 등급이 18개월 기준으로 가장 큰 가치가 있습니다. 레버 11과 12는 채널 레버라서 효과가 18개월 블록이 아니라 2년차와 3년차에 나타납니다.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플레이북은 일부러 좁게 잡았습니다. 장거리 광케이블 검색에서 이기고, 부모 ASIN 하나에 리뷰를 모으고, 첫 세 달에만 크게 씁니다. 각 카드는 30번 슬라이드의 레버를 가리켜 마케팅 활동과 모델 가정이 연결되게 합니다.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첫 두 해는 두 사람이 외부 전문가 넷과 함께 운영합니다. 조세조약상 지위가 조직도를 정합니다. 미국 사무실 없음, 미국 직원 없음, Mark는 LLC를 위해 계약에 서명하지 않습니다. 고정비는 컨설팅 리테이너와 VA가 더해지는 3년차 전까지 연 $17K 아래에 머뭅니다.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리스크 여덟 개 중 둘은 시작 전에 계획을 끝낼 수 있습니다. 공장 원가 격차와 라이선스 문서입니다. 나머지는 게이트, 자금 한도, 컴플라이언스 달력으로 관리합니다. 전체 등록부에는 점수와 트리거가 붙은 리스크가 25개 이상 있습니다.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결정 트리는 게이트를 기계적으로 만듭니다. 중단 트리거 다섯 개, 통과 테스트 여섯 개, 재검증 한 번. Plan B는 3년차 순이익 약 $50K로 작지만, 아마존이 실패해도 공장 관계와 한국 사업을 살려 둡니다.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요청은 네 가지입니다. 돈, 구조, 공장의 사실, 그리고 숫자가 멈추라고 하면 멈추는 원칙입니다. 그 대가로 Medium 케이스는 5년간 누적 순이익 $1.93M를 돌려줍니다. 공장 견적이 어긋나면 법인을 세우기 전에 요청을 거둡니다.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재고가 움직이기 전 30일의 준비 기간입니다. 1주차는 사실 확인과 선임, 2주차는 신고, 3주차는 돈과 계좌, 4주차는 아마존과 첫 발주입니다. 월요일의 세 행동이 나머지 모든 것을 풀어 줍니다.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제안서에 쓰인 모든 약어를 패키지 전체에서 공유하는 표현으로 정리했습니다. 같은 정의가 05_Operating_Processes와 09_Amazon_Listing_Kit에도 있어 모든 문서가 하나의 표현을 씁니다.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965960"/>
            <a:ext cx="8412480" cy="1463040"/>
          </a:xfrm>
          <a:prstGeom prst="rect">
            <a:avLst/>
          </a:prstGeom>
          <a:noFill/>
          <a:ln/>
        </p:spPr>
        <p:txBody>
          <a:bodyPr wrap="square" rtlCol="0"/>
          <a:lstStyle>
            <a:lvl1pPr algn="l" indent="0" marL="0">
              <a:buNone/>
              <a:defRPr lang="ko-KR" altLang="en-US" sz="4000" b="1" dirty="0">
                <a:solidFill>
                  <a:srgbClr val="F3F6FF"/>
                </a:solidFill>
              </a:defRPr>
            </a:lvl1pPr>
          </a:lstStyle>
          <a:p>
            <a:pPr algn="l" indent="0" marL="0">
              <a:buNone/>
            </a:pPr>
            <a:endParaRPr lang="ko-KR" altLang="en-US" sz="4000" dirty="0"/>
          </a:p>
        </p:txBody>
      </p:sp>
      <p:sp>
        <p:nvSpPr>
          <p:cNvPr id="3" name="Text 0"/>
          <p:cNvSpPr/>
          <p:nvPr>
            <p:ph idx="101" type="body" hasCustomPrompt="1"/>
          </p:nvPr>
        </p:nvSpPr>
        <p:spPr>
          <a:xfrm>
            <a:off x="685800" y="3520440"/>
            <a:ext cx="7863840" cy="1005840"/>
          </a:xfrm>
          <a:prstGeom prst="rect">
            <a:avLst/>
          </a:prstGeom>
          <a:noFill/>
          <a:ln/>
        </p:spPr>
        <p:txBody>
          <a:bodyPr wrap="square" rtlCol="0"/>
          <a:lstStyle>
            <a:lvl1pPr indent="0" marL="0">
              <a:buNone/>
              <a:defRPr lang="ko-KR" altLang="en-US" sz="1800" dirty="0">
                <a:solidFill>
                  <a:srgbClr val="9AA5C4"/>
                </a:solidFill>
              </a:defRPr>
            </a:lvl1pPr>
          </a:lstStyle>
          <a:p>
            <a:pPr indent="0" marL="0">
              <a:buNone/>
            </a:pPr>
            <a:endParaRPr lang="ko-KR" alt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3749040"/>
            <a:ext cx="9144000" cy="1005840"/>
          </a:xfrm>
          <a:prstGeom prst="rect">
            <a:avLst/>
          </a:prstGeom>
          <a:noFill/>
          <a:ln/>
        </p:spPr>
        <p:txBody>
          <a:bodyPr wrap="square" rtlCol="0"/>
          <a:lstStyle>
            <a:lvl1pPr algn="l" indent="0" marL="0">
              <a:buNone/>
              <a:defRPr lang="ko-KR" altLang="en-US" sz="3600" b="1" dirty="0">
                <a:solidFill>
                  <a:srgbClr val="F3F6FF"/>
                </a:solidFill>
              </a:defRPr>
            </a:lvl1pPr>
          </a:lstStyle>
          <a:p>
            <a:pPr algn="l" indent="0" marL="0">
              <a:buNone/>
            </a:pPr>
            <a:endParaRPr lang="ko-KR" altLang="en-US" sz="3600" dirty="0"/>
          </a:p>
        </p:txBody>
      </p:sp>
      <p:sp>
        <p:nvSpPr>
          <p:cNvPr id="3" name="Text 0"/>
          <p:cNvSpPr/>
          <p:nvPr>
            <p:ph idx="101" type="body" hasCustomPrompt="1"/>
          </p:nvPr>
        </p:nvSpPr>
        <p:spPr>
          <a:xfrm>
            <a:off x="685800" y="4800600"/>
            <a:ext cx="9144000" cy="457200"/>
          </a:xfrm>
          <a:prstGeom prst="rect">
            <a:avLst/>
          </a:prstGeom>
          <a:noFill/>
          <a:ln/>
        </p:spPr>
        <p:txBody>
          <a:bodyPr wrap="square" rtlCol="0"/>
          <a:lstStyle>
            <a:lvl1pPr indent="0" marL="0">
              <a:buNone/>
              <a:defRPr lang="ko-KR" altLang="en-US" sz="1600" dirty="0">
                <a:solidFill>
                  <a:srgbClr val="2DE2FF"/>
                </a:solidFill>
              </a:defRPr>
            </a:lvl1pPr>
          </a:lstStyle>
          <a:p>
            <a:pPr indent="0" marL="0">
              <a:buNone/>
            </a:pPr>
            <a:endParaRPr lang="ko-KR" altLang="en-US" sz="16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1003</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0A0F1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rtlCol="0"/>
          <a:lstStyle>
            <a:lvl1pPr indent="0" marL="0">
              <a:buNone/>
              <a:defRPr lang="ko-KR" altLang="en-US" sz="3200" b="1" dirty="0">
                <a:solidFill>
                  <a:srgbClr val="F3F6FF"/>
                </a:solidFill>
              </a:defRPr>
            </a:lvl1pPr>
          </a:lstStyle>
          <a:p>
            <a:pPr indent="0" marL="0">
              <a:buNone/>
            </a:pPr>
            <a:endParaRPr lang="ko-KR" altLang="en-US" sz="3200" dirty="0"/>
          </a:p>
        </p:txBody>
      </p:sp>
      <p:sp>
        <p:nvSpPr>
          <p:cNvPr id="3" name="Text 0"/>
          <p:cNvSpPr/>
          <p:nvPr/>
        </p:nvSpPr>
        <p:spPr>
          <a:xfrm>
            <a:off x="457200" y="6400800"/>
            <a:ext cx="10241280" cy="274320"/>
          </a:xfrm>
          <a:prstGeom prst="rect">
            <a:avLst/>
          </a:prstGeom>
          <a:noFill/>
          <a:ln/>
        </p:spPr>
        <p:txBody>
          <a:bodyPr wrap="square" lIns="0" tIns="0" rIns="0" bIns="0" rtlCol="0" anchor="ctr"/>
          <a:lstStyle/>
          <a:p>
            <a:pPr indent="0" marL="0">
              <a:buNone/>
            </a:pPr>
            <a:r>
              <a:rPr lang="ko-KR" altLang="en-US" sz="900" dirty="0">
                <a:solidFill>
                  <a:srgbClr val="9AA5C4"/>
                </a:solidFill>
              </a:rPr>
              <a:t>BRAND 미국 진출 제안. 수치는 03_Financial_Model_5Y.xlsx 기준이며 별도 표기가 없으면 Medium 케이스, 환율 USD당 1,430 KRW, Copper 관세입니다</a:t>
            </a:r>
            <a:endParaRPr lang="ko-KR" altLang="en-US" sz="9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1004</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null</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lt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4.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slideLayout" Target="../slideLayouts/slideLayout4.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4.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1325880"/>
            <a:ext cx="5486400" cy="548640"/>
          </a:xfrm>
          <a:prstGeom prst="rect">
            <a:avLst/>
          </a:prstGeom>
          <a:noFill/>
          <a:ln/>
        </p:spPr>
        <p:txBody>
          <a:bodyPr wrap="square" lIns="0" tIns="0" rIns="0" bIns="0" rtlCol="0" anchor="t"/>
          <a:lstStyle/>
          <a:p>
            <a:pPr algn="l" indent="0" marL="0">
              <a:buNone/>
            </a:pPr>
            <a:r>
              <a:rPr lang="ko-KR" altLang="en-US" sz="2400" b="1" spc="600" kern="0" dirty="0">
                <a:solidFill>
                  <a:schemeClr val="accent1"/>
                </a:solidFill>
              </a:rPr>
              <a:t>BRAND</a:t>
            </a:r>
            <a:endParaRPr lang="ko-KR" altLang="en-US" sz="2400" dirty="0"/>
          </a:p>
        </p:txBody>
      </p:sp>
      <p:sp>
        <p:nvSpPr>
          <p:cNvPr id="3" name="Text 0"/>
          <p:cNvSpPr/>
          <p:nvPr>
            <p:ph idx="100" type="title" hasCustomPrompt="1"/>
          </p:nvPr>
        </p:nvSpPr>
        <p:spPr>
          <a:xfrm>
            <a:off x="685800" y="1965960"/>
            <a:ext cx="8412480" cy="1463040"/>
          </a:xfrm>
          <a:prstGeom prst="rect">
            <a:avLst/>
          </a:prstGeom>
          <a:noFill/>
          <a:ln/>
        </p:spPr>
        <p:txBody>
          <a:bodyPr wrap="square" lIns="0" tIns="0" rIns="0" bIns="0" rtlCol="0" anchor="b"/>
          <a:lstStyle/>
          <a:p>
            <a:pPr algn="l" indent="0" marL="0">
              <a:buNone/>
            </a:pPr>
            <a:r>
              <a:rPr lang="ko-KR" altLang="en-US" sz="4000" b="1" dirty="0">
                <a:solidFill>
                  <a:srgbClr val="F3F6FF"/>
                </a:solidFill>
              </a:rPr>
              <a:t>케이블이 아니라 신호를 팝니다</a:t>
            </a:r>
            <a:endParaRPr lang="ko-KR" altLang="en-US" sz="4000" dirty="0"/>
          </a:p>
        </p:txBody>
      </p:sp>
      <p:sp>
        <p:nvSpPr>
          <p:cNvPr id="4" name="Text 0"/>
          <p:cNvSpPr/>
          <p:nvPr>
            <p:ph idx="101" type="body" hasCustomPrompt="1"/>
          </p:nvPr>
        </p:nvSpPr>
        <p:spPr>
          <a:xfrm>
            <a:off x="685800" y="3520440"/>
            <a:ext cx="7863840" cy="1005840"/>
          </a:xfrm>
          <a:prstGeom prst="rect">
            <a:avLst/>
          </a:prstGeom>
          <a:noFill/>
          <a:ln/>
        </p:spPr>
        <p:txBody>
          <a:bodyPr wrap="square" lIns="0" tIns="0" rIns="0" bIns="0" rtlCol="0" anchor="t"/>
          <a:lstStyle/>
          <a:p>
            <a:pPr indent="0" marL="0">
              <a:buNone/>
            </a:pPr>
            <a:r>
              <a:rPr lang="ko-KR" altLang="en-US" sz="1800" dirty="0">
                <a:solidFill>
                  <a:srgbClr val="9AA5C4"/>
                </a:solidFill>
              </a:rPr>
              <a:t>하이브리드 액티브 광 HDMI 케이블의 미국 진출 제안. 아마존 US를 시작으로 5년간 채널 4개를 더합니다.</a:t>
            </a:r>
            <a:endParaRPr lang="ko-KR" altLang="en-US" sz="1800" dirty="0"/>
          </a:p>
        </p:txBody>
      </p:sp>
      <p:sp>
        <p:nvSpPr>
          <p:cNvPr id="5" name="Shape 3"/>
          <p:cNvSpPr/>
          <p:nvPr/>
        </p:nvSpPr>
        <p:spPr>
          <a:xfrm>
            <a:off x="548640" y="5532120"/>
            <a:ext cx="9052560" cy="914400"/>
          </a:xfrm>
          <a:prstGeom prst="roundRect">
            <a:avLst>
              <a:gd name="adj" fmla="val 8000"/>
            </a:avLst>
          </a:prstGeom>
          <a:solidFill>
            <a:srgbClr val="0A0F1E">
              <a:alpha val="70000"/>
            </a:srgbClr>
          </a:solidFill>
          <a:ln w="12700">
            <a:solidFill>
              <a:srgbClr val="0A0F1E">
                <a:alpha val="70000"/>
              </a:srgbClr>
            </a:solidFill>
            <a:prstDash val="solid"/>
          </a:ln>
        </p:spPr>
      </p:sp>
      <p:sp>
        <p:nvSpPr>
          <p:cNvPr id="6" name="Text 4"/>
          <p:cNvSpPr txBox="1"/>
          <p:nvPr/>
        </p:nvSpPr>
        <p:spPr>
          <a:xfrm>
            <a:off x="685800" y="5623560"/>
            <a:ext cx="8686800" cy="320040"/>
          </a:xfrm>
          <a:prstGeom prst="rect">
            <a:avLst/>
          </a:prstGeom>
          <a:noFill/>
          <a:ln/>
        </p:spPr>
        <p:txBody>
          <a:bodyPr wrap="square" lIns="0" tIns="0" rIns="0" bIns="0" rtlCol="0" anchor="t"/>
          <a:lstStyle/>
          <a:p>
            <a:pPr algn="l" indent="0" marL="0">
              <a:buNone/>
            </a:pPr>
            <a:r>
              <a:rPr lang="ko-KR" altLang="en-US" sz="1200" dirty="0">
                <a:solidFill>
                  <a:schemeClr val="tx2"/>
                </a:solidFill>
              </a:rPr>
              <a:t>H2 Company (서울)와 BRAND LLC (Wyoming, 설립 예정). 대표: Lucy (Hyejin Yoo). 미국 운영 지원: Mark Taylor.</a:t>
            </a:r>
            <a:endParaRPr lang="ko-KR" altLang="en-US" sz="1200" dirty="0"/>
          </a:p>
        </p:txBody>
      </p:sp>
      <p:sp>
        <p:nvSpPr>
          <p:cNvPr id="7" name="Text 5"/>
          <p:cNvSpPr txBox="1"/>
          <p:nvPr/>
        </p:nvSpPr>
        <p:spPr>
          <a:xfrm>
            <a:off x="685800" y="5943600"/>
            <a:ext cx="8686800" cy="457200"/>
          </a:xfrm>
          <a:prstGeom prst="rect">
            <a:avLst/>
          </a:prstGeom>
          <a:noFill/>
          <a:ln/>
        </p:spPr>
        <p:txBody>
          <a:bodyPr wrap="square" lIns="0" tIns="0" rIns="0" bIns="0" rtlCol="0" anchor="t"/>
          <a:lstStyle/>
          <a:p>
            <a:pPr algn="l" indent="0" marL="0">
              <a:buNone/>
            </a:pPr>
            <a:r>
              <a:rPr lang="ko-KR" altLang="en-US" sz="1200" dirty="0">
                <a:solidFill>
                  <a:schemeClr val="tx2"/>
                </a:solidFill>
              </a:rPr>
              <a:t>작성 2026년 10월 8일. 모든 수치는 03_Financial_Model_5Y.xlsx에서 가져왔습니다. BRAND는 미국 브랜드명이 정해질 때까지 쓰는 임시 표기입니다.</a:t>
            </a:r>
            <a:endParaRPr lang="ko-KR" alt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숫자 다섯 개로 보는 요약</a:t>
            </a:r>
            <a:endParaRPr lang="ko-KR" altLang="en-US" sz="3200" dirty="0"/>
          </a:p>
        </p:txBody>
      </p:sp>
      <p:sp>
        <p:nvSpPr>
          <p:cNvPr id="4" name="card"/>
          <p:cNvSpPr/>
          <p:nvPr/>
        </p:nvSpPr>
        <p:spPr>
          <a:xfrm>
            <a:off x="457200" y="1188720"/>
            <a:ext cx="2036003" cy="1920240"/>
          </a:xfrm>
          <a:prstGeom prst="roundRect">
            <a:avLst>
              <a:gd name="adj" fmla="val 5714"/>
            </a:avLst>
          </a:prstGeom>
          <a:solidFill>
            <a:schemeClr val="bg2"/>
          </a:solidFill>
          <a:ln w="12700">
            <a:solidFill>
              <a:srgbClr val="141C36"/>
            </a:solidFill>
            <a:prstDash val="solid"/>
          </a:ln>
        </p:spPr>
      </p:sp>
      <p:sp>
        <p:nvSpPr>
          <p:cNvPr id="5" name="Text 2"/>
          <p:cNvSpPr txBox="1"/>
          <p:nvPr/>
        </p:nvSpPr>
        <p:spPr>
          <a:xfrm>
            <a:off x="640080" y="1325880"/>
            <a:ext cx="1670243" cy="685800"/>
          </a:xfrm>
          <a:prstGeom prst="rect">
            <a:avLst/>
          </a:prstGeom>
          <a:noFill/>
          <a:ln/>
        </p:spPr>
        <p:txBody>
          <a:bodyPr wrap="square" lIns="0" tIns="0" rIns="0" bIns="0" rtlCol="0" anchor="ctr"/>
          <a:lstStyle/>
          <a:p>
            <a:pPr algn="l" indent="0" marL="0">
              <a:buNone/>
            </a:pPr>
            <a:r>
              <a:rPr lang="ko-KR" altLang="en-US" sz="3000" b="1" dirty="0">
                <a:solidFill>
                  <a:schemeClr val="accent1"/>
                </a:solidFill>
              </a:rPr>
              <a:t>$1.17M</a:t>
            </a:r>
            <a:endParaRPr lang="ko-KR" altLang="en-US" sz="3000" dirty="0"/>
          </a:p>
        </p:txBody>
      </p:sp>
      <p:sp>
        <p:nvSpPr>
          <p:cNvPr id="6" name="Text 3"/>
          <p:cNvSpPr txBox="1"/>
          <p:nvPr/>
        </p:nvSpPr>
        <p:spPr>
          <a:xfrm>
            <a:off x="640080" y="2057400"/>
            <a:ext cx="1670243" cy="548640"/>
          </a:xfrm>
          <a:prstGeom prst="rect">
            <a:avLst/>
          </a:prstGeom>
          <a:noFill/>
          <a:ln/>
        </p:spPr>
        <p:txBody>
          <a:bodyPr wrap="square" lIns="0" tIns="0" rIns="0" bIns="0" rtlCol="0" anchor="t"/>
          <a:lstStyle/>
          <a:p>
            <a:pPr algn="l" indent="0" marL="0">
              <a:buNone/>
            </a:pPr>
            <a:r>
              <a:rPr lang="ko-KR" altLang="en-US" sz="1300" dirty="0">
                <a:solidFill>
                  <a:schemeClr val="tx1"/>
                </a:solidFill>
              </a:rPr>
              <a:t>18개월 아마존 US 매출, Medium(기준)</a:t>
            </a:r>
            <a:endParaRPr lang="ko-KR" altLang="en-US" sz="1300" dirty="0"/>
          </a:p>
        </p:txBody>
      </p:sp>
      <p:sp>
        <p:nvSpPr>
          <p:cNvPr id="7" name="Text 4"/>
          <p:cNvSpPr txBox="1"/>
          <p:nvPr/>
        </p:nvSpPr>
        <p:spPr>
          <a:xfrm>
            <a:off x="640080" y="2560320"/>
            <a:ext cx="1670243" cy="457200"/>
          </a:xfrm>
          <a:prstGeom prst="rect">
            <a:avLst/>
          </a:prstGeom>
          <a:noFill/>
          <a:ln/>
        </p:spPr>
        <p:txBody>
          <a:bodyPr wrap="square" lIns="0" tIns="0" rIns="0" bIns="0" rtlCol="0" anchor="t"/>
          <a:lstStyle/>
          <a:p>
            <a:pPr algn="l" indent="0" marL="0">
              <a:buNone/>
            </a:pPr>
            <a:r>
              <a:rPr lang="ko-KR" altLang="en-US" sz="1100" dirty="0">
                <a:solidFill>
                  <a:schemeClr val="tx2"/>
                </a:solidFill>
              </a:rPr>
              <a:t>Low(보수) $633K, High(낙관) $1.85M</a:t>
            </a:r>
            <a:endParaRPr lang="ko-KR" altLang="en-US" sz="1100" dirty="0"/>
          </a:p>
        </p:txBody>
      </p:sp>
      <p:sp>
        <p:nvSpPr>
          <p:cNvPr id="8" name="card"/>
          <p:cNvSpPr/>
          <p:nvPr/>
        </p:nvSpPr>
        <p:spPr>
          <a:xfrm>
            <a:off x="2767523" y="1188720"/>
            <a:ext cx="2036003" cy="1920240"/>
          </a:xfrm>
          <a:prstGeom prst="roundRect">
            <a:avLst>
              <a:gd name="adj" fmla="val 5714"/>
            </a:avLst>
          </a:prstGeom>
          <a:solidFill>
            <a:schemeClr val="bg2"/>
          </a:solidFill>
          <a:ln w="12700">
            <a:solidFill>
              <a:srgbClr val="141C36"/>
            </a:solidFill>
            <a:prstDash val="solid"/>
          </a:ln>
        </p:spPr>
      </p:sp>
      <p:sp>
        <p:nvSpPr>
          <p:cNvPr id="9" name="Text 6"/>
          <p:cNvSpPr txBox="1"/>
          <p:nvPr/>
        </p:nvSpPr>
        <p:spPr>
          <a:xfrm>
            <a:off x="2950403" y="1325880"/>
            <a:ext cx="1670243" cy="685800"/>
          </a:xfrm>
          <a:prstGeom prst="rect">
            <a:avLst/>
          </a:prstGeom>
          <a:noFill/>
          <a:ln/>
        </p:spPr>
        <p:txBody>
          <a:bodyPr wrap="square" lIns="0" tIns="0" rIns="0" bIns="0" rtlCol="0" anchor="ctr"/>
          <a:lstStyle/>
          <a:p>
            <a:pPr algn="l" indent="0" marL="0">
              <a:buNone/>
            </a:pPr>
            <a:r>
              <a:rPr lang="ko-KR" altLang="en-US" sz="3000" b="1" dirty="0">
                <a:solidFill>
                  <a:schemeClr val="accent4"/>
                </a:solidFill>
              </a:rPr>
              <a:t>$153K</a:t>
            </a:r>
            <a:endParaRPr lang="ko-KR" altLang="en-US" sz="3000" dirty="0"/>
          </a:p>
        </p:txBody>
      </p:sp>
      <p:sp>
        <p:nvSpPr>
          <p:cNvPr id="10" name="Text 7"/>
          <p:cNvSpPr txBox="1"/>
          <p:nvPr/>
        </p:nvSpPr>
        <p:spPr>
          <a:xfrm>
            <a:off x="2950403" y="2057400"/>
            <a:ext cx="1670243" cy="548640"/>
          </a:xfrm>
          <a:prstGeom prst="rect">
            <a:avLst/>
          </a:prstGeom>
          <a:noFill/>
          <a:ln/>
        </p:spPr>
        <p:txBody>
          <a:bodyPr wrap="square" lIns="0" tIns="0" rIns="0" bIns="0" rtlCol="0" anchor="t"/>
          <a:lstStyle/>
          <a:p>
            <a:pPr algn="l" indent="0" marL="0">
              <a:buNone/>
            </a:pPr>
            <a:r>
              <a:rPr lang="ko-KR" altLang="en-US" sz="1300" dirty="0">
                <a:solidFill>
                  <a:schemeClr val="tx1"/>
                </a:solidFill>
              </a:rPr>
              <a:t>18개월 순이익, 순이익률 13.1%</a:t>
            </a:r>
            <a:endParaRPr lang="ko-KR" altLang="en-US" sz="1300" dirty="0"/>
          </a:p>
        </p:txBody>
      </p:sp>
      <p:sp>
        <p:nvSpPr>
          <p:cNvPr id="11" name="Text 8"/>
          <p:cNvSpPr txBox="1"/>
          <p:nvPr/>
        </p:nvSpPr>
        <p:spPr>
          <a:xfrm>
            <a:off x="2950403" y="2560320"/>
            <a:ext cx="1670243" cy="457200"/>
          </a:xfrm>
          <a:prstGeom prst="rect">
            <a:avLst/>
          </a:prstGeom>
          <a:noFill/>
          <a:ln/>
        </p:spPr>
        <p:txBody>
          <a:bodyPr wrap="square" lIns="0" tIns="0" rIns="0" bIns="0" rtlCol="0" anchor="t"/>
          <a:lstStyle/>
          <a:p>
            <a:pPr algn="l" indent="0" marL="0">
              <a:buNone/>
            </a:pPr>
            <a:r>
              <a:rPr lang="ko-KR" altLang="en-US" sz="1100" dirty="0">
                <a:solidFill>
                  <a:schemeClr val="tx2"/>
                </a:solidFill>
              </a:rPr>
              <a:t>Low ($20K), High $447K</a:t>
            </a:r>
            <a:endParaRPr lang="ko-KR" altLang="en-US" sz="1100" dirty="0"/>
          </a:p>
        </p:txBody>
      </p:sp>
      <p:sp>
        <p:nvSpPr>
          <p:cNvPr id="12" name="card"/>
          <p:cNvSpPr/>
          <p:nvPr/>
        </p:nvSpPr>
        <p:spPr>
          <a:xfrm>
            <a:off x="5077846" y="1188720"/>
            <a:ext cx="2036003" cy="1920240"/>
          </a:xfrm>
          <a:prstGeom prst="roundRect">
            <a:avLst>
              <a:gd name="adj" fmla="val 5714"/>
            </a:avLst>
          </a:prstGeom>
          <a:solidFill>
            <a:schemeClr val="bg2"/>
          </a:solidFill>
          <a:ln w="12700">
            <a:solidFill>
              <a:srgbClr val="141C36"/>
            </a:solidFill>
            <a:prstDash val="solid"/>
          </a:ln>
        </p:spPr>
      </p:sp>
      <p:sp>
        <p:nvSpPr>
          <p:cNvPr id="13" name="Text 10"/>
          <p:cNvSpPr txBox="1"/>
          <p:nvPr/>
        </p:nvSpPr>
        <p:spPr>
          <a:xfrm>
            <a:off x="5260726" y="1325880"/>
            <a:ext cx="1670243" cy="685800"/>
          </a:xfrm>
          <a:prstGeom prst="rect">
            <a:avLst/>
          </a:prstGeom>
          <a:noFill/>
          <a:ln/>
        </p:spPr>
        <p:txBody>
          <a:bodyPr wrap="square" lIns="0" tIns="0" rIns="0" bIns="0" rtlCol="0" anchor="ctr"/>
          <a:lstStyle/>
          <a:p>
            <a:pPr algn="l" indent="0" marL="0">
              <a:buNone/>
            </a:pPr>
            <a:r>
              <a:rPr lang="ko-KR" altLang="en-US" sz="3000" b="1" dirty="0">
                <a:solidFill>
                  <a:schemeClr val="accent1"/>
                </a:solidFill>
              </a:rPr>
              <a:t>8개월차</a:t>
            </a:r>
            <a:endParaRPr lang="ko-KR" altLang="en-US" sz="3000" dirty="0"/>
          </a:p>
        </p:txBody>
      </p:sp>
      <p:sp>
        <p:nvSpPr>
          <p:cNvPr id="14" name="Text 11"/>
          <p:cNvSpPr txBox="1"/>
          <p:nvPr/>
        </p:nvSpPr>
        <p:spPr>
          <a:xfrm>
            <a:off x="5260726" y="2057400"/>
            <a:ext cx="1670243" cy="548640"/>
          </a:xfrm>
          <a:prstGeom prst="rect">
            <a:avLst/>
          </a:prstGeom>
          <a:noFill/>
          <a:ln/>
        </p:spPr>
        <p:txBody>
          <a:bodyPr wrap="square" lIns="0" tIns="0" rIns="0" bIns="0" rtlCol="0" anchor="t"/>
          <a:lstStyle/>
          <a:p>
            <a:pPr algn="l" indent="0" marL="0">
              <a:buNone/>
            </a:pPr>
            <a:r>
              <a:rPr lang="ko-KR" altLang="en-US" sz="1300" dirty="0">
                <a:solidFill>
                  <a:schemeClr val="tx1"/>
                </a:solidFill>
              </a:rPr>
              <a:t>누적 손익분기</a:t>
            </a:r>
            <a:endParaRPr lang="ko-KR" altLang="en-US" sz="1300" dirty="0"/>
          </a:p>
        </p:txBody>
      </p:sp>
      <p:sp>
        <p:nvSpPr>
          <p:cNvPr id="15" name="Text 12"/>
          <p:cNvSpPr txBox="1"/>
          <p:nvPr/>
        </p:nvSpPr>
        <p:spPr>
          <a:xfrm>
            <a:off x="5260726" y="2560320"/>
            <a:ext cx="1670243" cy="457200"/>
          </a:xfrm>
          <a:prstGeom prst="rect">
            <a:avLst/>
          </a:prstGeom>
          <a:noFill/>
          <a:ln/>
        </p:spPr>
        <p:txBody>
          <a:bodyPr wrap="square" lIns="0" tIns="0" rIns="0" bIns="0" rtlCol="0" anchor="t"/>
          <a:lstStyle/>
          <a:p>
            <a:pPr algn="l" indent="0" marL="0">
              <a:buNone/>
            </a:pPr>
            <a:r>
              <a:rPr lang="ko-KR" altLang="en-US" sz="1100" dirty="0">
                <a:solidFill>
                  <a:schemeClr val="tx2"/>
                </a:solidFill>
              </a:rPr>
              <a:t>High 5개월차, Low는 18개월 내 없음</a:t>
            </a:r>
            <a:endParaRPr lang="ko-KR" altLang="en-US" sz="1100" dirty="0"/>
          </a:p>
        </p:txBody>
      </p:sp>
      <p:sp>
        <p:nvSpPr>
          <p:cNvPr id="16" name="card"/>
          <p:cNvSpPr/>
          <p:nvPr/>
        </p:nvSpPr>
        <p:spPr>
          <a:xfrm>
            <a:off x="7388169" y="1188720"/>
            <a:ext cx="2036003" cy="1920240"/>
          </a:xfrm>
          <a:prstGeom prst="roundRect">
            <a:avLst>
              <a:gd name="adj" fmla="val 5714"/>
            </a:avLst>
          </a:prstGeom>
          <a:solidFill>
            <a:schemeClr val="bg2"/>
          </a:solidFill>
          <a:ln w="12700">
            <a:solidFill>
              <a:srgbClr val="141C36"/>
            </a:solidFill>
            <a:prstDash val="solid"/>
          </a:ln>
        </p:spPr>
      </p:sp>
      <p:sp>
        <p:nvSpPr>
          <p:cNvPr id="17" name="Text 14"/>
          <p:cNvSpPr txBox="1"/>
          <p:nvPr/>
        </p:nvSpPr>
        <p:spPr>
          <a:xfrm>
            <a:off x="7571049" y="1325880"/>
            <a:ext cx="1670243" cy="685800"/>
          </a:xfrm>
          <a:prstGeom prst="rect">
            <a:avLst/>
          </a:prstGeom>
          <a:noFill/>
          <a:ln/>
        </p:spPr>
        <p:txBody>
          <a:bodyPr wrap="square" lIns="0" tIns="0" rIns="0" bIns="0" rtlCol="0" anchor="ctr"/>
          <a:lstStyle/>
          <a:p>
            <a:pPr algn="l" indent="0" marL="0">
              <a:buNone/>
            </a:pPr>
            <a:r>
              <a:rPr lang="ko-KR" altLang="en-US" sz="3000" b="1" dirty="0">
                <a:solidFill>
                  <a:schemeClr val="accent4"/>
                </a:solidFill>
              </a:rPr>
              <a:t>$4.58M</a:t>
            </a:r>
            <a:endParaRPr lang="ko-KR" altLang="en-US" sz="3000" dirty="0"/>
          </a:p>
        </p:txBody>
      </p:sp>
      <p:sp>
        <p:nvSpPr>
          <p:cNvPr id="18" name="Text 15"/>
          <p:cNvSpPr txBox="1"/>
          <p:nvPr/>
        </p:nvSpPr>
        <p:spPr>
          <a:xfrm>
            <a:off x="7571049" y="2057400"/>
            <a:ext cx="1670243" cy="548640"/>
          </a:xfrm>
          <a:prstGeom prst="rect">
            <a:avLst/>
          </a:prstGeom>
          <a:noFill/>
          <a:ln/>
        </p:spPr>
        <p:txBody>
          <a:bodyPr wrap="square" lIns="0" tIns="0" rIns="0" bIns="0" rtlCol="0" anchor="t"/>
          <a:lstStyle/>
          <a:p>
            <a:pPr algn="l" indent="0" marL="0">
              <a:buNone/>
            </a:pPr>
            <a:r>
              <a:rPr lang="ko-KR" altLang="en-US" sz="1300" dirty="0">
                <a:solidFill>
                  <a:schemeClr val="tx1"/>
                </a:solidFill>
              </a:rPr>
              <a:t>5년차 매출, 순이익률 13.4%</a:t>
            </a:r>
            <a:endParaRPr lang="ko-KR" altLang="en-US" sz="1300" dirty="0"/>
          </a:p>
        </p:txBody>
      </p:sp>
      <p:sp>
        <p:nvSpPr>
          <p:cNvPr id="19" name="Text 16"/>
          <p:cNvSpPr txBox="1"/>
          <p:nvPr/>
        </p:nvSpPr>
        <p:spPr>
          <a:xfrm>
            <a:off x="7571049" y="2560320"/>
            <a:ext cx="1670243" cy="457200"/>
          </a:xfrm>
          <a:prstGeom prst="rect">
            <a:avLst/>
          </a:prstGeom>
          <a:noFill/>
          <a:ln/>
        </p:spPr>
        <p:txBody>
          <a:bodyPr wrap="square" lIns="0" tIns="0" rIns="0" bIns="0" rtlCol="0" anchor="t"/>
          <a:lstStyle/>
          <a:p>
            <a:pPr algn="l" indent="0" marL="0">
              <a:buNone/>
            </a:pPr>
            <a:r>
              <a:rPr lang="ko-KR" altLang="en-US" sz="1100" dirty="0">
                <a:solidFill>
                  <a:schemeClr val="tx2"/>
                </a:solidFill>
              </a:rPr>
              <a:t>High $8.30M, Low $768K</a:t>
            </a:r>
            <a:endParaRPr lang="ko-KR" altLang="en-US" sz="1100" dirty="0"/>
          </a:p>
        </p:txBody>
      </p:sp>
      <p:sp>
        <p:nvSpPr>
          <p:cNvPr id="20" name="card"/>
          <p:cNvSpPr/>
          <p:nvPr/>
        </p:nvSpPr>
        <p:spPr>
          <a:xfrm>
            <a:off x="9698492" y="1188720"/>
            <a:ext cx="2036003" cy="1920240"/>
          </a:xfrm>
          <a:prstGeom prst="roundRect">
            <a:avLst>
              <a:gd name="adj" fmla="val 5714"/>
            </a:avLst>
          </a:prstGeom>
          <a:solidFill>
            <a:schemeClr val="bg2"/>
          </a:solidFill>
          <a:ln w="12700">
            <a:solidFill>
              <a:srgbClr val="141C36"/>
            </a:solidFill>
            <a:prstDash val="solid"/>
          </a:ln>
        </p:spPr>
      </p:sp>
      <p:sp>
        <p:nvSpPr>
          <p:cNvPr id="21" name="Text 18"/>
          <p:cNvSpPr txBox="1"/>
          <p:nvPr/>
        </p:nvSpPr>
        <p:spPr>
          <a:xfrm>
            <a:off x="9881372" y="1325880"/>
            <a:ext cx="1670243" cy="685800"/>
          </a:xfrm>
          <a:prstGeom prst="rect">
            <a:avLst/>
          </a:prstGeom>
          <a:noFill/>
          <a:ln/>
        </p:spPr>
        <p:txBody>
          <a:bodyPr wrap="square" lIns="0" tIns="0" rIns="0" bIns="0" rtlCol="0" anchor="ctr"/>
          <a:lstStyle/>
          <a:p>
            <a:pPr algn="l" indent="0" marL="0">
              <a:buNone/>
            </a:pPr>
            <a:r>
              <a:rPr lang="ko-KR" altLang="en-US" sz="3000" b="1" dirty="0">
                <a:solidFill>
                  <a:schemeClr val="accent5"/>
                </a:solidFill>
              </a:rPr>
              <a:t>$116K</a:t>
            </a:r>
            <a:endParaRPr lang="ko-KR" altLang="en-US" sz="3000" dirty="0"/>
          </a:p>
        </p:txBody>
      </p:sp>
      <p:sp>
        <p:nvSpPr>
          <p:cNvPr id="22" name="Text 19"/>
          <p:cNvSpPr txBox="1"/>
          <p:nvPr/>
        </p:nvSpPr>
        <p:spPr>
          <a:xfrm>
            <a:off x="9881372" y="2057400"/>
            <a:ext cx="1670243" cy="548640"/>
          </a:xfrm>
          <a:prstGeom prst="rect">
            <a:avLst/>
          </a:prstGeom>
          <a:noFill/>
          <a:ln/>
        </p:spPr>
        <p:txBody>
          <a:bodyPr wrap="square" lIns="0" tIns="0" rIns="0" bIns="0" rtlCol="0" anchor="t"/>
          <a:lstStyle/>
          <a:p>
            <a:pPr algn="l" indent="0" marL="0">
              <a:buNone/>
            </a:pPr>
            <a:r>
              <a:rPr lang="ko-KR" altLang="en-US" sz="1300" dirty="0">
                <a:solidFill>
                  <a:schemeClr val="tx1"/>
                </a:solidFill>
              </a:rPr>
              <a:t>2개월차까지 필요한 신용한도</a:t>
            </a:r>
            <a:endParaRPr lang="ko-KR" altLang="en-US" sz="1300" dirty="0"/>
          </a:p>
        </p:txBody>
      </p:sp>
      <p:sp>
        <p:nvSpPr>
          <p:cNvPr id="23" name="Text 20"/>
          <p:cNvSpPr txBox="1"/>
          <p:nvPr/>
        </p:nvSpPr>
        <p:spPr>
          <a:xfrm>
            <a:off x="9881372" y="2560320"/>
            <a:ext cx="1670243" cy="457200"/>
          </a:xfrm>
          <a:prstGeom prst="rect">
            <a:avLst/>
          </a:prstGeom>
          <a:noFill/>
          <a:ln/>
        </p:spPr>
        <p:txBody>
          <a:bodyPr wrap="square" lIns="0" tIns="0" rIns="0" bIns="0" rtlCol="0" anchor="t"/>
          <a:lstStyle/>
          <a:p>
            <a:pPr algn="l" indent="0" marL="0">
              <a:buNone/>
            </a:pPr>
            <a:r>
              <a:rPr lang="ko-KR" altLang="en-US" sz="1100" dirty="0">
                <a:solidFill>
                  <a:schemeClr val="tx2"/>
                </a:solidFill>
              </a:rPr>
              <a:t>최대 현금 소요 $96K (12개월차)</a:t>
            </a:r>
            <a:endParaRPr lang="ko-KR" altLang="en-US" sz="1100" dirty="0"/>
          </a:p>
        </p:txBody>
      </p:sp>
      <p:sp>
        <p:nvSpPr>
          <p:cNvPr id="24" name="card"/>
          <p:cNvSpPr/>
          <p:nvPr/>
        </p:nvSpPr>
        <p:spPr>
          <a:xfrm>
            <a:off x="457200" y="3383280"/>
            <a:ext cx="11277295" cy="2834640"/>
          </a:xfrm>
          <a:prstGeom prst="roundRect">
            <a:avLst>
              <a:gd name="adj" fmla="val 3871"/>
            </a:avLst>
          </a:prstGeom>
          <a:solidFill>
            <a:schemeClr val="bg2"/>
          </a:solidFill>
          <a:ln w="12700">
            <a:solidFill>
              <a:srgbClr val="141C36"/>
            </a:solidFill>
            <a:prstDash val="solid"/>
          </a:ln>
        </p:spPr>
      </p:sp>
      <p:sp>
        <p:nvSpPr>
          <p:cNvPr id="25" name="Shape 22"/>
          <p:cNvSpPr/>
          <p:nvPr/>
        </p:nvSpPr>
        <p:spPr>
          <a:xfrm>
            <a:off x="685800" y="3611880"/>
            <a:ext cx="548640" cy="548640"/>
          </a:xfrm>
          <a:prstGeom prst="ellipse">
            <a:avLst/>
          </a:prstGeom>
          <a:solidFill>
            <a:srgbClr val="1B2447"/>
          </a:solidFill>
          <a:ln w="12700">
            <a:solidFill>
              <a:srgbClr val="1B2447"/>
            </a:solidFill>
            <a:prstDash val="solid"/>
          </a:ln>
        </p:spPr>
      </p:sp>
      <p:pic>
        <p:nvPicPr>
          <p:cNvPr id="26" name="Image 0" descr="preencoded.png">    </p:cNvPr>
          <p:cNvPicPr>
            <a:picLocks noChangeAspect="1"/>
          </p:cNvPicPr>
          <p:nvPr/>
        </p:nvPicPr>
        <p:blipFill>
          <a:blip r:embed="rId1"/>
          <a:stretch>
            <a:fillRect/>
          </a:stretch>
        </p:blipFill>
        <p:spPr>
          <a:xfrm>
            <a:off x="806501" y="3732581"/>
            <a:ext cx="307238" cy="307238"/>
          </a:xfrm>
          <a:prstGeom prst="rect">
            <a:avLst/>
          </a:prstGeom>
        </p:spPr>
      </p:pic>
      <p:sp>
        <p:nvSpPr>
          <p:cNvPr id="27" name="Text 23"/>
          <p:cNvSpPr txBox="1"/>
          <p:nvPr/>
        </p:nvSpPr>
        <p:spPr>
          <a:xfrm>
            <a:off x="1463040" y="3566160"/>
            <a:ext cx="9997135" cy="777240"/>
          </a:xfrm>
          <a:prstGeom prst="rect">
            <a:avLst/>
          </a:prstGeom>
          <a:noFill/>
          <a:ln/>
        </p:spPr>
        <p:txBody>
          <a:bodyPr wrap="square" lIns="0" tIns="0" rIns="0" bIns="0" rtlCol="0" anchor="ctr"/>
          <a:lstStyle/>
          <a:p>
            <a:pPr algn="l" indent="0" marL="0">
              <a:buNone/>
            </a:pPr>
            <a:r>
              <a:rPr lang="ko-KR" altLang="en-US" sz="1400" dirty="0">
                <a:solidFill>
                  <a:schemeClr val="tx1"/>
                </a:solidFill>
              </a:rPr>
              <a:t>무엇을 파는가: 48Gbps에서 구리선이 3 m를 넘으면 물리적으로 한계에 이르는 장거리 광 HDMI입니다. $8 구리 케이블과는 경쟁하지 않습니다.</a:t>
            </a:r>
            <a:endParaRPr lang="ko-KR" altLang="en-US" sz="1400" dirty="0"/>
          </a:p>
        </p:txBody>
      </p:sp>
      <p:sp>
        <p:nvSpPr>
          <p:cNvPr id="28" name="Shape 24"/>
          <p:cNvSpPr/>
          <p:nvPr/>
        </p:nvSpPr>
        <p:spPr>
          <a:xfrm>
            <a:off x="685800" y="4480560"/>
            <a:ext cx="548640" cy="548640"/>
          </a:xfrm>
          <a:prstGeom prst="ellipse">
            <a:avLst/>
          </a:prstGeom>
          <a:solidFill>
            <a:srgbClr val="1B2447"/>
          </a:solidFill>
          <a:ln w="12700">
            <a:solidFill>
              <a:srgbClr val="1B2447"/>
            </a:solidFill>
            <a:prstDash val="solid"/>
          </a:ln>
        </p:spPr>
      </p:sp>
      <p:pic>
        <p:nvPicPr>
          <p:cNvPr id="29" name="Image 1" descr="preencoded.png">    </p:cNvPr>
          <p:cNvPicPr>
            <a:picLocks noChangeAspect="1"/>
          </p:cNvPicPr>
          <p:nvPr/>
        </p:nvPicPr>
        <p:blipFill>
          <a:blip r:embed="rId2"/>
          <a:stretch>
            <a:fillRect/>
          </a:stretch>
        </p:blipFill>
        <p:spPr>
          <a:xfrm>
            <a:off x="806501" y="4601261"/>
            <a:ext cx="307238" cy="307238"/>
          </a:xfrm>
          <a:prstGeom prst="rect">
            <a:avLst/>
          </a:prstGeom>
        </p:spPr>
      </p:pic>
      <p:sp>
        <p:nvSpPr>
          <p:cNvPr id="30" name="Text 25"/>
          <p:cNvSpPr txBox="1"/>
          <p:nvPr/>
        </p:nvSpPr>
        <p:spPr>
          <a:xfrm>
            <a:off x="1463040" y="4434840"/>
            <a:ext cx="9997135" cy="777240"/>
          </a:xfrm>
          <a:prstGeom prst="rect">
            <a:avLst/>
          </a:prstGeom>
          <a:noFill/>
          <a:ln/>
        </p:spPr>
        <p:txBody>
          <a:bodyPr wrap="square" lIns="0" tIns="0" rIns="0" bIns="0" rtlCol="0" anchor="ctr"/>
          <a:lstStyle/>
          <a:p>
            <a:pPr algn="l" indent="0" marL="0">
              <a:buNone/>
            </a:pPr>
            <a:r>
              <a:rPr lang="ko-KR" altLang="en-US" sz="1400" dirty="0">
                <a:solidFill>
                  <a:schemeClr val="tx1"/>
                </a:solidFill>
              </a:rPr>
              <a:t>어디서: 아마존 US에서 부모 ASIN(Amazon Standard Identification Number) 하나 아래 주력 SKU(재고 관리 단위) 5개로 시작하고, 이후 eBay와 Walmart 오버플로, B2B(기업 간 거래) 설치업체, DTC(소비자 직접 판매) 사이트, 아마존 캐나다, 프로 라인을 더합니다.</a:t>
            </a:r>
            <a:endParaRPr lang="ko-KR" altLang="en-US" sz="1400" dirty="0"/>
          </a:p>
        </p:txBody>
      </p:sp>
      <p:sp>
        <p:nvSpPr>
          <p:cNvPr id="31" name="Shape 26"/>
          <p:cNvSpPr/>
          <p:nvPr/>
        </p:nvSpPr>
        <p:spPr>
          <a:xfrm>
            <a:off x="685800" y="5349240"/>
            <a:ext cx="548640" cy="548640"/>
          </a:xfrm>
          <a:prstGeom prst="ellipse">
            <a:avLst/>
          </a:prstGeom>
          <a:solidFill>
            <a:srgbClr val="1B2447"/>
          </a:solidFill>
          <a:ln w="12700">
            <a:solidFill>
              <a:srgbClr val="1B2447"/>
            </a:solidFill>
            <a:prstDash val="solid"/>
          </a:ln>
        </p:spPr>
      </p:sp>
      <p:pic>
        <p:nvPicPr>
          <p:cNvPr id="32" name="Image 2" descr="preencoded.png">    </p:cNvPr>
          <p:cNvPicPr>
            <a:picLocks noChangeAspect="1"/>
          </p:cNvPicPr>
          <p:nvPr/>
        </p:nvPicPr>
        <p:blipFill>
          <a:blip r:embed="rId3"/>
          <a:stretch>
            <a:fillRect/>
          </a:stretch>
        </p:blipFill>
        <p:spPr>
          <a:xfrm>
            <a:off x="806501" y="5469941"/>
            <a:ext cx="307238" cy="307238"/>
          </a:xfrm>
          <a:prstGeom prst="rect">
            <a:avLst/>
          </a:prstGeom>
        </p:spPr>
      </p:pic>
      <p:sp>
        <p:nvSpPr>
          <p:cNvPr id="33" name="Text 27"/>
          <p:cNvSpPr txBox="1"/>
          <p:nvPr/>
        </p:nvSpPr>
        <p:spPr>
          <a:xfrm>
            <a:off x="1463040" y="5303520"/>
            <a:ext cx="9997135" cy="777240"/>
          </a:xfrm>
          <a:prstGeom prst="rect">
            <a:avLst/>
          </a:prstGeom>
          <a:noFill/>
          <a:ln/>
        </p:spPr>
        <p:txBody>
          <a:bodyPr wrap="square" lIns="0" tIns="0" rIns="0" bIns="0" rtlCol="0" anchor="ctr"/>
          <a:lstStyle/>
          <a:p>
            <a:pPr algn="l" indent="0" marL="0">
              <a:buNone/>
            </a:pPr>
            <a:r>
              <a:rPr lang="ko-KR" altLang="en-US" sz="1400" dirty="0">
                <a:solidFill>
                  <a:schemeClr val="tx1"/>
                </a:solidFill>
              </a:rPr>
              <a:t>전제 조건: 공장 원가가 H2 기준 근처를 유지하고(Alibaba 벤치마크 원가면 주력 SKU는 적자), CBP 관세 판정이 Copper 이상으로 나오며, 90일 게이트를 통과해야 합니다.</a:t>
            </a:r>
            <a:endParaRPr lang="ko-KR" alt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2</a:t>
            </a:fld>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오늘 결정할 세 가지</a:t>
            </a:r>
            <a:endParaRPr lang="ko-KR" altLang="en-US" sz="3200" dirty="0"/>
          </a:p>
        </p:txBody>
      </p:sp>
      <p:sp>
        <p:nvSpPr>
          <p:cNvPr id="4" name="card"/>
          <p:cNvSpPr/>
          <p:nvPr/>
        </p:nvSpPr>
        <p:spPr>
          <a:xfrm>
            <a:off x="457200" y="1188720"/>
            <a:ext cx="3576218" cy="2926080"/>
          </a:xfrm>
          <a:prstGeom prst="roundRect">
            <a:avLst>
              <a:gd name="adj" fmla="val 3750"/>
            </a:avLst>
          </a:prstGeom>
          <a:solidFill>
            <a:schemeClr val="bg2"/>
          </a:solidFill>
          <a:ln w="12700">
            <a:solidFill>
              <a:srgbClr val="141C36"/>
            </a:solidFill>
            <a:prstDash val="solid"/>
          </a:ln>
        </p:spPr>
      </p:sp>
      <p:sp>
        <p:nvSpPr>
          <p:cNvPr id="5" name="Text 2"/>
          <p:cNvSpPr txBox="1"/>
          <p:nvPr/>
        </p:nvSpPr>
        <p:spPr>
          <a:xfrm>
            <a:off x="685800" y="1325880"/>
            <a:ext cx="731520" cy="731520"/>
          </a:xfrm>
          <a:prstGeom prst="rect">
            <a:avLst/>
          </a:prstGeom>
          <a:noFill/>
          <a:ln/>
        </p:spPr>
        <p:txBody>
          <a:bodyPr wrap="square" lIns="0" tIns="0" rIns="0" bIns="0" rtlCol="0" anchor="t"/>
          <a:lstStyle/>
          <a:p>
            <a:pPr algn="l" indent="0" marL="0">
              <a:buNone/>
            </a:pPr>
            <a:r>
              <a:rPr lang="ko-KR" altLang="en-US" sz="4000" b="1" dirty="0">
                <a:solidFill>
                  <a:schemeClr val="accent1"/>
                </a:solidFill>
              </a:rPr>
              <a:t>1</a:t>
            </a:r>
            <a:endParaRPr lang="ko-KR" altLang="en-US" sz="4000" dirty="0"/>
          </a:p>
        </p:txBody>
      </p:sp>
      <p:sp>
        <p:nvSpPr>
          <p:cNvPr id="6" name="Text 3"/>
          <p:cNvSpPr txBox="1"/>
          <p:nvPr/>
        </p:nvSpPr>
        <p:spPr>
          <a:xfrm>
            <a:off x="1417320" y="1417320"/>
            <a:ext cx="2387498" cy="548640"/>
          </a:xfrm>
          <a:prstGeom prst="rect">
            <a:avLst/>
          </a:prstGeom>
          <a:noFill/>
          <a:ln/>
        </p:spPr>
        <p:txBody>
          <a:bodyPr wrap="square" lIns="0" tIns="0" rIns="0" bIns="0" rtlCol="0" anchor="ctr"/>
          <a:lstStyle/>
          <a:p>
            <a:pPr algn="l" indent="0" marL="0">
              <a:buNone/>
            </a:pPr>
            <a:r>
              <a:rPr lang="ko-KR" altLang="en-US" sz="1800" b="1" dirty="0">
                <a:solidFill>
                  <a:schemeClr val="tx1"/>
                </a:solidFill>
              </a:rPr>
              <a:t>출시 자금 투입</a:t>
            </a:r>
            <a:endParaRPr lang="ko-KR" altLang="en-US" sz="1800" dirty="0"/>
          </a:p>
        </p:txBody>
      </p:sp>
      <p:sp>
        <p:nvSpPr>
          <p:cNvPr id="7" name="Text 4"/>
          <p:cNvSpPr txBox="1"/>
          <p:nvPr/>
        </p:nvSpPr>
        <p:spPr>
          <a:xfrm>
            <a:off x="685800" y="2148840"/>
            <a:ext cx="3119018" cy="1874520"/>
          </a:xfrm>
          <a:prstGeom prst="rect">
            <a:avLst/>
          </a:prstGeom>
          <a:noFill/>
          <a:ln/>
        </p:spPr>
        <p:txBody>
          <a:bodyPr wrap="square" lIns="0" tIns="0" rIns="0" bIns="0" rtlCol="0" anchor="t"/>
          <a:lstStyle/>
          <a:p>
            <a:pPr algn="l" indent="0" marL="0">
              <a:buNone/>
            </a:pPr>
            <a:r>
              <a:rPr lang="ko-KR" altLang="en-US" sz="1500" dirty="0">
                <a:solidFill>
                  <a:schemeClr val="tx1"/>
                </a:solidFill>
              </a:rPr>
              <a:t>8월 요청액인 자기 자금 $39K를 투입하고, Medium 케이스 기준 2개월차까지 $116K의 신용한도 대출(line of credit)을 준비합니다. Low 케이스는 $136K, High 케이스는 $41K가 필요합니다.</a:t>
            </a:r>
            <a:endParaRPr lang="ko-KR" altLang="en-US" sz="1500" dirty="0"/>
          </a:p>
        </p:txBody>
      </p:sp>
      <p:sp>
        <p:nvSpPr>
          <p:cNvPr id="8" name="card"/>
          <p:cNvSpPr/>
          <p:nvPr/>
        </p:nvSpPr>
        <p:spPr>
          <a:xfrm>
            <a:off x="4307738" y="1188720"/>
            <a:ext cx="3576218" cy="2926080"/>
          </a:xfrm>
          <a:prstGeom prst="roundRect">
            <a:avLst>
              <a:gd name="adj" fmla="val 3750"/>
            </a:avLst>
          </a:prstGeom>
          <a:solidFill>
            <a:schemeClr val="bg2"/>
          </a:solidFill>
          <a:ln w="12700">
            <a:solidFill>
              <a:srgbClr val="141C36"/>
            </a:solidFill>
            <a:prstDash val="solid"/>
          </a:ln>
        </p:spPr>
      </p:sp>
      <p:sp>
        <p:nvSpPr>
          <p:cNvPr id="9" name="Text 6"/>
          <p:cNvSpPr txBox="1"/>
          <p:nvPr/>
        </p:nvSpPr>
        <p:spPr>
          <a:xfrm>
            <a:off x="4536338" y="1325880"/>
            <a:ext cx="731520" cy="731520"/>
          </a:xfrm>
          <a:prstGeom prst="rect">
            <a:avLst/>
          </a:prstGeom>
          <a:noFill/>
          <a:ln/>
        </p:spPr>
        <p:txBody>
          <a:bodyPr wrap="square" lIns="0" tIns="0" rIns="0" bIns="0" rtlCol="0" anchor="t"/>
          <a:lstStyle/>
          <a:p>
            <a:pPr algn="l" indent="0" marL="0">
              <a:buNone/>
            </a:pPr>
            <a:r>
              <a:rPr lang="ko-KR" altLang="en-US" sz="4000" b="1" dirty="0">
                <a:solidFill>
                  <a:schemeClr val="accent1"/>
                </a:solidFill>
              </a:rPr>
              <a:t>2</a:t>
            </a:r>
            <a:endParaRPr lang="ko-KR" altLang="en-US" sz="4000" dirty="0"/>
          </a:p>
        </p:txBody>
      </p:sp>
      <p:sp>
        <p:nvSpPr>
          <p:cNvPr id="10" name="Text 7"/>
          <p:cNvSpPr txBox="1"/>
          <p:nvPr/>
        </p:nvSpPr>
        <p:spPr>
          <a:xfrm>
            <a:off x="5267858" y="1417320"/>
            <a:ext cx="2387498" cy="548640"/>
          </a:xfrm>
          <a:prstGeom prst="rect">
            <a:avLst/>
          </a:prstGeom>
          <a:noFill/>
          <a:ln/>
        </p:spPr>
        <p:txBody>
          <a:bodyPr wrap="square" lIns="0" tIns="0" rIns="0" bIns="0" rtlCol="0" anchor="ctr"/>
          <a:lstStyle/>
          <a:p>
            <a:pPr algn="l" indent="0" marL="0">
              <a:buNone/>
            </a:pPr>
            <a:r>
              <a:rPr lang="ko-KR" altLang="en-US" sz="1800" b="1" dirty="0">
                <a:solidFill>
                  <a:schemeClr val="tx1"/>
                </a:solidFill>
              </a:rPr>
              <a:t>미국 법인 설립</a:t>
            </a:r>
            <a:endParaRPr lang="ko-KR" altLang="en-US" sz="1800" dirty="0"/>
          </a:p>
        </p:txBody>
      </p:sp>
      <p:sp>
        <p:nvSpPr>
          <p:cNvPr id="11" name="Text 8"/>
          <p:cNvSpPr txBox="1"/>
          <p:nvPr/>
        </p:nvSpPr>
        <p:spPr>
          <a:xfrm>
            <a:off x="4536338" y="2148840"/>
            <a:ext cx="3119018" cy="1874520"/>
          </a:xfrm>
          <a:prstGeom prst="rect">
            <a:avLst/>
          </a:prstGeom>
          <a:noFill/>
          <a:ln/>
        </p:spPr>
        <p:txBody>
          <a:bodyPr wrap="square" lIns="0" tIns="0" rIns="0" bIns="0" rtlCol="0" anchor="t"/>
          <a:lstStyle/>
          <a:p>
            <a:pPr algn="l" indent="0" marL="0">
              <a:buNone/>
            </a:pPr>
            <a:r>
              <a:rPr lang="ko-KR" altLang="en-US" sz="1500" dirty="0">
                <a:solidFill>
                  <a:schemeClr val="tx1"/>
                </a:solidFill>
              </a:rPr>
              <a:t>BRAND LLC는 Lucy가 100% 소유하는 Wyoming 단일 구성원 LLC입니다. Mark는 지분 없이 서면 컨설팅 또는 커미션 계약으로 일하므로 LLC는 세무상 투과 법인(disregarded entity)으로 남고 조세조약상 지위도 깨끗하게 유지됩니다.</a:t>
            </a:r>
            <a:endParaRPr lang="ko-KR" altLang="en-US" sz="1500" dirty="0"/>
          </a:p>
        </p:txBody>
      </p:sp>
      <p:sp>
        <p:nvSpPr>
          <p:cNvPr id="12" name="card"/>
          <p:cNvSpPr/>
          <p:nvPr/>
        </p:nvSpPr>
        <p:spPr>
          <a:xfrm>
            <a:off x="8158277" y="1188720"/>
            <a:ext cx="3576218" cy="2926080"/>
          </a:xfrm>
          <a:prstGeom prst="roundRect">
            <a:avLst>
              <a:gd name="adj" fmla="val 3750"/>
            </a:avLst>
          </a:prstGeom>
          <a:solidFill>
            <a:schemeClr val="bg2"/>
          </a:solidFill>
          <a:ln w="12700">
            <a:solidFill>
              <a:srgbClr val="141C36"/>
            </a:solidFill>
            <a:prstDash val="solid"/>
          </a:ln>
        </p:spPr>
      </p:sp>
      <p:sp>
        <p:nvSpPr>
          <p:cNvPr id="13" name="Text 10"/>
          <p:cNvSpPr txBox="1"/>
          <p:nvPr/>
        </p:nvSpPr>
        <p:spPr>
          <a:xfrm>
            <a:off x="8386877" y="1325880"/>
            <a:ext cx="731520" cy="731520"/>
          </a:xfrm>
          <a:prstGeom prst="rect">
            <a:avLst/>
          </a:prstGeom>
          <a:noFill/>
          <a:ln/>
        </p:spPr>
        <p:txBody>
          <a:bodyPr wrap="square" lIns="0" tIns="0" rIns="0" bIns="0" rtlCol="0" anchor="t"/>
          <a:lstStyle/>
          <a:p>
            <a:pPr algn="l" indent="0" marL="0">
              <a:buNone/>
            </a:pPr>
            <a:r>
              <a:rPr lang="ko-KR" altLang="en-US" sz="4000" b="1" dirty="0">
                <a:solidFill>
                  <a:schemeClr val="accent1"/>
                </a:solidFill>
              </a:rPr>
              <a:t>3</a:t>
            </a:r>
            <a:endParaRPr lang="ko-KR" altLang="en-US" sz="4000" dirty="0"/>
          </a:p>
        </p:txBody>
      </p:sp>
      <p:sp>
        <p:nvSpPr>
          <p:cNvPr id="14" name="Text 11"/>
          <p:cNvSpPr txBox="1"/>
          <p:nvPr/>
        </p:nvSpPr>
        <p:spPr>
          <a:xfrm>
            <a:off x="9118397" y="1417320"/>
            <a:ext cx="2387498" cy="548640"/>
          </a:xfrm>
          <a:prstGeom prst="rect">
            <a:avLst/>
          </a:prstGeom>
          <a:noFill/>
          <a:ln/>
        </p:spPr>
        <p:txBody>
          <a:bodyPr wrap="square" lIns="0" tIns="0" rIns="0" bIns="0" rtlCol="0" anchor="ctr"/>
          <a:lstStyle/>
          <a:p>
            <a:pPr algn="l" indent="0" marL="0">
              <a:buNone/>
            </a:pPr>
            <a:r>
              <a:rPr lang="ko-KR" altLang="en-US" sz="1800" b="1" dirty="0">
                <a:solidFill>
                  <a:schemeClr val="tx1"/>
                </a:solidFill>
              </a:rPr>
              <a:t>90일 테스트 실행</a:t>
            </a:r>
            <a:endParaRPr lang="ko-KR" altLang="en-US" sz="1800" dirty="0"/>
          </a:p>
        </p:txBody>
      </p:sp>
      <p:sp>
        <p:nvSpPr>
          <p:cNvPr id="15" name="Text 12"/>
          <p:cNvSpPr txBox="1"/>
          <p:nvPr/>
        </p:nvSpPr>
        <p:spPr>
          <a:xfrm>
            <a:off x="8386877" y="2148840"/>
            <a:ext cx="3119018" cy="1874520"/>
          </a:xfrm>
          <a:prstGeom prst="rect">
            <a:avLst/>
          </a:prstGeom>
          <a:noFill/>
          <a:ln/>
        </p:spPr>
        <p:txBody>
          <a:bodyPr wrap="square" lIns="0" tIns="0" rIns="0" bIns="0" rtlCol="0" anchor="t"/>
          <a:lstStyle/>
          <a:p>
            <a:pPr algn="l" indent="0" marL="0">
              <a:buNone/>
            </a:pPr>
            <a:r>
              <a:rPr lang="ko-KR" altLang="en-US" sz="1500" dirty="0">
                <a:solidFill>
                  <a:schemeClr val="tx1"/>
                </a:solidFill>
              </a:rPr>
              <a:t>주력 SKU 5개를 각 100에서 300개씩 항공으로 들여와 부모 ASIN 하나로 판매합니다. 19번 슬라이드의 90일 게이트가 첫 발주 전에 적어 둔 숫자로 확대, 재검토, 중단을 결정합니다.</a:t>
            </a:r>
            <a:endParaRPr lang="ko-KR" altLang="en-US" sz="1500" dirty="0"/>
          </a:p>
        </p:txBody>
      </p:sp>
      <p:sp>
        <p:nvSpPr>
          <p:cNvPr id="16" name="card"/>
          <p:cNvSpPr/>
          <p:nvPr/>
        </p:nvSpPr>
        <p:spPr>
          <a:xfrm>
            <a:off x="457200" y="4389120"/>
            <a:ext cx="11277295" cy="1828800"/>
          </a:xfrm>
          <a:prstGeom prst="roundRect">
            <a:avLst>
              <a:gd name="adj" fmla="val 6000"/>
            </a:avLst>
          </a:prstGeom>
          <a:solidFill>
            <a:srgbClr val="10172D"/>
          </a:solidFill>
          <a:ln w="12700">
            <a:solidFill>
              <a:srgbClr val="10172D"/>
            </a:solidFill>
            <a:prstDash val="solid"/>
          </a:ln>
        </p:spPr>
      </p:sp>
      <p:sp>
        <p:nvSpPr>
          <p:cNvPr id="17" name="Text 14"/>
          <p:cNvSpPr txBox="1"/>
          <p:nvPr/>
        </p:nvSpPr>
        <p:spPr>
          <a:xfrm>
            <a:off x="731520" y="4498848"/>
            <a:ext cx="3657600" cy="365760"/>
          </a:xfrm>
          <a:prstGeom prst="rect">
            <a:avLst/>
          </a:prstGeom>
          <a:noFill/>
          <a:ln/>
        </p:spPr>
        <p:txBody>
          <a:bodyPr wrap="square" lIns="0" tIns="0" rIns="0" bIns="0" rtlCol="0" anchor="t"/>
          <a:lstStyle/>
          <a:p>
            <a:pPr algn="l" indent="0" marL="0">
              <a:buNone/>
            </a:pPr>
            <a:r>
              <a:rPr lang="ko-KR" altLang="en-US" sz="1500" b="1" dirty="0">
                <a:solidFill>
                  <a:schemeClr val="accent5"/>
                </a:solidFill>
              </a:rPr>
              <a:t>오늘 결정하지 않는 항목</a:t>
            </a:r>
            <a:endParaRPr lang="ko-KR" altLang="en-US" sz="1500" dirty="0"/>
          </a:p>
        </p:txBody>
      </p:sp>
      <p:sp>
        <p:nvSpPr>
          <p:cNvPr id="18" name="Text 15"/>
          <p:cNvSpPr txBox="1"/>
          <p:nvPr/>
        </p:nvSpPr>
        <p:spPr>
          <a:xfrm>
            <a:off x="731520" y="4937760"/>
            <a:ext cx="10728655" cy="1188720"/>
          </a:xfrm>
          <a:prstGeom prst="rect">
            <a:avLst/>
          </a:prstGeom>
          <a:noFill/>
          <a:ln/>
        </p:spPr>
        <p:txBody>
          <a:bodyPr wrap="square" lIns="0" tIns="0" rIns="0" bIns="0" rtlCol="0" anchor="t"/>
          <a:lstStyle/>
          <a:p>
            <a:pPr algn="l" marL="165100" indent="-165100">
              <a:spcAft>
                <a:spcPts val="500"/>
              </a:spcAft>
              <a:buSzPct val="100000"/>
              <a:buChar char="•"/>
            </a:pPr>
            <a:r>
              <a:rPr lang="ko-KR" altLang="en-US" sz="1400" dirty="0">
                <a:solidFill>
                  <a:schemeClr val="tx1"/>
                </a:solidFill>
              </a:rPr>
              <a:t>미국 브랜드명 (BRAND 임시 표기. 한국 제안서의 MBF는 확정이 아닙니다)</a:t>
            </a:r>
            <a:endParaRPr lang="ko-KR" altLang="en-US" sz="1400" dirty="0"/>
          </a:p>
          <a:p>
            <a:pPr algn="l" marL="165100" indent="-165100">
              <a:spcAft>
                <a:spcPts val="500"/>
              </a:spcAft>
              <a:buSzPct val="100000"/>
              <a:buChar char="•"/>
            </a:pPr>
            <a:r>
              <a:rPr lang="ko-KR" altLang="en-US" sz="1400" dirty="0">
                <a:solidFill>
                  <a:schemeClr val="tx1"/>
                </a:solidFill>
              </a:rPr>
              <a:t>Temu 현지 셀러 프로그램 (선택 사항, 기준 케이스 미포함)</a:t>
            </a:r>
            <a:endParaRPr lang="ko-KR" altLang="en-US" sz="1400" dirty="0"/>
          </a:p>
          <a:p>
            <a:pPr algn="l" marL="165100" indent="-165100">
              <a:spcAft>
                <a:spcPts val="500"/>
              </a:spcAft>
              <a:buSzPct val="100000"/>
              <a:buChar char="•"/>
            </a:pPr>
            <a:r>
              <a:rPr lang="ko-KR" altLang="en-US" sz="1400" dirty="0">
                <a:solidFill>
                  <a:schemeClr val="tx1"/>
                </a:solidFill>
              </a:rPr>
              <a:t>H2 Company의 선 법인 전환 여부 (세무사 확인 사항)</a:t>
            </a:r>
            <a:endParaRPr lang="ko-KR" alt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3</a:t>
            </a:fld>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85800" y="3749040"/>
            <a:ext cx="9144000" cy="1005840"/>
          </a:xfrm>
          <a:prstGeom prst="rect">
            <a:avLst/>
          </a:prstGeom>
          <a:noFill/>
          <a:ln/>
        </p:spPr>
        <p:txBody>
          <a:bodyPr wrap="square" lIns="0" tIns="0" rIns="0" bIns="0" rtlCol="0" anchor="b"/>
          <a:lstStyle/>
          <a:p>
            <a:pPr algn="l" indent="0" marL="0">
              <a:buNone/>
            </a:pPr>
            <a:r>
              <a:rPr lang="ko-KR" altLang="en-US" sz="3600" b="1" dirty="0">
                <a:solidFill>
                  <a:srgbClr val="F3F6FF"/>
                </a:solidFill>
              </a:rPr>
              <a:t>시장과 광케이블을 택한 이유</a:t>
            </a:r>
            <a:endParaRPr lang="ko-KR" altLang="en-US" sz="3600" dirty="0"/>
          </a:p>
        </p:txBody>
      </p:sp>
      <p:sp>
        <p:nvSpPr>
          <p:cNvPr id="3" name="Text 0"/>
          <p:cNvSpPr/>
          <p:nvPr>
            <p:ph idx="101" type="body" hasCustomPrompt="1"/>
          </p:nvPr>
        </p:nvSpPr>
        <p:spPr>
          <a:xfrm>
            <a:off x="685800" y="4800600"/>
            <a:ext cx="9144000" cy="457200"/>
          </a:xfrm>
          <a:prstGeom prst="rect">
            <a:avLst/>
          </a:prstGeom>
          <a:noFill/>
          <a:ln/>
        </p:spPr>
        <p:txBody>
          <a:bodyPr wrap="square" lIns="0" tIns="0" rIns="0" bIns="0" rtlCol="0" anchor="t"/>
          <a:lstStyle/>
          <a:p>
            <a:pPr indent="0" marL="0">
              <a:buNone/>
            </a:pPr>
            <a:r>
              <a:rPr lang="ko-KR" altLang="en-US" sz="1600" dirty="0">
                <a:solidFill>
                  <a:srgbClr val="2DE2FF"/>
                </a:solidFill>
              </a:rPr>
              <a:t>5개 섹션 중 1</a:t>
            </a:r>
            <a:endParaRPr lang="ko-KR" altLang="en-US" sz="16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4</a:t>
            </a:fld>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48Gbps에서 구리선이 3 m를 넘지 못하는 이유</a:t>
            </a:r>
            <a:endParaRPr lang="ko-KR" altLang="en-US" sz="3200" dirty="0"/>
          </a:p>
        </p:txBody>
      </p:sp>
      <p:sp>
        <p:nvSpPr>
          <p:cNvPr id="4" name="card"/>
          <p:cNvSpPr/>
          <p:nvPr/>
        </p:nvSpPr>
        <p:spPr>
          <a:xfrm>
            <a:off x="457200" y="1188720"/>
            <a:ext cx="5120640" cy="5029200"/>
          </a:xfrm>
          <a:prstGeom prst="roundRect">
            <a:avLst>
              <a:gd name="adj" fmla="val 2182"/>
            </a:avLst>
          </a:prstGeom>
          <a:solidFill>
            <a:schemeClr val="bg2"/>
          </a:solidFill>
          <a:ln w="12700">
            <a:solidFill>
              <a:srgbClr val="141C36"/>
            </a:solidFill>
            <a:prstDash val="solid"/>
          </a:ln>
        </p:spPr>
      </p:sp>
      <p:sp>
        <p:nvSpPr>
          <p:cNvPr id="5" name="Text 2"/>
          <p:cNvSpPr txBox="1"/>
          <p:nvPr/>
        </p:nvSpPr>
        <p:spPr>
          <a:xfrm>
            <a:off x="731520" y="1325880"/>
            <a:ext cx="4572000" cy="457200"/>
          </a:xfrm>
          <a:prstGeom prst="rect">
            <a:avLst/>
          </a:prstGeom>
          <a:noFill/>
          <a:ln/>
        </p:spPr>
        <p:txBody>
          <a:bodyPr wrap="square" lIns="0" tIns="0" rIns="0" bIns="0" rtlCol="0" anchor="t"/>
          <a:lstStyle/>
          <a:p>
            <a:pPr algn="l" indent="0" marL="0">
              <a:buNone/>
            </a:pPr>
            <a:r>
              <a:rPr lang="ko-KR" altLang="en-US" sz="1800" b="1" dirty="0">
                <a:solidFill>
                  <a:schemeClr val="accent1"/>
                </a:solidFill>
              </a:rPr>
              <a:t>한 문단으로 보는 물리</a:t>
            </a:r>
            <a:endParaRPr lang="ko-KR" altLang="en-US" sz="1800" dirty="0"/>
          </a:p>
        </p:txBody>
      </p:sp>
      <p:sp>
        <p:nvSpPr>
          <p:cNvPr id="6" name="Text 3"/>
          <p:cNvSpPr txBox="1"/>
          <p:nvPr/>
        </p:nvSpPr>
        <p:spPr>
          <a:xfrm>
            <a:off x="731520" y="1874520"/>
            <a:ext cx="4572000" cy="3017520"/>
          </a:xfrm>
          <a:prstGeom prst="rect">
            <a:avLst/>
          </a:prstGeom>
          <a:noFill/>
          <a:ln/>
        </p:spPr>
        <p:txBody>
          <a:bodyPr wrap="square" lIns="0" tIns="0" rIns="0" bIns="0" rtlCol="0" anchor="t"/>
          <a:lstStyle/>
          <a:p>
            <a:pPr algn="l" indent="0" marL="0">
              <a:lnSpc>
                <a:spcPct val="110000"/>
              </a:lnSpc>
              <a:buNone/>
            </a:pPr>
            <a:r>
              <a:rPr lang="ko-KR" altLang="en-US" sz="1550" dirty="0">
                <a:solidFill>
                  <a:schemeClr val="tx1"/>
                </a:solidFill>
              </a:rPr>
              <a:t>Ultra High Speed HDMI는 48Gbps를 전송합니다. 구리선의 신호 손실은 주파수와 길이에 따라 커지므로 약 3 m를 넘는 패시브 구리 케이블은 8K 60Hz나 4K 120Hz를 깨끗하게 전달하지 못합니다. 해법은 양 끝의 액티브 전자 회로 또는 광섬유입니다. 하이브리드 액티브 광케이블은 영상을 광섬유 코어로 보내고 전원과 제어 신호는 가는 구리 도체로 보냅니다.</a:t>
            </a:r>
            <a:endParaRPr lang="ko-KR" altLang="en-US" sz="1550" dirty="0"/>
          </a:p>
        </p:txBody>
      </p:sp>
      <p:sp>
        <p:nvSpPr>
          <p:cNvPr id="7" name="Text 4"/>
          <p:cNvSpPr txBox="1"/>
          <p:nvPr/>
        </p:nvSpPr>
        <p:spPr>
          <a:xfrm>
            <a:off x="731520" y="5029200"/>
            <a:ext cx="4572000" cy="1005840"/>
          </a:xfrm>
          <a:prstGeom prst="rect">
            <a:avLst/>
          </a:prstGeom>
          <a:noFill/>
          <a:ln/>
        </p:spPr>
        <p:txBody>
          <a:bodyPr wrap="square" lIns="0" tIns="0" rIns="0" bIns="0" rtlCol="0" anchor="t"/>
          <a:lstStyle/>
          <a:p>
            <a:pPr algn="l" indent="0" marL="0">
              <a:buNone/>
            </a:pPr>
            <a:r>
              <a:rPr lang="ko-KR" altLang="en-US" sz="1400" i="1" dirty="0">
                <a:solidFill>
                  <a:schemeClr val="accent5"/>
                </a:solidFill>
              </a:rPr>
              <a:t>정확한 표현: 광섬유 HDMI, 하이브리드 액티브 광케이블. 순수 광섬유나 전체 유리라는 표현은 쓰지 않습니다.</a:t>
            </a:r>
            <a:endParaRPr lang="ko-KR" alt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852160" y="1188720"/>
          <a:ext cx="5879592" cy="914400"/>
        </p:xfrm>
        <a:graphic>
          <a:graphicData uri="http://schemas.openxmlformats.org/drawingml/2006/table">
            <a:tbl>
              <a:tblPr/>
              <a:tblGrid>
                <a:gridCol w="1600200"/>
                <a:gridCol w="1828800"/>
                <a:gridCol w="2450592"/>
              </a:tblGrid>
              <a:tr h="566928">
                <a:tc>
                  <a:txBody>
                    <a:bodyPr/>
                    <a:lstStyle/>
                    <a:p>
                      <a:pPr algn="l" indent="0" marL="0">
                        <a:buNone/>
                      </a:pPr>
                      <a:endParaRPr lang="ko-KR" altLang="en-US" sz="12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200" b="1" dirty="0">
                          <a:solidFill>
                            <a:srgbClr val="2DE2FF"/>
                          </a:solidFill>
                          <a:latin typeface="Noto Sans KR" pitchFamily="34" charset="0"/>
                          <a:ea typeface="Noto Sans KR" pitchFamily="34" charset="-122"/>
                          <a:cs typeface="Noto Sans KR" pitchFamily="34" charset="-120"/>
                        </a:rPr>
                        <a:t>패시브 구리</a:t>
                      </a:r>
                      <a:endParaRPr lang="ko-KR" altLang="en-US" sz="12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200" b="1" dirty="0">
                          <a:solidFill>
                            <a:srgbClr val="2DE2FF"/>
                          </a:solidFill>
                          <a:latin typeface="Noto Sans KR" pitchFamily="34" charset="0"/>
                          <a:ea typeface="Noto Sans KR" pitchFamily="34" charset="-122"/>
                          <a:cs typeface="Noto Sans KR" pitchFamily="34" charset="-120"/>
                        </a:rPr>
                        <a:t>하이브리드 액티브 광 (당사)</a:t>
                      </a:r>
                      <a:endParaRPr lang="ko-KR" altLang="en-US" sz="12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566928">
                <a:tc>
                  <a:txBody>
                    <a:bodyPr/>
                    <a:lstStyle/>
                    <a:p>
                      <a:pPr algn="l" indent="0" marL="0">
                        <a:buNone/>
                      </a:pPr>
                      <a:r>
                        <a:rPr lang="ko-KR" altLang="en-US" sz="1200" dirty="0">
                          <a:solidFill>
                            <a:srgbClr val="F3F6FF"/>
                          </a:solidFill>
                          <a:latin typeface="Noto Sans KR" pitchFamily="34" charset="0"/>
                          <a:ea typeface="Noto Sans KR" pitchFamily="34" charset="-122"/>
                          <a:cs typeface="Noto Sans KR" pitchFamily="34" charset="-120"/>
                        </a:rPr>
                        <a:t>48Gbps 안정 길이</a:t>
                      </a:r>
                      <a:endParaRPr lang="ko-KR" altLang="en-US" sz="12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200" dirty="0">
                          <a:solidFill>
                            <a:srgbClr val="F3F6FF"/>
                          </a:solidFill>
                          <a:latin typeface="Noto Sans KR" pitchFamily="34" charset="0"/>
                          <a:ea typeface="Noto Sans KR" pitchFamily="34" charset="-122"/>
                          <a:cs typeface="Noto Sans KR" pitchFamily="34" charset="-120"/>
                        </a:rPr>
                        <a:t>약 3 m</a:t>
                      </a:r>
                      <a:endParaRPr lang="ko-KR" altLang="en-US" sz="12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200" dirty="0">
                          <a:solidFill>
                            <a:srgbClr val="F3F6FF"/>
                          </a:solidFill>
                          <a:latin typeface="Noto Sans KR" pitchFamily="34" charset="0"/>
                          <a:ea typeface="Noto Sans KR" pitchFamily="34" charset="-122"/>
                          <a:cs typeface="Noto Sans KR" pitchFamily="34" charset="-120"/>
                        </a:rPr>
                        <a:t>현재 라인업 7 m에서 50 m</a:t>
                      </a:r>
                      <a:endParaRPr lang="ko-KR" altLang="en-US" sz="12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566928">
                <a:tc>
                  <a:txBody>
                    <a:bodyPr/>
                    <a:lstStyle/>
                    <a:p>
                      <a:pPr algn="l" indent="0" marL="0">
                        <a:buNone/>
                      </a:pPr>
                      <a:r>
                        <a:rPr lang="ko-KR" altLang="en-US" sz="1200" dirty="0">
                          <a:solidFill>
                            <a:srgbClr val="F3F6FF"/>
                          </a:solidFill>
                          <a:latin typeface="Noto Sans KR" pitchFamily="34" charset="0"/>
                          <a:ea typeface="Noto Sans KR" pitchFamily="34" charset="-122"/>
                          <a:cs typeface="Noto Sans KR" pitchFamily="34" charset="-120"/>
                        </a:rPr>
                        <a:t>무게와 굽힘</a:t>
                      </a:r>
                      <a:endParaRPr lang="ko-KR" altLang="en-US" sz="12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200" dirty="0">
                          <a:solidFill>
                            <a:srgbClr val="F3F6FF"/>
                          </a:solidFill>
                          <a:latin typeface="Noto Sans KR" pitchFamily="34" charset="0"/>
                          <a:ea typeface="Noto Sans KR" pitchFamily="34" charset="-122"/>
                          <a:cs typeface="Noto Sans KR" pitchFamily="34" charset="-120"/>
                        </a:rPr>
                        <a:t>길어지면 두껍고 뻣뻣함</a:t>
                      </a:r>
                      <a:endParaRPr lang="ko-KR" altLang="en-US" sz="12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200" dirty="0">
                          <a:solidFill>
                            <a:srgbClr val="F3F6FF"/>
                          </a:solidFill>
                          <a:latin typeface="Noto Sans KR" pitchFamily="34" charset="0"/>
                          <a:ea typeface="Noto Sans KR" pitchFamily="34" charset="-122"/>
                          <a:cs typeface="Noto Sans KR" pitchFamily="34" charset="-120"/>
                        </a:rPr>
                        <a:t>얇고 가벼워 배관 통과 가능</a:t>
                      </a:r>
                      <a:endParaRPr lang="ko-KR" altLang="en-US" sz="12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566928">
                <a:tc>
                  <a:txBody>
                    <a:bodyPr/>
                    <a:lstStyle/>
                    <a:p>
                      <a:pPr algn="l" indent="0" marL="0">
                        <a:buNone/>
                      </a:pPr>
                      <a:r>
                        <a:rPr lang="ko-KR" altLang="en-US" sz="1200" dirty="0">
                          <a:solidFill>
                            <a:srgbClr val="F3F6FF"/>
                          </a:solidFill>
                          <a:latin typeface="Noto Sans KR" pitchFamily="34" charset="0"/>
                          <a:ea typeface="Noto Sans KR" pitchFamily="34" charset="-122"/>
                          <a:cs typeface="Noto Sans KR" pitchFamily="34" charset="-120"/>
                        </a:rPr>
                        <a:t>간섭</a:t>
                      </a:r>
                      <a:endParaRPr lang="ko-KR" altLang="en-US" sz="12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200" dirty="0">
                          <a:solidFill>
                            <a:srgbClr val="F3F6FF"/>
                          </a:solidFill>
                          <a:latin typeface="Noto Sans KR" pitchFamily="34" charset="0"/>
                          <a:ea typeface="Noto Sans KR" pitchFamily="34" charset="-122"/>
                          <a:cs typeface="Noto Sans KR" pitchFamily="34" charset="-120"/>
                        </a:rPr>
                        <a:t>전기 노이즈를 탐</a:t>
                      </a:r>
                      <a:endParaRPr lang="ko-KR" altLang="en-US" sz="12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200" dirty="0">
                          <a:solidFill>
                            <a:srgbClr val="F3F6FF"/>
                          </a:solidFill>
                          <a:latin typeface="Noto Sans KR" pitchFamily="34" charset="0"/>
                          <a:ea typeface="Noto Sans KR" pitchFamily="34" charset="-122"/>
                          <a:cs typeface="Noto Sans KR" pitchFamily="34" charset="-120"/>
                        </a:rPr>
                        <a:t>광섬유는 간섭에 면역</a:t>
                      </a:r>
                      <a:endParaRPr lang="ko-KR" altLang="en-US" sz="12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566928">
                <a:tc>
                  <a:txBody>
                    <a:bodyPr/>
                    <a:lstStyle/>
                    <a:p>
                      <a:pPr algn="l" indent="0" marL="0">
                        <a:buNone/>
                      </a:pPr>
                      <a:r>
                        <a:rPr lang="ko-KR" altLang="en-US" sz="1200" dirty="0">
                          <a:solidFill>
                            <a:srgbClr val="F3F6FF"/>
                          </a:solidFill>
                          <a:latin typeface="Noto Sans KR" pitchFamily="34" charset="0"/>
                          <a:ea typeface="Noto Sans KR" pitchFamily="34" charset="-122"/>
                          <a:cs typeface="Noto Sans KR" pitchFamily="34" charset="-120"/>
                        </a:rPr>
                        <a:t>방향</a:t>
                      </a:r>
                      <a:endParaRPr lang="ko-KR" altLang="en-US" sz="12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200" dirty="0">
                          <a:solidFill>
                            <a:srgbClr val="F3F6FF"/>
                          </a:solidFill>
                          <a:latin typeface="Noto Sans KR" pitchFamily="34" charset="0"/>
                          <a:ea typeface="Noto Sans KR" pitchFamily="34" charset="-122"/>
                          <a:cs typeface="Noto Sans KR" pitchFamily="34" charset="-120"/>
                        </a:rPr>
                        <a:t>양방향</a:t>
                      </a:r>
                      <a:endParaRPr lang="ko-KR" altLang="en-US" sz="12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200" dirty="0">
                          <a:solidFill>
                            <a:srgbClr val="F3F6FF"/>
                          </a:solidFill>
                          <a:latin typeface="Noto Sans KR" pitchFamily="34" charset="0"/>
                          <a:ea typeface="Noto Sans KR" pitchFamily="34" charset="-122"/>
                          <a:cs typeface="Noto Sans KR" pitchFamily="34" charset="-120"/>
                        </a:rPr>
                        <a:t>방향성: SOURCE와 DISPLAY 끝단 (당사 방향 오류 방지 설계)</a:t>
                      </a:r>
                      <a:endParaRPr lang="ko-KR" altLang="en-US" sz="12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566928">
                <a:tc>
                  <a:txBody>
                    <a:bodyPr/>
                    <a:lstStyle/>
                    <a:p>
                      <a:pPr algn="l" indent="0" marL="0">
                        <a:buNone/>
                      </a:pPr>
                      <a:r>
                        <a:rPr lang="ko-KR" altLang="en-US" sz="1200" dirty="0">
                          <a:solidFill>
                            <a:srgbClr val="F3F6FF"/>
                          </a:solidFill>
                          <a:latin typeface="Noto Sans KR" pitchFamily="34" charset="0"/>
                          <a:ea typeface="Noto Sans KR" pitchFamily="34" charset="-122"/>
                          <a:cs typeface="Noto Sans KR" pitchFamily="34" charset="-120"/>
                        </a:rPr>
                        <a:t>가격대</a:t>
                      </a:r>
                      <a:endParaRPr lang="ko-KR" altLang="en-US" sz="12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200" dirty="0">
                          <a:solidFill>
                            <a:srgbClr val="F3F6FF"/>
                          </a:solidFill>
                          <a:latin typeface="Noto Sans KR" pitchFamily="34" charset="0"/>
                          <a:ea typeface="Noto Sans KR" pitchFamily="34" charset="-122"/>
                          <a:cs typeface="Noto Sans KR" pitchFamily="34" charset="-120"/>
                        </a:rPr>
                        <a:t>짧은 길이 약 $8</a:t>
                      </a:r>
                      <a:endParaRPr lang="ko-KR" altLang="en-US" sz="12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200" dirty="0">
                          <a:solidFill>
                            <a:srgbClr val="F3F6FF"/>
                          </a:solidFill>
                          <a:latin typeface="Noto Sans KR" pitchFamily="34" charset="0"/>
                          <a:ea typeface="Noto Sans KR" pitchFamily="34" charset="-122"/>
                          <a:cs typeface="Noto Sans KR" pitchFamily="34" charset="-120"/>
                        </a:rPr>
                        <a:t>주력 10 m SKU $44.99</a:t>
                      </a:r>
                      <a:endParaRPr lang="ko-KR" altLang="en-US" sz="12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bl>
          </a:graphicData>
        </a:graphic>
      </p:graphicFrame>
      <p:sp>
        <p:nvSpPr>
          <p:cNvPr id="9" name="Text 5"/>
          <p:cNvSpPr txBox="1"/>
          <p:nvPr/>
        </p:nvSpPr>
        <p:spPr>
          <a:xfrm>
            <a:off x="5852160" y="5120640"/>
            <a:ext cx="5879592" cy="822960"/>
          </a:xfrm>
          <a:prstGeom prst="rect">
            <a:avLst/>
          </a:prstGeom>
          <a:noFill/>
          <a:ln/>
        </p:spPr>
        <p:txBody>
          <a:bodyPr wrap="square" lIns="0" tIns="0" rIns="0" bIns="0" rtlCol="0" anchor="t"/>
          <a:lstStyle/>
          <a:p>
            <a:pPr algn="l" indent="0" marL="0">
              <a:buNone/>
            </a:pPr>
            <a:r>
              <a:rPr lang="ko-KR" altLang="en-US" sz="1100" dirty="0">
                <a:solidFill>
                  <a:schemeClr val="tx2"/>
                </a:solidFill>
              </a:rPr>
              <a:t>길이 한계는 HDMI 규격에 대한 경영진 요약입니다. 브리프의 기술은 48Gbps에서 구리선이 3미터를 넘으면 물리적으로 한계에 이른다는 것입니다.</a:t>
            </a:r>
            <a:endParaRPr lang="ko-KR" alt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5</a:t>
            </a:fld>
            <a:endParaRPr lang="ko-KR"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장거리 HDMI를 사는 사람</a:t>
            </a:r>
            <a:endParaRPr lang="ko-KR" altLang="en-US" sz="3200" dirty="0"/>
          </a:p>
        </p:txBody>
      </p:sp>
      <p:sp>
        <p:nvSpPr>
          <p:cNvPr id="4" name="card"/>
          <p:cNvSpPr/>
          <p:nvPr/>
        </p:nvSpPr>
        <p:spPr>
          <a:xfrm>
            <a:off x="457200" y="1188720"/>
            <a:ext cx="3566160" cy="2331720"/>
          </a:xfrm>
          <a:prstGeom prst="roundRect">
            <a:avLst>
              <a:gd name="adj" fmla="val 4706"/>
            </a:avLst>
          </a:prstGeom>
          <a:solidFill>
            <a:schemeClr val="bg2"/>
          </a:solidFill>
          <a:ln w="12700">
            <a:solidFill>
              <a:srgbClr val="141C36"/>
            </a:solidFill>
            <a:prstDash val="solid"/>
          </a:ln>
        </p:spPr>
      </p:sp>
      <p:sp>
        <p:nvSpPr>
          <p:cNvPr id="5" name="Shape 2"/>
          <p:cNvSpPr/>
          <p:nvPr/>
        </p:nvSpPr>
        <p:spPr>
          <a:xfrm>
            <a:off x="640080" y="1371600"/>
            <a:ext cx="502920" cy="502920"/>
          </a:xfrm>
          <a:prstGeom prst="ellipse">
            <a:avLst/>
          </a:prstGeom>
          <a:solidFill>
            <a:srgbClr val="1B2447"/>
          </a:solidFill>
          <a:ln w="12700">
            <a:solidFill>
              <a:srgbClr val="1B2447"/>
            </a:solidFill>
            <a:prstDash val="solid"/>
          </a:ln>
        </p:spPr>
      </p:sp>
      <p:pic>
        <p:nvPicPr>
          <p:cNvPr id="6" name="Image 0" descr="preencoded.png">    </p:cNvPr>
          <p:cNvPicPr>
            <a:picLocks noChangeAspect="1"/>
          </p:cNvPicPr>
          <p:nvPr/>
        </p:nvPicPr>
        <p:blipFill>
          <a:blip r:embed="rId1"/>
          <a:stretch>
            <a:fillRect/>
          </a:stretch>
        </p:blipFill>
        <p:spPr>
          <a:xfrm>
            <a:off x="750722" y="1482242"/>
            <a:ext cx="281635" cy="281635"/>
          </a:xfrm>
          <a:prstGeom prst="rect">
            <a:avLst/>
          </a:prstGeom>
        </p:spPr>
      </p:pic>
      <p:sp>
        <p:nvSpPr>
          <p:cNvPr id="7" name="Text 3"/>
          <p:cNvSpPr txBox="1"/>
          <p:nvPr/>
        </p:nvSpPr>
        <p:spPr>
          <a:xfrm>
            <a:off x="1280160" y="1371600"/>
            <a:ext cx="2560320" cy="502920"/>
          </a:xfrm>
          <a:prstGeom prst="rect">
            <a:avLst/>
          </a:prstGeom>
          <a:noFill/>
          <a:ln/>
        </p:spPr>
        <p:txBody>
          <a:bodyPr wrap="square" lIns="0" tIns="0" rIns="0" bIns="0" rtlCol="0" anchor="ctr"/>
          <a:lstStyle/>
          <a:p>
            <a:pPr algn="l" indent="0" marL="0">
              <a:buNone/>
            </a:pPr>
            <a:r>
              <a:rPr lang="ko-KR" altLang="en-US" sz="1500" b="1" dirty="0">
                <a:solidFill>
                  <a:schemeClr val="tx1"/>
                </a:solidFill>
              </a:rPr>
              <a:t>홈시어터와 프로젝터 사용자</a:t>
            </a:r>
            <a:endParaRPr lang="ko-KR" altLang="en-US" sz="1500" dirty="0"/>
          </a:p>
        </p:txBody>
      </p:sp>
      <p:sp>
        <p:nvSpPr>
          <p:cNvPr id="8" name="Text 4"/>
          <p:cNvSpPr txBox="1"/>
          <p:nvPr/>
        </p:nvSpPr>
        <p:spPr>
          <a:xfrm>
            <a:off x="640080" y="2011680"/>
            <a:ext cx="3200400" cy="1005840"/>
          </a:xfrm>
          <a:prstGeom prst="rect">
            <a:avLst/>
          </a:prstGeom>
          <a:noFill/>
          <a:ln/>
        </p:spPr>
        <p:txBody>
          <a:bodyPr wrap="square" lIns="0" tIns="0" rIns="0" bIns="0" rtlCol="0" anchor="t"/>
          <a:lstStyle/>
          <a:p>
            <a:pPr algn="l" indent="0" marL="0">
              <a:buNone/>
            </a:pPr>
            <a:r>
              <a:rPr lang="ko-KR" altLang="en-US" sz="1300" dirty="0">
                <a:solidFill>
                  <a:schemeClr val="tx1"/>
                </a:solidFill>
              </a:rPr>
              <a:t>AV 리시버에서 프로젝터까지 10 m에서 20 m. 4K 120Hz나 8K, eARC를 원합니다. 아마존에서 삽니다.</a:t>
            </a:r>
            <a:endParaRPr lang="ko-KR" altLang="en-US" sz="1300" dirty="0"/>
          </a:p>
        </p:txBody>
      </p:sp>
      <p:sp>
        <p:nvSpPr>
          <p:cNvPr id="9" name="Text 5"/>
          <p:cNvSpPr txBox="1"/>
          <p:nvPr/>
        </p:nvSpPr>
        <p:spPr>
          <a:xfrm>
            <a:off x="640080" y="2971800"/>
            <a:ext cx="3200400" cy="457200"/>
          </a:xfrm>
          <a:prstGeom prst="rect">
            <a:avLst/>
          </a:prstGeom>
          <a:noFill/>
          <a:ln/>
        </p:spPr>
        <p:txBody>
          <a:bodyPr wrap="square" lIns="0" tIns="0" rIns="0" bIns="0" rtlCol="0" anchor="t"/>
          <a:lstStyle/>
          <a:p>
            <a:pPr algn="l" indent="0" marL="0">
              <a:buNone/>
            </a:pPr>
            <a:r>
              <a:rPr lang="ko-KR" altLang="en-US" sz="1100" dirty="0">
                <a:solidFill>
                  <a:schemeClr val="accent5"/>
                </a:solidFill>
              </a:rPr>
              <a:t>[PLACEHOLDER: 세그먼트 규모, 출처 확인 필요]</a:t>
            </a:r>
            <a:endParaRPr lang="ko-KR" altLang="en-US" sz="1100" dirty="0"/>
          </a:p>
        </p:txBody>
      </p:sp>
      <p:sp>
        <p:nvSpPr>
          <p:cNvPr id="10" name="card"/>
          <p:cNvSpPr/>
          <p:nvPr/>
        </p:nvSpPr>
        <p:spPr>
          <a:xfrm>
            <a:off x="4297680" y="1188720"/>
            <a:ext cx="3566160" cy="2331720"/>
          </a:xfrm>
          <a:prstGeom prst="roundRect">
            <a:avLst>
              <a:gd name="adj" fmla="val 4706"/>
            </a:avLst>
          </a:prstGeom>
          <a:solidFill>
            <a:schemeClr val="bg2"/>
          </a:solidFill>
          <a:ln w="12700">
            <a:solidFill>
              <a:srgbClr val="141C36"/>
            </a:solidFill>
            <a:prstDash val="solid"/>
          </a:ln>
        </p:spPr>
      </p:sp>
      <p:sp>
        <p:nvSpPr>
          <p:cNvPr id="11" name="Shape 7"/>
          <p:cNvSpPr/>
          <p:nvPr/>
        </p:nvSpPr>
        <p:spPr>
          <a:xfrm>
            <a:off x="4480560" y="1371600"/>
            <a:ext cx="502920" cy="502920"/>
          </a:xfrm>
          <a:prstGeom prst="ellipse">
            <a:avLst/>
          </a:prstGeom>
          <a:solidFill>
            <a:srgbClr val="1B2447"/>
          </a:solidFill>
          <a:ln w="12700">
            <a:solidFill>
              <a:srgbClr val="1B2447"/>
            </a:solidFill>
            <a:prstDash val="solid"/>
          </a:ln>
        </p:spPr>
      </p:sp>
      <p:pic>
        <p:nvPicPr>
          <p:cNvPr id="12" name="Image 1" descr="preencoded.png">    </p:cNvPr>
          <p:cNvPicPr>
            <a:picLocks noChangeAspect="1"/>
          </p:cNvPicPr>
          <p:nvPr/>
        </p:nvPicPr>
        <p:blipFill>
          <a:blip r:embed="rId2"/>
          <a:stretch>
            <a:fillRect/>
          </a:stretch>
        </p:blipFill>
        <p:spPr>
          <a:xfrm>
            <a:off x="4591202" y="1482242"/>
            <a:ext cx="281635" cy="281635"/>
          </a:xfrm>
          <a:prstGeom prst="rect">
            <a:avLst/>
          </a:prstGeom>
        </p:spPr>
      </p:pic>
      <p:sp>
        <p:nvSpPr>
          <p:cNvPr id="13" name="Text 8"/>
          <p:cNvSpPr txBox="1"/>
          <p:nvPr/>
        </p:nvSpPr>
        <p:spPr>
          <a:xfrm>
            <a:off x="5120640" y="1371600"/>
            <a:ext cx="2560320" cy="502920"/>
          </a:xfrm>
          <a:prstGeom prst="rect">
            <a:avLst/>
          </a:prstGeom>
          <a:noFill/>
          <a:ln/>
        </p:spPr>
        <p:txBody>
          <a:bodyPr wrap="square" lIns="0" tIns="0" rIns="0" bIns="0" rtlCol="0" anchor="ctr"/>
          <a:lstStyle/>
          <a:p>
            <a:pPr algn="l" indent="0" marL="0">
              <a:buNone/>
            </a:pPr>
            <a:r>
              <a:rPr lang="ko-KR" altLang="en-US" sz="1500" b="1" dirty="0">
                <a:solidFill>
                  <a:schemeClr val="tx1"/>
                </a:solidFill>
              </a:rPr>
              <a:t>PS5와 Xbox 게이머</a:t>
            </a:r>
            <a:endParaRPr lang="ko-KR" altLang="en-US" sz="1500" dirty="0"/>
          </a:p>
        </p:txBody>
      </p:sp>
      <p:sp>
        <p:nvSpPr>
          <p:cNvPr id="14" name="Text 9"/>
          <p:cNvSpPr txBox="1"/>
          <p:nvPr/>
        </p:nvSpPr>
        <p:spPr>
          <a:xfrm>
            <a:off x="4480560" y="2011680"/>
            <a:ext cx="3200400" cy="1005840"/>
          </a:xfrm>
          <a:prstGeom prst="rect">
            <a:avLst/>
          </a:prstGeom>
          <a:noFill/>
          <a:ln/>
        </p:spPr>
        <p:txBody>
          <a:bodyPr wrap="square" lIns="0" tIns="0" rIns="0" bIns="0" rtlCol="0" anchor="t"/>
          <a:lstStyle/>
          <a:p>
            <a:pPr algn="l" indent="0" marL="0">
              <a:buNone/>
            </a:pPr>
            <a:r>
              <a:rPr lang="ko-KR" altLang="en-US" sz="1300" dirty="0">
                <a:solidFill>
                  <a:schemeClr val="tx1"/>
                </a:solidFill>
              </a:rPr>
              <a:t>4K 120Hz에는 48Gbps가 필요합니다. 길이는 짧지만 7 m와 10 m가 책상과 거실에 맞습니다.</a:t>
            </a:r>
            <a:endParaRPr lang="ko-KR" altLang="en-US" sz="1300" dirty="0"/>
          </a:p>
        </p:txBody>
      </p:sp>
      <p:sp>
        <p:nvSpPr>
          <p:cNvPr id="15" name="Text 10"/>
          <p:cNvSpPr txBox="1"/>
          <p:nvPr/>
        </p:nvSpPr>
        <p:spPr>
          <a:xfrm>
            <a:off x="4480560" y="2971800"/>
            <a:ext cx="3200400" cy="457200"/>
          </a:xfrm>
          <a:prstGeom prst="rect">
            <a:avLst/>
          </a:prstGeom>
          <a:noFill/>
          <a:ln/>
        </p:spPr>
        <p:txBody>
          <a:bodyPr wrap="square" lIns="0" tIns="0" rIns="0" bIns="0" rtlCol="0" anchor="t"/>
          <a:lstStyle/>
          <a:p>
            <a:pPr algn="l" indent="0" marL="0">
              <a:buNone/>
            </a:pPr>
            <a:r>
              <a:rPr lang="ko-KR" altLang="en-US" sz="1100" dirty="0">
                <a:solidFill>
                  <a:schemeClr val="accent5"/>
                </a:solidFill>
              </a:rPr>
              <a:t>[PLACEHOLDER: 세그먼트 규모, 출처 확인 필요]</a:t>
            </a:r>
            <a:endParaRPr lang="ko-KR" altLang="en-US" sz="1100" dirty="0"/>
          </a:p>
        </p:txBody>
      </p:sp>
      <p:sp>
        <p:nvSpPr>
          <p:cNvPr id="16" name="card"/>
          <p:cNvSpPr/>
          <p:nvPr/>
        </p:nvSpPr>
        <p:spPr>
          <a:xfrm>
            <a:off x="457200" y="3794760"/>
            <a:ext cx="3566160" cy="2331720"/>
          </a:xfrm>
          <a:prstGeom prst="roundRect">
            <a:avLst>
              <a:gd name="adj" fmla="val 4706"/>
            </a:avLst>
          </a:prstGeom>
          <a:solidFill>
            <a:schemeClr val="bg2"/>
          </a:solidFill>
          <a:ln w="12700">
            <a:solidFill>
              <a:srgbClr val="141C36"/>
            </a:solidFill>
            <a:prstDash val="solid"/>
          </a:ln>
        </p:spPr>
      </p:sp>
      <p:sp>
        <p:nvSpPr>
          <p:cNvPr id="17" name="Shape 12"/>
          <p:cNvSpPr/>
          <p:nvPr/>
        </p:nvSpPr>
        <p:spPr>
          <a:xfrm>
            <a:off x="640080" y="3977640"/>
            <a:ext cx="502920" cy="502920"/>
          </a:xfrm>
          <a:prstGeom prst="ellipse">
            <a:avLst/>
          </a:prstGeom>
          <a:solidFill>
            <a:srgbClr val="1B2447"/>
          </a:solidFill>
          <a:ln w="12700">
            <a:solidFill>
              <a:srgbClr val="1B2447"/>
            </a:solidFill>
            <a:prstDash val="solid"/>
          </a:ln>
        </p:spPr>
      </p:sp>
      <p:pic>
        <p:nvPicPr>
          <p:cNvPr id="18" name="Image 2" descr="preencoded.png">    </p:cNvPr>
          <p:cNvPicPr>
            <a:picLocks noChangeAspect="1"/>
          </p:cNvPicPr>
          <p:nvPr/>
        </p:nvPicPr>
        <p:blipFill>
          <a:blip r:embed="rId3"/>
          <a:stretch>
            <a:fillRect/>
          </a:stretch>
        </p:blipFill>
        <p:spPr>
          <a:xfrm>
            <a:off x="750722" y="4088282"/>
            <a:ext cx="281635" cy="281635"/>
          </a:xfrm>
          <a:prstGeom prst="rect">
            <a:avLst/>
          </a:prstGeom>
        </p:spPr>
      </p:pic>
      <p:sp>
        <p:nvSpPr>
          <p:cNvPr id="19" name="Text 13"/>
          <p:cNvSpPr txBox="1"/>
          <p:nvPr/>
        </p:nvSpPr>
        <p:spPr>
          <a:xfrm>
            <a:off x="1280160" y="3977640"/>
            <a:ext cx="2560320" cy="502920"/>
          </a:xfrm>
          <a:prstGeom prst="rect">
            <a:avLst/>
          </a:prstGeom>
          <a:noFill/>
          <a:ln/>
        </p:spPr>
        <p:txBody>
          <a:bodyPr wrap="square" lIns="0" tIns="0" rIns="0" bIns="0" rtlCol="0" anchor="ctr"/>
          <a:lstStyle/>
          <a:p>
            <a:pPr algn="l" indent="0" marL="0">
              <a:buNone/>
            </a:pPr>
            <a:r>
              <a:rPr lang="ko-KR" altLang="en-US" sz="1500" b="1" dirty="0">
                <a:solidFill>
                  <a:schemeClr val="tx1"/>
                </a:solidFill>
              </a:rPr>
              <a:t>커스텀 설치업체와 AV 통합업체</a:t>
            </a:r>
            <a:endParaRPr lang="ko-KR" altLang="en-US" sz="1500" dirty="0"/>
          </a:p>
        </p:txBody>
      </p:sp>
      <p:sp>
        <p:nvSpPr>
          <p:cNvPr id="20" name="Text 14"/>
          <p:cNvSpPr txBox="1"/>
          <p:nvPr/>
        </p:nvSpPr>
        <p:spPr>
          <a:xfrm>
            <a:off x="640080" y="4617720"/>
            <a:ext cx="3200400" cy="1005840"/>
          </a:xfrm>
          <a:prstGeom prst="rect">
            <a:avLst/>
          </a:prstGeom>
          <a:noFill/>
          <a:ln/>
        </p:spPr>
        <p:txBody>
          <a:bodyPr wrap="square" lIns="0" tIns="0" rIns="0" bIns="0" rtlCol="0" anchor="t"/>
          <a:lstStyle/>
          <a:p>
            <a:pPr algn="l" indent="0" marL="0">
              <a:buNone/>
            </a:pPr>
            <a:r>
              <a:rPr lang="ko-KR" altLang="en-US" sz="1300" dirty="0">
                <a:solidFill>
                  <a:schemeClr val="tx1"/>
                </a:solidFill>
              </a:rPr>
              <a:t>벽내 배선에는 CL3, 배관 포설에는 분리형 헤드가 필요합니다. 2년차부터 소매가의 60%로 B2B 구매.</a:t>
            </a:r>
            <a:endParaRPr lang="ko-KR" altLang="en-US" sz="1300" dirty="0"/>
          </a:p>
        </p:txBody>
      </p:sp>
      <p:sp>
        <p:nvSpPr>
          <p:cNvPr id="21" name="Text 15"/>
          <p:cNvSpPr txBox="1"/>
          <p:nvPr/>
        </p:nvSpPr>
        <p:spPr>
          <a:xfrm>
            <a:off x="640080" y="5577840"/>
            <a:ext cx="3200400" cy="457200"/>
          </a:xfrm>
          <a:prstGeom prst="rect">
            <a:avLst/>
          </a:prstGeom>
          <a:noFill/>
          <a:ln/>
        </p:spPr>
        <p:txBody>
          <a:bodyPr wrap="square" lIns="0" tIns="0" rIns="0" bIns="0" rtlCol="0" anchor="t"/>
          <a:lstStyle/>
          <a:p>
            <a:pPr algn="l" indent="0" marL="0">
              <a:buNone/>
            </a:pPr>
            <a:r>
              <a:rPr lang="ko-KR" altLang="en-US" sz="1100" dirty="0">
                <a:solidFill>
                  <a:schemeClr val="accent5"/>
                </a:solidFill>
              </a:rPr>
              <a:t>[PLACEHOLDER: 설치업체 수, 출처 확인 필요]</a:t>
            </a:r>
            <a:endParaRPr lang="ko-KR" altLang="en-US" sz="1100" dirty="0"/>
          </a:p>
        </p:txBody>
      </p:sp>
      <p:sp>
        <p:nvSpPr>
          <p:cNvPr id="22" name="card"/>
          <p:cNvSpPr/>
          <p:nvPr/>
        </p:nvSpPr>
        <p:spPr>
          <a:xfrm>
            <a:off x="4297680" y="3794760"/>
            <a:ext cx="3566160" cy="2331720"/>
          </a:xfrm>
          <a:prstGeom prst="roundRect">
            <a:avLst>
              <a:gd name="adj" fmla="val 4706"/>
            </a:avLst>
          </a:prstGeom>
          <a:solidFill>
            <a:schemeClr val="bg2"/>
          </a:solidFill>
          <a:ln w="12700">
            <a:solidFill>
              <a:srgbClr val="141C36"/>
            </a:solidFill>
            <a:prstDash val="solid"/>
          </a:ln>
        </p:spPr>
      </p:sp>
      <p:sp>
        <p:nvSpPr>
          <p:cNvPr id="23" name="Shape 17"/>
          <p:cNvSpPr/>
          <p:nvPr/>
        </p:nvSpPr>
        <p:spPr>
          <a:xfrm>
            <a:off x="4480560" y="3977640"/>
            <a:ext cx="502920" cy="502920"/>
          </a:xfrm>
          <a:prstGeom prst="ellipse">
            <a:avLst/>
          </a:prstGeom>
          <a:solidFill>
            <a:srgbClr val="1B2447"/>
          </a:solidFill>
          <a:ln w="12700">
            <a:solidFill>
              <a:srgbClr val="1B2447"/>
            </a:solidFill>
            <a:prstDash val="solid"/>
          </a:ln>
        </p:spPr>
      </p:sp>
      <p:pic>
        <p:nvPicPr>
          <p:cNvPr id="24" name="Image 3" descr="preencoded.png">    </p:cNvPr>
          <p:cNvPicPr>
            <a:picLocks noChangeAspect="1"/>
          </p:cNvPicPr>
          <p:nvPr/>
        </p:nvPicPr>
        <p:blipFill>
          <a:blip r:embed="rId4"/>
          <a:stretch>
            <a:fillRect/>
          </a:stretch>
        </p:blipFill>
        <p:spPr>
          <a:xfrm>
            <a:off x="4591202" y="4088282"/>
            <a:ext cx="281635" cy="281635"/>
          </a:xfrm>
          <a:prstGeom prst="rect">
            <a:avLst/>
          </a:prstGeom>
        </p:spPr>
      </p:pic>
      <p:sp>
        <p:nvSpPr>
          <p:cNvPr id="25" name="Text 18"/>
          <p:cNvSpPr txBox="1"/>
          <p:nvPr/>
        </p:nvSpPr>
        <p:spPr>
          <a:xfrm>
            <a:off x="5120640" y="3977640"/>
            <a:ext cx="2560320" cy="502920"/>
          </a:xfrm>
          <a:prstGeom prst="rect">
            <a:avLst/>
          </a:prstGeom>
          <a:noFill/>
          <a:ln/>
        </p:spPr>
        <p:txBody>
          <a:bodyPr wrap="square" lIns="0" tIns="0" rIns="0" bIns="0" rtlCol="0" anchor="ctr"/>
          <a:lstStyle/>
          <a:p>
            <a:pPr algn="l" indent="0" marL="0">
              <a:buNone/>
            </a:pPr>
            <a:r>
              <a:rPr lang="ko-KR" altLang="en-US" sz="1500" b="1" dirty="0">
                <a:solidFill>
                  <a:schemeClr val="tx1"/>
                </a:solidFill>
              </a:rPr>
              <a:t>회의실, 교실, 교회, 사이니지</a:t>
            </a:r>
            <a:endParaRPr lang="ko-KR" altLang="en-US" sz="1500" dirty="0"/>
          </a:p>
        </p:txBody>
      </p:sp>
      <p:sp>
        <p:nvSpPr>
          <p:cNvPr id="26" name="Text 19"/>
          <p:cNvSpPr txBox="1"/>
          <p:nvPr/>
        </p:nvSpPr>
        <p:spPr>
          <a:xfrm>
            <a:off x="4480560" y="4617720"/>
            <a:ext cx="3200400" cy="1005840"/>
          </a:xfrm>
          <a:prstGeom prst="rect">
            <a:avLst/>
          </a:prstGeom>
          <a:noFill/>
          <a:ln/>
        </p:spPr>
        <p:txBody>
          <a:bodyPr wrap="square" lIns="0" tIns="0" rIns="0" bIns="0" rtlCol="0" anchor="t"/>
          <a:lstStyle/>
          <a:p>
            <a:pPr algn="l" indent="0" marL="0">
              <a:buNone/>
            </a:pPr>
            <a:r>
              <a:rPr lang="ko-KR" altLang="en-US" sz="1300" dirty="0">
                <a:solidFill>
                  <a:schemeClr val="tx1"/>
                </a:solidFill>
              </a:rPr>
              <a:t>랙에서 디스플레이나 프로젝터까지 장거리 배선. 여러 공간을 가진 반복 구매자입니다.</a:t>
            </a:r>
            <a:endParaRPr lang="ko-KR" altLang="en-US" sz="1300" dirty="0"/>
          </a:p>
        </p:txBody>
      </p:sp>
      <p:sp>
        <p:nvSpPr>
          <p:cNvPr id="27" name="Text 20"/>
          <p:cNvSpPr txBox="1"/>
          <p:nvPr/>
        </p:nvSpPr>
        <p:spPr>
          <a:xfrm>
            <a:off x="4480560" y="5577840"/>
            <a:ext cx="3200400" cy="457200"/>
          </a:xfrm>
          <a:prstGeom prst="rect">
            <a:avLst/>
          </a:prstGeom>
          <a:noFill/>
          <a:ln/>
        </p:spPr>
        <p:txBody>
          <a:bodyPr wrap="square" lIns="0" tIns="0" rIns="0" bIns="0" rtlCol="0" anchor="t"/>
          <a:lstStyle/>
          <a:p>
            <a:pPr algn="l" indent="0" marL="0">
              <a:buNone/>
            </a:pPr>
            <a:r>
              <a:rPr lang="ko-KR" altLang="en-US" sz="1100" dirty="0">
                <a:solidFill>
                  <a:schemeClr val="accent5"/>
                </a:solidFill>
              </a:rPr>
              <a:t>[PLACEHOLDER: 세그먼트 규모, 출처 확인 필요]</a:t>
            </a:r>
            <a:endParaRPr lang="ko-KR" altLang="en-US" sz="1100" dirty="0"/>
          </a:p>
        </p:txBody>
      </p:sp>
      <p:sp>
        <p:nvSpPr>
          <p:cNvPr id="28" name="card"/>
          <p:cNvSpPr/>
          <p:nvPr/>
        </p:nvSpPr>
        <p:spPr>
          <a:xfrm>
            <a:off x="8138160" y="1188720"/>
            <a:ext cx="3596335" cy="4937760"/>
          </a:xfrm>
          <a:prstGeom prst="roundRect">
            <a:avLst>
              <a:gd name="adj" fmla="val 3051"/>
            </a:avLst>
          </a:prstGeom>
          <a:solidFill>
            <a:srgbClr val="10172D"/>
          </a:solidFill>
          <a:ln w="12700">
            <a:solidFill>
              <a:srgbClr val="10172D"/>
            </a:solidFill>
            <a:prstDash val="solid"/>
          </a:ln>
        </p:spPr>
      </p:sp>
      <p:sp>
        <p:nvSpPr>
          <p:cNvPr id="29" name="Text 22"/>
          <p:cNvSpPr txBox="1"/>
          <p:nvPr/>
        </p:nvSpPr>
        <p:spPr>
          <a:xfrm>
            <a:off x="8366760" y="1325880"/>
            <a:ext cx="3200400" cy="731520"/>
          </a:xfrm>
          <a:prstGeom prst="rect">
            <a:avLst/>
          </a:prstGeom>
          <a:noFill/>
          <a:ln/>
        </p:spPr>
        <p:txBody>
          <a:bodyPr wrap="square" lIns="0" tIns="0" rIns="0" bIns="0" rtlCol="0" anchor="t"/>
          <a:lstStyle/>
          <a:p>
            <a:pPr algn="l" indent="0" marL="0">
              <a:buNone/>
            </a:pPr>
            <a:r>
              <a:rPr lang="ko-KR" altLang="en-US" sz="1500" b="1" dirty="0">
                <a:solidFill>
                  <a:schemeClr val="accent4"/>
                </a:solidFill>
              </a:rPr>
              <a:t>한국 판매가 이미 보여주는 것 (근거 기반)</a:t>
            </a:r>
            <a:endParaRPr lang="ko-KR" altLang="en-US" sz="1500" dirty="0"/>
          </a:p>
        </p:txBody>
      </p:sp>
      <p:sp>
        <p:nvSpPr>
          <p:cNvPr id="30" name="Text 23"/>
          <p:cNvSpPr txBox="1"/>
          <p:nvPr/>
        </p:nvSpPr>
        <p:spPr>
          <a:xfrm>
            <a:off x="8366760" y="2148840"/>
            <a:ext cx="3200400" cy="914400"/>
          </a:xfrm>
          <a:prstGeom prst="rect">
            <a:avLst/>
          </a:prstGeom>
          <a:noFill/>
          <a:ln/>
        </p:spPr>
        <p:txBody>
          <a:bodyPr wrap="square" lIns="0" tIns="0" rIns="0" bIns="0" rtlCol="0" anchor="t"/>
          <a:lstStyle/>
          <a:p>
            <a:pPr algn="l" indent="0" marL="0">
              <a:buNone/>
            </a:pPr>
            <a:r>
              <a:rPr lang="ko-KR" altLang="en-US" sz="4400" b="1" dirty="0">
                <a:solidFill>
                  <a:schemeClr val="accent1"/>
                </a:solidFill>
              </a:rPr>
              <a:t>54%</a:t>
            </a:r>
            <a:endParaRPr lang="ko-KR" altLang="en-US" sz="4400" dirty="0"/>
          </a:p>
        </p:txBody>
      </p:sp>
      <p:sp>
        <p:nvSpPr>
          <p:cNvPr id="31" name="Text 24"/>
          <p:cNvSpPr txBox="1"/>
          <p:nvPr/>
        </p:nvSpPr>
        <p:spPr>
          <a:xfrm>
            <a:off x="8366760" y="3154680"/>
            <a:ext cx="3200400" cy="2743200"/>
          </a:xfrm>
          <a:prstGeom prst="rect">
            <a:avLst/>
          </a:prstGeom>
          <a:noFill/>
          <a:ln/>
        </p:spPr>
        <p:txBody>
          <a:bodyPr wrap="square" lIns="0" tIns="0" rIns="0" bIns="0" rtlCol="0" anchor="t"/>
          <a:lstStyle/>
          <a:p>
            <a:pPr algn="l" indent="0" marL="0">
              <a:buNone/>
            </a:pPr>
            <a:r>
              <a:rPr lang="ko-KR" altLang="en-US" sz="1300" dirty="0">
                <a:solidFill>
                  <a:schemeClr val="tx1"/>
                </a:solidFill>
              </a:rPr>
              <a:t>2026년 8월 1,400개 거래에서 8K 짧은 길이(7 m, 10 m, 20 m)가 수량의 53%, 매출총이익의 54%를 차지했습니다. 미국 출시도 같은 길이로 시작합니다.</a:t>
            </a:r>
            <a:endParaRPr lang="ko-KR" alt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6</a:t>
            </a:fld>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가격 사다리와 포지셔닝</a:t>
            </a:r>
            <a:endParaRPr lang="ko-KR" altLang="en-US" sz="3200" dirty="0"/>
          </a:p>
        </p:txBody>
      </p:sp>
      <p:sp>
        <p:nvSpPr>
          <p:cNvPr id="4" name="Text 1"/>
          <p:cNvSpPr txBox="1"/>
          <p:nvPr/>
        </p:nvSpPr>
        <p:spPr>
          <a:xfrm>
            <a:off x="457200" y="1097280"/>
            <a:ext cx="7589520" cy="548640"/>
          </a:xfrm>
          <a:prstGeom prst="rect">
            <a:avLst/>
          </a:prstGeom>
          <a:noFill/>
          <a:ln/>
        </p:spPr>
        <p:txBody>
          <a:bodyPr wrap="square" lIns="0" tIns="0" rIns="0" bIns="0" rtlCol="0" anchor="t"/>
          <a:lstStyle/>
          <a:p>
            <a:pPr algn="l" indent="0" marL="0">
              <a:buNone/>
            </a:pPr>
            <a:r>
              <a:rPr lang="ko-KR" altLang="en-US" sz="2600" b="1" i="1" dirty="0">
                <a:solidFill>
                  <a:schemeClr val="accent1"/>
                </a:solidFill>
              </a:rPr>
              <a:t>케이블이 아니라 신호를 팝니다.</a:t>
            </a:r>
            <a:endParaRPr lang="ko-KR" altLang="en-US" sz="2600" dirty="0"/>
          </a:p>
        </p:txBody>
      </p:sp>
      <p:sp>
        <p:nvSpPr>
          <p:cNvPr id="5" name="Text 2"/>
          <p:cNvSpPr txBox="1"/>
          <p:nvPr/>
        </p:nvSpPr>
        <p:spPr>
          <a:xfrm>
            <a:off x="457200" y="1645920"/>
            <a:ext cx="7589520" cy="365760"/>
          </a:xfrm>
          <a:prstGeom prst="rect">
            <a:avLst/>
          </a:prstGeom>
          <a:noFill/>
          <a:ln/>
        </p:spPr>
        <p:txBody>
          <a:bodyPr wrap="square" lIns="0" tIns="0" rIns="0" bIns="0" rtlCol="0" anchor="t"/>
          <a:lstStyle/>
          <a:p>
            <a:pPr algn="l" indent="0" marL="0">
              <a:buNone/>
            </a:pPr>
            <a:r>
              <a:rPr lang="ko-KR" altLang="en-US" sz="1300" dirty="0">
                <a:solidFill>
                  <a:schemeClr val="tx2"/>
                </a:solidFill>
              </a:rPr>
              <a:t>좁게 진입합니다. 장거리 고사양 광케이블을 차지합니다. $8 구리 케이블과 경쟁하지 않습니다.</a:t>
            </a:r>
            <a:endParaRPr lang="ko-KR" alt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7589520" cy="914400"/>
        </p:xfrm>
        <a:graphic>
          <a:graphicData uri="http://schemas.openxmlformats.org/drawingml/2006/table">
            <a:tbl>
              <a:tblPr/>
              <a:tblGrid>
                <a:gridCol w="822960"/>
                <a:gridCol w="2286000"/>
                <a:gridCol w="731520"/>
                <a:gridCol w="914400"/>
                <a:gridCol w="1143000"/>
                <a:gridCol w="914400"/>
                <a:gridCol w="777240"/>
              </a:tblGrid>
              <a:tr h="411480">
                <a:tc>
                  <a:txBody>
                    <a:bodyPr/>
                    <a:lstStyle/>
                    <a:p>
                      <a:pPr algn="l" indent="0" marL="0">
                        <a:buNone/>
                      </a:pPr>
                      <a:r>
                        <a:rPr lang="ko-KR" altLang="en-US" sz="1100" b="1" dirty="0">
                          <a:solidFill>
                            <a:srgbClr val="2DE2FF"/>
                          </a:solidFill>
                          <a:latin typeface="Noto Sans KR" pitchFamily="34" charset="0"/>
                          <a:ea typeface="Noto Sans KR" pitchFamily="34" charset="-122"/>
                          <a:cs typeface="Noto Sans KR" pitchFamily="34" charset="-120"/>
                        </a:rPr>
                        <a:t>출시 SKU</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100" b="1" dirty="0">
                          <a:solidFill>
                            <a:srgbClr val="2DE2FF"/>
                          </a:solidFill>
                          <a:latin typeface="Noto Sans KR" pitchFamily="34" charset="0"/>
                          <a:ea typeface="Noto Sans KR" pitchFamily="34" charset="-122"/>
                          <a:cs typeface="Noto Sans KR" pitchFamily="34" charset="-120"/>
                        </a:rPr>
                        <a:t>리스팅 카테고리명</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100" b="1" dirty="0">
                          <a:solidFill>
                            <a:srgbClr val="2DE2FF"/>
                          </a:solidFill>
                          <a:latin typeface="Noto Sans KR" pitchFamily="34" charset="0"/>
                          <a:ea typeface="Noto Sans KR" pitchFamily="34" charset="-122"/>
                          <a:cs typeface="Noto Sans KR" pitchFamily="34" charset="-120"/>
                        </a:rPr>
                        <a:t>길이</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100" b="1" dirty="0">
                          <a:solidFill>
                            <a:srgbClr val="2DE2FF"/>
                          </a:solidFill>
                          <a:latin typeface="Noto Sans KR" pitchFamily="34" charset="0"/>
                          <a:ea typeface="Noto Sans KR" pitchFamily="34" charset="-122"/>
                          <a:cs typeface="Noto Sans KR" pitchFamily="34" charset="-120"/>
                        </a:rPr>
                        <a:t>정가</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100" b="1" dirty="0">
                          <a:solidFill>
                            <a:srgbClr val="2DE2FF"/>
                          </a:solidFill>
                          <a:latin typeface="Noto Sans KR" pitchFamily="34" charset="0"/>
                          <a:ea typeface="Noto Sans KR" pitchFamily="34" charset="-122"/>
                          <a:cs typeface="Noto Sans KR" pitchFamily="34" charset="-120"/>
                        </a:rPr>
                        <a:t>판매가 (ASP 입력)</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100" b="1" dirty="0">
                          <a:solidFill>
                            <a:srgbClr val="2DE2FF"/>
                          </a:solidFill>
                          <a:latin typeface="Noto Sans KR" pitchFamily="34" charset="0"/>
                          <a:ea typeface="Noto Sans KR" pitchFamily="34" charset="-122"/>
                          <a:cs typeface="Noto Sans KR" pitchFamily="34" charset="-120"/>
                        </a:rPr>
                        <a:t>항공 기준 개당 순이익</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100" b="1" dirty="0">
                          <a:solidFill>
                            <a:srgbClr val="2DE2FF"/>
                          </a:solidFill>
                          <a:latin typeface="Noto Sans KR" pitchFamily="34" charset="0"/>
                          <a:ea typeface="Noto Sans KR" pitchFamily="34" charset="-122"/>
                          <a:cs typeface="Noto Sans KR" pitchFamily="34" charset="-120"/>
                        </a:rPr>
                        <a:t>순이익률</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411480">
                <a:tc>
                  <a:txBody>
                    <a:bodyPr/>
                    <a:lstStyle/>
                    <a:p>
                      <a:pPr algn="l" indent="0" marL="0">
                        <a:buNone/>
                      </a:pPr>
                      <a:r>
                        <a:rPr lang="ko-KR" altLang="en-US" sz="1100" dirty="0">
                          <a:solidFill>
                            <a:srgbClr val="F3F6FF"/>
                          </a:solidFill>
                          <a:latin typeface="Noto Sans KR" pitchFamily="34" charset="0"/>
                          <a:ea typeface="Noto Sans KR" pitchFamily="34" charset="-122"/>
                          <a:cs typeface="Noto Sans KR" pitchFamily="34" charset="-120"/>
                        </a:rPr>
                        <a:t>8K 7M</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100" dirty="0">
                          <a:solidFill>
                            <a:srgbClr val="F3F6FF"/>
                          </a:solidFill>
                          <a:latin typeface="Noto Sans KR" pitchFamily="34" charset="0"/>
                          <a:ea typeface="Noto Sans KR" pitchFamily="34" charset="-122"/>
                          <a:cs typeface="Noto Sans KR" pitchFamily="34" charset="-120"/>
                        </a:rPr>
                        <a:t>Ultra High Speed HDMI Cable</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7 m</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$49.99</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$39.99</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$10.31</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25.8%</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11480">
                <a:tc>
                  <a:txBody>
                    <a:bodyPr/>
                    <a:lstStyle/>
                    <a:p>
                      <a:pPr algn="l" indent="0" marL="0">
                        <a:buNone/>
                      </a:pPr>
                      <a:r>
                        <a:rPr lang="ko-KR" altLang="en-US" sz="1100" dirty="0">
                          <a:solidFill>
                            <a:srgbClr val="F3F6FF"/>
                          </a:solidFill>
                          <a:latin typeface="Noto Sans KR" pitchFamily="34" charset="0"/>
                          <a:ea typeface="Noto Sans KR" pitchFamily="34" charset="-122"/>
                          <a:cs typeface="Noto Sans KR" pitchFamily="34" charset="-120"/>
                        </a:rPr>
                        <a:t>8K 10M</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100" dirty="0">
                          <a:solidFill>
                            <a:srgbClr val="F3F6FF"/>
                          </a:solidFill>
                          <a:latin typeface="Noto Sans KR" pitchFamily="34" charset="0"/>
                          <a:ea typeface="Noto Sans KR" pitchFamily="34" charset="-122"/>
                          <a:cs typeface="Noto Sans KR" pitchFamily="34" charset="-120"/>
                        </a:rPr>
                        <a:t>Ultra High Speed HDMI Cable</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10 m</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$59.99</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$44.99</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$12.47</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27.7%</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11480">
                <a:tc>
                  <a:txBody>
                    <a:bodyPr/>
                    <a:lstStyle/>
                    <a:p>
                      <a:pPr algn="l" indent="0" marL="0">
                        <a:buNone/>
                      </a:pPr>
                      <a:r>
                        <a:rPr lang="ko-KR" altLang="en-US" sz="1100" dirty="0">
                          <a:solidFill>
                            <a:srgbClr val="F3F6FF"/>
                          </a:solidFill>
                          <a:latin typeface="Noto Sans KR" pitchFamily="34" charset="0"/>
                          <a:ea typeface="Noto Sans KR" pitchFamily="34" charset="-122"/>
                          <a:cs typeface="Noto Sans KR" pitchFamily="34" charset="-120"/>
                        </a:rPr>
                        <a:t>8K 15M</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100" dirty="0">
                          <a:solidFill>
                            <a:srgbClr val="F3F6FF"/>
                          </a:solidFill>
                          <a:latin typeface="Noto Sans KR" pitchFamily="34" charset="0"/>
                          <a:ea typeface="Noto Sans KR" pitchFamily="34" charset="-122"/>
                          <a:cs typeface="Noto Sans KR" pitchFamily="34" charset="-120"/>
                        </a:rPr>
                        <a:t>Ultra High Speed HDMI Cable</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15 m</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$69.99</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$54.99</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$16.37</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29.8%</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11480">
                <a:tc>
                  <a:txBody>
                    <a:bodyPr/>
                    <a:lstStyle/>
                    <a:p>
                      <a:pPr algn="l" indent="0" marL="0">
                        <a:buNone/>
                      </a:pPr>
                      <a:r>
                        <a:rPr lang="ko-KR" altLang="en-US" sz="1100" dirty="0">
                          <a:solidFill>
                            <a:srgbClr val="F3F6FF"/>
                          </a:solidFill>
                          <a:latin typeface="Noto Sans KR" pitchFamily="34" charset="0"/>
                          <a:ea typeface="Noto Sans KR" pitchFamily="34" charset="-122"/>
                          <a:cs typeface="Noto Sans KR" pitchFamily="34" charset="-120"/>
                        </a:rPr>
                        <a:t>8K 20M</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100" dirty="0">
                          <a:solidFill>
                            <a:srgbClr val="F3F6FF"/>
                          </a:solidFill>
                          <a:latin typeface="Noto Sans KR" pitchFamily="34" charset="0"/>
                          <a:ea typeface="Noto Sans KR" pitchFamily="34" charset="-122"/>
                          <a:cs typeface="Noto Sans KR" pitchFamily="34" charset="-120"/>
                        </a:rPr>
                        <a:t>Ultra High Speed HDMI Cable</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20 m</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$79.99</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$64.99</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$20.89</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32.1%</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11480">
                <a:tc>
                  <a:txBody>
                    <a:bodyPr/>
                    <a:lstStyle/>
                    <a:p>
                      <a:pPr algn="l" indent="0" marL="0">
                        <a:buNone/>
                      </a:pPr>
                      <a:r>
                        <a:rPr lang="ko-KR" altLang="en-US" sz="1100" dirty="0">
                          <a:solidFill>
                            <a:srgbClr val="F3F6FF"/>
                          </a:solidFill>
                          <a:latin typeface="Noto Sans KR" pitchFamily="34" charset="0"/>
                          <a:ea typeface="Noto Sans KR" pitchFamily="34" charset="-122"/>
                          <a:cs typeface="Noto Sans KR" pitchFamily="34" charset="-120"/>
                        </a:rPr>
                        <a:t>4K 30M</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100" dirty="0">
                          <a:solidFill>
                            <a:srgbClr val="F3F6FF"/>
                          </a:solidFill>
                          <a:latin typeface="Noto Sans KR" pitchFamily="34" charset="0"/>
                          <a:ea typeface="Noto Sans KR" pitchFamily="34" charset="-122"/>
                          <a:cs typeface="Noto Sans KR" pitchFamily="34" charset="-120"/>
                        </a:rPr>
                        <a:t>Premium High Speed HDMI Cable (placeholder)</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30 m</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$64.99</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$49.99</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$4.39</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8.8%</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bl>
          </a:graphicData>
        </a:graphic>
      </p:graphicFrame>
      <p:sp>
        <p:nvSpPr>
          <p:cNvPr id="7" name="Text 3"/>
          <p:cNvSpPr txBox="1"/>
          <p:nvPr/>
        </p:nvSpPr>
        <p:spPr>
          <a:xfrm>
            <a:off x="457200" y="4846320"/>
            <a:ext cx="7589520" cy="1188720"/>
          </a:xfrm>
          <a:prstGeom prst="rect">
            <a:avLst/>
          </a:prstGeom>
          <a:noFill/>
          <a:ln/>
        </p:spPr>
        <p:txBody>
          <a:bodyPr wrap="square" lIns="0" tIns="0" rIns="0" bIns="0" rtlCol="0" anchor="t"/>
          <a:lstStyle/>
          <a:p>
            <a:pPr algn="l" indent="0" marL="0">
              <a:buNone/>
            </a:pPr>
            <a:r>
              <a:rPr lang="ko-KR" altLang="en-US" sz="1100" dirty="0">
                <a:solidFill>
                  <a:schemeClr val="tx2"/>
                </a:solidFill>
              </a:rPr>
              <a:t>가격과 FBA 수수료는 아마존 요율표 확인 전까지 경영진 추정입니다. 개당 순이익은 H2 원가 기준, Copper 관세, 출시 물량 항공 운송을 적용했습니다.</a:t>
            </a:r>
            <a:endParaRPr lang="ko-KR" altLang="en-US" sz="1100" dirty="0"/>
          </a:p>
        </p:txBody>
      </p:sp>
      <p:sp>
        <p:nvSpPr>
          <p:cNvPr id="8" name="card"/>
          <p:cNvSpPr/>
          <p:nvPr/>
        </p:nvSpPr>
        <p:spPr>
          <a:xfrm>
            <a:off x="8321040" y="1097280"/>
            <a:ext cx="3410712" cy="5029200"/>
          </a:xfrm>
          <a:prstGeom prst="roundRect">
            <a:avLst>
              <a:gd name="adj" fmla="val 3217"/>
            </a:avLst>
          </a:prstGeom>
          <a:solidFill>
            <a:schemeClr val="bg2"/>
          </a:solidFill>
          <a:ln w="12700">
            <a:solidFill>
              <a:srgbClr val="141C36"/>
            </a:solidFill>
            <a:prstDash val="solid"/>
          </a:ln>
        </p:spPr>
      </p:sp>
      <p:sp>
        <p:nvSpPr>
          <p:cNvPr id="9" name="Text 5"/>
          <p:cNvSpPr txBox="1"/>
          <p:nvPr/>
        </p:nvSpPr>
        <p:spPr>
          <a:xfrm>
            <a:off x="8549640" y="1234440"/>
            <a:ext cx="3017520" cy="411480"/>
          </a:xfrm>
          <a:prstGeom prst="rect">
            <a:avLst/>
          </a:prstGeom>
          <a:noFill/>
          <a:ln/>
        </p:spPr>
        <p:txBody>
          <a:bodyPr wrap="square" lIns="0" tIns="0" rIns="0" bIns="0" rtlCol="0" anchor="t"/>
          <a:lstStyle/>
          <a:p>
            <a:pPr algn="l" indent="0" marL="0">
              <a:buNone/>
            </a:pPr>
            <a:r>
              <a:rPr lang="ko-KR" altLang="en-US" sz="1600" b="1" dirty="0">
                <a:solidFill>
                  <a:schemeClr val="accent1"/>
                </a:solidFill>
              </a:rPr>
              <a:t>사다리의 작동 방식</a:t>
            </a:r>
            <a:endParaRPr lang="ko-KR" altLang="en-US" sz="1600" dirty="0"/>
          </a:p>
        </p:txBody>
      </p:sp>
      <p:sp>
        <p:nvSpPr>
          <p:cNvPr id="10" name="Text 6"/>
          <p:cNvSpPr txBox="1"/>
          <p:nvPr/>
        </p:nvSpPr>
        <p:spPr>
          <a:xfrm>
            <a:off x="8549640" y="1737360"/>
            <a:ext cx="3017520" cy="4206240"/>
          </a:xfrm>
          <a:prstGeom prst="rect">
            <a:avLst/>
          </a:prstGeom>
          <a:noFill/>
          <a:ln/>
        </p:spPr>
        <p:txBody>
          <a:bodyPr wrap="square" lIns="0" tIns="0" rIns="0" bIns="0" rtlCol="0" anchor="t"/>
          <a:lstStyle/>
          <a:p>
            <a:pPr algn="l" marL="152400" indent="-152400">
              <a:spcAft>
                <a:spcPts val="800"/>
              </a:spcAft>
              <a:buSzPct val="100000"/>
              <a:buChar char="•"/>
            </a:pPr>
            <a:r>
              <a:rPr lang="ko-KR" altLang="en-US" sz="1300" dirty="0">
                <a:solidFill>
                  <a:schemeClr val="tx1"/>
                </a:solidFill>
              </a:rPr>
              <a:t>정가가 가치를 고정하고, 판매가를 모델에서 ASP(평균 판매가)로 씁니다.</a:t>
            </a:r>
            <a:endParaRPr lang="ko-KR" altLang="en-US" sz="1300" dirty="0"/>
          </a:p>
          <a:p>
            <a:pPr algn="l" marL="152400" indent="-152400">
              <a:spcAft>
                <a:spcPts val="800"/>
              </a:spcAft>
              <a:buSzPct val="100000"/>
              <a:buChar char="•"/>
            </a:pPr>
            <a:r>
              <a:rPr lang="ko-KR" altLang="en-US" sz="1300" dirty="0">
                <a:solidFill>
                  <a:schemeClr val="tx1"/>
                </a:solidFill>
              </a:rPr>
              <a:t>주력 SKU: 10 m 8K 케이블 $44.99 (정가 $59.99).</a:t>
            </a:r>
            <a:endParaRPr lang="ko-KR" altLang="en-US" sz="1300" dirty="0"/>
          </a:p>
          <a:p>
            <a:pPr algn="l" marL="152400" indent="-152400">
              <a:spcAft>
                <a:spcPts val="800"/>
              </a:spcAft>
              <a:buSzPct val="100000"/>
              <a:buChar char="•"/>
            </a:pPr>
            <a:r>
              <a:rPr lang="ko-KR" altLang="en-US" sz="1300" dirty="0">
                <a:solidFill>
                  <a:schemeClr val="tx1"/>
                </a:solidFill>
              </a:rPr>
              <a:t>라인마다 부모 ASIN 하나, 길이별 자식 ASIN으로 리뷰와 광고를 모읍니다 (레버 6).</a:t>
            </a:r>
            <a:endParaRPr lang="ko-KR" altLang="en-US" sz="1300" dirty="0"/>
          </a:p>
          <a:p>
            <a:pPr algn="l" marL="152400" indent="-152400">
              <a:spcAft>
                <a:spcPts val="800"/>
              </a:spcAft>
              <a:buSzPct val="100000"/>
              <a:buChar char="•"/>
            </a:pPr>
            <a:r>
              <a:rPr lang="ko-KR" altLang="en-US" sz="1300" dirty="0">
                <a:solidFill>
                  <a:schemeClr val="tx1"/>
                </a:solidFill>
              </a:rPr>
              <a:t>18개월 모델의 혼합 ASP: $42 (근거 기반, 8월 모델).</a:t>
            </a:r>
            <a:endParaRPr lang="ko-KR" alt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7</a:t>
            </a:fld>
            <a:endParaRPr lang="ko-K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85800" y="3749040"/>
            <a:ext cx="9144000" cy="1005840"/>
          </a:xfrm>
          <a:prstGeom prst="rect">
            <a:avLst/>
          </a:prstGeom>
          <a:noFill/>
          <a:ln/>
        </p:spPr>
        <p:txBody>
          <a:bodyPr wrap="square" lIns="0" tIns="0" rIns="0" bIns="0" rtlCol="0" anchor="b"/>
          <a:lstStyle/>
          <a:p>
            <a:pPr algn="l" indent="0" marL="0">
              <a:buNone/>
            </a:pPr>
            <a:r>
              <a:rPr lang="ko-KR" altLang="en-US" sz="3600" b="1" dirty="0">
                <a:solidFill>
                  <a:srgbClr val="F3F6FF"/>
                </a:solidFill>
              </a:rPr>
              <a:t>제품</a:t>
            </a:r>
            <a:endParaRPr lang="ko-KR" altLang="en-US" sz="3600" dirty="0"/>
          </a:p>
        </p:txBody>
      </p:sp>
      <p:sp>
        <p:nvSpPr>
          <p:cNvPr id="3" name="Text 0"/>
          <p:cNvSpPr/>
          <p:nvPr>
            <p:ph idx="101" type="body" hasCustomPrompt="1"/>
          </p:nvPr>
        </p:nvSpPr>
        <p:spPr>
          <a:xfrm>
            <a:off x="685800" y="4800600"/>
            <a:ext cx="9144000" cy="457200"/>
          </a:xfrm>
          <a:prstGeom prst="rect">
            <a:avLst/>
          </a:prstGeom>
          <a:noFill/>
          <a:ln/>
        </p:spPr>
        <p:txBody>
          <a:bodyPr wrap="square" lIns="0" tIns="0" rIns="0" bIns="0" rtlCol="0" anchor="t"/>
          <a:lstStyle/>
          <a:p>
            <a:pPr indent="0" marL="0">
              <a:buNone/>
            </a:pPr>
            <a:r>
              <a:rPr lang="ko-KR" altLang="en-US" sz="1600" dirty="0">
                <a:solidFill>
                  <a:srgbClr val="2DE2FF"/>
                </a:solidFill>
              </a:rPr>
              <a:t>5개 섹션 중 2</a:t>
            </a:r>
            <a:endParaRPr lang="ko-KR" altLang="en-US" sz="16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8</a:t>
            </a:fld>
            <a:endParaRPr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현재 라인업과 로드맵</a:t>
            </a:r>
            <a:endParaRPr lang="ko-KR" alt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7040880" cy="914400"/>
        </p:xfrm>
        <a:graphic>
          <a:graphicData uri="http://schemas.openxmlformats.org/drawingml/2006/table">
            <a:tbl>
              <a:tblPr/>
              <a:tblGrid>
                <a:gridCol w="777240"/>
                <a:gridCol w="2788920"/>
                <a:gridCol w="640080"/>
                <a:gridCol w="731520"/>
                <a:gridCol w="731520"/>
                <a:gridCol w="731520"/>
                <a:gridCol w="640080"/>
              </a:tblGrid>
              <a:tr h="329184">
                <a:tc>
                  <a:txBody>
                    <a:bodyPr/>
                    <a:lstStyle/>
                    <a:p>
                      <a:pPr algn="l" indent="0" marL="0">
                        <a:buNone/>
                      </a:pPr>
                      <a:r>
                        <a:rPr lang="ko-KR" altLang="en-US" sz="1050" b="1" dirty="0">
                          <a:solidFill>
                            <a:srgbClr val="2DE2FF"/>
                          </a:solidFill>
                          <a:latin typeface="Noto Sans KR" pitchFamily="34" charset="0"/>
                          <a:ea typeface="Noto Sans KR" pitchFamily="34" charset="-122"/>
                          <a:cs typeface="Noto Sans KR" pitchFamily="34" charset="-120"/>
                        </a:rPr>
                        <a:t>SKU</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050" b="1" dirty="0">
                          <a:solidFill>
                            <a:srgbClr val="2DE2FF"/>
                          </a:solidFill>
                          <a:latin typeface="Noto Sans KR" pitchFamily="34" charset="0"/>
                          <a:ea typeface="Noto Sans KR" pitchFamily="34" charset="-122"/>
                          <a:cs typeface="Noto Sans KR" pitchFamily="34" charset="-120"/>
                        </a:rPr>
                        <a:t>라인</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길이</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정가</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판매가</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H2 원가 (KRW)</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ctr" indent="0" marL="0">
                        <a:buNone/>
                      </a:pPr>
                      <a:r>
                        <a:rPr lang="ko-KR" altLang="en-US" sz="1050" b="1" dirty="0">
                          <a:solidFill>
                            <a:srgbClr val="2DE2FF"/>
                          </a:solidFill>
                          <a:latin typeface="Noto Sans KR" pitchFamily="34" charset="0"/>
                          <a:ea typeface="Noto Sans KR" pitchFamily="34" charset="-122"/>
                          <a:cs typeface="Noto Sans KR" pitchFamily="34" charset="-120"/>
                        </a:rPr>
                        <a:t>출시</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329184">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8K 7M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Ultra High Speed HDMI Cable (8K 라인)</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7 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$49.99</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$39.99</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10,525</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ctr" indent="0" marL="0">
                        <a:buNone/>
                      </a:pPr>
                      <a:r>
                        <a:rPr lang="ko-KR" altLang="en-US" sz="1050" dirty="0">
                          <a:solidFill>
                            <a:srgbClr val="F3F6FF"/>
                          </a:solidFill>
                          <a:latin typeface="Noto Sans KR" pitchFamily="34" charset="0"/>
                          <a:ea typeface="Noto Sans KR" pitchFamily="34" charset="-122"/>
                          <a:cs typeface="Noto Sans KR" pitchFamily="34" charset="-120"/>
                        </a:rPr>
                        <a:t>예</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29184">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8K 10M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Ultra High Speed HDMI Cable (8K 라인)</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10 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$59.99</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$44.99</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11,470</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ctr" indent="0" marL="0">
                        <a:buNone/>
                      </a:pPr>
                      <a:r>
                        <a:rPr lang="ko-KR" altLang="en-US" sz="1050" dirty="0">
                          <a:solidFill>
                            <a:srgbClr val="F3F6FF"/>
                          </a:solidFill>
                          <a:latin typeface="Noto Sans KR" pitchFamily="34" charset="0"/>
                          <a:ea typeface="Noto Sans KR" pitchFamily="34" charset="-122"/>
                          <a:cs typeface="Noto Sans KR" pitchFamily="34" charset="-120"/>
                        </a:rPr>
                        <a:t>예</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29184">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8K 15M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Ultra High Speed HDMI Cable (8K 라인)</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15 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$69.99</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$54.99</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13,376</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ctr" indent="0" marL="0">
                        <a:buNone/>
                      </a:pPr>
                      <a:r>
                        <a:rPr lang="ko-KR" altLang="en-US" sz="1050" dirty="0">
                          <a:solidFill>
                            <a:srgbClr val="F3F6FF"/>
                          </a:solidFill>
                          <a:latin typeface="Noto Sans KR" pitchFamily="34" charset="0"/>
                          <a:ea typeface="Noto Sans KR" pitchFamily="34" charset="-122"/>
                          <a:cs typeface="Noto Sans KR" pitchFamily="34" charset="-120"/>
                        </a:rPr>
                        <a:t>예</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29184">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8K 20M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Ultra High Speed HDMI Cable (8K 라인)</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20 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$79.99</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$64.99</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15,266</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ctr" indent="0" marL="0">
                        <a:buNone/>
                      </a:pPr>
                      <a:r>
                        <a:rPr lang="ko-KR" altLang="en-US" sz="1050" dirty="0">
                          <a:solidFill>
                            <a:srgbClr val="F3F6FF"/>
                          </a:solidFill>
                          <a:latin typeface="Noto Sans KR" pitchFamily="34" charset="0"/>
                          <a:ea typeface="Noto Sans KR" pitchFamily="34" charset="-122"/>
                          <a:cs typeface="Noto Sans KR" pitchFamily="34" charset="-120"/>
                        </a:rPr>
                        <a:t>예</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29184">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8K 25M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Ultra High Speed HDMI Cable (8K 라인)</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25 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$89.99</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$74.99</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17,172</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ctr" indent="0" marL="0">
                        <a:buNone/>
                      </a:pPr>
                      <a:r>
                        <a:rPr lang="ko-KR" altLang="en-US" sz="1050" dirty="0">
                          <a:solidFill>
                            <a:srgbClr val="F3F6FF"/>
                          </a:solidFill>
                          <a:latin typeface="Noto Sans KR" pitchFamily="34" charset="0"/>
                          <a:ea typeface="Noto Sans KR" pitchFamily="34" charset="-122"/>
                          <a:cs typeface="Noto Sans KR" pitchFamily="34" charset="-120"/>
                        </a:rPr>
                        <a:t>아니오</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29184">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8K 50M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Ultra High Speed HDMI Cable (8K 라인)</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50 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$149.99</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$119.99</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27,349</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ctr" indent="0" marL="0">
                        <a:buNone/>
                      </a:pPr>
                      <a:r>
                        <a:rPr lang="ko-KR" altLang="en-US" sz="1050" dirty="0">
                          <a:solidFill>
                            <a:srgbClr val="F3F6FF"/>
                          </a:solidFill>
                          <a:latin typeface="Noto Sans KR" pitchFamily="34" charset="0"/>
                          <a:ea typeface="Noto Sans KR" pitchFamily="34" charset="-122"/>
                          <a:cs typeface="Noto Sans KR" pitchFamily="34" charset="-120"/>
                        </a:rPr>
                        <a:t>아니오</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29184">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4K 15M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Premium High Speed HDMI Cable (4K 라인, placeholder)</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15 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$44.99</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$34.99</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12,680</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ctr" indent="0" marL="0">
                        <a:buNone/>
                      </a:pPr>
                      <a:r>
                        <a:rPr lang="ko-KR" altLang="en-US" sz="1050" dirty="0">
                          <a:solidFill>
                            <a:srgbClr val="F3F6FF"/>
                          </a:solidFill>
                          <a:latin typeface="Noto Sans KR" pitchFamily="34" charset="0"/>
                          <a:ea typeface="Noto Sans KR" pitchFamily="34" charset="-122"/>
                          <a:cs typeface="Noto Sans KR" pitchFamily="34" charset="-120"/>
                        </a:rPr>
                        <a:t>아니오</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29184">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4K 20M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Premium High Speed HDMI Cable (4K 라인, placeholder)</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20 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$49.99</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$39.99</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14,122</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ctr" indent="0" marL="0">
                        <a:buNone/>
                      </a:pPr>
                      <a:r>
                        <a:rPr lang="ko-KR" altLang="en-US" sz="1050" dirty="0">
                          <a:solidFill>
                            <a:srgbClr val="F3F6FF"/>
                          </a:solidFill>
                          <a:latin typeface="Noto Sans KR" pitchFamily="34" charset="0"/>
                          <a:ea typeface="Noto Sans KR" pitchFamily="34" charset="-122"/>
                          <a:cs typeface="Noto Sans KR" pitchFamily="34" charset="-120"/>
                        </a:rPr>
                        <a:t>아니오</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29184">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4K 30M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Premium High Speed HDMI Cable (4K 라인, placeholder)</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30 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$64.99</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$49.99</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19,542</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ctr" indent="0" marL="0">
                        <a:buNone/>
                      </a:pPr>
                      <a:r>
                        <a:rPr lang="ko-KR" altLang="en-US" sz="1050" dirty="0">
                          <a:solidFill>
                            <a:srgbClr val="F3F6FF"/>
                          </a:solidFill>
                          <a:latin typeface="Noto Sans KR" pitchFamily="34" charset="0"/>
                          <a:ea typeface="Noto Sans KR" pitchFamily="34" charset="-122"/>
                          <a:cs typeface="Noto Sans KR" pitchFamily="34" charset="-120"/>
                        </a:rPr>
                        <a:t>예</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29184">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4K 40M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Premium High Speed HDMI Cable (4K 라인, placeholder)</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40 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$74.99</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$59.99</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22,609</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ctr" indent="0" marL="0">
                        <a:buNone/>
                      </a:pPr>
                      <a:r>
                        <a:rPr lang="ko-KR" altLang="en-US" sz="1050" dirty="0">
                          <a:solidFill>
                            <a:srgbClr val="F3F6FF"/>
                          </a:solidFill>
                          <a:latin typeface="Noto Sans KR" pitchFamily="34" charset="0"/>
                          <a:ea typeface="Noto Sans KR" pitchFamily="34" charset="-122"/>
                          <a:cs typeface="Noto Sans KR" pitchFamily="34" charset="-120"/>
                        </a:rPr>
                        <a:t>아니오</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bl>
          </a:graphicData>
        </a:graphic>
      </p:graphicFrame>
      <p:sp>
        <p:nvSpPr>
          <p:cNvPr id="5" name="Text 1"/>
          <p:cNvSpPr txBox="1"/>
          <p:nvPr/>
        </p:nvSpPr>
        <p:spPr>
          <a:xfrm>
            <a:off x="457200" y="5257800"/>
            <a:ext cx="7040880" cy="1005840"/>
          </a:xfrm>
          <a:prstGeom prst="rect">
            <a:avLst/>
          </a:prstGeom>
          <a:noFill/>
          <a:ln/>
        </p:spPr>
        <p:txBody>
          <a:bodyPr wrap="square" lIns="0" tIns="0" rIns="0" bIns="0" rtlCol="0" anchor="t"/>
          <a:lstStyle/>
          <a:p>
            <a:pPr algn="l" indent="0" marL="0">
              <a:buNone/>
            </a:pPr>
            <a:r>
              <a:rPr lang="ko-KR" altLang="en-US" sz="1100" dirty="0">
                <a:solidFill>
                  <a:schemeClr val="tx2"/>
                </a:solidFill>
              </a:rPr>
              <a:t>H2 원가는 2026년 8월 거래의 개당 한국 도착 매입 원가입니다 (근거 기반). HDMI 2.1 같은 규격명은 내부용이며 포장과 리스팅에는 절대 쓰지 않습니다.</a:t>
            </a:r>
            <a:endParaRPr lang="ko-KR" altLang="en-US" sz="1100" dirty="0"/>
          </a:p>
        </p:txBody>
      </p:sp>
      <p:sp>
        <p:nvSpPr>
          <p:cNvPr id="6" name="card"/>
          <p:cNvSpPr/>
          <p:nvPr/>
        </p:nvSpPr>
        <p:spPr>
          <a:xfrm>
            <a:off x="7772400" y="1188720"/>
            <a:ext cx="3959352" cy="5029200"/>
          </a:xfrm>
          <a:prstGeom prst="roundRect">
            <a:avLst>
              <a:gd name="adj" fmla="val 2771"/>
            </a:avLst>
          </a:prstGeom>
          <a:solidFill>
            <a:schemeClr val="bg2"/>
          </a:solidFill>
          <a:ln w="12700">
            <a:solidFill>
              <a:srgbClr val="141C36"/>
            </a:solidFill>
            <a:prstDash val="solid"/>
          </a:ln>
        </p:spPr>
      </p:sp>
      <p:sp>
        <p:nvSpPr>
          <p:cNvPr id="7" name="Text 3"/>
          <p:cNvSpPr txBox="1"/>
          <p:nvPr/>
        </p:nvSpPr>
        <p:spPr>
          <a:xfrm>
            <a:off x="8001000" y="1325880"/>
            <a:ext cx="3474720" cy="411480"/>
          </a:xfrm>
          <a:prstGeom prst="rect">
            <a:avLst/>
          </a:prstGeom>
          <a:noFill/>
          <a:ln/>
        </p:spPr>
        <p:txBody>
          <a:bodyPr wrap="square" lIns="0" tIns="0" rIns="0" bIns="0" rtlCol="0" anchor="t"/>
          <a:lstStyle/>
          <a:p>
            <a:pPr algn="l" indent="0" marL="0">
              <a:buNone/>
            </a:pPr>
            <a:r>
              <a:rPr lang="ko-KR" altLang="en-US" sz="1600" b="1" dirty="0">
                <a:solidFill>
                  <a:schemeClr val="accent1"/>
                </a:solidFill>
              </a:rPr>
              <a:t>로드맵</a:t>
            </a:r>
            <a:endParaRPr lang="ko-KR" altLang="en-US" sz="1600" dirty="0"/>
          </a:p>
        </p:txBody>
      </p:sp>
      <p:sp>
        <p:nvSpPr>
          <p:cNvPr id="8" name="Text 4"/>
          <p:cNvSpPr txBox="1"/>
          <p:nvPr/>
        </p:nvSpPr>
        <p:spPr>
          <a:xfrm>
            <a:off x="8001000" y="1828800"/>
            <a:ext cx="3474720" cy="320040"/>
          </a:xfrm>
          <a:prstGeom prst="rect">
            <a:avLst/>
          </a:prstGeom>
          <a:noFill/>
          <a:ln/>
        </p:spPr>
        <p:txBody>
          <a:bodyPr wrap="square" lIns="0" tIns="0" rIns="0" bIns="0" rtlCol="0" anchor="t"/>
          <a:lstStyle/>
          <a:p>
            <a:pPr algn="l" indent="0" marL="0">
              <a:buNone/>
            </a:pPr>
            <a:r>
              <a:rPr lang="ko-KR" altLang="en-US" sz="1300" b="1" dirty="0">
                <a:solidFill>
                  <a:schemeClr val="accent5"/>
                </a:solidFill>
              </a:rPr>
              <a:t>3년차</a:t>
            </a:r>
            <a:endParaRPr lang="ko-KR" altLang="en-US" sz="1300" dirty="0"/>
          </a:p>
        </p:txBody>
      </p:sp>
      <p:sp>
        <p:nvSpPr>
          <p:cNvPr id="9" name="Text 5"/>
          <p:cNvSpPr txBox="1"/>
          <p:nvPr/>
        </p:nvSpPr>
        <p:spPr>
          <a:xfrm>
            <a:off x="8001000" y="2176272"/>
            <a:ext cx="3474720" cy="1005840"/>
          </a:xfrm>
          <a:prstGeom prst="rect">
            <a:avLst/>
          </a:prstGeom>
          <a:noFill/>
          <a:ln/>
        </p:spPr>
        <p:txBody>
          <a:bodyPr wrap="square" lIns="0" tIns="0" rIns="0" bIns="0" rtlCol="0" anchor="t"/>
          <a:lstStyle/>
          <a:p>
            <a:pPr algn="l" indent="0" marL="0">
              <a:buNone/>
            </a:pPr>
            <a:r>
              <a:rPr lang="ko-KR" altLang="en-US" sz="1250" dirty="0">
                <a:solidFill>
                  <a:schemeClr val="tx1"/>
                </a:solidFill>
              </a:rPr>
              <a:t>HDMI 2.2 16K, DP 2.1, USB4 액티브 광케이블. ASP 3% 믹스 상승으로 모델링 (경영진 추정).</a:t>
            </a:r>
            <a:endParaRPr lang="ko-KR" altLang="en-US" sz="1250" dirty="0"/>
          </a:p>
        </p:txBody>
      </p:sp>
      <p:sp>
        <p:nvSpPr>
          <p:cNvPr id="10" name="Text 6"/>
          <p:cNvSpPr txBox="1"/>
          <p:nvPr/>
        </p:nvSpPr>
        <p:spPr>
          <a:xfrm>
            <a:off x="8001000" y="3246120"/>
            <a:ext cx="3474720" cy="320040"/>
          </a:xfrm>
          <a:prstGeom prst="rect">
            <a:avLst/>
          </a:prstGeom>
          <a:noFill/>
          <a:ln/>
        </p:spPr>
        <p:txBody>
          <a:bodyPr wrap="square" lIns="0" tIns="0" rIns="0" bIns="0" rtlCol="0" anchor="t"/>
          <a:lstStyle/>
          <a:p>
            <a:pPr algn="l" indent="0" marL="0">
              <a:buNone/>
            </a:pPr>
            <a:r>
              <a:rPr lang="ko-KR" altLang="en-US" sz="1300" b="1" dirty="0">
                <a:solidFill>
                  <a:schemeClr val="accent5"/>
                </a:solidFill>
              </a:rPr>
              <a:t>4년차</a:t>
            </a:r>
            <a:endParaRPr lang="ko-KR" altLang="en-US" sz="1300" dirty="0"/>
          </a:p>
        </p:txBody>
      </p:sp>
      <p:sp>
        <p:nvSpPr>
          <p:cNvPr id="11" name="Text 7"/>
          <p:cNvSpPr txBox="1"/>
          <p:nvPr/>
        </p:nvSpPr>
        <p:spPr>
          <a:xfrm>
            <a:off x="8001000" y="3593592"/>
            <a:ext cx="3474720" cy="1005840"/>
          </a:xfrm>
          <a:prstGeom prst="rect">
            <a:avLst/>
          </a:prstGeom>
          <a:noFill/>
          <a:ln/>
        </p:spPr>
        <p:txBody>
          <a:bodyPr wrap="square" lIns="0" tIns="0" rIns="0" bIns="0" rtlCol="0" anchor="t"/>
          <a:lstStyle/>
          <a:p>
            <a:pPr algn="l" indent="0" marL="0">
              <a:buNone/>
            </a:pPr>
            <a:r>
              <a:rPr lang="ko-KR" altLang="en-US" sz="1250" dirty="0">
                <a:solidFill>
                  <a:schemeClr val="tx1"/>
                </a:solidFill>
              </a:rPr>
              <a:t>프로 라인: CL3, 플레넘, 배관 포설, 장거리 광 KVM. ASP $120, B2B 60%와 아마존 40% 판매 (경영진 추정).</a:t>
            </a:r>
            <a:endParaRPr lang="ko-KR" altLang="en-US" sz="1250" dirty="0"/>
          </a:p>
        </p:txBody>
      </p:sp>
      <p:sp>
        <p:nvSpPr>
          <p:cNvPr id="12" name="Text 8"/>
          <p:cNvSpPr txBox="1"/>
          <p:nvPr/>
        </p:nvSpPr>
        <p:spPr>
          <a:xfrm>
            <a:off x="8001000" y="4663440"/>
            <a:ext cx="3474720" cy="320040"/>
          </a:xfrm>
          <a:prstGeom prst="rect">
            <a:avLst/>
          </a:prstGeom>
          <a:noFill/>
          <a:ln/>
        </p:spPr>
        <p:txBody>
          <a:bodyPr wrap="square" lIns="0" tIns="0" rIns="0" bIns="0" rtlCol="0" anchor="t"/>
          <a:lstStyle/>
          <a:p>
            <a:pPr algn="l" indent="0" marL="0">
              <a:buNone/>
            </a:pPr>
            <a:r>
              <a:rPr lang="ko-KR" altLang="en-US" sz="1300" b="1" dirty="0">
                <a:solidFill>
                  <a:schemeClr val="accent5"/>
                </a:solidFill>
              </a:rPr>
              <a:t>4년차에서 5년차</a:t>
            </a:r>
            <a:endParaRPr lang="ko-KR" altLang="en-US" sz="1300" dirty="0"/>
          </a:p>
        </p:txBody>
      </p:sp>
      <p:sp>
        <p:nvSpPr>
          <p:cNvPr id="13" name="Text 9"/>
          <p:cNvSpPr txBox="1"/>
          <p:nvPr/>
        </p:nvSpPr>
        <p:spPr>
          <a:xfrm>
            <a:off x="8001000" y="5010912"/>
            <a:ext cx="3474720" cy="1005840"/>
          </a:xfrm>
          <a:prstGeom prst="rect">
            <a:avLst/>
          </a:prstGeom>
          <a:noFill/>
          <a:ln/>
        </p:spPr>
        <p:txBody>
          <a:bodyPr wrap="square" lIns="0" tIns="0" rIns="0" bIns="0" rtlCol="0" anchor="t"/>
          <a:lstStyle/>
          <a:p>
            <a:pPr algn="l" indent="0" marL="0">
              <a:buNone/>
            </a:pPr>
            <a:r>
              <a:rPr lang="ko-KR" altLang="en-US" sz="1250" dirty="0">
                <a:solidFill>
                  <a:schemeClr val="tx1"/>
                </a:solidFill>
              </a:rPr>
              <a:t>미국 재고를 이전하는 아마존 캐나다.</a:t>
            </a:r>
            <a:endParaRPr lang="ko-KR" altLang="en-US" sz="12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9</a:t>
            </a:fld>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다섯 가지 차별점</a:t>
            </a:r>
            <a:endParaRPr lang="ko-KR" altLang="en-US" sz="3200" dirty="0"/>
          </a:p>
        </p:txBody>
      </p:sp>
      <p:sp>
        <p:nvSpPr>
          <p:cNvPr id="4" name="card"/>
          <p:cNvSpPr/>
          <p:nvPr/>
        </p:nvSpPr>
        <p:spPr>
          <a:xfrm>
            <a:off x="457200" y="1371600"/>
            <a:ext cx="2036003" cy="3657600"/>
          </a:xfrm>
          <a:prstGeom prst="roundRect">
            <a:avLst>
              <a:gd name="adj" fmla="val 5389"/>
            </a:avLst>
          </a:prstGeom>
          <a:solidFill>
            <a:schemeClr val="bg2"/>
          </a:solidFill>
          <a:ln w="12700">
            <a:solidFill>
              <a:srgbClr val="141C36"/>
            </a:solidFill>
            <a:prstDash val="solid"/>
          </a:ln>
        </p:spPr>
      </p:sp>
      <p:sp>
        <p:nvSpPr>
          <p:cNvPr id="5" name="Shape 2"/>
          <p:cNvSpPr/>
          <p:nvPr/>
        </p:nvSpPr>
        <p:spPr>
          <a:xfrm>
            <a:off x="1063722" y="1600200"/>
            <a:ext cx="822960" cy="822960"/>
          </a:xfrm>
          <a:prstGeom prst="ellipse">
            <a:avLst/>
          </a:prstGeom>
          <a:solidFill>
            <a:srgbClr val="1B2447"/>
          </a:solidFill>
          <a:ln w="12700">
            <a:solidFill>
              <a:srgbClr val="1B2447"/>
            </a:solidFill>
            <a:prstDash val="solid"/>
          </a:ln>
        </p:spPr>
      </p:sp>
      <p:pic>
        <p:nvPicPr>
          <p:cNvPr id="6" name="Image 0" descr="preencoded.png">    </p:cNvPr>
          <p:cNvPicPr>
            <a:picLocks noChangeAspect="1"/>
          </p:cNvPicPr>
          <p:nvPr/>
        </p:nvPicPr>
        <p:blipFill>
          <a:blip r:embed="rId1"/>
          <a:stretch>
            <a:fillRect/>
          </a:stretch>
        </p:blipFill>
        <p:spPr>
          <a:xfrm>
            <a:off x="1244773" y="1781251"/>
            <a:ext cx="460858" cy="460858"/>
          </a:xfrm>
          <a:prstGeom prst="rect">
            <a:avLst/>
          </a:prstGeom>
        </p:spPr>
      </p:pic>
      <p:sp>
        <p:nvSpPr>
          <p:cNvPr id="7" name="Text 3"/>
          <p:cNvSpPr txBox="1"/>
          <p:nvPr/>
        </p:nvSpPr>
        <p:spPr>
          <a:xfrm>
            <a:off x="594360" y="2560320"/>
            <a:ext cx="1761683" cy="822960"/>
          </a:xfrm>
          <a:prstGeom prst="rect">
            <a:avLst/>
          </a:prstGeom>
          <a:noFill/>
          <a:ln/>
        </p:spPr>
        <p:txBody>
          <a:bodyPr wrap="square" lIns="0" tIns="0" rIns="0" bIns="0" rtlCol="0" anchor="ctr"/>
          <a:lstStyle/>
          <a:p>
            <a:pPr algn="ctr" indent="0" marL="0">
              <a:buNone/>
            </a:pPr>
            <a:r>
              <a:rPr lang="ko-KR" altLang="en-US" sz="1500" b="1" dirty="0">
                <a:solidFill>
                  <a:schemeClr val="tx1"/>
                </a:solidFill>
              </a:rPr>
              <a:t>방향 오류 방지 설계</a:t>
            </a:r>
            <a:endParaRPr lang="ko-KR" altLang="en-US" sz="1500" dirty="0"/>
          </a:p>
        </p:txBody>
      </p:sp>
      <p:sp>
        <p:nvSpPr>
          <p:cNvPr id="8" name="Text 4"/>
          <p:cNvSpPr txBox="1"/>
          <p:nvPr/>
        </p:nvSpPr>
        <p:spPr>
          <a:xfrm>
            <a:off x="640080" y="3429000"/>
            <a:ext cx="1670243" cy="1508760"/>
          </a:xfrm>
          <a:prstGeom prst="rect">
            <a:avLst/>
          </a:prstGeom>
          <a:noFill/>
          <a:ln/>
        </p:spPr>
        <p:txBody>
          <a:bodyPr wrap="square" lIns="0" tIns="0" rIns="0" bIns="0" rtlCol="0" anchor="t"/>
          <a:lstStyle/>
          <a:p>
            <a:pPr algn="l" indent="0" marL="0">
              <a:buNone/>
            </a:pPr>
            <a:r>
              <a:rPr lang="ko-KR" altLang="en-US" sz="1400" dirty="0">
                <a:solidFill>
                  <a:schemeClr val="tx1"/>
                </a:solidFill>
              </a:rPr>
              <a:t>색상 구분 SOURCE와 DISPLAY 끝단, 인쇄 화살표, 설치 영상 QR. 레버 3으로 반품률을 3%에서 2%로 낮춥니다.</a:t>
            </a:r>
            <a:endParaRPr lang="ko-KR" altLang="en-US" sz="1400" dirty="0"/>
          </a:p>
        </p:txBody>
      </p:sp>
      <p:sp>
        <p:nvSpPr>
          <p:cNvPr id="9" name="card"/>
          <p:cNvSpPr/>
          <p:nvPr/>
        </p:nvSpPr>
        <p:spPr>
          <a:xfrm>
            <a:off x="2767523" y="1371600"/>
            <a:ext cx="2036003" cy="3657600"/>
          </a:xfrm>
          <a:prstGeom prst="roundRect">
            <a:avLst>
              <a:gd name="adj" fmla="val 5389"/>
            </a:avLst>
          </a:prstGeom>
          <a:solidFill>
            <a:schemeClr val="bg2"/>
          </a:solidFill>
          <a:ln w="12700">
            <a:solidFill>
              <a:srgbClr val="141C36"/>
            </a:solidFill>
            <a:prstDash val="solid"/>
          </a:ln>
        </p:spPr>
      </p:sp>
      <p:sp>
        <p:nvSpPr>
          <p:cNvPr id="10" name="Shape 6"/>
          <p:cNvSpPr/>
          <p:nvPr/>
        </p:nvSpPr>
        <p:spPr>
          <a:xfrm>
            <a:off x="3374045" y="1600200"/>
            <a:ext cx="822960" cy="822960"/>
          </a:xfrm>
          <a:prstGeom prst="ellipse">
            <a:avLst/>
          </a:prstGeom>
          <a:solidFill>
            <a:srgbClr val="1B2447"/>
          </a:solidFill>
          <a:ln w="12700">
            <a:solidFill>
              <a:srgbClr val="1B2447"/>
            </a:solidFill>
            <a:prstDash val="solid"/>
          </a:ln>
        </p:spPr>
      </p:sp>
      <p:pic>
        <p:nvPicPr>
          <p:cNvPr id="11" name="Image 1" descr="preencoded.png">    </p:cNvPr>
          <p:cNvPicPr>
            <a:picLocks noChangeAspect="1"/>
          </p:cNvPicPr>
          <p:nvPr/>
        </p:nvPicPr>
        <p:blipFill>
          <a:blip r:embed="rId2"/>
          <a:stretch>
            <a:fillRect/>
          </a:stretch>
        </p:blipFill>
        <p:spPr>
          <a:xfrm>
            <a:off x="3555096" y="1781251"/>
            <a:ext cx="460858" cy="460858"/>
          </a:xfrm>
          <a:prstGeom prst="rect">
            <a:avLst/>
          </a:prstGeom>
        </p:spPr>
      </p:pic>
      <p:sp>
        <p:nvSpPr>
          <p:cNvPr id="12" name="Text 7"/>
          <p:cNvSpPr txBox="1"/>
          <p:nvPr/>
        </p:nvSpPr>
        <p:spPr>
          <a:xfrm>
            <a:off x="2904683" y="2560320"/>
            <a:ext cx="1761683" cy="822960"/>
          </a:xfrm>
          <a:prstGeom prst="rect">
            <a:avLst/>
          </a:prstGeom>
          <a:noFill/>
          <a:ln/>
        </p:spPr>
        <p:txBody>
          <a:bodyPr wrap="square" lIns="0" tIns="0" rIns="0" bIns="0" rtlCol="0" anchor="ctr"/>
          <a:lstStyle/>
          <a:p>
            <a:pPr algn="ctr" indent="0" marL="0">
              <a:buNone/>
            </a:pPr>
            <a:r>
              <a:rPr lang="ko-KR" altLang="en-US" sz="1500" b="1" dirty="0">
                <a:solidFill>
                  <a:schemeClr val="tx1"/>
                </a:solidFill>
              </a:rPr>
              <a:t>5년 신호 보증</a:t>
            </a:r>
            <a:endParaRPr lang="ko-KR" altLang="en-US" sz="1500" dirty="0"/>
          </a:p>
        </p:txBody>
      </p:sp>
      <p:sp>
        <p:nvSpPr>
          <p:cNvPr id="13" name="Text 8"/>
          <p:cNvSpPr txBox="1"/>
          <p:nvPr/>
        </p:nvSpPr>
        <p:spPr>
          <a:xfrm>
            <a:off x="2950403" y="3429000"/>
            <a:ext cx="1670243" cy="1508760"/>
          </a:xfrm>
          <a:prstGeom prst="rect">
            <a:avLst/>
          </a:prstGeom>
          <a:noFill/>
          <a:ln/>
        </p:spPr>
        <p:txBody>
          <a:bodyPr wrap="square" lIns="0" tIns="0" rIns="0" bIns="0" rtlCol="0" anchor="t"/>
          <a:lstStyle/>
          <a:p>
            <a:pPr algn="l" indent="0" marL="0">
              <a:buNone/>
            </a:pPr>
            <a:r>
              <a:rPr lang="ko-KR" altLang="en-US" sz="1400" dirty="0">
                <a:solidFill>
                  <a:schemeClr val="tx1"/>
                </a:solidFill>
              </a:rPr>
              <a:t>반품이 도착하기 전에 교체품을 먼저 보냅니다. 단순한 약속, 단순한 절차 (흐름도 04).</a:t>
            </a:r>
            <a:endParaRPr lang="ko-KR" altLang="en-US" sz="1400" dirty="0"/>
          </a:p>
        </p:txBody>
      </p:sp>
      <p:sp>
        <p:nvSpPr>
          <p:cNvPr id="14" name="card"/>
          <p:cNvSpPr/>
          <p:nvPr/>
        </p:nvSpPr>
        <p:spPr>
          <a:xfrm>
            <a:off x="5077846" y="1371600"/>
            <a:ext cx="2036003" cy="3657600"/>
          </a:xfrm>
          <a:prstGeom prst="roundRect">
            <a:avLst>
              <a:gd name="adj" fmla="val 5389"/>
            </a:avLst>
          </a:prstGeom>
          <a:solidFill>
            <a:schemeClr val="bg2"/>
          </a:solidFill>
          <a:ln w="12700">
            <a:solidFill>
              <a:srgbClr val="141C36"/>
            </a:solidFill>
            <a:prstDash val="solid"/>
          </a:ln>
        </p:spPr>
      </p:sp>
      <p:sp>
        <p:nvSpPr>
          <p:cNvPr id="15" name="Shape 10"/>
          <p:cNvSpPr/>
          <p:nvPr/>
        </p:nvSpPr>
        <p:spPr>
          <a:xfrm>
            <a:off x="5684368" y="1600200"/>
            <a:ext cx="822960" cy="822960"/>
          </a:xfrm>
          <a:prstGeom prst="ellipse">
            <a:avLst/>
          </a:prstGeom>
          <a:solidFill>
            <a:srgbClr val="1B2447"/>
          </a:solidFill>
          <a:ln w="12700">
            <a:solidFill>
              <a:srgbClr val="1B2447"/>
            </a:solidFill>
            <a:prstDash val="solid"/>
          </a:ln>
        </p:spPr>
      </p:sp>
      <p:pic>
        <p:nvPicPr>
          <p:cNvPr id="16" name="Image 2" descr="preencoded.png">    </p:cNvPr>
          <p:cNvPicPr>
            <a:picLocks noChangeAspect="1"/>
          </p:cNvPicPr>
          <p:nvPr/>
        </p:nvPicPr>
        <p:blipFill>
          <a:blip r:embed="rId3"/>
          <a:stretch>
            <a:fillRect/>
          </a:stretch>
        </p:blipFill>
        <p:spPr>
          <a:xfrm>
            <a:off x="5865419" y="1781251"/>
            <a:ext cx="460858" cy="460858"/>
          </a:xfrm>
          <a:prstGeom prst="rect">
            <a:avLst/>
          </a:prstGeom>
        </p:spPr>
      </p:pic>
      <p:sp>
        <p:nvSpPr>
          <p:cNvPr id="17" name="Text 11"/>
          <p:cNvSpPr txBox="1"/>
          <p:nvPr/>
        </p:nvSpPr>
        <p:spPr>
          <a:xfrm>
            <a:off x="5215006" y="2560320"/>
            <a:ext cx="1761683" cy="822960"/>
          </a:xfrm>
          <a:prstGeom prst="rect">
            <a:avLst/>
          </a:prstGeom>
          <a:noFill/>
          <a:ln/>
        </p:spPr>
        <p:txBody>
          <a:bodyPr wrap="square" lIns="0" tIns="0" rIns="0" bIns="0" rtlCol="0" anchor="ctr"/>
          <a:lstStyle/>
          <a:p>
            <a:pPr algn="ctr" indent="0" marL="0">
              <a:buNone/>
            </a:pPr>
            <a:r>
              <a:rPr lang="ko-KR" altLang="en-US" sz="1500" b="1" dirty="0">
                <a:solidFill>
                  <a:schemeClr val="tx1"/>
                </a:solidFill>
              </a:rPr>
              <a:t>CL3 벽내 매립 등급</a:t>
            </a:r>
            <a:endParaRPr lang="ko-KR" altLang="en-US" sz="1500" dirty="0"/>
          </a:p>
        </p:txBody>
      </p:sp>
      <p:sp>
        <p:nvSpPr>
          <p:cNvPr id="18" name="Text 12"/>
          <p:cNvSpPr txBox="1"/>
          <p:nvPr/>
        </p:nvSpPr>
        <p:spPr>
          <a:xfrm>
            <a:off x="5260726" y="3429000"/>
            <a:ext cx="1670243" cy="1508760"/>
          </a:xfrm>
          <a:prstGeom prst="rect">
            <a:avLst/>
          </a:prstGeom>
          <a:noFill/>
          <a:ln/>
        </p:spPr>
        <p:txBody>
          <a:bodyPr wrap="square" lIns="0" tIns="0" rIns="0" bIns="0" rtlCol="0" anchor="t"/>
          <a:lstStyle/>
          <a:p>
            <a:pPr algn="l" indent="0" marL="0">
              <a:buNone/>
            </a:pPr>
            <a:r>
              <a:rPr lang="ko-KR" altLang="en-US" sz="1400" dirty="0">
                <a:solidFill>
                  <a:schemeClr val="tx1"/>
                </a:solidFill>
              </a:rPr>
              <a:t>공장의 CL3 문서를 확보한 뒤에만 표기합니다. 설치업체 세그먼트를 엽니다.</a:t>
            </a:r>
            <a:endParaRPr lang="ko-KR" altLang="en-US" sz="1400" dirty="0"/>
          </a:p>
        </p:txBody>
      </p:sp>
      <p:sp>
        <p:nvSpPr>
          <p:cNvPr id="19" name="card"/>
          <p:cNvSpPr/>
          <p:nvPr/>
        </p:nvSpPr>
        <p:spPr>
          <a:xfrm>
            <a:off x="7388169" y="1371600"/>
            <a:ext cx="2036003" cy="3657600"/>
          </a:xfrm>
          <a:prstGeom prst="roundRect">
            <a:avLst>
              <a:gd name="adj" fmla="val 5389"/>
            </a:avLst>
          </a:prstGeom>
          <a:solidFill>
            <a:schemeClr val="bg2"/>
          </a:solidFill>
          <a:ln w="12700">
            <a:solidFill>
              <a:srgbClr val="141C36"/>
            </a:solidFill>
            <a:prstDash val="solid"/>
          </a:ln>
        </p:spPr>
      </p:sp>
      <p:sp>
        <p:nvSpPr>
          <p:cNvPr id="20" name="Shape 14"/>
          <p:cNvSpPr/>
          <p:nvPr/>
        </p:nvSpPr>
        <p:spPr>
          <a:xfrm>
            <a:off x="7994691" y="1600200"/>
            <a:ext cx="822960" cy="822960"/>
          </a:xfrm>
          <a:prstGeom prst="ellipse">
            <a:avLst/>
          </a:prstGeom>
          <a:solidFill>
            <a:srgbClr val="1B2447"/>
          </a:solidFill>
          <a:ln w="12700">
            <a:solidFill>
              <a:srgbClr val="1B2447"/>
            </a:solidFill>
            <a:prstDash val="solid"/>
          </a:ln>
        </p:spPr>
      </p:sp>
      <p:pic>
        <p:nvPicPr>
          <p:cNvPr id="21" name="Image 3" descr="preencoded.png">    </p:cNvPr>
          <p:cNvPicPr>
            <a:picLocks noChangeAspect="1"/>
          </p:cNvPicPr>
          <p:nvPr/>
        </p:nvPicPr>
        <p:blipFill>
          <a:blip r:embed="rId4"/>
          <a:stretch>
            <a:fillRect/>
          </a:stretch>
        </p:blipFill>
        <p:spPr>
          <a:xfrm>
            <a:off x="8175742" y="1781251"/>
            <a:ext cx="460858" cy="460858"/>
          </a:xfrm>
          <a:prstGeom prst="rect">
            <a:avLst/>
          </a:prstGeom>
        </p:spPr>
      </p:pic>
      <p:sp>
        <p:nvSpPr>
          <p:cNvPr id="22" name="Text 15"/>
          <p:cNvSpPr txBox="1"/>
          <p:nvPr/>
        </p:nvSpPr>
        <p:spPr>
          <a:xfrm>
            <a:off x="7525329" y="2560320"/>
            <a:ext cx="1761683" cy="822960"/>
          </a:xfrm>
          <a:prstGeom prst="rect">
            <a:avLst/>
          </a:prstGeom>
          <a:noFill/>
          <a:ln/>
        </p:spPr>
        <p:txBody>
          <a:bodyPr wrap="square" lIns="0" tIns="0" rIns="0" bIns="0" rtlCol="0" anchor="ctr"/>
          <a:lstStyle/>
          <a:p>
            <a:pPr algn="ctr" indent="0" marL="0">
              <a:buNone/>
            </a:pPr>
            <a:r>
              <a:rPr lang="ko-KR" altLang="en-US" sz="1500" b="1" dirty="0">
                <a:solidFill>
                  <a:schemeClr val="tx1"/>
                </a:solidFill>
              </a:rPr>
              <a:t>배관 포설용 분리형 헤드</a:t>
            </a:r>
            <a:endParaRPr lang="ko-KR" altLang="en-US" sz="1500" dirty="0"/>
          </a:p>
        </p:txBody>
      </p:sp>
      <p:sp>
        <p:nvSpPr>
          <p:cNvPr id="23" name="Text 16"/>
          <p:cNvSpPr txBox="1"/>
          <p:nvPr/>
        </p:nvSpPr>
        <p:spPr>
          <a:xfrm>
            <a:off x="7571049" y="3429000"/>
            <a:ext cx="1670243" cy="1508760"/>
          </a:xfrm>
          <a:prstGeom prst="rect">
            <a:avLst/>
          </a:prstGeom>
          <a:noFill/>
          <a:ln/>
        </p:spPr>
        <p:txBody>
          <a:bodyPr wrap="square" lIns="0" tIns="0" rIns="0" bIns="0" rtlCol="0" anchor="t"/>
          <a:lstStyle/>
          <a:p>
            <a:pPr algn="l" indent="0" marL="0">
              <a:buNone/>
            </a:pPr>
            <a:r>
              <a:rPr lang="ko-KR" altLang="en-US" sz="1400" dirty="0">
                <a:solidFill>
                  <a:schemeClr val="tx1"/>
                </a:solidFill>
              </a:rPr>
              <a:t>작은 헤드가 배관을 통과한 뒤 커넥터를 끼웁니다. 설치업체가 가장 먼저 찾는 기능입니다.</a:t>
            </a:r>
            <a:endParaRPr lang="ko-KR" altLang="en-US" sz="1400" dirty="0"/>
          </a:p>
        </p:txBody>
      </p:sp>
      <p:sp>
        <p:nvSpPr>
          <p:cNvPr id="24" name="card"/>
          <p:cNvSpPr/>
          <p:nvPr/>
        </p:nvSpPr>
        <p:spPr>
          <a:xfrm>
            <a:off x="9698492" y="1371600"/>
            <a:ext cx="2036003" cy="3657600"/>
          </a:xfrm>
          <a:prstGeom prst="roundRect">
            <a:avLst>
              <a:gd name="adj" fmla="val 5389"/>
            </a:avLst>
          </a:prstGeom>
          <a:solidFill>
            <a:schemeClr val="bg2"/>
          </a:solidFill>
          <a:ln w="12700">
            <a:solidFill>
              <a:srgbClr val="141C36"/>
            </a:solidFill>
            <a:prstDash val="solid"/>
          </a:ln>
        </p:spPr>
      </p:sp>
      <p:sp>
        <p:nvSpPr>
          <p:cNvPr id="25" name="Shape 18"/>
          <p:cNvSpPr/>
          <p:nvPr/>
        </p:nvSpPr>
        <p:spPr>
          <a:xfrm>
            <a:off x="10305014" y="1600200"/>
            <a:ext cx="822960" cy="822960"/>
          </a:xfrm>
          <a:prstGeom prst="ellipse">
            <a:avLst/>
          </a:prstGeom>
          <a:solidFill>
            <a:srgbClr val="1B2447"/>
          </a:solidFill>
          <a:ln w="12700">
            <a:solidFill>
              <a:srgbClr val="1B2447"/>
            </a:solidFill>
            <a:prstDash val="solid"/>
          </a:ln>
        </p:spPr>
      </p:sp>
      <p:pic>
        <p:nvPicPr>
          <p:cNvPr id="26" name="Image 4" descr="preencoded.png">    </p:cNvPr>
          <p:cNvPicPr>
            <a:picLocks noChangeAspect="1"/>
          </p:cNvPicPr>
          <p:nvPr/>
        </p:nvPicPr>
        <p:blipFill>
          <a:blip r:embed="rId5"/>
          <a:stretch>
            <a:fillRect/>
          </a:stretch>
        </p:blipFill>
        <p:spPr>
          <a:xfrm>
            <a:off x="10486065" y="1781251"/>
            <a:ext cx="460858" cy="460858"/>
          </a:xfrm>
          <a:prstGeom prst="rect">
            <a:avLst/>
          </a:prstGeom>
        </p:spPr>
      </p:pic>
      <p:sp>
        <p:nvSpPr>
          <p:cNvPr id="27" name="Text 19"/>
          <p:cNvSpPr txBox="1"/>
          <p:nvPr/>
        </p:nvSpPr>
        <p:spPr>
          <a:xfrm>
            <a:off x="9835652" y="2560320"/>
            <a:ext cx="1761683" cy="822960"/>
          </a:xfrm>
          <a:prstGeom prst="rect">
            <a:avLst/>
          </a:prstGeom>
          <a:noFill/>
          <a:ln/>
        </p:spPr>
        <p:txBody>
          <a:bodyPr wrap="square" lIns="0" tIns="0" rIns="0" bIns="0" rtlCol="0" anchor="ctr"/>
          <a:lstStyle/>
          <a:p>
            <a:pPr algn="ctr" indent="0" marL="0">
              <a:buNone/>
            </a:pPr>
            <a:r>
              <a:rPr lang="ko-KR" altLang="en-US" sz="1500" b="1" dirty="0">
                <a:solidFill>
                  <a:schemeClr val="tx1"/>
                </a:solidFill>
              </a:rPr>
              <a:t>Spec Match 파인더와 트레이드업 등록</a:t>
            </a:r>
            <a:endParaRPr lang="ko-KR" altLang="en-US" sz="1500" dirty="0"/>
          </a:p>
        </p:txBody>
      </p:sp>
      <p:sp>
        <p:nvSpPr>
          <p:cNvPr id="28" name="Text 20"/>
          <p:cNvSpPr txBox="1"/>
          <p:nvPr/>
        </p:nvSpPr>
        <p:spPr>
          <a:xfrm>
            <a:off x="9881372" y="3429000"/>
            <a:ext cx="1670243" cy="1508760"/>
          </a:xfrm>
          <a:prstGeom prst="rect">
            <a:avLst/>
          </a:prstGeom>
          <a:noFill/>
          <a:ln/>
        </p:spPr>
        <p:txBody>
          <a:bodyPr wrap="square" lIns="0" tIns="0" rIns="0" bIns="0" rtlCol="0" anchor="t"/>
          <a:lstStyle/>
          <a:p>
            <a:pPr algn="l" indent="0" marL="0">
              <a:buNone/>
            </a:pPr>
            <a:r>
              <a:rPr lang="ko-KR" altLang="en-US" sz="1400" dirty="0">
                <a:solidFill>
                  <a:schemeClr val="tx1"/>
                </a:solidFill>
              </a:rPr>
              <a:t>보증 등록 시 길이와 사양을 점검해 줍니다. 아마존 외부 이메일 목록을 만듭니다 (레버 11).</a:t>
            </a:r>
            <a:endParaRPr lang="ko-KR" alt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10</a:t>
            </a:fld>
            <a:endParaRPr lang="ko-K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브랜드 구조와 HDMI 명칭 규칙</a:t>
            </a:r>
            <a:endParaRPr lang="ko-KR" altLang="en-US" sz="3200" dirty="0"/>
          </a:p>
        </p:txBody>
      </p:sp>
      <p:sp>
        <p:nvSpPr>
          <p:cNvPr id="4" name="Shape 1"/>
          <p:cNvSpPr/>
          <p:nvPr/>
        </p:nvSpPr>
        <p:spPr>
          <a:xfrm>
            <a:off x="457200" y="1188720"/>
            <a:ext cx="5303520" cy="640080"/>
          </a:xfrm>
          <a:prstGeom prst="roundRect">
            <a:avLst>
              <a:gd name="adj" fmla="val 14286"/>
            </a:avLst>
          </a:prstGeom>
          <a:solidFill>
            <a:srgbClr val="1B2447"/>
          </a:solidFill>
          <a:ln w="12700">
            <a:solidFill>
              <a:srgbClr val="2DE2FF"/>
            </a:solidFill>
            <a:prstDash val="solid"/>
          </a:ln>
        </p:spPr>
      </p:sp>
      <p:sp>
        <p:nvSpPr>
          <p:cNvPr id="5" name="Text 2"/>
          <p:cNvSpPr txBox="1"/>
          <p:nvPr/>
        </p:nvSpPr>
        <p:spPr>
          <a:xfrm>
            <a:off x="640080" y="1188720"/>
            <a:ext cx="4937760" cy="640080"/>
          </a:xfrm>
          <a:prstGeom prst="rect">
            <a:avLst/>
          </a:prstGeom>
          <a:noFill/>
          <a:ln/>
        </p:spPr>
        <p:txBody>
          <a:bodyPr wrap="square" lIns="0" tIns="0" rIns="0" bIns="0" rtlCol="0" anchor="ctr"/>
          <a:lstStyle/>
          <a:p>
            <a:pPr algn="ctr" indent="0" marL="0">
              <a:buNone/>
            </a:pPr>
            <a:r>
              <a:rPr lang="ko-KR" altLang="en-US" sz="1500" b="1" dirty="0">
                <a:solidFill>
                  <a:schemeClr val="accent1"/>
                </a:solidFill>
              </a:rPr>
              <a:t>BRAND (미국 브랜드, 이름 선정 예정)</a:t>
            </a:r>
            <a:endParaRPr lang="ko-KR" altLang="en-US" sz="1500" dirty="0"/>
          </a:p>
        </p:txBody>
      </p:sp>
      <p:sp>
        <p:nvSpPr>
          <p:cNvPr id="6" name="Shape 3"/>
          <p:cNvSpPr/>
          <p:nvPr/>
        </p:nvSpPr>
        <p:spPr>
          <a:xfrm>
            <a:off x="914400" y="1828800"/>
            <a:ext cx="0" cy="228600"/>
          </a:xfrm>
          <a:prstGeom prst="line">
            <a:avLst/>
          </a:prstGeom>
          <a:noFill/>
          <a:ln w="12700">
            <a:solidFill>
              <a:srgbClr val="2DE2FF"/>
            </a:solidFill>
            <a:prstDash val="solid"/>
          </a:ln>
        </p:spPr>
      </p:sp>
      <p:sp>
        <p:nvSpPr>
          <p:cNvPr id="7" name="card"/>
          <p:cNvSpPr/>
          <p:nvPr/>
        </p:nvSpPr>
        <p:spPr>
          <a:xfrm>
            <a:off x="457200" y="2057400"/>
            <a:ext cx="5303520" cy="1234440"/>
          </a:xfrm>
          <a:prstGeom prst="roundRect">
            <a:avLst>
              <a:gd name="adj" fmla="val 8889"/>
            </a:avLst>
          </a:prstGeom>
          <a:solidFill>
            <a:schemeClr val="bg2"/>
          </a:solidFill>
          <a:ln w="12700">
            <a:solidFill>
              <a:srgbClr val="141C36"/>
            </a:solidFill>
            <a:prstDash val="solid"/>
          </a:ln>
        </p:spPr>
      </p:sp>
      <p:sp>
        <p:nvSpPr>
          <p:cNvPr id="8" name="Text 5"/>
          <p:cNvSpPr txBox="1"/>
          <p:nvPr/>
        </p:nvSpPr>
        <p:spPr>
          <a:xfrm>
            <a:off x="685800" y="2167128"/>
            <a:ext cx="4846320" cy="365760"/>
          </a:xfrm>
          <a:prstGeom prst="rect">
            <a:avLst/>
          </a:prstGeom>
          <a:noFill/>
          <a:ln/>
        </p:spPr>
        <p:txBody>
          <a:bodyPr wrap="square" lIns="0" tIns="0" rIns="0" bIns="0" rtlCol="0" anchor="t"/>
          <a:lstStyle/>
          <a:p>
            <a:pPr algn="l" indent="0" marL="0">
              <a:buNone/>
            </a:pPr>
            <a:r>
              <a:rPr lang="ko-KR" altLang="en-US" sz="1500" b="1" dirty="0">
                <a:solidFill>
                  <a:schemeClr val="tx1"/>
                </a:solidFill>
              </a:rPr>
              <a:t>Ultra High Speed HDMI Cable</a:t>
            </a:r>
            <a:endParaRPr lang="ko-KR" altLang="en-US" sz="1500" dirty="0"/>
          </a:p>
        </p:txBody>
      </p:sp>
      <p:sp>
        <p:nvSpPr>
          <p:cNvPr id="9" name="Text 6"/>
          <p:cNvSpPr txBox="1"/>
          <p:nvPr/>
        </p:nvSpPr>
        <p:spPr>
          <a:xfrm>
            <a:off x="685800" y="2560320"/>
            <a:ext cx="4846320" cy="685800"/>
          </a:xfrm>
          <a:prstGeom prst="rect">
            <a:avLst/>
          </a:prstGeom>
          <a:noFill/>
          <a:ln/>
        </p:spPr>
        <p:txBody>
          <a:bodyPr wrap="square" lIns="0" tIns="0" rIns="0" bIns="0" rtlCol="0" anchor="t"/>
          <a:lstStyle/>
          <a:p>
            <a:pPr algn="l" indent="0" marL="0">
              <a:buNone/>
            </a:pPr>
            <a:r>
              <a:rPr lang="ko-KR" altLang="en-US" sz="1250" dirty="0">
                <a:solidFill>
                  <a:schemeClr val="tx2"/>
                </a:solidFill>
              </a:rPr>
              <a:t>8K 라인. 부모 ASIN 하나, 자식은 7 m, 10 m, 15 m, 20 m, 25 m, 50 m.</a:t>
            </a:r>
            <a:endParaRPr lang="ko-KR" altLang="en-US" sz="1250" dirty="0"/>
          </a:p>
        </p:txBody>
      </p:sp>
      <p:sp>
        <p:nvSpPr>
          <p:cNvPr id="10" name="Shape 7"/>
          <p:cNvSpPr/>
          <p:nvPr/>
        </p:nvSpPr>
        <p:spPr>
          <a:xfrm>
            <a:off x="914400" y="3246120"/>
            <a:ext cx="0" cy="228600"/>
          </a:xfrm>
          <a:prstGeom prst="line">
            <a:avLst/>
          </a:prstGeom>
          <a:noFill/>
          <a:ln w="12700">
            <a:solidFill>
              <a:srgbClr val="2DE2FF"/>
            </a:solidFill>
            <a:prstDash val="solid"/>
          </a:ln>
        </p:spPr>
      </p:sp>
      <p:sp>
        <p:nvSpPr>
          <p:cNvPr id="11" name="card"/>
          <p:cNvSpPr/>
          <p:nvPr/>
        </p:nvSpPr>
        <p:spPr>
          <a:xfrm>
            <a:off x="457200" y="3474720"/>
            <a:ext cx="5303520" cy="1234440"/>
          </a:xfrm>
          <a:prstGeom prst="roundRect">
            <a:avLst>
              <a:gd name="adj" fmla="val 8889"/>
            </a:avLst>
          </a:prstGeom>
          <a:solidFill>
            <a:schemeClr val="bg2"/>
          </a:solidFill>
          <a:ln w="12700">
            <a:solidFill>
              <a:srgbClr val="141C36"/>
            </a:solidFill>
            <a:prstDash val="solid"/>
          </a:ln>
        </p:spPr>
      </p:sp>
      <p:sp>
        <p:nvSpPr>
          <p:cNvPr id="12" name="Text 9"/>
          <p:cNvSpPr txBox="1"/>
          <p:nvPr/>
        </p:nvSpPr>
        <p:spPr>
          <a:xfrm>
            <a:off x="685800" y="3584448"/>
            <a:ext cx="4846320" cy="365760"/>
          </a:xfrm>
          <a:prstGeom prst="rect">
            <a:avLst/>
          </a:prstGeom>
          <a:noFill/>
          <a:ln/>
        </p:spPr>
        <p:txBody>
          <a:bodyPr wrap="square" lIns="0" tIns="0" rIns="0" bIns="0" rtlCol="0" anchor="t"/>
          <a:lstStyle/>
          <a:p>
            <a:pPr algn="l" indent="0" marL="0">
              <a:buNone/>
            </a:pPr>
            <a:r>
              <a:rPr lang="ko-KR" altLang="en-US" sz="1500" b="1" dirty="0">
                <a:solidFill>
                  <a:schemeClr val="tx1"/>
                </a:solidFill>
              </a:rPr>
              <a:t>Premium High Speed HDMI Cable</a:t>
            </a:r>
            <a:endParaRPr lang="ko-KR" altLang="en-US" sz="1500" dirty="0"/>
          </a:p>
        </p:txBody>
      </p:sp>
      <p:sp>
        <p:nvSpPr>
          <p:cNvPr id="13" name="Text 10"/>
          <p:cNvSpPr txBox="1"/>
          <p:nvPr/>
        </p:nvSpPr>
        <p:spPr>
          <a:xfrm>
            <a:off x="685800" y="3977640"/>
            <a:ext cx="4846320" cy="685800"/>
          </a:xfrm>
          <a:prstGeom prst="rect">
            <a:avLst/>
          </a:prstGeom>
          <a:noFill/>
          <a:ln/>
        </p:spPr>
        <p:txBody>
          <a:bodyPr wrap="square" lIns="0" tIns="0" rIns="0" bIns="0" rtlCol="0" anchor="t"/>
          <a:lstStyle/>
          <a:p>
            <a:pPr algn="l" indent="0" marL="0">
              <a:buNone/>
            </a:pPr>
            <a:r>
              <a:rPr lang="ko-KR" altLang="en-US" sz="1250" dirty="0">
                <a:solidFill>
                  <a:schemeClr val="tx2"/>
                </a:solidFill>
              </a:rPr>
              <a:t>4K 라인, 인증 대기 (placeholder). 부모 ASIN 하나, 자식은 15 m, 20 m, 30 m, 40 m.</a:t>
            </a:r>
            <a:endParaRPr lang="ko-KR" altLang="en-US" sz="1250" dirty="0"/>
          </a:p>
        </p:txBody>
      </p:sp>
      <p:sp>
        <p:nvSpPr>
          <p:cNvPr id="14" name="Shape 11"/>
          <p:cNvSpPr/>
          <p:nvPr/>
        </p:nvSpPr>
        <p:spPr>
          <a:xfrm>
            <a:off x="914400" y="4663440"/>
            <a:ext cx="0" cy="228600"/>
          </a:xfrm>
          <a:prstGeom prst="line">
            <a:avLst/>
          </a:prstGeom>
          <a:noFill/>
          <a:ln w="12700">
            <a:solidFill>
              <a:srgbClr val="2DE2FF"/>
            </a:solidFill>
            <a:prstDash val="solid"/>
          </a:ln>
        </p:spPr>
      </p:sp>
      <p:sp>
        <p:nvSpPr>
          <p:cNvPr id="15" name="card"/>
          <p:cNvSpPr/>
          <p:nvPr/>
        </p:nvSpPr>
        <p:spPr>
          <a:xfrm>
            <a:off x="457200" y="4892040"/>
            <a:ext cx="5303520" cy="1234440"/>
          </a:xfrm>
          <a:prstGeom prst="roundRect">
            <a:avLst>
              <a:gd name="adj" fmla="val 8889"/>
            </a:avLst>
          </a:prstGeom>
          <a:solidFill>
            <a:schemeClr val="bg2"/>
          </a:solidFill>
          <a:ln w="12700">
            <a:solidFill>
              <a:srgbClr val="141C36"/>
            </a:solidFill>
            <a:prstDash val="solid"/>
          </a:ln>
        </p:spPr>
      </p:sp>
      <p:sp>
        <p:nvSpPr>
          <p:cNvPr id="16" name="Text 13"/>
          <p:cNvSpPr txBox="1"/>
          <p:nvPr/>
        </p:nvSpPr>
        <p:spPr>
          <a:xfrm>
            <a:off x="685800" y="5001768"/>
            <a:ext cx="4846320" cy="365760"/>
          </a:xfrm>
          <a:prstGeom prst="rect">
            <a:avLst/>
          </a:prstGeom>
          <a:noFill/>
          <a:ln/>
        </p:spPr>
        <p:txBody>
          <a:bodyPr wrap="square" lIns="0" tIns="0" rIns="0" bIns="0" rtlCol="0" anchor="t"/>
          <a:lstStyle/>
          <a:p>
            <a:pPr algn="l" indent="0" marL="0">
              <a:buNone/>
            </a:pPr>
            <a:r>
              <a:rPr lang="ko-KR" altLang="en-US" sz="1500" b="1" dirty="0">
                <a:solidFill>
                  <a:schemeClr val="tx1"/>
                </a:solidFill>
              </a:rPr>
              <a:t>프로 라인 (4년차)</a:t>
            </a:r>
            <a:endParaRPr lang="ko-KR" altLang="en-US" sz="1500" dirty="0"/>
          </a:p>
        </p:txBody>
      </p:sp>
      <p:sp>
        <p:nvSpPr>
          <p:cNvPr id="17" name="Text 14"/>
          <p:cNvSpPr txBox="1"/>
          <p:nvPr/>
        </p:nvSpPr>
        <p:spPr>
          <a:xfrm>
            <a:off x="685800" y="5394960"/>
            <a:ext cx="4846320" cy="685800"/>
          </a:xfrm>
          <a:prstGeom prst="rect">
            <a:avLst/>
          </a:prstGeom>
          <a:noFill/>
          <a:ln/>
        </p:spPr>
        <p:txBody>
          <a:bodyPr wrap="square" lIns="0" tIns="0" rIns="0" bIns="0" rtlCol="0" anchor="t"/>
          <a:lstStyle/>
          <a:p>
            <a:pPr algn="l" indent="0" marL="0">
              <a:buNone/>
            </a:pPr>
            <a:r>
              <a:rPr lang="ko-KR" altLang="en-US" sz="1250" dirty="0">
                <a:solidFill>
                  <a:schemeClr val="tx2"/>
                </a:solidFill>
              </a:rPr>
              <a:t>CL3, 플레넘, 배관 포설, 장거리 광 KVM. B2B 60%, 아마존 40% 판매.</a:t>
            </a:r>
            <a:endParaRPr lang="ko-KR" altLang="en-US" sz="1250" dirty="0"/>
          </a:p>
        </p:txBody>
      </p:sp>
      <p:sp>
        <p:nvSpPr>
          <p:cNvPr id="18" name="card"/>
          <p:cNvSpPr/>
          <p:nvPr/>
        </p:nvSpPr>
        <p:spPr>
          <a:xfrm>
            <a:off x="6035040" y="1188720"/>
            <a:ext cx="5696712" cy="2697480"/>
          </a:xfrm>
          <a:prstGeom prst="roundRect">
            <a:avLst>
              <a:gd name="adj" fmla="val 4068"/>
            </a:avLst>
          </a:prstGeom>
          <a:solidFill>
            <a:schemeClr val="bg2"/>
          </a:solidFill>
          <a:ln w="12700">
            <a:solidFill>
              <a:srgbClr val="141C36"/>
            </a:solidFill>
            <a:prstDash val="solid"/>
          </a:ln>
        </p:spPr>
      </p:sp>
      <p:sp>
        <p:nvSpPr>
          <p:cNvPr id="19" name="Text 16"/>
          <p:cNvSpPr txBox="1"/>
          <p:nvPr/>
        </p:nvSpPr>
        <p:spPr>
          <a:xfrm>
            <a:off x="6263640" y="1298448"/>
            <a:ext cx="5303520" cy="365760"/>
          </a:xfrm>
          <a:prstGeom prst="rect">
            <a:avLst/>
          </a:prstGeom>
          <a:noFill/>
          <a:ln/>
        </p:spPr>
        <p:txBody>
          <a:bodyPr wrap="square" lIns="0" tIns="0" rIns="0" bIns="0" rtlCol="0" anchor="t"/>
          <a:lstStyle/>
          <a:p>
            <a:pPr algn="l" indent="0" marL="0">
              <a:buNone/>
            </a:pPr>
            <a:r>
              <a:rPr lang="ko-KR" altLang="en-US" sz="1600" b="1" dirty="0">
                <a:solidFill>
                  <a:schemeClr val="accent5"/>
                </a:solidFill>
              </a:rPr>
              <a:t>명칭 규칙</a:t>
            </a:r>
            <a:endParaRPr lang="ko-KR" altLang="en-US" sz="1600" dirty="0"/>
          </a:p>
        </p:txBody>
      </p:sp>
      <p:sp>
        <p:nvSpPr>
          <p:cNvPr id="20" name="Text 17"/>
          <p:cNvSpPr txBox="1"/>
          <p:nvPr/>
        </p:nvSpPr>
        <p:spPr>
          <a:xfrm>
            <a:off x="6263640" y="1737360"/>
            <a:ext cx="5257800" cy="2103120"/>
          </a:xfrm>
          <a:prstGeom prst="rect">
            <a:avLst/>
          </a:prstGeom>
          <a:noFill/>
          <a:ln/>
        </p:spPr>
        <p:txBody>
          <a:bodyPr wrap="square" lIns="0" tIns="0" rIns="0" bIns="0" rtlCol="0" anchor="t"/>
          <a:lstStyle/>
          <a:p>
            <a:pPr algn="l" marL="139700" indent="-139700">
              <a:spcAft>
                <a:spcPts val="500"/>
              </a:spcAft>
              <a:buSzPct val="100000"/>
              <a:buChar char="•"/>
            </a:pPr>
            <a:r>
              <a:rPr lang="ko-KR" altLang="en-US" sz="1250" dirty="0">
                <a:solidFill>
                  <a:schemeClr val="tx1"/>
                </a:solidFill>
              </a:rPr>
              <a:t>포장과 홍보에 HDMI 버전 번호를 쓰지 않습니다. 케이블 카테고리명 Ultra High Speed HDMI Cable을 씁니다.</a:t>
            </a:r>
            <a:endParaRPr lang="ko-KR" altLang="en-US" sz="1250" dirty="0"/>
          </a:p>
          <a:p>
            <a:pPr algn="l" marL="139700" indent="-139700">
              <a:spcAft>
                <a:spcPts val="500"/>
              </a:spcAft>
              <a:buSzPct val="100000"/>
              <a:buChar char="•"/>
            </a:pPr>
            <a:r>
              <a:rPr lang="ko-KR" altLang="en-US" sz="1250" dirty="0">
                <a:solidFill>
                  <a:schemeClr val="tx1"/>
                </a:solidFill>
              </a:rPr>
              <a:t>리스팅 제목에는 48Gbps와 8K를 표기할 수 있습니다.</a:t>
            </a:r>
            <a:endParaRPr lang="ko-KR" altLang="en-US" sz="1250" dirty="0"/>
          </a:p>
          <a:p>
            <a:pPr algn="l" marL="139700" indent="-139700">
              <a:spcAft>
                <a:spcPts val="500"/>
              </a:spcAft>
              <a:buSzPct val="100000"/>
              <a:buChar char="•"/>
            </a:pPr>
            <a:r>
              <a:rPr lang="ko-KR" altLang="en-US" sz="1250" dirty="0">
                <a:solidFill>
                  <a:schemeClr val="tx1"/>
                </a:solidFill>
              </a:rPr>
              <a:t>광섬유 HDMI 또는 하이브리드 액티브 광케이블이라고 씁니다. 순수 광섬유나 전체 유리는 쓰지 않습니다.</a:t>
            </a:r>
            <a:endParaRPr lang="ko-KR" altLang="en-US" sz="1250" dirty="0"/>
          </a:p>
          <a:p>
            <a:pPr algn="l" marL="139700" indent="-139700">
              <a:spcAft>
                <a:spcPts val="500"/>
              </a:spcAft>
              <a:buSzPct val="100000"/>
              <a:buChar char="•"/>
            </a:pPr>
            <a:r>
              <a:rPr lang="ko-KR" altLang="en-US" sz="1250" dirty="0">
                <a:solidFill>
                  <a:schemeClr val="tx1"/>
                </a:solidFill>
              </a:rPr>
              <a:t>공장은 ATC 시험 보고서를 갖춘 HDMI Adopter여야 합니다. HDMI LA는 압류를 집행합니다.</a:t>
            </a:r>
            <a:endParaRPr lang="ko-KR" altLang="en-US" sz="1250" dirty="0"/>
          </a:p>
        </p:txBody>
      </p:sp>
      <p:sp>
        <p:nvSpPr>
          <p:cNvPr id="21" name="card"/>
          <p:cNvSpPr/>
          <p:nvPr/>
        </p:nvSpPr>
        <p:spPr>
          <a:xfrm>
            <a:off x="6035040" y="4069080"/>
            <a:ext cx="5696712" cy="2148840"/>
          </a:xfrm>
          <a:prstGeom prst="roundRect">
            <a:avLst>
              <a:gd name="adj" fmla="val 5106"/>
            </a:avLst>
          </a:prstGeom>
          <a:solidFill>
            <a:schemeClr val="bg2"/>
          </a:solidFill>
          <a:ln w="12700">
            <a:solidFill>
              <a:srgbClr val="141C36"/>
            </a:solidFill>
            <a:prstDash val="solid"/>
          </a:ln>
        </p:spPr>
      </p:sp>
      <p:sp>
        <p:nvSpPr>
          <p:cNvPr id="22" name="Text 19"/>
          <p:cNvSpPr txBox="1"/>
          <p:nvPr/>
        </p:nvSpPr>
        <p:spPr>
          <a:xfrm>
            <a:off x="6263640" y="4178808"/>
            <a:ext cx="5303520" cy="365760"/>
          </a:xfrm>
          <a:prstGeom prst="rect">
            <a:avLst/>
          </a:prstGeom>
          <a:noFill/>
          <a:ln/>
        </p:spPr>
        <p:txBody>
          <a:bodyPr wrap="square" lIns="0" tIns="0" rIns="0" bIns="0" rtlCol="0" anchor="t"/>
          <a:lstStyle/>
          <a:p>
            <a:pPr algn="l" indent="0" marL="0">
              <a:buNone/>
            </a:pPr>
            <a:r>
              <a:rPr lang="ko-KR" altLang="en-US" sz="1600" b="1" dirty="0">
                <a:solidFill>
                  <a:schemeClr val="accent1"/>
                </a:solidFill>
              </a:rPr>
              <a:t>상표와 Brand Registry</a:t>
            </a:r>
            <a:endParaRPr lang="ko-KR" altLang="en-US" sz="1600" dirty="0"/>
          </a:p>
        </p:txBody>
      </p:sp>
      <p:sp>
        <p:nvSpPr>
          <p:cNvPr id="23" name="Text 20"/>
          <p:cNvSpPr txBox="1"/>
          <p:nvPr/>
        </p:nvSpPr>
        <p:spPr>
          <a:xfrm>
            <a:off x="6263640" y="4617720"/>
            <a:ext cx="5257800" cy="1554480"/>
          </a:xfrm>
          <a:prstGeom prst="rect">
            <a:avLst/>
          </a:prstGeom>
          <a:noFill/>
          <a:ln/>
        </p:spPr>
        <p:txBody>
          <a:bodyPr wrap="square" lIns="0" tIns="0" rIns="0" bIns="0" rtlCol="0" anchor="t"/>
          <a:lstStyle/>
          <a:p>
            <a:pPr algn="l" marL="139700" indent="-139700">
              <a:spcAft>
                <a:spcPts val="500"/>
              </a:spcAft>
              <a:buSzPct val="100000"/>
              <a:buChar char="•"/>
            </a:pPr>
            <a:r>
              <a:rPr lang="ko-KR" altLang="en-US" sz="1250" dirty="0">
                <a:solidFill>
                  <a:schemeClr val="tx1"/>
                </a:solidFill>
              </a:rPr>
              <a:t>해외 출원인은 미국 변호사를 통해 출원합니다. 클래스당 약 $350에 변호사 비용 추가 [PLACEHOLDER: 변호사 견적].</a:t>
            </a:r>
            <a:endParaRPr lang="ko-KR" altLang="en-US" sz="1250" dirty="0"/>
          </a:p>
          <a:p>
            <a:pPr algn="l" marL="139700" indent="-139700">
              <a:spcAft>
                <a:spcPts val="500"/>
              </a:spcAft>
              <a:buSzPct val="100000"/>
              <a:buChar char="•"/>
            </a:pPr>
            <a:r>
              <a:rPr lang="ko-KR" altLang="en-US" sz="1250" dirty="0">
                <a:solidFill>
                  <a:schemeClr val="tx1"/>
                </a:solidFill>
              </a:rPr>
              <a:t>아마존 Brand Registry는 출원 중인 상표도 받아 줍니다.</a:t>
            </a:r>
            <a:endParaRPr lang="ko-KR" altLang="en-US" sz="1250" dirty="0"/>
          </a:p>
          <a:p>
            <a:pPr algn="l" marL="139700" indent="-139700">
              <a:spcAft>
                <a:spcPts val="500"/>
              </a:spcAft>
              <a:buSzPct val="100000"/>
              <a:buChar char="•"/>
            </a:pPr>
            <a:r>
              <a:rPr lang="ko-KR" altLang="en-US" sz="1250" dirty="0">
                <a:solidFill>
                  <a:schemeClr val="tx1"/>
                </a:solidFill>
              </a:rPr>
              <a:t>Brand Registry가 있어야 A+ 콘텐츠, 브랜드 스토어, 영상 광고, 하이재커 방어를 쓸 수 있습니다.</a:t>
            </a:r>
            <a:endParaRPr lang="ko-KR" altLang="en-US" sz="12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11</a:t>
            </a:fld>
            <a:endParaRPr lang="ko-KR"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85800" y="3749040"/>
            <a:ext cx="9144000" cy="1005840"/>
          </a:xfrm>
          <a:prstGeom prst="rect">
            <a:avLst/>
          </a:prstGeom>
          <a:noFill/>
          <a:ln/>
        </p:spPr>
        <p:txBody>
          <a:bodyPr wrap="square" lIns="0" tIns="0" rIns="0" bIns="0" rtlCol="0" anchor="b"/>
          <a:lstStyle/>
          <a:p>
            <a:pPr algn="l" indent="0" marL="0">
              <a:buNone/>
            </a:pPr>
            <a:r>
              <a:rPr lang="ko-KR" altLang="en-US" sz="3600" b="1" dirty="0">
                <a:solidFill>
                  <a:srgbClr val="F3F6FF"/>
                </a:solidFill>
              </a:rPr>
              <a:t>구조와 컴플라이언스</a:t>
            </a:r>
            <a:endParaRPr lang="ko-KR" altLang="en-US" sz="3600" dirty="0"/>
          </a:p>
        </p:txBody>
      </p:sp>
      <p:sp>
        <p:nvSpPr>
          <p:cNvPr id="3" name="Text 0"/>
          <p:cNvSpPr/>
          <p:nvPr>
            <p:ph idx="101" type="body" hasCustomPrompt="1"/>
          </p:nvPr>
        </p:nvSpPr>
        <p:spPr>
          <a:xfrm>
            <a:off x="685800" y="4800600"/>
            <a:ext cx="9144000" cy="457200"/>
          </a:xfrm>
          <a:prstGeom prst="rect">
            <a:avLst/>
          </a:prstGeom>
          <a:noFill/>
          <a:ln/>
        </p:spPr>
        <p:txBody>
          <a:bodyPr wrap="square" lIns="0" tIns="0" rIns="0" bIns="0" rtlCol="0" anchor="t"/>
          <a:lstStyle/>
          <a:p>
            <a:pPr indent="0" marL="0">
              <a:buNone/>
            </a:pPr>
            <a:r>
              <a:rPr lang="ko-KR" altLang="en-US" sz="1600" dirty="0">
                <a:solidFill>
                  <a:srgbClr val="2DE2FF"/>
                </a:solidFill>
              </a:rPr>
              <a:t>5개 섹션 중 3</a:t>
            </a:r>
            <a:endParaRPr lang="ko-KR" altLang="en-US" sz="16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12</a:t>
            </a:fld>
            <a:endParaRPr lang="ko-KR"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미국 법인과 세금</a:t>
            </a:r>
            <a:endParaRPr lang="ko-KR" altLang="en-US" sz="3200" dirty="0"/>
          </a:p>
        </p:txBody>
      </p:sp>
      <p:sp>
        <p:nvSpPr>
          <p:cNvPr id="4" name="card"/>
          <p:cNvSpPr/>
          <p:nvPr/>
        </p:nvSpPr>
        <p:spPr>
          <a:xfrm>
            <a:off x="457200" y="1188720"/>
            <a:ext cx="5501488" cy="2377440"/>
          </a:xfrm>
          <a:prstGeom prst="roundRect">
            <a:avLst>
              <a:gd name="adj" fmla="val 4615"/>
            </a:avLst>
          </a:prstGeom>
          <a:solidFill>
            <a:schemeClr val="bg2"/>
          </a:solidFill>
          <a:ln w="12700">
            <a:solidFill>
              <a:srgbClr val="141C36"/>
            </a:solidFill>
            <a:prstDash val="solid"/>
          </a:ln>
        </p:spPr>
      </p:sp>
      <p:sp>
        <p:nvSpPr>
          <p:cNvPr id="5" name="Text 2"/>
          <p:cNvSpPr txBox="1"/>
          <p:nvPr/>
        </p:nvSpPr>
        <p:spPr>
          <a:xfrm>
            <a:off x="685800" y="1298448"/>
            <a:ext cx="5044288" cy="365760"/>
          </a:xfrm>
          <a:prstGeom prst="rect">
            <a:avLst/>
          </a:prstGeom>
          <a:noFill/>
          <a:ln/>
        </p:spPr>
        <p:txBody>
          <a:bodyPr wrap="square" lIns="0" tIns="0" rIns="0" bIns="0" rtlCol="0" anchor="t"/>
          <a:lstStyle/>
          <a:p>
            <a:pPr algn="l" indent="0" marL="0">
              <a:buNone/>
            </a:pPr>
            <a:r>
              <a:rPr lang="ko-KR" altLang="en-US" sz="1500" b="1" dirty="0">
                <a:solidFill>
                  <a:schemeClr val="accent1"/>
                </a:solidFill>
              </a:rPr>
              <a:t>Wyoming 단일 구성원 LLC</a:t>
            </a:r>
            <a:endParaRPr lang="ko-KR" altLang="en-US" sz="1500" dirty="0"/>
          </a:p>
        </p:txBody>
      </p:sp>
      <p:sp>
        <p:nvSpPr>
          <p:cNvPr id="6" name="Text 3"/>
          <p:cNvSpPr txBox="1"/>
          <p:nvPr/>
        </p:nvSpPr>
        <p:spPr>
          <a:xfrm>
            <a:off x="685800" y="1719072"/>
            <a:ext cx="5044288" cy="1737360"/>
          </a:xfrm>
          <a:prstGeom prst="rect">
            <a:avLst/>
          </a:prstGeom>
          <a:noFill/>
          <a:ln/>
        </p:spPr>
        <p:txBody>
          <a:bodyPr wrap="square" lIns="0" tIns="0" rIns="0" bIns="0" rtlCol="0" anchor="t"/>
          <a:lstStyle/>
          <a:p>
            <a:pPr algn="l" marL="139700" indent="-139700">
              <a:spcAft>
                <a:spcPts val="300"/>
              </a:spcAft>
              <a:buSzPct val="100000"/>
              <a:buChar char="•"/>
            </a:pPr>
            <a:r>
              <a:rPr lang="ko-KR" altLang="en-US" sz="1200" dirty="0">
                <a:solidFill>
                  <a:schemeClr val="tx1"/>
                </a:solidFill>
              </a:rPr>
              <a:t>설립 $100, 연 약 $60, 주 소득세 없음, 높은 프라이버시.</a:t>
            </a:r>
            <a:endParaRPr lang="ko-KR" altLang="en-US" sz="1200" dirty="0"/>
          </a:p>
          <a:p>
            <a:pPr algn="l" marL="139700" indent="-139700">
              <a:spcAft>
                <a:spcPts val="300"/>
              </a:spcAft>
              <a:buSzPct val="100000"/>
              <a:buChar char="•"/>
            </a:pPr>
            <a:r>
              <a:rPr lang="ko-KR" altLang="en-US" sz="1200" dirty="0">
                <a:solidFill>
                  <a:schemeClr val="tx1"/>
                </a:solidFill>
              </a:rPr>
              <a:t>Delaware는 연 약 $300이며 투자 유치 때만 의미가 있습니다.</a:t>
            </a:r>
            <a:endParaRPr lang="ko-KR" altLang="en-US" sz="1200" dirty="0"/>
          </a:p>
          <a:p>
            <a:pPr algn="l" marL="139700" indent="-139700">
              <a:spcAft>
                <a:spcPts val="300"/>
              </a:spcAft>
              <a:buSzPct val="100000"/>
              <a:buChar char="•"/>
            </a:pPr>
            <a:r>
              <a:rPr lang="ko-KR" altLang="en-US" sz="1200" dirty="0">
                <a:solidFill>
                  <a:schemeClr val="tx1"/>
                </a:solidFill>
              </a:rPr>
              <a:t>미국 설립 법인은 BOI 보고 의무가 없습니다 (FinCEN 면제 2026년 8월 11일 확정).</a:t>
            </a:r>
            <a:endParaRPr lang="ko-KR" altLang="en-US" sz="1200" dirty="0"/>
          </a:p>
          <a:p>
            <a:pPr algn="l" marL="139700" indent="-139700">
              <a:spcAft>
                <a:spcPts val="300"/>
              </a:spcAft>
              <a:buSzPct val="100000"/>
              <a:buChar char="•"/>
            </a:pPr>
            <a:r>
              <a:rPr lang="ko-KR" altLang="en-US" sz="1200" dirty="0">
                <a:solidFill>
                  <a:schemeClr val="tx1"/>
                </a:solidFill>
              </a:rPr>
              <a:t>EIN은 Form SS-4로 전화나 팩스 신청, SSN 불필요. 주, IRS, 은행, 아마존의 법인명을 정확히 일치시킵니다.</a:t>
            </a:r>
            <a:endParaRPr lang="ko-KR" altLang="en-US" sz="1200" dirty="0"/>
          </a:p>
        </p:txBody>
      </p:sp>
      <p:sp>
        <p:nvSpPr>
          <p:cNvPr id="7" name="card"/>
          <p:cNvSpPr/>
          <p:nvPr/>
        </p:nvSpPr>
        <p:spPr>
          <a:xfrm>
            <a:off x="6233008" y="1188720"/>
            <a:ext cx="5501488" cy="2377440"/>
          </a:xfrm>
          <a:prstGeom prst="roundRect">
            <a:avLst>
              <a:gd name="adj" fmla="val 4615"/>
            </a:avLst>
          </a:prstGeom>
          <a:solidFill>
            <a:schemeClr val="bg2"/>
          </a:solidFill>
          <a:ln w="12700">
            <a:solidFill>
              <a:srgbClr val="141C36"/>
            </a:solidFill>
            <a:prstDash val="solid"/>
          </a:ln>
        </p:spPr>
      </p:sp>
      <p:sp>
        <p:nvSpPr>
          <p:cNvPr id="8" name="Text 5"/>
          <p:cNvSpPr txBox="1"/>
          <p:nvPr/>
        </p:nvSpPr>
        <p:spPr>
          <a:xfrm>
            <a:off x="6461608" y="1298448"/>
            <a:ext cx="5044288" cy="365760"/>
          </a:xfrm>
          <a:prstGeom prst="rect">
            <a:avLst/>
          </a:prstGeom>
          <a:noFill/>
          <a:ln/>
        </p:spPr>
        <p:txBody>
          <a:bodyPr wrap="square" lIns="0" tIns="0" rIns="0" bIns="0" rtlCol="0" anchor="t"/>
          <a:lstStyle/>
          <a:p>
            <a:pPr algn="l" indent="0" marL="0">
              <a:buNone/>
            </a:pPr>
            <a:r>
              <a:rPr lang="ko-KR" altLang="en-US" sz="1500" b="1" dirty="0">
                <a:solidFill>
                  <a:schemeClr val="accent1"/>
                </a:solidFill>
              </a:rPr>
              <a:t>연간 신고</a:t>
            </a:r>
            <a:endParaRPr lang="ko-KR" altLang="en-US" sz="1500" dirty="0"/>
          </a:p>
        </p:txBody>
      </p:sp>
      <p:sp>
        <p:nvSpPr>
          <p:cNvPr id="9" name="Text 6"/>
          <p:cNvSpPr txBox="1"/>
          <p:nvPr/>
        </p:nvSpPr>
        <p:spPr>
          <a:xfrm>
            <a:off x="6461608" y="1719072"/>
            <a:ext cx="5044288" cy="1737360"/>
          </a:xfrm>
          <a:prstGeom prst="rect">
            <a:avLst/>
          </a:prstGeom>
          <a:noFill/>
          <a:ln/>
        </p:spPr>
        <p:txBody>
          <a:bodyPr wrap="square" lIns="0" tIns="0" rIns="0" bIns="0" rtlCol="0" anchor="t"/>
          <a:lstStyle/>
          <a:p>
            <a:pPr algn="l" marL="139700" indent="-139700">
              <a:spcAft>
                <a:spcPts val="300"/>
              </a:spcAft>
              <a:buSzPct val="100000"/>
              <a:buChar char="•"/>
            </a:pPr>
            <a:r>
              <a:rPr lang="ko-KR" altLang="en-US" sz="1200" dirty="0">
                <a:solidFill>
                  <a:schemeClr val="tx1"/>
                </a:solidFill>
              </a:rPr>
              <a:t>외국인 소유 단일 구성원 LLC는 매년 Form 5472를 pro forma Form 1120과 함께 제출합니다.</a:t>
            </a:r>
            <a:endParaRPr lang="ko-KR" altLang="en-US" sz="1200" dirty="0"/>
          </a:p>
          <a:p>
            <a:pPr algn="l" marL="139700" indent="-139700">
              <a:spcAft>
                <a:spcPts val="300"/>
              </a:spcAft>
              <a:buSzPct val="100000"/>
              <a:buChar char="•"/>
            </a:pPr>
            <a:r>
              <a:rPr lang="ko-KR" altLang="en-US" sz="1200" dirty="0">
                <a:solidFill>
                  <a:schemeClr val="tx1"/>
                </a:solidFill>
              </a:rPr>
              <a:t>누락 시 벌금: $25,000.</a:t>
            </a:r>
            <a:endParaRPr lang="ko-KR" altLang="en-US" sz="1200" dirty="0"/>
          </a:p>
          <a:p>
            <a:pPr algn="l" marL="139700" indent="-139700">
              <a:spcAft>
                <a:spcPts val="300"/>
              </a:spcAft>
              <a:buSzPct val="100000"/>
              <a:buChar char="•"/>
            </a:pPr>
            <a:r>
              <a:rPr lang="ko-KR" altLang="en-US" sz="1200" dirty="0">
                <a:solidFill>
                  <a:schemeClr val="tx1"/>
                </a:solidFill>
              </a:rPr>
              <a:t>Wyoming 연례 보고서 약 $60.</a:t>
            </a:r>
            <a:endParaRPr lang="ko-KR" altLang="en-US" sz="1200" dirty="0"/>
          </a:p>
          <a:p>
            <a:pPr algn="l" marL="139700" indent="-139700">
              <a:spcAft>
                <a:spcPts val="300"/>
              </a:spcAft>
              <a:buSzPct val="100000"/>
              <a:buChar char="•"/>
            </a:pPr>
            <a:r>
              <a:rPr lang="ko-KR" altLang="en-US" sz="1200" dirty="0">
                <a:solidFill>
                  <a:schemeClr val="tx1"/>
                </a:solidFill>
              </a:rPr>
              <a:t>캘리포니아는 FBA 재고를 근거로 소득세 넥서스를 주장할 수 있습니다. CPA 확인 목록에 포함.</a:t>
            </a:r>
            <a:endParaRPr lang="ko-KR" altLang="en-US" sz="1200" dirty="0"/>
          </a:p>
        </p:txBody>
      </p:sp>
      <p:sp>
        <p:nvSpPr>
          <p:cNvPr id="10" name="card"/>
          <p:cNvSpPr/>
          <p:nvPr/>
        </p:nvSpPr>
        <p:spPr>
          <a:xfrm>
            <a:off x="457200" y="3840480"/>
            <a:ext cx="5501488" cy="2377440"/>
          </a:xfrm>
          <a:prstGeom prst="roundRect">
            <a:avLst>
              <a:gd name="adj" fmla="val 4615"/>
            </a:avLst>
          </a:prstGeom>
          <a:solidFill>
            <a:schemeClr val="bg2"/>
          </a:solidFill>
          <a:ln w="12700">
            <a:solidFill>
              <a:srgbClr val="141C36"/>
            </a:solidFill>
            <a:prstDash val="solid"/>
          </a:ln>
        </p:spPr>
      </p:sp>
      <p:sp>
        <p:nvSpPr>
          <p:cNvPr id="11" name="Text 8"/>
          <p:cNvSpPr txBox="1"/>
          <p:nvPr/>
        </p:nvSpPr>
        <p:spPr>
          <a:xfrm>
            <a:off x="685800" y="3950208"/>
            <a:ext cx="5044288" cy="365760"/>
          </a:xfrm>
          <a:prstGeom prst="rect">
            <a:avLst/>
          </a:prstGeom>
          <a:noFill/>
          <a:ln/>
        </p:spPr>
        <p:txBody>
          <a:bodyPr wrap="square" lIns="0" tIns="0" rIns="0" bIns="0" rtlCol="0" anchor="t"/>
          <a:lstStyle/>
          <a:p>
            <a:pPr algn="l" indent="0" marL="0">
              <a:buNone/>
            </a:pPr>
            <a:r>
              <a:rPr lang="ko-KR" altLang="en-US" sz="1500" b="1" dirty="0">
                <a:solidFill>
                  <a:schemeClr val="accent1"/>
                </a:solidFill>
              </a:rPr>
              <a:t>조세조약상 지위</a:t>
            </a:r>
            <a:endParaRPr lang="ko-KR" altLang="en-US" sz="1500" dirty="0"/>
          </a:p>
        </p:txBody>
      </p:sp>
      <p:sp>
        <p:nvSpPr>
          <p:cNvPr id="12" name="Text 9"/>
          <p:cNvSpPr txBox="1"/>
          <p:nvPr/>
        </p:nvSpPr>
        <p:spPr>
          <a:xfrm>
            <a:off x="685800" y="4370832"/>
            <a:ext cx="5044288" cy="1737360"/>
          </a:xfrm>
          <a:prstGeom prst="rect">
            <a:avLst/>
          </a:prstGeom>
          <a:noFill/>
          <a:ln/>
        </p:spPr>
        <p:txBody>
          <a:bodyPr wrap="square" lIns="0" tIns="0" rIns="0" bIns="0" rtlCol="0" anchor="t"/>
          <a:lstStyle/>
          <a:p>
            <a:pPr algn="l" marL="139700" indent="-139700">
              <a:spcAft>
                <a:spcPts val="300"/>
              </a:spcAft>
              <a:buSzPct val="100000"/>
              <a:buChar char="•"/>
            </a:pPr>
            <a:r>
              <a:rPr lang="ko-KR" altLang="en-US" sz="1200" dirty="0">
                <a:solidFill>
                  <a:schemeClr val="tx1"/>
                </a:solidFill>
              </a:rPr>
              <a:t>1976년 한미 조세조약: 사업 소득은 고정사업장(PE)이 있는 곳에서만 과세됩니다.</a:t>
            </a:r>
            <a:endParaRPr lang="ko-KR" altLang="en-US" sz="1200" dirty="0"/>
          </a:p>
          <a:p>
            <a:pPr algn="l" marL="139700" indent="-139700">
              <a:spcAft>
                <a:spcPts val="300"/>
              </a:spcAft>
              <a:buSzPct val="100000"/>
              <a:buChar char="•"/>
            </a:pPr>
            <a:r>
              <a:rPr lang="ko-KR" altLang="en-US" sz="1200" dirty="0">
                <a:solidFill>
                  <a:schemeClr val="tx1"/>
                </a:solidFill>
              </a:rPr>
              <a:t>FBA 창고에 보관하고 출고하는 재고는 제9조 3항(b)에 따라 PE를 만들지 않습니다.</a:t>
            </a:r>
            <a:endParaRPr lang="ko-KR" altLang="en-US" sz="1200" dirty="0"/>
          </a:p>
          <a:p>
            <a:pPr algn="l" marL="139700" indent="-139700">
              <a:spcAft>
                <a:spcPts val="300"/>
              </a:spcAft>
              <a:buSzPct val="100000"/>
              <a:buChar char="•"/>
            </a:pPr>
            <a:r>
              <a:rPr lang="ko-KR" altLang="en-US" sz="1200" dirty="0">
                <a:solidFill>
                  <a:schemeClr val="tx1"/>
                </a:solidFill>
              </a:rPr>
              <a:t>미국 사무실, 미국 직원, 계약을 협상하거나 서명하는 미국 내 대리인을 두지 않습니다.</a:t>
            </a:r>
            <a:endParaRPr lang="ko-KR" altLang="en-US" sz="1200" dirty="0"/>
          </a:p>
          <a:p>
            <a:pPr algn="l" marL="139700" indent="-139700">
              <a:spcAft>
                <a:spcPts val="300"/>
              </a:spcAft>
              <a:buSzPct val="100000"/>
              <a:buChar char="•"/>
            </a:pPr>
            <a:r>
              <a:rPr lang="ko-KR" altLang="en-US" sz="1200" dirty="0">
                <a:solidFill>
                  <a:schemeClr val="tx1"/>
                </a:solidFill>
              </a:rPr>
              <a:t>마켓플레이스 판매세는 아마존이 징수합니다.</a:t>
            </a:r>
            <a:endParaRPr lang="ko-KR" altLang="en-US" sz="1200" dirty="0"/>
          </a:p>
        </p:txBody>
      </p:sp>
      <p:sp>
        <p:nvSpPr>
          <p:cNvPr id="13" name="card"/>
          <p:cNvSpPr/>
          <p:nvPr/>
        </p:nvSpPr>
        <p:spPr>
          <a:xfrm>
            <a:off x="6233008" y="3840480"/>
            <a:ext cx="5501488" cy="2377440"/>
          </a:xfrm>
          <a:prstGeom prst="roundRect">
            <a:avLst>
              <a:gd name="adj" fmla="val 4615"/>
            </a:avLst>
          </a:prstGeom>
          <a:solidFill>
            <a:schemeClr val="bg2"/>
          </a:solidFill>
          <a:ln w="12700">
            <a:solidFill>
              <a:srgbClr val="141C36"/>
            </a:solidFill>
            <a:prstDash val="solid"/>
          </a:ln>
        </p:spPr>
      </p:sp>
      <p:sp>
        <p:nvSpPr>
          <p:cNvPr id="14" name="Text 11"/>
          <p:cNvSpPr txBox="1"/>
          <p:nvPr/>
        </p:nvSpPr>
        <p:spPr>
          <a:xfrm>
            <a:off x="6461608" y="3950208"/>
            <a:ext cx="5044288" cy="365760"/>
          </a:xfrm>
          <a:prstGeom prst="rect">
            <a:avLst/>
          </a:prstGeom>
          <a:noFill/>
          <a:ln/>
        </p:spPr>
        <p:txBody>
          <a:bodyPr wrap="square" lIns="0" tIns="0" rIns="0" bIns="0" rtlCol="0" anchor="t"/>
          <a:lstStyle/>
          <a:p>
            <a:pPr algn="l" indent="0" marL="0">
              <a:buNone/>
            </a:pPr>
            <a:r>
              <a:rPr lang="ko-KR" altLang="en-US" sz="1500" b="1" dirty="0">
                <a:solidFill>
                  <a:schemeClr val="accent1"/>
                </a:solidFill>
              </a:rPr>
              <a:t>소유 구조</a:t>
            </a:r>
            <a:endParaRPr lang="ko-KR" altLang="en-US" sz="1500" dirty="0"/>
          </a:p>
        </p:txBody>
      </p:sp>
      <p:sp>
        <p:nvSpPr>
          <p:cNvPr id="15" name="Text 12"/>
          <p:cNvSpPr txBox="1"/>
          <p:nvPr/>
        </p:nvSpPr>
        <p:spPr>
          <a:xfrm>
            <a:off x="6461608" y="4370832"/>
            <a:ext cx="5044288" cy="1737360"/>
          </a:xfrm>
          <a:prstGeom prst="rect">
            <a:avLst/>
          </a:prstGeom>
          <a:noFill/>
          <a:ln/>
        </p:spPr>
        <p:txBody>
          <a:bodyPr wrap="square" lIns="0" tIns="0" rIns="0" bIns="0" rtlCol="0" anchor="t"/>
          <a:lstStyle/>
          <a:p>
            <a:pPr algn="l" marL="139700" indent="-139700">
              <a:spcAft>
                <a:spcPts val="300"/>
              </a:spcAft>
              <a:buSzPct val="100000"/>
              <a:buChar char="•"/>
            </a:pPr>
            <a:r>
              <a:rPr lang="ko-KR" altLang="en-US" sz="1200" dirty="0">
                <a:solidFill>
                  <a:schemeClr val="tx1"/>
                </a:solidFill>
              </a:rPr>
              <a:t>Lucy 100% 소유. Mark는 서면 컨설팅 또는 커미션 계약으로 보수를 받습니다.</a:t>
            </a:r>
            <a:endParaRPr lang="ko-KR" altLang="en-US" sz="1200" dirty="0"/>
          </a:p>
          <a:p>
            <a:pPr algn="l" marL="139700" indent="-139700">
              <a:spcAft>
                <a:spcPts val="300"/>
              </a:spcAft>
              <a:buSzPct val="100000"/>
              <a:buChar char="•"/>
            </a:pPr>
            <a:r>
              <a:rPr lang="ko-KR" altLang="en-US" sz="1200" dirty="0">
                <a:solidFill>
                  <a:schemeClr val="tx1"/>
                </a:solidFill>
              </a:rPr>
              <a:t>Mark가 지분을 가지면 LLC는 파트너십이 되어 Form 1065 제출과 Lucy 몫 이익에 37% 원천징수가 생깁니다.</a:t>
            </a:r>
            <a:endParaRPr lang="ko-KR" altLang="en-US" sz="1200" dirty="0"/>
          </a:p>
          <a:p>
            <a:pPr algn="l" marL="139700" indent="-139700">
              <a:spcAft>
                <a:spcPts val="300"/>
              </a:spcAft>
              <a:buSzPct val="100000"/>
              <a:buChar char="•"/>
            </a:pPr>
            <a:r>
              <a:rPr lang="ko-KR" altLang="en-US" sz="1200" dirty="0">
                <a:solidFill>
                  <a:schemeClr val="tx1"/>
                </a:solidFill>
              </a:rPr>
              <a:t>대안으로 Mark의 미국 회사가 유통사 겸 수입자(importer of record)가 되고 Lucy는 도매 단계에 남는 구조를 열어 둡니다.</a:t>
            </a:r>
            <a:endParaRPr lang="ko-KR" alt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13</a:t>
            </a:fld>
            <a:endParaRPr lang="ko-KR"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자본 이체 전후의 한국 신고</a:t>
            </a:r>
            <a:endParaRPr lang="ko-KR" altLang="en-US" sz="3200" dirty="0"/>
          </a:p>
        </p:txBody>
      </p:sp>
      <p:sp>
        <p:nvSpPr>
          <p:cNvPr id="4" name="card"/>
          <p:cNvSpPr/>
          <p:nvPr/>
        </p:nvSpPr>
        <p:spPr>
          <a:xfrm>
            <a:off x="457200" y="1188720"/>
            <a:ext cx="7498080" cy="1152144"/>
          </a:xfrm>
          <a:prstGeom prst="roundRect">
            <a:avLst>
              <a:gd name="adj" fmla="val 9524"/>
            </a:avLst>
          </a:prstGeom>
          <a:solidFill>
            <a:schemeClr val="bg2"/>
          </a:solidFill>
          <a:ln w="12700">
            <a:solidFill>
              <a:srgbClr val="141C36"/>
            </a:solidFill>
            <a:prstDash val="solid"/>
          </a:ln>
        </p:spPr>
      </p:sp>
      <p:sp>
        <p:nvSpPr>
          <p:cNvPr id="5" name="Shape 2"/>
          <p:cNvSpPr/>
          <p:nvPr/>
        </p:nvSpPr>
        <p:spPr>
          <a:xfrm>
            <a:off x="594360" y="1325880"/>
            <a:ext cx="1554480" cy="877824"/>
          </a:xfrm>
          <a:prstGeom prst="roundRect">
            <a:avLst>
              <a:gd name="adj" fmla="val 8333"/>
            </a:avLst>
          </a:prstGeom>
          <a:solidFill>
            <a:srgbClr val="1B2447"/>
          </a:solidFill>
          <a:ln w="12700">
            <a:solidFill>
              <a:srgbClr val="1B2447"/>
            </a:solidFill>
            <a:prstDash val="solid"/>
          </a:ln>
        </p:spPr>
      </p:sp>
      <p:sp>
        <p:nvSpPr>
          <p:cNvPr id="6" name="Text 3"/>
          <p:cNvSpPr txBox="1"/>
          <p:nvPr/>
        </p:nvSpPr>
        <p:spPr>
          <a:xfrm>
            <a:off x="640080" y="1325880"/>
            <a:ext cx="1463040" cy="877824"/>
          </a:xfrm>
          <a:prstGeom prst="rect">
            <a:avLst/>
          </a:prstGeom>
          <a:noFill/>
          <a:ln/>
        </p:spPr>
        <p:txBody>
          <a:bodyPr wrap="square" lIns="0" tIns="0" rIns="0" bIns="0" rtlCol="0" anchor="ctr"/>
          <a:lstStyle/>
          <a:p>
            <a:pPr algn="ctr" indent="0" marL="0">
              <a:buNone/>
            </a:pPr>
            <a:r>
              <a:rPr lang="ko-KR" altLang="en-US" sz="1150" b="1" dirty="0">
                <a:solidFill>
                  <a:schemeClr val="accent1"/>
                </a:solidFill>
              </a:rPr>
              <a:t>자본 이체 전</a:t>
            </a:r>
            <a:endParaRPr lang="ko-KR" altLang="en-US" sz="1150" dirty="0"/>
          </a:p>
        </p:txBody>
      </p:sp>
      <p:sp>
        <p:nvSpPr>
          <p:cNvPr id="7" name="Text 4"/>
          <p:cNvSpPr txBox="1"/>
          <p:nvPr/>
        </p:nvSpPr>
        <p:spPr>
          <a:xfrm>
            <a:off x="2331720" y="1280160"/>
            <a:ext cx="5486400" cy="320040"/>
          </a:xfrm>
          <a:prstGeom prst="rect">
            <a:avLst/>
          </a:prstGeom>
          <a:noFill/>
          <a:ln/>
        </p:spPr>
        <p:txBody>
          <a:bodyPr wrap="square" lIns="0" tIns="0" rIns="0" bIns="0" rtlCol="0" anchor="t"/>
          <a:lstStyle/>
          <a:p>
            <a:pPr algn="l" indent="0" marL="0">
              <a:buNone/>
            </a:pPr>
            <a:r>
              <a:rPr lang="ko-KR" altLang="en-US" sz="1400" b="1" dirty="0">
                <a:solidFill>
                  <a:schemeClr val="tx1"/>
                </a:solidFill>
              </a:rPr>
              <a:t>해외직접투자 신고 (ODI)</a:t>
            </a:r>
            <a:endParaRPr lang="ko-KR" altLang="en-US" sz="1400" dirty="0"/>
          </a:p>
        </p:txBody>
      </p:sp>
      <p:sp>
        <p:nvSpPr>
          <p:cNvPr id="8" name="Text 5"/>
          <p:cNvSpPr txBox="1"/>
          <p:nvPr/>
        </p:nvSpPr>
        <p:spPr>
          <a:xfrm>
            <a:off x="2331720" y="1600200"/>
            <a:ext cx="5486400" cy="694944"/>
          </a:xfrm>
          <a:prstGeom prst="rect">
            <a:avLst/>
          </a:prstGeom>
          <a:noFill/>
          <a:ln/>
        </p:spPr>
        <p:txBody>
          <a:bodyPr wrap="square" lIns="0" tIns="0" rIns="0" bIns="0" rtlCol="0" anchor="t"/>
          <a:lstStyle/>
          <a:p>
            <a:pPr algn="l" indent="0" marL="0">
              <a:buNone/>
            </a:pPr>
            <a:r>
              <a:rPr lang="ko-KR" altLang="en-US" sz="1150" dirty="0">
                <a:solidFill>
                  <a:schemeClr val="tx2"/>
                </a:solidFill>
              </a:rPr>
              <a:t>외국환거래법에 따라 Lucy는 자본이 움직이기 전에 외국환은행에 투자를 신고합니다. 지분 10% 이상이면 금액과 무관하게 대상입니다. 개인 온라인 셀러에 대한 단속이 강화되고 있습니다.</a:t>
            </a:r>
            <a:endParaRPr lang="ko-KR" altLang="en-US" sz="1150" dirty="0"/>
          </a:p>
        </p:txBody>
      </p:sp>
      <p:sp>
        <p:nvSpPr>
          <p:cNvPr id="9" name="card"/>
          <p:cNvSpPr/>
          <p:nvPr/>
        </p:nvSpPr>
        <p:spPr>
          <a:xfrm>
            <a:off x="457200" y="2450592"/>
            <a:ext cx="7498080" cy="1152144"/>
          </a:xfrm>
          <a:prstGeom prst="roundRect">
            <a:avLst>
              <a:gd name="adj" fmla="val 9524"/>
            </a:avLst>
          </a:prstGeom>
          <a:solidFill>
            <a:schemeClr val="bg2"/>
          </a:solidFill>
          <a:ln w="12700">
            <a:solidFill>
              <a:srgbClr val="141C36"/>
            </a:solidFill>
            <a:prstDash val="solid"/>
          </a:ln>
        </p:spPr>
      </p:sp>
      <p:sp>
        <p:nvSpPr>
          <p:cNvPr id="10" name="Shape 7"/>
          <p:cNvSpPr/>
          <p:nvPr/>
        </p:nvSpPr>
        <p:spPr>
          <a:xfrm>
            <a:off x="594360" y="2587752"/>
            <a:ext cx="1554480" cy="877824"/>
          </a:xfrm>
          <a:prstGeom prst="roundRect">
            <a:avLst>
              <a:gd name="adj" fmla="val 8333"/>
            </a:avLst>
          </a:prstGeom>
          <a:solidFill>
            <a:srgbClr val="1B2447"/>
          </a:solidFill>
          <a:ln w="12700">
            <a:solidFill>
              <a:srgbClr val="1B2447"/>
            </a:solidFill>
            <a:prstDash val="solid"/>
          </a:ln>
        </p:spPr>
      </p:sp>
      <p:sp>
        <p:nvSpPr>
          <p:cNvPr id="11" name="Text 8"/>
          <p:cNvSpPr txBox="1"/>
          <p:nvPr/>
        </p:nvSpPr>
        <p:spPr>
          <a:xfrm>
            <a:off x="640080" y="2587752"/>
            <a:ext cx="1463040" cy="877824"/>
          </a:xfrm>
          <a:prstGeom prst="rect">
            <a:avLst/>
          </a:prstGeom>
          <a:noFill/>
          <a:ln/>
        </p:spPr>
        <p:txBody>
          <a:bodyPr wrap="square" lIns="0" tIns="0" rIns="0" bIns="0" rtlCol="0" anchor="ctr"/>
          <a:lstStyle/>
          <a:p>
            <a:pPr algn="ctr" indent="0" marL="0">
              <a:buNone/>
            </a:pPr>
            <a:r>
              <a:rPr lang="ko-KR" altLang="en-US" sz="1150" b="1" dirty="0">
                <a:solidFill>
                  <a:schemeClr val="accent1"/>
                </a:solidFill>
              </a:rPr>
              <a:t>이체 후</a:t>
            </a:r>
            <a:endParaRPr lang="ko-KR" altLang="en-US" sz="1150" dirty="0"/>
          </a:p>
        </p:txBody>
      </p:sp>
      <p:sp>
        <p:nvSpPr>
          <p:cNvPr id="12" name="Text 9"/>
          <p:cNvSpPr txBox="1"/>
          <p:nvPr/>
        </p:nvSpPr>
        <p:spPr>
          <a:xfrm>
            <a:off x="2331720" y="2542032"/>
            <a:ext cx="5486400" cy="320040"/>
          </a:xfrm>
          <a:prstGeom prst="rect">
            <a:avLst/>
          </a:prstGeom>
          <a:noFill/>
          <a:ln/>
        </p:spPr>
        <p:txBody>
          <a:bodyPr wrap="square" lIns="0" tIns="0" rIns="0" bIns="0" rtlCol="0" anchor="t"/>
          <a:lstStyle/>
          <a:p>
            <a:pPr algn="l" indent="0" marL="0">
              <a:buNone/>
            </a:pPr>
            <a:r>
              <a:rPr lang="ko-KR" altLang="en-US" sz="1400" b="1" dirty="0">
                <a:solidFill>
                  <a:schemeClr val="tx1"/>
                </a:solidFill>
              </a:rPr>
              <a:t>사후 보고</a:t>
            </a:r>
            <a:endParaRPr lang="ko-KR" altLang="en-US" sz="1400" dirty="0"/>
          </a:p>
        </p:txBody>
      </p:sp>
      <p:sp>
        <p:nvSpPr>
          <p:cNvPr id="13" name="Text 10"/>
          <p:cNvSpPr txBox="1"/>
          <p:nvPr/>
        </p:nvSpPr>
        <p:spPr>
          <a:xfrm>
            <a:off x="2331720" y="2862072"/>
            <a:ext cx="5486400" cy="694944"/>
          </a:xfrm>
          <a:prstGeom prst="rect">
            <a:avLst/>
          </a:prstGeom>
          <a:noFill/>
          <a:ln/>
        </p:spPr>
        <p:txBody>
          <a:bodyPr wrap="square" lIns="0" tIns="0" rIns="0" bIns="0" rtlCol="0" anchor="t"/>
          <a:lstStyle/>
          <a:p>
            <a:pPr algn="l" indent="0" marL="0">
              <a:buNone/>
            </a:pPr>
            <a:r>
              <a:rPr lang="ko-KR" altLang="en-US" sz="1150" dirty="0">
                <a:solidFill>
                  <a:schemeClr val="tx2"/>
                </a:solidFill>
              </a:rPr>
              <a:t>송금 보고, 증권 취득 보고, 이후 연례 사업 실적 보고.</a:t>
            </a:r>
            <a:endParaRPr lang="ko-KR" altLang="en-US" sz="1150" dirty="0"/>
          </a:p>
        </p:txBody>
      </p:sp>
      <p:sp>
        <p:nvSpPr>
          <p:cNvPr id="14" name="card"/>
          <p:cNvSpPr/>
          <p:nvPr/>
        </p:nvSpPr>
        <p:spPr>
          <a:xfrm>
            <a:off x="457200" y="3712464"/>
            <a:ext cx="7498080" cy="1152144"/>
          </a:xfrm>
          <a:prstGeom prst="roundRect">
            <a:avLst>
              <a:gd name="adj" fmla="val 9524"/>
            </a:avLst>
          </a:prstGeom>
          <a:solidFill>
            <a:schemeClr val="bg2"/>
          </a:solidFill>
          <a:ln w="12700">
            <a:solidFill>
              <a:srgbClr val="141C36"/>
            </a:solidFill>
            <a:prstDash val="solid"/>
          </a:ln>
        </p:spPr>
      </p:sp>
      <p:sp>
        <p:nvSpPr>
          <p:cNvPr id="15" name="Shape 12"/>
          <p:cNvSpPr/>
          <p:nvPr/>
        </p:nvSpPr>
        <p:spPr>
          <a:xfrm>
            <a:off x="594360" y="3849624"/>
            <a:ext cx="1554480" cy="877824"/>
          </a:xfrm>
          <a:prstGeom prst="roundRect">
            <a:avLst>
              <a:gd name="adj" fmla="val 8333"/>
            </a:avLst>
          </a:prstGeom>
          <a:solidFill>
            <a:srgbClr val="1B2447"/>
          </a:solidFill>
          <a:ln w="12700">
            <a:solidFill>
              <a:srgbClr val="1B2447"/>
            </a:solidFill>
            <a:prstDash val="solid"/>
          </a:ln>
        </p:spPr>
      </p:sp>
      <p:sp>
        <p:nvSpPr>
          <p:cNvPr id="16" name="Text 13"/>
          <p:cNvSpPr txBox="1"/>
          <p:nvPr/>
        </p:nvSpPr>
        <p:spPr>
          <a:xfrm>
            <a:off x="640080" y="3849624"/>
            <a:ext cx="1463040" cy="877824"/>
          </a:xfrm>
          <a:prstGeom prst="rect">
            <a:avLst/>
          </a:prstGeom>
          <a:noFill/>
          <a:ln/>
        </p:spPr>
        <p:txBody>
          <a:bodyPr wrap="square" lIns="0" tIns="0" rIns="0" bIns="0" rtlCol="0" anchor="ctr"/>
          <a:lstStyle/>
          <a:p>
            <a:pPr algn="ctr" indent="0" marL="0">
              <a:buNone/>
            </a:pPr>
            <a:r>
              <a:rPr lang="ko-KR" altLang="en-US" sz="1150" b="1" dirty="0">
                <a:solidFill>
                  <a:schemeClr val="accent1"/>
                </a:solidFill>
              </a:rPr>
              <a:t>매년</a:t>
            </a:r>
            <a:endParaRPr lang="ko-KR" altLang="en-US" sz="1150" dirty="0"/>
          </a:p>
        </p:txBody>
      </p:sp>
      <p:sp>
        <p:nvSpPr>
          <p:cNvPr id="17" name="Text 14"/>
          <p:cNvSpPr txBox="1"/>
          <p:nvPr/>
        </p:nvSpPr>
        <p:spPr>
          <a:xfrm>
            <a:off x="2331720" y="3803904"/>
            <a:ext cx="5486400" cy="320040"/>
          </a:xfrm>
          <a:prstGeom prst="rect">
            <a:avLst/>
          </a:prstGeom>
          <a:noFill/>
          <a:ln/>
        </p:spPr>
        <p:txBody>
          <a:bodyPr wrap="square" lIns="0" tIns="0" rIns="0" bIns="0" rtlCol="0" anchor="t"/>
          <a:lstStyle/>
          <a:p>
            <a:pPr algn="l" indent="0" marL="0">
              <a:buNone/>
            </a:pPr>
            <a:r>
              <a:rPr lang="ko-KR" altLang="en-US" sz="1400" b="1" dirty="0">
                <a:solidFill>
                  <a:schemeClr val="tx1"/>
                </a:solidFill>
              </a:rPr>
              <a:t>해외금융계좌 신고</a:t>
            </a:r>
            <a:endParaRPr lang="ko-KR" altLang="en-US" sz="1400" dirty="0"/>
          </a:p>
        </p:txBody>
      </p:sp>
      <p:sp>
        <p:nvSpPr>
          <p:cNvPr id="18" name="Text 15"/>
          <p:cNvSpPr txBox="1"/>
          <p:nvPr/>
        </p:nvSpPr>
        <p:spPr>
          <a:xfrm>
            <a:off x="2331720" y="4123944"/>
            <a:ext cx="5486400" cy="694944"/>
          </a:xfrm>
          <a:prstGeom prst="rect">
            <a:avLst/>
          </a:prstGeom>
          <a:noFill/>
          <a:ln/>
        </p:spPr>
        <p:txBody>
          <a:bodyPr wrap="square" lIns="0" tIns="0" rIns="0" bIns="0" rtlCol="0" anchor="t"/>
          <a:lstStyle/>
          <a:p>
            <a:pPr algn="l" indent="0" marL="0">
              <a:buNone/>
            </a:pPr>
            <a:r>
              <a:rPr lang="ko-KR" altLang="en-US" sz="1150" dirty="0">
                <a:solidFill>
                  <a:schemeClr val="tx2"/>
                </a:solidFill>
              </a:rPr>
              <a:t>해외 계좌 잔액이 월말 합계 KRW 500M에 이르면 신고 대상입니다. 세무사에게 확인합니다.</a:t>
            </a:r>
            <a:endParaRPr lang="ko-KR" altLang="en-US" sz="1150" dirty="0"/>
          </a:p>
        </p:txBody>
      </p:sp>
      <p:sp>
        <p:nvSpPr>
          <p:cNvPr id="19" name="card"/>
          <p:cNvSpPr/>
          <p:nvPr/>
        </p:nvSpPr>
        <p:spPr>
          <a:xfrm>
            <a:off x="457200" y="4974336"/>
            <a:ext cx="7498080" cy="1152144"/>
          </a:xfrm>
          <a:prstGeom prst="roundRect">
            <a:avLst>
              <a:gd name="adj" fmla="val 9524"/>
            </a:avLst>
          </a:prstGeom>
          <a:solidFill>
            <a:schemeClr val="bg2"/>
          </a:solidFill>
          <a:ln w="12700">
            <a:solidFill>
              <a:srgbClr val="141C36"/>
            </a:solidFill>
            <a:prstDash val="solid"/>
          </a:ln>
        </p:spPr>
      </p:sp>
      <p:sp>
        <p:nvSpPr>
          <p:cNvPr id="20" name="Shape 17"/>
          <p:cNvSpPr/>
          <p:nvPr/>
        </p:nvSpPr>
        <p:spPr>
          <a:xfrm>
            <a:off x="594360" y="5111496"/>
            <a:ext cx="1554480" cy="877824"/>
          </a:xfrm>
          <a:prstGeom prst="roundRect">
            <a:avLst>
              <a:gd name="adj" fmla="val 8333"/>
            </a:avLst>
          </a:prstGeom>
          <a:solidFill>
            <a:srgbClr val="1B2447"/>
          </a:solidFill>
          <a:ln w="12700">
            <a:solidFill>
              <a:srgbClr val="1B2447"/>
            </a:solidFill>
            <a:prstDash val="solid"/>
          </a:ln>
        </p:spPr>
      </p:sp>
      <p:sp>
        <p:nvSpPr>
          <p:cNvPr id="21" name="Text 18"/>
          <p:cNvSpPr txBox="1"/>
          <p:nvPr/>
        </p:nvSpPr>
        <p:spPr>
          <a:xfrm>
            <a:off x="640080" y="5111496"/>
            <a:ext cx="1463040" cy="877824"/>
          </a:xfrm>
          <a:prstGeom prst="rect">
            <a:avLst/>
          </a:prstGeom>
          <a:noFill/>
          <a:ln/>
        </p:spPr>
        <p:txBody>
          <a:bodyPr wrap="square" lIns="0" tIns="0" rIns="0" bIns="0" rtlCol="0" anchor="ctr"/>
          <a:lstStyle/>
          <a:p>
            <a:pPr algn="ctr" indent="0" marL="0">
              <a:buNone/>
            </a:pPr>
            <a:r>
              <a:rPr lang="ko-KR" altLang="en-US" sz="1150" b="1" dirty="0">
                <a:solidFill>
                  <a:schemeClr val="accent1"/>
                </a:solidFill>
              </a:rPr>
              <a:t>2주차</a:t>
            </a:r>
            <a:endParaRPr lang="ko-KR" altLang="en-US" sz="1150" dirty="0"/>
          </a:p>
        </p:txBody>
      </p:sp>
      <p:sp>
        <p:nvSpPr>
          <p:cNvPr id="22" name="Text 19"/>
          <p:cNvSpPr txBox="1"/>
          <p:nvPr/>
        </p:nvSpPr>
        <p:spPr>
          <a:xfrm>
            <a:off x="2331720" y="5065776"/>
            <a:ext cx="5486400" cy="320040"/>
          </a:xfrm>
          <a:prstGeom prst="rect">
            <a:avLst/>
          </a:prstGeom>
          <a:noFill/>
          <a:ln/>
        </p:spPr>
        <p:txBody>
          <a:bodyPr wrap="square" lIns="0" tIns="0" rIns="0" bIns="0" rtlCol="0" anchor="t"/>
          <a:lstStyle/>
          <a:p>
            <a:pPr algn="l" indent="0" marL="0">
              <a:buNone/>
            </a:pPr>
            <a:r>
              <a:rPr lang="ko-KR" altLang="en-US" sz="1400" b="1" dirty="0">
                <a:solidFill>
                  <a:schemeClr val="tx1"/>
                </a:solidFill>
              </a:rPr>
              <a:t>세무사에게 물을 질문</a:t>
            </a:r>
            <a:endParaRPr lang="ko-KR" altLang="en-US" sz="1400" dirty="0"/>
          </a:p>
        </p:txBody>
      </p:sp>
      <p:sp>
        <p:nvSpPr>
          <p:cNvPr id="23" name="Text 20"/>
          <p:cNvSpPr txBox="1"/>
          <p:nvPr/>
        </p:nvSpPr>
        <p:spPr>
          <a:xfrm>
            <a:off x="2331720" y="5385816"/>
            <a:ext cx="5486400" cy="694944"/>
          </a:xfrm>
          <a:prstGeom prst="rect">
            <a:avLst/>
          </a:prstGeom>
          <a:noFill/>
          <a:ln/>
        </p:spPr>
        <p:txBody>
          <a:bodyPr wrap="square" lIns="0" tIns="0" rIns="0" bIns="0" rtlCol="0" anchor="t"/>
          <a:lstStyle/>
          <a:p>
            <a:pPr algn="l" indent="0" marL="0">
              <a:buNone/>
            </a:pPr>
            <a:r>
              <a:rPr lang="ko-KR" altLang="en-US" sz="1150" dirty="0">
                <a:solidFill>
                  <a:schemeClr val="tx2"/>
                </a:solidFill>
              </a:rPr>
              <a:t>H2 Company 사업자등록번호 599-64-00496(가운데 64)는 개인사업자를 뜻합니다. 미국 LLC를 소유하기 전에 H2를 법인으로 전환해야 할까요? 별도 지시가 없으면 Lucy 개인이 BRAND LLC를 소유하는 것으로 가정합니다.</a:t>
            </a:r>
            <a:endParaRPr lang="ko-KR" altLang="en-US" sz="1150" dirty="0"/>
          </a:p>
        </p:txBody>
      </p:sp>
      <p:sp>
        <p:nvSpPr>
          <p:cNvPr id="24" name="card"/>
          <p:cNvSpPr/>
          <p:nvPr/>
        </p:nvSpPr>
        <p:spPr>
          <a:xfrm>
            <a:off x="8229600" y="1188720"/>
            <a:ext cx="3502152" cy="4937760"/>
          </a:xfrm>
          <a:prstGeom prst="roundRect">
            <a:avLst>
              <a:gd name="adj" fmla="val 3133"/>
            </a:avLst>
          </a:prstGeom>
          <a:solidFill>
            <a:srgbClr val="10172D"/>
          </a:solidFill>
          <a:ln w="12700">
            <a:solidFill>
              <a:srgbClr val="10172D"/>
            </a:solidFill>
            <a:prstDash val="solid"/>
          </a:ln>
        </p:spPr>
      </p:sp>
      <p:sp>
        <p:nvSpPr>
          <p:cNvPr id="25" name="Text 22"/>
          <p:cNvSpPr txBox="1"/>
          <p:nvPr/>
        </p:nvSpPr>
        <p:spPr>
          <a:xfrm>
            <a:off x="8412480" y="1325880"/>
            <a:ext cx="3108960" cy="365760"/>
          </a:xfrm>
          <a:prstGeom prst="rect">
            <a:avLst/>
          </a:prstGeom>
          <a:noFill/>
          <a:ln/>
        </p:spPr>
        <p:txBody>
          <a:bodyPr wrap="square" lIns="0" tIns="0" rIns="0" bIns="0" rtlCol="0" anchor="t"/>
          <a:lstStyle/>
          <a:p>
            <a:pPr algn="l" indent="0" marL="0">
              <a:buNone/>
            </a:pPr>
            <a:r>
              <a:rPr lang="ko-KR" altLang="en-US" sz="1600" b="1" dirty="0">
                <a:solidFill>
                  <a:schemeClr val="accent1"/>
                </a:solidFill>
              </a:rPr>
              <a:t>진행 순서</a:t>
            </a:r>
            <a:endParaRPr lang="ko-KR" altLang="en-US" sz="1600" dirty="0"/>
          </a:p>
        </p:txBody>
      </p:sp>
      <p:sp>
        <p:nvSpPr>
          <p:cNvPr id="26" name="Text 23"/>
          <p:cNvSpPr txBox="1"/>
          <p:nvPr/>
        </p:nvSpPr>
        <p:spPr>
          <a:xfrm>
            <a:off x="8412480" y="1828800"/>
            <a:ext cx="3108960" cy="960120"/>
          </a:xfrm>
          <a:prstGeom prst="rect">
            <a:avLst/>
          </a:prstGeom>
          <a:noFill/>
          <a:ln/>
        </p:spPr>
        <p:txBody>
          <a:bodyPr wrap="square" lIns="0" tIns="0" rIns="0" bIns="0" rtlCol="0" anchor="t"/>
          <a:lstStyle/>
          <a:p>
            <a:pPr algn="l" indent="0" marL="0">
              <a:buNone/>
            </a:pPr>
            <a:r>
              <a:rPr lang="ko-KR" altLang="en-US" sz="1300" dirty="0">
                <a:solidFill>
                  <a:schemeClr val="tx1"/>
                </a:solidFill>
              </a:rPr>
              <a:t>1. 외국환은행에 해외직접투자 신고 (2주차).</a:t>
            </a:r>
            <a:endParaRPr lang="ko-KR" altLang="en-US" sz="1300" dirty="0"/>
          </a:p>
        </p:txBody>
      </p:sp>
      <p:sp>
        <p:nvSpPr>
          <p:cNvPr id="27" name="Text 24"/>
          <p:cNvSpPr txBox="1"/>
          <p:nvPr/>
        </p:nvSpPr>
        <p:spPr>
          <a:xfrm>
            <a:off x="8412480" y="2834640"/>
            <a:ext cx="3108960" cy="960120"/>
          </a:xfrm>
          <a:prstGeom prst="rect">
            <a:avLst/>
          </a:prstGeom>
          <a:noFill/>
          <a:ln/>
        </p:spPr>
        <p:txBody>
          <a:bodyPr wrap="square" lIns="0" tIns="0" rIns="0" bIns="0" rtlCol="0" anchor="t"/>
          <a:lstStyle/>
          <a:p>
            <a:pPr algn="l" indent="0" marL="0">
              <a:buNone/>
            </a:pPr>
            <a:r>
              <a:rPr lang="ko-KR" altLang="en-US" sz="1300" dirty="0">
                <a:solidFill>
                  <a:schemeClr val="tx1"/>
                </a:solidFill>
              </a:rPr>
              <a:t>2. LLC 계좌로 자본 이체 (3주차, 신고 후에만).</a:t>
            </a:r>
            <a:endParaRPr lang="ko-KR" altLang="en-US" sz="1300" dirty="0"/>
          </a:p>
        </p:txBody>
      </p:sp>
      <p:sp>
        <p:nvSpPr>
          <p:cNvPr id="28" name="Text 25"/>
          <p:cNvSpPr txBox="1"/>
          <p:nvPr/>
        </p:nvSpPr>
        <p:spPr>
          <a:xfrm>
            <a:off x="8412480" y="3840480"/>
            <a:ext cx="3108960" cy="960120"/>
          </a:xfrm>
          <a:prstGeom prst="rect">
            <a:avLst/>
          </a:prstGeom>
          <a:noFill/>
          <a:ln/>
        </p:spPr>
        <p:txBody>
          <a:bodyPr wrap="square" lIns="0" tIns="0" rIns="0" bIns="0" rtlCol="0" anchor="t"/>
          <a:lstStyle/>
          <a:p>
            <a:pPr algn="l" indent="0" marL="0">
              <a:buNone/>
            </a:pPr>
            <a:r>
              <a:rPr lang="ko-KR" altLang="en-US" sz="1300" dirty="0">
                <a:solidFill>
                  <a:schemeClr val="tx1"/>
                </a:solidFill>
              </a:rPr>
              <a:t>3. 송금 보고와 증권 취득 보고.</a:t>
            </a:r>
            <a:endParaRPr lang="ko-KR" altLang="en-US" sz="1300" dirty="0"/>
          </a:p>
        </p:txBody>
      </p:sp>
      <p:sp>
        <p:nvSpPr>
          <p:cNvPr id="29" name="Text 26"/>
          <p:cNvSpPr txBox="1"/>
          <p:nvPr/>
        </p:nvSpPr>
        <p:spPr>
          <a:xfrm>
            <a:off x="8412480" y="4846320"/>
            <a:ext cx="3108960" cy="960120"/>
          </a:xfrm>
          <a:prstGeom prst="rect">
            <a:avLst/>
          </a:prstGeom>
          <a:noFill/>
          <a:ln/>
        </p:spPr>
        <p:txBody>
          <a:bodyPr wrap="square" lIns="0" tIns="0" rIns="0" bIns="0" rtlCol="0" anchor="t"/>
          <a:lstStyle/>
          <a:p>
            <a:pPr algn="l" indent="0" marL="0">
              <a:buNone/>
            </a:pPr>
            <a:r>
              <a:rPr lang="ko-KR" altLang="en-US" sz="1300" dirty="0">
                <a:solidFill>
                  <a:schemeClr val="tx1"/>
                </a:solidFill>
              </a:rPr>
              <a:t>4. 연례 사업 실적 보고, 기준 도달 시 해외금융계좌 신고.</a:t>
            </a:r>
            <a:endParaRPr lang="ko-KR" alt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14</a:t>
            </a:fld>
            <a:endParaRPr lang="ko-KR"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제품 컴플라이언스</a:t>
            </a:r>
            <a:endParaRPr lang="ko-KR" altLang="en-US" sz="3200" dirty="0"/>
          </a:p>
        </p:txBody>
      </p:sp>
      <p:sp>
        <p:nvSpPr>
          <p:cNvPr id="4" name="card"/>
          <p:cNvSpPr/>
          <p:nvPr/>
        </p:nvSpPr>
        <p:spPr>
          <a:xfrm>
            <a:off x="457200" y="1188720"/>
            <a:ext cx="3576218" cy="2377440"/>
          </a:xfrm>
          <a:prstGeom prst="roundRect">
            <a:avLst>
              <a:gd name="adj" fmla="val 4615"/>
            </a:avLst>
          </a:prstGeom>
          <a:solidFill>
            <a:schemeClr val="bg2"/>
          </a:solidFill>
          <a:ln w="12700">
            <a:solidFill>
              <a:srgbClr val="141C36"/>
            </a:solidFill>
            <a:prstDash val="solid"/>
          </a:ln>
        </p:spPr>
      </p:sp>
      <p:sp>
        <p:nvSpPr>
          <p:cNvPr id="5" name="Shape 2"/>
          <p:cNvSpPr/>
          <p:nvPr/>
        </p:nvSpPr>
        <p:spPr>
          <a:xfrm>
            <a:off x="640080" y="1353312"/>
            <a:ext cx="502920" cy="502920"/>
          </a:xfrm>
          <a:prstGeom prst="ellipse">
            <a:avLst/>
          </a:prstGeom>
          <a:solidFill>
            <a:srgbClr val="1B2447"/>
          </a:solidFill>
          <a:ln w="12700">
            <a:solidFill>
              <a:srgbClr val="1B2447"/>
            </a:solidFill>
            <a:prstDash val="solid"/>
          </a:ln>
        </p:spPr>
      </p:sp>
      <p:pic>
        <p:nvPicPr>
          <p:cNvPr id="6" name="Image 0" descr="preencoded.png">    </p:cNvPr>
          <p:cNvPicPr>
            <a:picLocks noChangeAspect="1"/>
          </p:cNvPicPr>
          <p:nvPr/>
        </p:nvPicPr>
        <p:blipFill>
          <a:blip r:embed="rId1"/>
          <a:stretch>
            <a:fillRect/>
          </a:stretch>
        </p:blipFill>
        <p:spPr>
          <a:xfrm>
            <a:off x="750722" y="1463954"/>
            <a:ext cx="281635" cy="281635"/>
          </a:xfrm>
          <a:prstGeom prst="rect">
            <a:avLst/>
          </a:prstGeom>
        </p:spPr>
      </p:pic>
      <p:sp>
        <p:nvSpPr>
          <p:cNvPr id="7" name="Text 3"/>
          <p:cNvSpPr txBox="1"/>
          <p:nvPr/>
        </p:nvSpPr>
        <p:spPr>
          <a:xfrm>
            <a:off x="1280160" y="1353312"/>
            <a:ext cx="2570378" cy="502920"/>
          </a:xfrm>
          <a:prstGeom prst="rect">
            <a:avLst/>
          </a:prstGeom>
          <a:noFill/>
          <a:ln/>
        </p:spPr>
        <p:txBody>
          <a:bodyPr wrap="square" lIns="0" tIns="0" rIns="0" bIns="0" rtlCol="0" anchor="ctr"/>
          <a:lstStyle/>
          <a:p>
            <a:pPr algn="l" indent="0" marL="0">
              <a:buNone/>
            </a:pPr>
            <a:r>
              <a:rPr lang="ko-KR" altLang="en-US" sz="1500" b="1" dirty="0">
                <a:solidFill>
                  <a:schemeClr val="tx1"/>
                </a:solidFill>
              </a:rPr>
              <a:t>HDMI Adopter와 ATC</a:t>
            </a:r>
            <a:endParaRPr lang="ko-KR" altLang="en-US" sz="1500" dirty="0"/>
          </a:p>
        </p:txBody>
      </p:sp>
      <p:sp>
        <p:nvSpPr>
          <p:cNvPr id="8" name="Text 4"/>
          <p:cNvSpPr txBox="1"/>
          <p:nvPr/>
        </p:nvSpPr>
        <p:spPr>
          <a:xfrm>
            <a:off x="640080" y="2011680"/>
            <a:ext cx="3210458" cy="914400"/>
          </a:xfrm>
          <a:prstGeom prst="rect">
            <a:avLst/>
          </a:prstGeom>
          <a:noFill/>
          <a:ln/>
        </p:spPr>
        <p:txBody>
          <a:bodyPr wrap="square" lIns="0" tIns="0" rIns="0" bIns="0" rtlCol="0" anchor="t"/>
          <a:lstStyle/>
          <a:p>
            <a:pPr algn="l" indent="0" marL="0">
              <a:buNone/>
            </a:pPr>
            <a:r>
              <a:rPr lang="ko-KR" altLang="en-US" sz="1250" dirty="0">
                <a:solidFill>
                  <a:schemeClr val="tx1"/>
                </a:solidFill>
              </a:rPr>
              <a:t>공장은 Authorized Test Center(ATC) 보고서를 갖춘 HDMI Adopter여야 합니다. HDMI LA는 압류를 집행합니다.</a:t>
            </a:r>
            <a:endParaRPr lang="ko-KR" altLang="en-US" sz="1250" dirty="0"/>
          </a:p>
        </p:txBody>
      </p:sp>
      <p:sp>
        <p:nvSpPr>
          <p:cNvPr id="9" name="Text 5"/>
          <p:cNvSpPr txBox="1"/>
          <p:nvPr/>
        </p:nvSpPr>
        <p:spPr>
          <a:xfrm>
            <a:off x="640080" y="2926080"/>
            <a:ext cx="3210458" cy="548640"/>
          </a:xfrm>
          <a:prstGeom prst="rect">
            <a:avLst/>
          </a:prstGeom>
          <a:noFill/>
          <a:ln/>
        </p:spPr>
        <p:txBody>
          <a:bodyPr wrap="square" lIns="0" tIns="0" rIns="0" bIns="0" rtlCol="0" anchor="t"/>
          <a:lstStyle/>
          <a:p>
            <a:pPr algn="l" indent="0" marL="0">
              <a:buNone/>
            </a:pPr>
            <a:r>
              <a:rPr lang="ko-KR" altLang="en-US" sz="1100" dirty="0">
                <a:solidFill>
                  <a:schemeClr val="accent5"/>
                </a:solidFill>
              </a:rPr>
              <a:t>[PLACEHOLDER: 공장의 HDMI Adopter 인증번호와 ATC 보고서]</a:t>
            </a:r>
            <a:endParaRPr lang="ko-KR" altLang="en-US" sz="1100" dirty="0"/>
          </a:p>
        </p:txBody>
      </p:sp>
      <p:sp>
        <p:nvSpPr>
          <p:cNvPr id="10" name="card"/>
          <p:cNvSpPr/>
          <p:nvPr/>
        </p:nvSpPr>
        <p:spPr>
          <a:xfrm>
            <a:off x="4307738" y="1188720"/>
            <a:ext cx="3576218" cy="2377440"/>
          </a:xfrm>
          <a:prstGeom prst="roundRect">
            <a:avLst>
              <a:gd name="adj" fmla="val 4615"/>
            </a:avLst>
          </a:prstGeom>
          <a:solidFill>
            <a:schemeClr val="bg2"/>
          </a:solidFill>
          <a:ln w="12700">
            <a:solidFill>
              <a:srgbClr val="141C36"/>
            </a:solidFill>
            <a:prstDash val="solid"/>
          </a:ln>
        </p:spPr>
      </p:sp>
      <p:sp>
        <p:nvSpPr>
          <p:cNvPr id="11" name="Shape 7"/>
          <p:cNvSpPr/>
          <p:nvPr/>
        </p:nvSpPr>
        <p:spPr>
          <a:xfrm>
            <a:off x="4490618" y="1353312"/>
            <a:ext cx="502920" cy="502920"/>
          </a:xfrm>
          <a:prstGeom prst="ellipse">
            <a:avLst/>
          </a:prstGeom>
          <a:solidFill>
            <a:srgbClr val="1B2447"/>
          </a:solidFill>
          <a:ln w="12700">
            <a:solidFill>
              <a:srgbClr val="1B2447"/>
            </a:solidFill>
            <a:prstDash val="solid"/>
          </a:ln>
        </p:spPr>
      </p:sp>
      <p:pic>
        <p:nvPicPr>
          <p:cNvPr id="12" name="Image 1" descr="preencoded.png">    </p:cNvPr>
          <p:cNvPicPr>
            <a:picLocks noChangeAspect="1"/>
          </p:cNvPicPr>
          <p:nvPr/>
        </p:nvPicPr>
        <p:blipFill>
          <a:blip r:embed="rId2"/>
          <a:stretch>
            <a:fillRect/>
          </a:stretch>
        </p:blipFill>
        <p:spPr>
          <a:xfrm>
            <a:off x="4601261" y="1463954"/>
            <a:ext cx="281635" cy="281635"/>
          </a:xfrm>
          <a:prstGeom prst="rect">
            <a:avLst/>
          </a:prstGeom>
        </p:spPr>
      </p:pic>
      <p:sp>
        <p:nvSpPr>
          <p:cNvPr id="13" name="Text 8"/>
          <p:cNvSpPr txBox="1"/>
          <p:nvPr/>
        </p:nvSpPr>
        <p:spPr>
          <a:xfrm>
            <a:off x="5130698" y="1353312"/>
            <a:ext cx="2570378" cy="502920"/>
          </a:xfrm>
          <a:prstGeom prst="rect">
            <a:avLst/>
          </a:prstGeom>
          <a:noFill/>
          <a:ln/>
        </p:spPr>
        <p:txBody>
          <a:bodyPr wrap="square" lIns="0" tIns="0" rIns="0" bIns="0" rtlCol="0" anchor="ctr"/>
          <a:lstStyle/>
          <a:p>
            <a:pPr algn="l" indent="0" marL="0">
              <a:buNone/>
            </a:pPr>
            <a:r>
              <a:rPr lang="ko-KR" altLang="en-US" sz="1500" b="1" dirty="0">
                <a:solidFill>
                  <a:schemeClr val="tx1"/>
                </a:solidFill>
              </a:rPr>
              <a:t>상자와 리스팅 명칭</a:t>
            </a:r>
            <a:endParaRPr lang="ko-KR" altLang="en-US" sz="1500" dirty="0"/>
          </a:p>
        </p:txBody>
      </p:sp>
      <p:sp>
        <p:nvSpPr>
          <p:cNvPr id="14" name="Text 9"/>
          <p:cNvSpPr txBox="1"/>
          <p:nvPr/>
        </p:nvSpPr>
        <p:spPr>
          <a:xfrm>
            <a:off x="4490618" y="2011680"/>
            <a:ext cx="3210458" cy="914400"/>
          </a:xfrm>
          <a:prstGeom prst="rect">
            <a:avLst/>
          </a:prstGeom>
          <a:noFill/>
          <a:ln/>
        </p:spPr>
        <p:txBody>
          <a:bodyPr wrap="square" lIns="0" tIns="0" rIns="0" bIns="0" rtlCol="0" anchor="t"/>
          <a:lstStyle/>
          <a:p>
            <a:pPr algn="l" indent="0" marL="0">
              <a:buNone/>
            </a:pPr>
            <a:r>
              <a:rPr lang="ko-KR" altLang="en-US" sz="1250" dirty="0">
                <a:solidFill>
                  <a:schemeClr val="tx1"/>
                </a:solidFill>
              </a:rPr>
              <a:t>카테고리명만 사용 (Ultra High Speed HDMI Cable). 제목에 48Gbps와 8K 표기 가능. 버전 번호 금지.</a:t>
            </a:r>
            <a:endParaRPr lang="ko-KR" altLang="en-US" sz="1250" dirty="0"/>
          </a:p>
        </p:txBody>
      </p:sp>
      <p:sp>
        <p:nvSpPr>
          <p:cNvPr id="15" name="Text 10"/>
          <p:cNvSpPr txBox="1"/>
          <p:nvPr/>
        </p:nvSpPr>
        <p:spPr>
          <a:xfrm>
            <a:off x="4490618" y="2926080"/>
            <a:ext cx="3210458" cy="548640"/>
          </a:xfrm>
          <a:prstGeom prst="rect">
            <a:avLst/>
          </a:prstGeom>
          <a:noFill/>
          <a:ln/>
        </p:spPr>
        <p:txBody>
          <a:bodyPr wrap="square" lIns="0" tIns="0" rIns="0" bIns="0" rtlCol="0" anchor="t"/>
          <a:lstStyle/>
          <a:p>
            <a:pPr algn="l" indent="0" marL="0">
              <a:buNone/>
            </a:pPr>
            <a:r>
              <a:rPr lang="ko-KR" altLang="en-US" sz="1100" dirty="0">
                <a:solidFill>
                  <a:schemeClr val="accent5"/>
                </a:solidFill>
              </a:rPr>
              <a:t>리스팅 키트에 규칙 적용됨</a:t>
            </a:r>
            <a:endParaRPr lang="ko-KR" altLang="en-US" sz="1100" dirty="0"/>
          </a:p>
        </p:txBody>
      </p:sp>
      <p:sp>
        <p:nvSpPr>
          <p:cNvPr id="16" name="card"/>
          <p:cNvSpPr/>
          <p:nvPr/>
        </p:nvSpPr>
        <p:spPr>
          <a:xfrm>
            <a:off x="8158277" y="1188720"/>
            <a:ext cx="3576218" cy="2377440"/>
          </a:xfrm>
          <a:prstGeom prst="roundRect">
            <a:avLst>
              <a:gd name="adj" fmla="val 4615"/>
            </a:avLst>
          </a:prstGeom>
          <a:solidFill>
            <a:schemeClr val="bg2"/>
          </a:solidFill>
          <a:ln w="12700">
            <a:solidFill>
              <a:srgbClr val="141C36"/>
            </a:solidFill>
            <a:prstDash val="solid"/>
          </a:ln>
        </p:spPr>
      </p:sp>
      <p:sp>
        <p:nvSpPr>
          <p:cNvPr id="17" name="Shape 12"/>
          <p:cNvSpPr/>
          <p:nvPr/>
        </p:nvSpPr>
        <p:spPr>
          <a:xfrm>
            <a:off x="8341157" y="1353312"/>
            <a:ext cx="502920" cy="502920"/>
          </a:xfrm>
          <a:prstGeom prst="ellipse">
            <a:avLst/>
          </a:prstGeom>
          <a:solidFill>
            <a:srgbClr val="1B2447"/>
          </a:solidFill>
          <a:ln w="12700">
            <a:solidFill>
              <a:srgbClr val="1B2447"/>
            </a:solidFill>
            <a:prstDash val="solid"/>
          </a:ln>
        </p:spPr>
      </p:sp>
      <p:pic>
        <p:nvPicPr>
          <p:cNvPr id="18" name="Image 2" descr="preencoded.png">    </p:cNvPr>
          <p:cNvPicPr>
            <a:picLocks noChangeAspect="1"/>
          </p:cNvPicPr>
          <p:nvPr/>
        </p:nvPicPr>
        <p:blipFill>
          <a:blip r:embed="rId3"/>
          <a:stretch>
            <a:fillRect/>
          </a:stretch>
        </p:blipFill>
        <p:spPr>
          <a:xfrm>
            <a:off x="8451799" y="1463954"/>
            <a:ext cx="281635" cy="281635"/>
          </a:xfrm>
          <a:prstGeom prst="rect">
            <a:avLst/>
          </a:prstGeom>
        </p:spPr>
      </p:pic>
      <p:sp>
        <p:nvSpPr>
          <p:cNvPr id="19" name="Text 13"/>
          <p:cNvSpPr txBox="1"/>
          <p:nvPr/>
        </p:nvSpPr>
        <p:spPr>
          <a:xfrm>
            <a:off x="8981237" y="1353312"/>
            <a:ext cx="2570378" cy="502920"/>
          </a:xfrm>
          <a:prstGeom prst="rect">
            <a:avLst/>
          </a:prstGeom>
          <a:noFill/>
          <a:ln/>
        </p:spPr>
        <p:txBody>
          <a:bodyPr wrap="square" lIns="0" tIns="0" rIns="0" bIns="0" rtlCol="0" anchor="ctr"/>
          <a:lstStyle/>
          <a:p>
            <a:pPr algn="l" indent="0" marL="0">
              <a:buNone/>
            </a:pPr>
            <a:r>
              <a:rPr lang="ko-KR" altLang="en-US" sz="1500" b="1" dirty="0">
                <a:solidFill>
                  <a:schemeClr val="tx1"/>
                </a:solidFill>
              </a:rPr>
              <a:t>FCC</a:t>
            </a:r>
            <a:endParaRPr lang="ko-KR" altLang="en-US" sz="1500" dirty="0"/>
          </a:p>
        </p:txBody>
      </p:sp>
      <p:sp>
        <p:nvSpPr>
          <p:cNvPr id="20" name="Text 14"/>
          <p:cNvSpPr txBox="1"/>
          <p:nvPr/>
        </p:nvSpPr>
        <p:spPr>
          <a:xfrm>
            <a:off x="8341157" y="2011680"/>
            <a:ext cx="3210458" cy="914400"/>
          </a:xfrm>
          <a:prstGeom prst="rect">
            <a:avLst/>
          </a:prstGeom>
          <a:noFill/>
          <a:ln/>
        </p:spPr>
        <p:txBody>
          <a:bodyPr wrap="square" lIns="0" tIns="0" rIns="0" bIns="0" rtlCol="0" anchor="t"/>
          <a:lstStyle/>
          <a:p>
            <a:pPr algn="l" indent="0" marL="0">
              <a:buNone/>
            </a:pPr>
            <a:r>
              <a:rPr lang="ko-KR" altLang="en-US" sz="1250" dirty="0">
                <a:solidFill>
                  <a:schemeClr val="tx1"/>
                </a:solidFill>
              </a:rPr>
              <a:t>AOC 헤드에는 액티브 전자 회로가 있으므로 첫 선적 전에 공장의 FCC 시험 보고서를 확보합니다.</a:t>
            </a:r>
            <a:endParaRPr lang="ko-KR" altLang="en-US" sz="1250" dirty="0"/>
          </a:p>
        </p:txBody>
      </p:sp>
      <p:sp>
        <p:nvSpPr>
          <p:cNvPr id="21" name="Text 15"/>
          <p:cNvSpPr txBox="1"/>
          <p:nvPr/>
        </p:nvSpPr>
        <p:spPr>
          <a:xfrm>
            <a:off x="8341157" y="2926080"/>
            <a:ext cx="3210458" cy="548640"/>
          </a:xfrm>
          <a:prstGeom prst="rect">
            <a:avLst/>
          </a:prstGeom>
          <a:noFill/>
          <a:ln/>
        </p:spPr>
        <p:txBody>
          <a:bodyPr wrap="square" lIns="0" tIns="0" rIns="0" bIns="0" rtlCol="0" anchor="t"/>
          <a:lstStyle/>
          <a:p>
            <a:pPr algn="l" indent="0" marL="0">
              <a:buNone/>
            </a:pPr>
            <a:r>
              <a:rPr lang="ko-KR" altLang="en-US" sz="1100" dirty="0">
                <a:solidFill>
                  <a:schemeClr val="accent5"/>
                </a:solidFill>
              </a:rPr>
              <a:t>[PLACEHOLDER: 공장의 FCC 시험 보고서]</a:t>
            </a:r>
            <a:endParaRPr lang="ko-KR" altLang="en-US" sz="1100" dirty="0"/>
          </a:p>
        </p:txBody>
      </p:sp>
      <p:sp>
        <p:nvSpPr>
          <p:cNvPr id="22" name="card"/>
          <p:cNvSpPr/>
          <p:nvPr/>
        </p:nvSpPr>
        <p:spPr>
          <a:xfrm>
            <a:off x="457200" y="3840480"/>
            <a:ext cx="3576218" cy="2377440"/>
          </a:xfrm>
          <a:prstGeom prst="roundRect">
            <a:avLst>
              <a:gd name="adj" fmla="val 4615"/>
            </a:avLst>
          </a:prstGeom>
          <a:solidFill>
            <a:schemeClr val="bg2"/>
          </a:solidFill>
          <a:ln w="12700">
            <a:solidFill>
              <a:srgbClr val="141C36"/>
            </a:solidFill>
            <a:prstDash val="solid"/>
          </a:ln>
        </p:spPr>
      </p:sp>
      <p:sp>
        <p:nvSpPr>
          <p:cNvPr id="23" name="Shape 17"/>
          <p:cNvSpPr/>
          <p:nvPr/>
        </p:nvSpPr>
        <p:spPr>
          <a:xfrm>
            <a:off x="640080" y="4005072"/>
            <a:ext cx="502920" cy="502920"/>
          </a:xfrm>
          <a:prstGeom prst="ellipse">
            <a:avLst/>
          </a:prstGeom>
          <a:solidFill>
            <a:srgbClr val="1B2447"/>
          </a:solidFill>
          <a:ln w="12700">
            <a:solidFill>
              <a:srgbClr val="1B2447"/>
            </a:solidFill>
            <a:prstDash val="solid"/>
          </a:ln>
        </p:spPr>
      </p:sp>
      <p:pic>
        <p:nvPicPr>
          <p:cNvPr id="24" name="Image 3" descr="preencoded.png">    </p:cNvPr>
          <p:cNvPicPr>
            <a:picLocks noChangeAspect="1"/>
          </p:cNvPicPr>
          <p:nvPr/>
        </p:nvPicPr>
        <p:blipFill>
          <a:blip r:embed="rId4"/>
          <a:stretch>
            <a:fillRect/>
          </a:stretch>
        </p:blipFill>
        <p:spPr>
          <a:xfrm>
            <a:off x="750722" y="4115714"/>
            <a:ext cx="281635" cy="281635"/>
          </a:xfrm>
          <a:prstGeom prst="rect">
            <a:avLst/>
          </a:prstGeom>
        </p:spPr>
      </p:pic>
      <p:sp>
        <p:nvSpPr>
          <p:cNvPr id="25" name="Text 18"/>
          <p:cNvSpPr txBox="1"/>
          <p:nvPr/>
        </p:nvSpPr>
        <p:spPr>
          <a:xfrm>
            <a:off x="1280160" y="4005072"/>
            <a:ext cx="2570378" cy="502920"/>
          </a:xfrm>
          <a:prstGeom prst="rect">
            <a:avLst/>
          </a:prstGeom>
          <a:noFill/>
          <a:ln/>
        </p:spPr>
        <p:txBody>
          <a:bodyPr wrap="square" lIns="0" tIns="0" rIns="0" bIns="0" rtlCol="0" anchor="ctr"/>
          <a:lstStyle/>
          <a:p>
            <a:pPr algn="l" indent="0" marL="0">
              <a:buNone/>
            </a:pPr>
            <a:r>
              <a:rPr lang="ko-KR" altLang="en-US" sz="1500" b="1" dirty="0">
                <a:solidFill>
                  <a:schemeClr val="tx1"/>
                </a:solidFill>
              </a:rPr>
              <a:t>캘리포니아 Prop 65</a:t>
            </a:r>
            <a:endParaRPr lang="ko-KR" altLang="en-US" sz="1500" dirty="0"/>
          </a:p>
        </p:txBody>
      </p:sp>
      <p:sp>
        <p:nvSpPr>
          <p:cNvPr id="26" name="Text 19"/>
          <p:cNvSpPr txBox="1"/>
          <p:nvPr/>
        </p:nvSpPr>
        <p:spPr>
          <a:xfrm>
            <a:off x="640080" y="4663440"/>
            <a:ext cx="3210458" cy="914400"/>
          </a:xfrm>
          <a:prstGeom prst="rect">
            <a:avLst/>
          </a:prstGeom>
          <a:noFill/>
          <a:ln/>
        </p:spPr>
        <p:txBody>
          <a:bodyPr wrap="square" lIns="0" tIns="0" rIns="0" bIns="0" rtlCol="0" anchor="t"/>
          <a:lstStyle/>
          <a:p>
            <a:pPr algn="l" indent="0" marL="0">
              <a:buNone/>
            </a:pPr>
            <a:r>
              <a:rPr lang="ko-KR" altLang="en-US" sz="1250" dirty="0">
                <a:solidFill>
                  <a:schemeClr val="tx1"/>
                </a:solidFill>
              </a:rPr>
              <a:t>포장과 리스팅에 Prop 65 경고 라벨을 추가합니다.</a:t>
            </a:r>
            <a:endParaRPr lang="ko-KR" altLang="en-US" sz="1250" dirty="0"/>
          </a:p>
        </p:txBody>
      </p:sp>
      <p:sp>
        <p:nvSpPr>
          <p:cNvPr id="27" name="Text 20"/>
          <p:cNvSpPr txBox="1"/>
          <p:nvPr/>
        </p:nvSpPr>
        <p:spPr>
          <a:xfrm>
            <a:off x="640080" y="5577840"/>
            <a:ext cx="3210458" cy="548640"/>
          </a:xfrm>
          <a:prstGeom prst="rect">
            <a:avLst/>
          </a:prstGeom>
          <a:noFill/>
          <a:ln/>
        </p:spPr>
        <p:txBody>
          <a:bodyPr wrap="square" lIns="0" tIns="0" rIns="0" bIns="0" rtlCol="0" anchor="t"/>
          <a:lstStyle/>
          <a:p>
            <a:pPr algn="l" indent="0" marL="0">
              <a:buNone/>
            </a:pPr>
            <a:r>
              <a:rPr lang="ko-KR" altLang="en-US" sz="1100" dirty="0">
                <a:solidFill>
                  <a:schemeClr val="accent5"/>
                </a:solidFill>
              </a:rPr>
              <a:t>라벨 문구는 리스팅 키트에 있음</a:t>
            </a:r>
            <a:endParaRPr lang="ko-KR" altLang="en-US" sz="1100" dirty="0"/>
          </a:p>
        </p:txBody>
      </p:sp>
      <p:sp>
        <p:nvSpPr>
          <p:cNvPr id="28" name="card"/>
          <p:cNvSpPr/>
          <p:nvPr/>
        </p:nvSpPr>
        <p:spPr>
          <a:xfrm>
            <a:off x="4307738" y="3840480"/>
            <a:ext cx="3576218" cy="2377440"/>
          </a:xfrm>
          <a:prstGeom prst="roundRect">
            <a:avLst>
              <a:gd name="adj" fmla="val 4615"/>
            </a:avLst>
          </a:prstGeom>
          <a:solidFill>
            <a:schemeClr val="bg2"/>
          </a:solidFill>
          <a:ln w="12700">
            <a:solidFill>
              <a:srgbClr val="141C36"/>
            </a:solidFill>
            <a:prstDash val="solid"/>
          </a:ln>
        </p:spPr>
      </p:sp>
      <p:sp>
        <p:nvSpPr>
          <p:cNvPr id="29" name="Shape 22"/>
          <p:cNvSpPr/>
          <p:nvPr/>
        </p:nvSpPr>
        <p:spPr>
          <a:xfrm>
            <a:off x="4490618" y="4005072"/>
            <a:ext cx="502920" cy="502920"/>
          </a:xfrm>
          <a:prstGeom prst="ellipse">
            <a:avLst/>
          </a:prstGeom>
          <a:solidFill>
            <a:srgbClr val="1B2447"/>
          </a:solidFill>
          <a:ln w="12700">
            <a:solidFill>
              <a:srgbClr val="1B2447"/>
            </a:solidFill>
            <a:prstDash val="solid"/>
          </a:ln>
        </p:spPr>
      </p:sp>
      <p:pic>
        <p:nvPicPr>
          <p:cNvPr id="30" name="Image 4" descr="preencoded.png">    </p:cNvPr>
          <p:cNvPicPr>
            <a:picLocks noChangeAspect="1"/>
          </p:cNvPicPr>
          <p:nvPr/>
        </p:nvPicPr>
        <p:blipFill>
          <a:blip r:embed="rId5"/>
          <a:stretch>
            <a:fillRect/>
          </a:stretch>
        </p:blipFill>
        <p:spPr>
          <a:xfrm>
            <a:off x="4601261" y="4115714"/>
            <a:ext cx="281635" cy="281635"/>
          </a:xfrm>
          <a:prstGeom prst="rect">
            <a:avLst/>
          </a:prstGeom>
        </p:spPr>
      </p:pic>
      <p:sp>
        <p:nvSpPr>
          <p:cNvPr id="31" name="Text 23"/>
          <p:cNvSpPr txBox="1"/>
          <p:nvPr/>
        </p:nvSpPr>
        <p:spPr>
          <a:xfrm>
            <a:off x="5130698" y="4005072"/>
            <a:ext cx="2570378" cy="502920"/>
          </a:xfrm>
          <a:prstGeom prst="rect">
            <a:avLst/>
          </a:prstGeom>
          <a:noFill/>
          <a:ln/>
        </p:spPr>
        <p:txBody>
          <a:bodyPr wrap="square" lIns="0" tIns="0" rIns="0" bIns="0" rtlCol="0" anchor="ctr"/>
          <a:lstStyle/>
          <a:p>
            <a:pPr algn="l" indent="0" marL="0">
              <a:buNone/>
            </a:pPr>
            <a:r>
              <a:rPr lang="ko-KR" altLang="en-US" sz="1500" b="1" dirty="0">
                <a:solidFill>
                  <a:schemeClr val="tx1"/>
                </a:solidFill>
              </a:rPr>
              <a:t>CL3 벽내 매립</a:t>
            </a:r>
            <a:endParaRPr lang="ko-KR" altLang="en-US" sz="1500" dirty="0"/>
          </a:p>
        </p:txBody>
      </p:sp>
      <p:sp>
        <p:nvSpPr>
          <p:cNvPr id="32" name="Text 24"/>
          <p:cNvSpPr txBox="1"/>
          <p:nvPr/>
        </p:nvSpPr>
        <p:spPr>
          <a:xfrm>
            <a:off x="4490618" y="4663440"/>
            <a:ext cx="3210458" cy="914400"/>
          </a:xfrm>
          <a:prstGeom prst="rect">
            <a:avLst/>
          </a:prstGeom>
          <a:noFill/>
          <a:ln/>
        </p:spPr>
        <p:txBody>
          <a:bodyPr wrap="square" lIns="0" tIns="0" rIns="0" bIns="0" rtlCol="0" anchor="t"/>
          <a:lstStyle/>
          <a:p>
            <a:pPr algn="l" indent="0" marL="0">
              <a:buNone/>
            </a:pPr>
            <a:r>
              <a:rPr lang="ko-KR" altLang="en-US" sz="1250" dirty="0">
                <a:solidFill>
                  <a:schemeClr val="tx1"/>
                </a:solidFill>
              </a:rPr>
              <a:t>CL3 문서를 확보한 뒤에만 벽내 매립을 표기합니다.</a:t>
            </a:r>
            <a:endParaRPr lang="ko-KR" altLang="en-US" sz="1250" dirty="0"/>
          </a:p>
        </p:txBody>
      </p:sp>
      <p:sp>
        <p:nvSpPr>
          <p:cNvPr id="33" name="Text 25"/>
          <p:cNvSpPr txBox="1"/>
          <p:nvPr/>
        </p:nvSpPr>
        <p:spPr>
          <a:xfrm>
            <a:off x="4490618" y="5577840"/>
            <a:ext cx="3210458" cy="548640"/>
          </a:xfrm>
          <a:prstGeom prst="rect">
            <a:avLst/>
          </a:prstGeom>
          <a:noFill/>
          <a:ln/>
        </p:spPr>
        <p:txBody>
          <a:bodyPr wrap="square" lIns="0" tIns="0" rIns="0" bIns="0" rtlCol="0" anchor="t"/>
          <a:lstStyle/>
          <a:p>
            <a:pPr algn="l" indent="0" marL="0">
              <a:buNone/>
            </a:pPr>
            <a:r>
              <a:rPr lang="ko-KR" altLang="en-US" sz="1100" dirty="0">
                <a:solidFill>
                  <a:schemeClr val="accent5"/>
                </a:solidFill>
              </a:rPr>
              <a:t>[PLACEHOLDER: 공장의 CL3 문서]</a:t>
            </a:r>
            <a:endParaRPr lang="ko-KR" altLang="en-US" sz="1100" dirty="0"/>
          </a:p>
        </p:txBody>
      </p:sp>
      <p:sp>
        <p:nvSpPr>
          <p:cNvPr id="34" name="card"/>
          <p:cNvSpPr/>
          <p:nvPr/>
        </p:nvSpPr>
        <p:spPr>
          <a:xfrm>
            <a:off x="8158277" y="3840480"/>
            <a:ext cx="3576218" cy="2377440"/>
          </a:xfrm>
          <a:prstGeom prst="roundRect">
            <a:avLst>
              <a:gd name="adj" fmla="val 4615"/>
            </a:avLst>
          </a:prstGeom>
          <a:solidFill>
            <a:schemeClr val="bg2"/>
          </a:solidFill>
          <a:ln w="12700">
            <a:solidFill>
              <a:srgbClr val="141C36"/>
            </a:solidFill>
            <a:prstDash val="solid"/>
          </a:ln>
        </p:spPr>
      </p:sp>
      <p:sp>
        <p:nvSpPr>
          <p:cNvPr id="35" name="Shape 27"/>
          <p:cNvSpPr/>
          <p:nvPr/>
        </p:nvSpPr>
        <p:spPr>
          <a:xfrm>
            <a:off x="8341157" y="4005072"/>
            <a:ext cx="502920" cy="502920"/>
          </a:xfrm>
          <a:prstGeom prst="ellipse">
            <a:avLst/>
          </a:prstGeom>
          <a:solidFill>
            <a:srgbClr val="1B2447"/>
          </a:solidFill>
          <a:ln w="12700">
            <a:solidFill>
              <a:srgbClr val="1B2447"/>
            </a:solidFill>
            <a:prstDash val="solid"/>
          </a:ln>
        </p:spPr>
      </p:sp>
      <p:pic>
        <p:nvPicPr>
          <p:cNvPr id="36" name="Image 5" descr="preencoded.png">    </p:cNvPr>
          <p:cNvPicPr>
            <a:picLocks noChangeAspect="1"/>
          </p:cNvPicPr>
          <p:nvPr/>
        </p:nvPicPr>
        <p:blipFill>
          <a:blip r:embed="rId6"/>
          <a:stretch>
            <a:fillRect/>
          </a:stretch>
        </p:blipFill>
        <p:spPr>
          <a:xfrm>
            <a:off x="8451799" y="4115714"/>
            <a:ext cx="281635" cy="281635"/>
          </a:xfrm>
          <a:prstGeom prst="rect">
            <a:avLst/>
          </a:prstGeom>
        </p:spPr>
      </p:pic>
      <p:sp>
        <p:nvSpPr>
          <p:cNvPr id="37" name="Text 28"/>
          <p:cNvSpPr txBox="1"/>
          <p:nvPr/>
        </p:nvSpPr>
        <p:spPr>
          <a:xfrm>
            <a:off x="8981237" y="4005072"/>
            <a:ext cx="2570378" cy="502920"/>
          </a:xfrm>
          <a:prstGeom prst="rect">
            <a:avLst/>
          </a:prstGeom>
          <a:noFill/>
          <a:ln/>
        </p:spPr>
        <p:txBody>
          <a:bodyPr wrap="square" lIns="0" tIns="0" rIns="0" bIns="0" rtlCol="0" anchor="ctr"/>
          <a:lstStyle/>
          <a:p>
            <a:pPr algn="l" indent="0" marL="0">
              <a:buNone/>
            </a:pPr>
            <a:r>
              <a:rPr lang="ko-KR" altLang="en-US" sz="1500" b="1" dirty="0">
                <a:solidFill>
                  <a:schemeClr val="tx1"/>
                </a:solidFill>
              </a:rPr>
              <a:t>제조물 책임 보험</a:t>
            </a:r>
            <a:endParaRPr lang="ko-KR" altLang="en-US" sz="1500" dirty="0"/>
          </a:p>
        </p:txBody>
      </p:sp>
      <p:sp>
        <p:nvSpPr>
          <p:cNvPr id="38" name="Text 29"/>
          <p:cNvSpPr txBox="1"/>
          <p:nvPr/>
        </p:nvSpPr>
        <p:spPr>
          <a:xfrm>
            <a:off x="8341157" y="4663440"/>
            <a:ext cx="3210458" cy="914400"/>
          </a:xfrm>
          <a:prstGeom prst="rect">
            <a:avLst/>
          </a:prstGeom>
          <a:noFill/>
          <a:ln/>
        </p:spPr>
        <p:txBody>
          <a:bodyPr wrap="square" lIns="0" tIns="0" rIns="0" bIns="0" rtlCol="0" anchor="t"/>
          <a:lstStyle/>
          <a:p>
            <a:pPr algn="l" indent="0" marL="0">
              <a:buNone/>
            </a:pPr>
            <a:r>
              <a:rPr lang="ko-KR" altLang="en-US" sz="1250" dirty="0">
                <a:solidFill>
                  <a:schemeClr val="tx1"/>
                </a:solidFill>
              </a:rPr>
              <a:t>월 매출이 $10K를 넘으면 $1M 보장이 필요합니다 (Medium 케이스: 2개월차).</a:t>
            </a:r>
            <a:endParaRPr lang="ko-KR" altLang="en-US" sz="1250" dirty="0"/>
          </a:p>
        </p:txBody>
      </p:sp>
      <p:sp>
        <p:nvSpPr>
          <p:cNvPr id="39" name="Text 30"/>
          <p:cNvSpPr txBox="1"/>
          <p:nvPr/>
        </p:nvSpPr>
        <p:spPr>
          <a:xfrm>
            <a:off x="8341157" y="5577840"/>
            <a:ext cx="3210458" cy="548640"/>
          </a:xfrm>
          <a:prstGeom prst="rect">
            <a:avLst/>
          </a:prstGeom>
          <a:noFill/>
          <a:ln/>
        </p:spPr>
        <p:txBody>
          <a:bodyPr wrap="square" lIns="0" tIns="0" rIns="0" bIns="0" rtlCol="0" anchor="t"/>
          <a:lstStyle/>
          <a:p>
            <a:pPr algn="l" indent="0" marL="0">
              <a:buNone/>
            </a:pPr>
            <a:r>
              <a:rPr lang="ko-KR" altLang="en-US" sz="1100" dirty="0">
                <a:solidFill>
                  <a:schemeClr val="accent5"/>
                </a:solidFill>
              </a:rPr>
              <a:t>3주차에 견적</a:t>
            </a:r>
            <a:endParaRPr lang="ko-KR" alt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15</a:t>
            </a:fld>
            <a:endParaRPr lang="ko-KR"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관세 구조와 품목분류 판정</a:t>
            </a:r>
            <a:endParaRPr lang="ko-KR" alt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6720840" cy="914400"/>
        </p:xfrm>
        <a:graphic>
          <a:graphicData uri="http://schemas.openxmlformats.org/drawingml/2006/table">
            <a:tbl>
              <a:tblPr/>
              <a:tblGrid>
                <a:gridCol w="1325880"/>
                <a:gridCol w="1600200"/>
                <a:gridCol w="594360"/>
                <a:gridCol w="914400"/>
                <a:gridCol w="960120"/>
                <a:gridCol w="685800"/>
                <a:gridCol w="640080"/>
              </a:tblGrid>
              <a:tr h="384048">
                <a:tc>
                  <a:txBody>
                    <a:bodyPr/>
                    <a:lstStyle/>
                    <a:p>
                      <a:pPr algn="l" indent="0" marL="0">
                        <a:buNone/>
                      </a:pPr>
                      <a:r>
                        <a:rPr lang="ko-KR" altLang="en-US" sz="1050" b="1" dirty="0">
                          <a:solidFill>
                            <a:srgbClr val="2DE2FF"/>
                          </a:solidFill>
                          <a:latin typeface="Noto Sans KR" pitchFamily="34" charset="0"/>
                          <a:ea typeface="Noto Sans KR" pitchFamily="34" charset="-122"/>
                          <a:cs typeface="Noto Sans KR" pitchFamily="34" charset="-120"/>
                        </a:rPr>
                        <a:t>시나리오</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050" b="1" dirty="0">
                          <a:solidFill>
                            <a:srgbClr val="2DE2FF"/>
                          </a:solidFill>
                          <a:latin typeface="Noto Sans KR" pitchFamily="34" charset="0"/>
                          <a:ea typeface="Noto Sans KR" pitchFamily="34" charset="-122"/>
                          <a:cs typeface="Noto Sans KR" pitchFamily="34" charset="-120"/>
                        </a:rPr>
                        <a:t>HTS</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MFN</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301조 목록</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301조 강제노동</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진행 중 조치</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합계</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384048">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Copper (기본)</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8544.42.90</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2.6%</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25%</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12.5%</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0%</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40.1%</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84048">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Fiber</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8544.70.00</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0%</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0%</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12.5%</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0%</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b="1" dirty="0">
                          <a:solidFill>
                            <a:srgbClr val="3DDC97"/>
                          </a:solidFill>
                          <a:latin typeface="Noto Sans KR" pitchFamily="34" charset="0"/>
                          <a:ea typeface="Noto Sans KR" pitchFamily="34" charset="-122"/>
                          <a:cs typeface="Noto Sans KR" pitchFamily="34" charset="-120"/>
                        </a:rPr>
                        <a:t>12.5%</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84048">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Stress</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8544.42.90 및 2차 301조 조치</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2.6%</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25%</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12.5%</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10%</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b="1" dirty="0">
                          <a:solidFill>
                            <a:srgbClr val="FFB547"/>
                          </a:solidFill>
                          <a:latin typeface="Noto Sans KR" pitchFamily="34" charset="0"/>
                          <a:ea typeface="Noto Sans KR" pitchFamily="34" charset="-122"/>
                          <a:cs typeface="Noto Sans KR" pitchFamily="34" charset="-120"/>
                        </a:rPr>
                        <a:t>50.1%</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84048">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Fiber, 목록 3 포함 시</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8544.70.00</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0%</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25%</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12.5%</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0%</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b="1" dirty="0">
                          <a:solidFill>
                            <a:srgbClr val="9AA5C4"/>
                          </a:solidFill>
                          <a:latin typeface="Noto Sans KR" pitchFamily="34" charset="0"/>
                          <a:ea typeface="Noto Sans KR" pitchFamily="34" charset="-122"/>
                          <a:cs typeface="Noto Sans KR" pitchFamily="34" charset="-120"/>
                        </a:rPr>
                        <a:t>37.5%</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bl>
          </a:graphicData>
        </a:graphic>
      </p:graphicFrame>
      <p:sp>
        <p:nvSpPr>
          <p:cNvPr id="5" name="card"/>
          <p:cNvSpPr/>
          <p:nvPr/>
        </p:nvSpPr>
        <p:spPr>
          <a:xfrm>
            <a:off x="457200" y="3429000"/>
            <a:ext cx="6720840" cy="2788920"/>
          </a:xfrm>
          <a:prstGeom prst="roundRect">
            <a:avLst>
              <a:gd name="adj" fmla="val 3934"/>
            </a:avLst>
          </a:prstGeom>
          <a:solidFill>
            <a:schemeClr val="bg2"/>
          </a:solidFill>
          <a:ln w="12700">
            <a:solidFill>
              <a:srgbClr val="141C36"/>
            </a:solidFill>
            <a:prstDash val="solid"/>
          </a:ln>
        </p:spPr>
      </p:sp>
      <p:sp>
        <p:nvSpPr>
          <p:cNvPr id="6" name="Text 2"/>
          <p:cNvSpPr txBox="1"/>
          <p:nvPr/>
        </p:nvSpPr>
        <p:spPr>
          <a:xfrm>
            <a:off x="685800" y="3520440"/>
            <a:ext cx="6217920" cy="365760"/>
          </a:xfrm>
          <a:prstGeom prst="rect">
            <a:avLst/>
          </a:prstGeom>
          <a:noFill/>
          <a:ln/>
        </p:spPr>
        <p:txBody>
          <a:bodyPr wrap="square" lIns="0" tIns="0" rIns="0" bIns="0" rtlCol="0" anchor="t"/>
          <a:lstStyle/>
          <a:p>
            <a:pPr algn="l" indent="0" marL="0">
              <a:buNone/>
            </a:pPr>
            <a:r>
              <a:rPr lang="ko-KR" altLang="en-US" sz="1500" b="1" dirty="0">
                <a:solidFill>
                  <a:schemeClr val="accent1"/>
                </a:solidFill>
              </a:rPr>
              <a:t>2026년에 바뀐 것</a:t>
            </a:r>
            <a:endParaRPr lang="ko-KR" altLang="en-US" sz="1500" dirty="0"/>
          </a:p>
        </p:txBody>
      </p:sp>
      <p:sp>
        <p:nvSpPr>
          <p:cNvPr id="7" name="Text 3"/>
          <p:cNvSpPr txBox="1"/>
          <p:nvPr/>
        </p:nvSpPr>
        <p:spPr>
          <a:xfrm>
            <a:off x="685800" y="3931920"/>
            <a:ext cx="6309360" cy="2240280"/>
          </a:xfrm>
          <a:prstGeom prst="rect">
            <a:avLst/>
          </a:prstGeom>
          <a:noFill/>
          <a:ln/>
        </p:spPr>
        <p:txBody>
          <a:bodyPr wrap="square" lIns="0" tIns="0" rIns="0" bIns="0" rtlCol="0" anchor="t"/>
          <a:lstStyle/>
          <a:p>
            <a:pPr algn="l" marL="127000" indent="-127000">
              <a:spcAft>
                <a:spcPts val="300"/>
              </a:spcAft>
              <a:buSzPct val="100000"/>
              <a:buChar char="•"/>
            </a:pPr>
            <a:r>
              <a:rPr lang="ko-KR" altLang="en-US" sz="1150" dirty="0">
                <a:solidFill>
                  <a:schemeClr val="tx1"/>
                </a:solidFill>
              </a:rPr>
              <a:t>2026년 2월 20일 대법원이 IEEPA 관세를 무효화했습니다.</a:t>
            </a:r>
            <a:endParaRPr lang="ko-KR" altLang="en-US" sz="1150" dirty="0"/>
          </a:p>
          <a:p>
            <a:pPr algn="l" marL="127000" indent="-127000">
              <a:spcAft>
                <a:spcPts val="300"/>
              </a:spcAft>
              <a:buSzPct val="100000"/>
              <a:buChar char="•"/>
            </a:pPr>
            <a:r>
              <a:rPr lang="ko-KR" altLang="en-US" sz="1150" dirty="0">
                <a:solidFill>
                  <a:schemeClr val="tx1"/>
                </a:solidFill>
              </a:rPr>
              <a:t>10% 122조 부가관세는 2026년 2월 24일부터 7월 24일까지 시행된 뒤 만료되었습니다.</a:t>
            </a:r>
            <a:endParaRPr lang="ko-KR" altLang="en-US" sz="1150" dirty="0"/>
          </a:p>
          <a:p>
            <a:pPr algn="l" marL="127000" indent="-127000">
              <a:spcAft>
                <a:spcPts val="300"/>
              </a:spcAft>
              <a:buSzPct val="100000"/>
              <a:buChar char="•"/>
            </a:pPr>
            <a:r>
              <a:rPr lang="ko-KR" altLang="en-US" sz="1150" dirty="0">
                <a:solidFill>
                  <a:schemeClr val="tx1"/>
                </a:solidFill>
              </a:rPr>
              <a:t>2026년 7월 말 301조 강제노동 조치가 모든 중국산 제품에 12.5%를 추가했습니다. 어느 품목분류에도 적용됩니다.</a:t>
            </a:r>
            <a:endParaRPr lang="ko-KR" altLang="en-US" sz="1150" dirty="0"/>
          </a:p>
          <a:p>
            <a:pPr algn="l" marL="127000" indent="-127000">
              <a:spcAft>
                <a:spcPts val="300"/>
              </a:spcAft>
              <a:buSzPct val="100000"/>
              <a:buChar char="•"/>
            </a:pPr>
            <a:r>
              <a:rPr lang="ko-KR" altLang="en-US" sz="1150" dirty="0">
                <a:solidFill>
                  <a:schemeClr val="tx1"/>
                </a:solidFill>
              </a:rPr>
              <a:t>2026년 3월 개시된 2차 301조 조사는 진행 중입니다. Stress 케이스는 10포인트를 더합니다.</a:t>
            </a:r>
            <a:endParaRPr lang="ko-KR" altLang="en-US" sz="1150" dirty="0"/>
          </a:p>
          <a:p>
            <a:pPr algn="l" marL="127000" indent="-127000">
              <a:spcAft>
                <a:spcPts val="300"/>
              </a:spcAft>
              <a:buSzPct val="100000"/>
              <a:buChar char="•"/>
            </a:pPr>
            <a:r>
              <a:rPr lang="ko-KR" altLang="en-US" sz="1150" dirty="0">
                <a:solidFill>
                  <a:schemeClr val="tx1"/>
                </a:solidFill>
              </a:rPr>
              <a:t>소액 면세(de minimis)는 폐지되었습니다. 모든 선적은 관세사를 통한 정식 통관이 필요합니다. 소포 직배송 모델은 없습니다.</a:t>
            </a:r>
            <a:endParaRPr lang="ko-KR" altLang="en-US" sz="1150" dirty="0"/>
          </a:p>
        </p:txBody>
      </p:sp>
      <p:sp>
        <p:nvSpPr>
          <p:cNvPr id="8" name="Text 4"/>
          <p:cNvSpPr txBox="1"/>
          <p:nvPr/>
        </p:nvSpPr>
        <p:spPr>
          <a:xfrm>
            <a:off x="7406640" y="1188720"/>
            <a:ext cx="4325112" cy="320040"/>
          </a:xfrm>
          <a:prstGeom prst="rect">
            <a:avLst/>
          </a:prstGeom>
          <a:noFill/>
          <a:ln/>
        </p:spPr>
        <p:txBody>
          <a:bodyPr wrap="square" lIns="0" tIns="0" rIns="0" bIns="0" rtlCol="0" anchor="t"/>
          <a:lstStyle/>
          <a:p>
            <a:pPr algn="l" indent="0" marL="0">
              <a:buNone/>
            </a:pPr>
            <a:r>
              <a:rPr lang="ko-KR" altLang="en-US" sz="1300" b="1" dirty="0">
                <a:solidFill>
                  <a:schemeClr val="tx1"/>
                </a:solidFill>
              </a:rPr>
              <a:t>관세 시나리오별 주력 SKU 개당 순이익</a:t>
            </a:r>
            <a:endParaRPr lang="ko-KR" altLang="en-US" sz="1300" dirty="0"/>
          </a:p>
        </p:txBody>
      </p:sp>
      <p:graphicFrame>
        <p:nvGraphicFramePr>
          <p:cNvPr id="9" name="Chart 0" descr=""/>
          <p:cNvGraphicFramePr/>
          <p:nvPr/>
        </p:nvGraphicFramePr>
        <p:xfrm>
          <a:off x="7406640" y="1508760"/>
          <a:ext cx="4325112" cy="3154680"/>
        </p:xfrm>
        <a:graphic xmlns:a="http://schemas.openxmlformats.org/drawingml/2006/main">
          <a:graphicData uri="http://schemas.openxmlformats.org/drawingml/2006/chart">
            <c:chart xmlns:c="http://schemas.openxmlformats.org/drawingml/2006/chart" r:id="rId1"/>
          </a:graphicData>
        </a:graphic>
      </p:graphicFrame>
      <p:sp>
        <p:nvSpPr>
          <p:cNvPr id="10" name="card"/>
          <p:cNvSpPr/>
          <p:nvPr/>
        </p:nvSpPr>
        <p:spPr>
          <a:xfrm>
            <a:off x="7406640" y="4846320"/>
            <a:ext cx="4325112" cy="1371600"/>
          </a:xfrm>
          <a:prstGeom prst="roundRect">
            <a:avLst>
              <a:gd name="adj" fmla="val 8000"/>
            </a:avLst>
          </a:prstGeom>
          <a:solidFill>
            <a:schemeClr val="bg2"/>
          </a:solidFill>
          <a:ln w="12700">
            <a:solidFill>
              <a:srgbClr val="141C36"/>
            </a:solidFill>
            <a:prstDash val="solid"/>
          </a:ln>
        </p:spPr>
      </p:sp>
      <p:sp>
        <p:nvSpPr>
          <p:cNvPr id="11" name="Text 6"/>
          <p:cNvSpPr txBox="1"/>
          <p:nvPr/>
        </p:nvSpPr>
        <p:spPr>
          <a:xfrm>
            <a:off x="7589520" y="4919472"/>
            <a:ext cx="4023360" cy="320040"/>
          </a:xfrm>
          <a:prstGeom prst="rect">
            <a:avLst/>
          </a:prstGeom>
          <a:noFill/>
          <a:ln/>
        </p:spPr>
        <p:txBody>
          <a:bodyPr wrap="square" lIns="0" tIns="0" rIns="0" bIns="0" rtlCol="0" anchor="t"/>
          <a:lstStyle/>
          <a:p>
            <a:pPr algn="l" indent="0" marL="0">
              <a:buNone/>
            </a:pPr>
            <a:r>
              <a:rPr lang="ko-KR" altLang="en-US" sz="1300" b="1" dirty="0">
                <a:solidFill>
                  <a:schemeClr val="accent4"/>
                </a:solidFill>
              </a:rPr>
              <a:t>Medium 케이스에 미치는 효과</a:t>
            </a:r>
            <a:endParaRPr lang="ko-KR" altLang="en-US" sz="1300" dirty="0"/>
          </a:p>
        </p:txBody>
      </p:sp>
      <p:sp>
        <p:nvSpPr>
          <p:cNvPr id="12" name="Text 7"/>
          <p:cNvSpPr txBox="1"/>
          <p:nvPr/>
        </p:nvSpPr>
        <p:spPr>
          <a:xfrm>
            <a:off x="7589520" y="5230368"/>
            <a:ext cx="4023360" cy="960120"/>
          </a:xfrm>
          <a:prstGeom prst="rect">
            <a:avLst/>
          </a:prstGeom>
          <a:noFill/>
          <a:ln/>
        </p:spPr>
        <p:txBody>
          <a:bodyPr wrap="square" lIns="0" tIns="0" rIns="0" bIns="0" rtlCol="0" anchor="t"/>
          <a:lstStyle/>
          <a:p>
            <a:pPr algn="l" indent="0" marL="0">
              <a:buNone/>
            </a:pPr>
            <a:r>
              <a:rPr lang="ko-KR" altLang="en-US" sz="1150" dirty="0">
                <a:solidFill>
                  <a:schemeClr val="tx1"/>
                </a:solidFill>
              </a:rPr>
              <a:t>Fiber 판정: 착지 COGS 38%에서 33.5%로, 주력 SKU 개당 순이익 $8.00에서 $10.03로, 18개월 순이익 $153K에서 $206K로, 손익분기 7개월차. Stress: 개당 순이익 $7.26, 18개월 순이익 $134K.</a:t>
            </a:r>
            <a:endParaRPr lang="ko-KR" altLang="en-US" sz="11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16</a:t>
            </a:fld>
            <a:endParaRPr lang="ko-KR"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85800" y="3749040"/>
            <a:ext cx="9144000" cy="1005840"/>
          </a:xfrm>
          <a:prstGeom prst="rect">
            <a:avLst/>
          </a:prstGeom>
          <a:noFill/>
          <a:ln/>
        </p:spPr>
        <p:txBody>
          <a:bodyPr wrap="square" lIns="0" tIns="0" rIns="0" bIns="0" rtlCol="0" anchor="b"/>
          <a:lstStyle/>
          <a:p>
            <a:pPr algn="l" indent="0" marL="0">
              <a:buNone/>
            </a:pPr>
            <a:r>
              <a:rPr lang="ko-KR" altLang="en-US" sz="3600" b="1" dirty="0">
                <a:solidFill>
                  <a:srgbClr val="F3F6FF"/>
                </a:solidFill>
              </a:rPr>
              <a:t>출시</a:t>
            </a:r>
            <a:endParaRPr lang="ko-KR" altLang="en-US" sz="3600" dirty="0"/>
          </a:p>
        </p:txBody>
      </p:sp>
      <p:sp>
        <p:nvSpPr>
          <p:cNvPr id="3" name="Text 0"/>
          <p:cNvSpPr/>
          <p:nvPr>
            <p:ph idx="101" type="body" hasCustomPrompt="1"/>
          </p:nvPr>
        </p:nvSpPr>
        <p:spPr>
          <a:xfrm>
            <a:off x="685800" y="4800600"/>
            <a:ext cx="9144000" cy="457200"/>
          </a:xfrm>
          <a:prstGeom prst="rect">
            <a:avLst/>
          </a:prstGeom>
          <a:noFill/>
          <a:ln/>
        </p:spPr>
        <p:txBody>
          <a:bodyPr wrap="square" lIns="0" tIns="0" rIns="0" bIns="0" rtlCol="0" anchor="t"/>
          <a:lstStyle/>
          <a:p>
            <a:pPr indent="0" marL="0">
              <a:buNone/>
            </a:pPr>
            <a:r>
              <a:rPr lang="ko-KR" altLang="en-US" sz="1600" dirty="0">
                <a:solidFill>
                  <a:srgbClr val="2DE2FF"/>
                </a:solidFill>
              </a:rPr>
              <a:t>5개 섹션 중 4</a:t>
            </a:r>
            <a:endParaRPr lang="ko-KR" altLang="en-US" sz="16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17</a:t>
            </a:fld>
            <a:endParaRPr lang="ko-KR"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90일 게이트까지의 핵심 경로</a:t>
            </a:r>
            <a:endParaRPr lang="ko-KR" altLang="en-US" sz="3200" dirty="0"/>
          </a:p>
        </p:txBody>
      </p:sp>
      <p:sp>
        <p:nvSpPr>
          <p:cNvPr id="4" name="Shape 1"/>
          <p:cNvSpPr/>
          <p:nvPr/>
        </p:nvSpPr>
        <p:spPr>
          <a:xfrm>
            <a:off x="818716" y="1097280"/>
            <a:ext cx="10554263" cy="3749040"/>
          </a:xfrm>
          <a:prstGeom prst="roundRect">
            <a:avLst>
              <a:gd name="adj" fmla="val 1951"/>
            </a:avLst>
          </a:prstGeom>
          <a:solidFill>
            <a:srgbClr val="FFFFFF"/>
          </a:solidFill>
          <a:ln w="12700">
            <a:solidFill>
              <a:srgbClr val="FFFFFF"/>
            </a:solidFill>
            <a:prstDash val="solid"/>
          </a:ln>
        </p:spPr>
      </p:sp>
      <p:pic>
        <p:nvPicPr>
          <p:cNvPr id="5" name="Image 0" descr="/home/user/lakehouse-tracker/BRAND_US_Launch/build/assets/deck_flow/01_launch_critical_path_deck_ko.png">    </p:cNvPr>
          <p:cNvPicPr>
            <a:picLocks noChangeAspect="1"/>
          </p:cNvPicPr>
          <p:nvPr/>
        </p:nvPicPr>
        <p:blipFill>
          <a:blip r:embed="rId1"/>
          <a:stretch>
            <a:fillRect/>
          </a:stretch>
        </p:blipFill>
        <p:spPr>
          <a:xfrm>
            <a:off x="910156" y="1188720"/>
            <a:ext cx="10371383" cy="3566160"/>
          </a:xfrm>
          <a:prstGeom prst="rect">
            <a:avLst/>
          </a:prstGeom>
        </p:spPr>
      </p:pic>
      <p:sp>
        <p:nvSpPr>
          <p:cNvPr id="6" name="Text 2"/>
          <p:cNvSpPr txBox="1"/>
          <p:nvPr/>
        </p:nvSpPr>
        <p:spPr>
          <a:xfrm>
            <a:off x="457200" y="4892040"/>
            <a:ext cx="11277295" cy="274320"/>
          </a:xfrm>
          <a:prstGeom prst="rect">
            <a:avLst/>
          </a:prstGeom>
          <a:noFill/>
          <a:ln/>
        </p:spPr>
        <p:txBody>
          <a:bodyPr wrap="square" lIns="0" tIns="0" rIns="0" bIns="0" rtlCol="0" anchor="t"/>
          <a:lstStyle/>
          <a:p>
            <a:pPr algn="l" indent="0" marL="0">
              <a:buNone/>
            </a:pPr>
            <a:r>
              <a:rPr lang="ko-KR" altLang="en-US" sz="1100" dirty="0">
                <a:solidFill>
                  <a:schemeClr val="tx2"/>
                </a:solidFill>
              </a:rPr>
              <a:t>흐름도 01, 모든 노드에 담당자와 주차 표기. 전체 크기: output/04_Flowcharts/01_launch_critical_path.png</a:t>
            </a:r>
            <a:endParaRPr lang="ko-KR" altLang="en-US" sz="1100" dirty="0"/>
          </a:p>
        </p:txBody>
      </p:sp>
      <p:sp>
        <p:nvSpPr>
          <p:cNvPr id="7" name="Text 3"/>
          <p:cNvSpPr txBox="1"/>
          <p:nvPr/>
        </p:nvSpPr>
        <p:spPr>
          <a:xfrm>
            <a:off x="457200" y="5212080"/>
            <a:ext cx="11277295" cy="274320"/>
          </a:xfrm>
          <a:prstGeom prst="rect">
            <a:avLst/>
          </a:prstGeom>
          <a:noFill/>
          <a:ln/>
        </p:spPr>
        <p:txBody>
          <a:bodyPr wrap="square" lIns="0" tIns="0" rIns="0" bIns="0" rtlCol="0" anchor="t"/>
          <a:lstStyle/>
          <a:p>
            <a:pPr algn="l" indent="0" marL="0">
              <a:buNone/>
            </a:pPr>
            <a:r>
              <a:rPr lang="ko-KR" altLang="en-US" sz="1250" b="1" dirty="0">
                <a:solidFill>
                  <a:schemeClr val="accent1"/>
                </a:solidFill>
              </a:rPr>
              <a:t>다른 모든 것을 가로막는 세 항목</a:t>
            </a:r>
            <a:endParaRPr lang="ko-KR" altLang="en-US" sz="1250" dirty="0"/>
          </a:p>
        </p:txBody>
      </p:sp>
      <p:sp>
        <p:nvSpPr>
          <p:cNvPr id="8" name="card"/>
          <p:cNvSpPr/>
          <p:nvPr/>
        </p:nvSpPr>
        <p:spPr>
          <a:xfrm>
            <a:off x="457200" y="5532120"/>
            <a:ext cx="3576218" cy="777240"/>
          </a:xfrm>
          <a:prstGeom prst="roundRect">
            <a:avLst>
              <a:gd name="adj" fmla="val 14118"/>
            </a:avLst>
          </a:prstGeom>
          <a:solidFill>
            <a:srgbClr val="10172D"/>
          </a:solidFill>
          <a:ln w="12700">
            <a:solidFill>
              <a:srgbClr val="10172D"/>
            </a:solidFill>
            <a:prstDash val="solid"/>
          </a:ln>
        </p:spPr>
      </p:sp>
      <p:sp>
        <p:nvSpPr>
          <p:cNvPr id="9" name="Text 5"/>
          <p:cNvSpPr txBox="1"/>
          <p:nvPr/>
        </p:nvSpPr>
        <p:spPr>
          <a:xfrm>
            <a:off x="640080" y="5596128"/>
            <a:ext cx="457200" cy="548640"/>
          </a:xfrm>
          <a:prstGeom prst="rect">
            <a:avLst/>
          </a:prstGeom>
          <a:noFill/>
          <a:ln/>
        </p:spPr>
        <p:txBody>
          <a:bodyPr wrap="square" lIns="0" tIns="0" rIns="0" bIns="0" rtlCol="0" anchor="t"/>
          <a:lstStyle/>
          <a:p>
            <a:pPr algn="l" indent="0" marL="0">
              <a:buNone/>
            </a:pPr>
            <a:r>
              <a:rPr lang="ko-KR" altLang="en-US" sz="2400" b="1" dirty="0">
                <a:solidFill>
                  <a:schemeClr val="accent1"/>
                </a:solidFill>
              </a:rPr>
              <a:t>1</a:t>
            </a:r>
            <a:endParaRPr lang="ko-KR" altLang="en-US" sz="2400" dirty="0"/>
          </a:p>
        </p:txBody>
      </p:sp>
      <p:sp>
        <p:nvSpPr>
          <p:cNvPr id="10" name="Text 6"/>
          <p:cNvSpPr txBox="1"/>
          <p:nvPr/>
        </p:nvSpPr>
        <p:spPr>
          <a:xfrm>
            <a:off x="1097280" y="5623560"/>
            <a:ext cx="2753258" cy="594360"/>
          </a:xfrm>
          <a:prstGeom prst="rect">
            <a:avLst/>
          </a:prstGeom>
          <a:noFill/>
          <a:ln/>
        </p:spPr>
        <p:txBody>
          <a:bodyPr wrap="square" lIns="0" tIns="0" rIns="0" bIns="0" rtlCol="0" anchor="t"/>
          <a:lstStyle/>
          <a:p>
            <a:pPr algn="l" indent="0" marL="0">
              <a:buNone/>
            </a:pPr>
            <a:r>
              <a:rPr lang="ko-KR" altLang="en-US" sz="1150" dirty="0">
                <a:solidFill>
                  <a:schemeClr val="tx1"/>
                </a:solidFill>
              </a:rPr>
              <a:t>1주차 관세사(customs broker) 선임과 품목분류 사전심사 신청: 판정 회신에 30에서 90일이 걸리고 해상 물량의 관세율을 정합니다.</a:t>
            </a:r>
            <a:endParaRPr lang="ko-KR" altLang="en-US" sz="1150" dirty="0"/>
          </a:p>
        </p:txBody>
      </p:sp>
      <p:sp>
        <p:nvSpPr>
          <p:cNvPr id="11" name="card"/>
          <p:cNvSpPr/>
          <p:nvPr/>
        </p:nvSpPr>
        <p:spPr>
          <a:xfrm>
            <a:off x="4307738" y="5532120"/>
            <a:ext cx="3576218" cy="777240"/>
          </a:xfrm>
          <a:prstGeom prst="roundRect">
            <a:avLst>
              <a:gd name="adj" fmla="val 14118"/>
            </a:avLst>
          </a:prstGeom>
          <a:solidFill>
            <a:srgbClr val="10172D"/>
          </a:solidFill>
          <a:ln w="12700">
            <a:solidFill>
              <a:srgbClr val="10172D"/>
            </a:solidFill>
            <a:prstDash val="solid"/>
          </a:ln>
        </p:spPr>
      </p:sp>
      <p:sp>
        <p:nvSpPr>
          <p:cNvPr id="12" name="Text 8"/>
          <p:cNvSpPr txBox="1"/>
          <p:nvPr/>
        </p:nvSpPr>
        <p:spPr>
          <a:xfrm>
            <a:off x="4490618" y="5596128"/>
            <a:ext cx="457200" cy="548640"/>
          </a:xfrm>
          <a:prstGeom prst="rect">
            <a:avLst/>
          </a:prstGeom>
          <a:noFill/>
          <a:ln/>
        </p:spPr>
        <p:txBody>
          <a:bodyPr wrap="square" lIns="0" tIns="0" rIns="0" bIns="0" rtlCol="0" anchor="t"/>
          <a:lstStyle/>
          <a:p>
            <a:pPr algn="l" indent="0" marL="0">
              <a:buNone/>
            </a:pPr>
            <a:r>
              <a:rPr lang="ko-KR" altLang="en-US" sz="2400" b="1" dirty="0">
                <a:solidFill>
                  <a:schemeClr val="accent1"/>
                </a:solidFill>
              </a:rPr>
              <a:t>2</a:t>
            </a:r>
            <a:endParaRPr lang="ko-KR" altLang="en-US" sz="2400" dirty="0"/>
          </a:p>
        </p:txBody>
      </p:sp>
      <p:sp>
        <p:nvSpPr>
          <p:cNvPr id="13" name="Text 9"/>
          <p:cNvSpPr txBox="1"/>
          <p:nvPr/>
        </p:nvSpPr>
        <p:spPr>
          <a:xfrm>
            <a:off x="4947818" y="5623560"/>
            <a:ext cx="2753258" cy="594360"/>
          </a:xfrm>
          <a:prstGeom prst="rect">
            <a:avLst/>
          </a:prstGeom>
          <a:noFill/>
          <a:ln/>
        </p:spPr>
        <p:txBody>
          <a:bodyPr wrap="square" lIns="0" tIns="0" rIns="0" bIns="0" rtlCol="0" anchor="t"/>
          <a:lstStyle/>
          <a:p>
            <a:pPr algn="l" indent="0" marL="0">
              <a:buNone/>
            </a:pPr>
            <a:r>
              <a:rPr lang="ko-KR" altLang="en-US" sz="1150" dirty="0">
                <a:solidFill>
                  <a:schemeClr val="tx1"/>
                </a:solidFill>
              </a:rPr>
              <a:t>2주차 외국환은행 해외직접투자 신고: LLC 은행 계좌로 자본이 움직이기 전에 합니다.</a:t>
            </a:r>
            <a:endParaRPr lang="ko-KR" altLang="en-US" sz="1150" dirty="0"/>
          </a:p>
        </p:txBody>
      </p:sp>
      <p:sp>
        <p:nvSpPr>
          <p:cNvPr id="14" name="card"/>
          <p:cNvSpPr/>
          <p:nvPr/>
        </p:nvSpPr>
        <p:spPr>
          <a:xfrm>
            <a:off x="8158277" y="5532120"/>
            <a:ext cx="3576218" cy="777240"/>
          </a:xfrm>
          <a:prstGeom prst="roundRect">
            <a:avLst>
              <a:gd name="adj" fmla="val 14118"/>
            </a:avLst>
          </a:prstGeom>
          <a:solidFill>
            <a:srgbClr val="10172D"/>
          </a:solidFill>
          <a:ln w="12700">
            <a:solidFill>
              <a:srgbClr val="10172D"/>
            </a:solidFill>
            <a:prstDash val="solid"/>
          </a:ln>
        </p:spPr>
      </p:sp>
      <p:sp>
        <p:nvSpPr>
          <p:cNvPr id="15" name="Text 11"/>
          <p:cNvSpPr txBox="1"/>
          <p:nvPr/>
        </p:nvSpPr>
        <p:spPr>
          <a:xfrm>
            <a:off x="8341157" y="5596128"/>
            <a:ext cx="457200" cy="548640"/>
          </a:xfrm>
          <a:prstGeom prst="rect">
            <a:avLst/>
          </a:prstGeom>
          <a:noFill/>
          <a:ln/>
        </p:spPr>
        <p:txBody>
          <a:bodyPr wrap="square" lIns="0" tIns="0" rIns="0" bIns="0" rtlCol="0" anchor="t"/>
          <a:lstStyle/>
          <a:p>
            <a:pPr algn="l" indent="0" marL="0">
              <a:buNone/>
            </a:pPr>
            <a:r>
              <a:rPr lang="ko-KR" altLang="en-US" sz="2400" b="1" dirty="0">
                <a:solidFill>
                  <a:schemeClr val="accent1"/>
                </a:solidFill>
              </a:rPr>
              <a:t>3</a:t>
            </a:r>
            <a:endParaRPr lang="ko-KR" altLang="en-US" sz="2400" dirty="0"/>
          </a:p>
        </p:txBody>
      </p:sp>
      <p:sp>
        <p:nvSpPr>
          <p:cNvPr id="16" name="Text 12"/>
          <p:cNvSpPr txBox="1"/>
          <p:nvPr/>
        </p:nvSpPr>
        <p:spPr>
          <a:xfrm>
            <a:off x="8798357" y="5623560"/>
            <a:ext cx="2753258" cy="594360"/>
          </a:xfrm>
          <a:prstGeom prst="rect">
            <a:avLst/>
          </a:prstGeom>
          <a:noFill/>
          <a:ln/>
        </p:spPr>
        <p:txBody>
          <a:bodyPr wrap="square" lIns="0" tIns="0" rIns="0" bIns="0" rtlCol="0" anchor="t"/>
          <a:lstStyle/>
          <a:p>
            <a:pPr algn="l" indent="0" marL="0">
              <a:buNone/>
            </a:pPr>
            <a:r>
              <a:rPr lang="ko-KR" altLang="en-US" sz="1150" dirty="0">
                <a:solidFill>
                  <a:schemeClr val="tx1"/>
                </a:solidFill>
              </a:rPr>
              <a:t>3주차에서 4주차 아마존 계정과 Brand Registry: Brand Registry가 있어야 A+ 콘텐츠, 브랜드 스토어, 영상 광고, 하이재커 방어를 쓸 수 있습니다.</a:t>
            </a:r>
            <a:endParaRPr lang="ko-KR" altLang="en-US" sz="11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18</a:t>
            </a:fld>
            <a:endParaRPr lang="ko-KR"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90일 게이트와 중단 기준</a:t>
            </a:r>
            <a:endParaRPr lang="ko-KR" altLang="en-US" sz="3200" dirty="0"/>
          </a:p>
        </p:txBody>
      </p:sp>
      <p:sp>
        <p:nvSpPr>
          <p:cNvPr id="4" name="Text 1"/>
          <p:cNvSpPr txBox="1"/>
          <p:nvPr/>
        </p:nvSpPr>
        <p:spPr>
          <a:xfrm>
            <a:off x="457200" y="1097280"/>
            <a:ext cx="7132320" cy="274320"/>
          </a:xfrm>
          <a:prstGeom prst="rect">
            <a:avLst/>
          </a:prstGeom>
          <a:noFill/>
          <a:ln/>
        </p:spPr>
        <p:txBody>
          <a:bodyPr wrap="square" lIns="0" tIns="0" rIns="0" bIns="0" rtlCol="0" anchor="t"/>
          <a:lstStyle/>
          <a:p>
            <a:pPr algn="l" indent="0" marL="0">
              <a:buNone/>
            </a:pPr>
            <a:r>
              <a:rPr lang="ko-KR" altLang="en-US" sz="1300" b="1" dirty="0">
                <a:solidFill>
                  <a:schemeClr val="accent1"/>
                </a:solidFill>
              </a:rPr>
              <a:t>90일 게이트 (3개월차 말)</a:t>
            </a:r>
            <a:endParaRPr lang="ko-KR" alt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7132320" cy="914400"/>
        </p:xfrm>
        <a:graphic>
          <a:graphicData uri="http://schemas.openxmlformats.org/drawingml/2006/table">
            <a:tbl>
              <a:tblPr/>
              <a:tblGrid>
                <a:gridCol w="3200400"/>
                <a:gridCol w="1325880"/>
                <a:gridCol w="1325880"/>
                <a:gridCol w="1280160"/>
              </a:tblGrid>
              <a:tr h="301752">
                <a:tc>
                  <a:txBody>
                    <a:bodyPr/>
                    <a:lstStyle/>
                    <a:p>
                      <a:pPr algn="l" indent="0" marL="0">
                        <a:buNone/>
                      </a:pPr>
                      <a:r>
                        <a:rPr lang="ko-KR" altLang="en-US" sz="1000" b="1" dirty="0">
                          <a:solidFill>
                            <a:srgbClr val="2DE2FF"/>
                          </a:solidFill>
                          <a:latin typeface="Noto Sans KR" pitchFamily="34" charset="0"/>
                          <a:ea typeface="Noto Sans KR" pitchFamily="34" charset="-122"/>
                          <a:cs typeface="Noto Sans KR" pitchFamily="34" charset="-120"/>
                        </a:rPr>
                        <a:t>지표</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000" b="1" dirty="0">
                          <a:solidFill>
                            <a:srgbClr val="2DE2FF"/>
                          </a:solidFill>
                          <a:latin typeface="Noto Sans KR" pitchFamily="34" charset="0"/>
                          <a:ea typeface="Noto Sans KR" pitchFamily="34" charset="-122"/>
                          <a:cs typeface="Noto Sans KR" pitchFamily="34" charset="-120"/>
                        </a:rPr>
                        <a:t>통과</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000" b="1" dirty="0">
                          <a:solidFill>
                            <a:srgbClr val="2DE2FF"/>
                          </a:solidFill>
                          <a:latin typeface="Noto Sans KR" pitchFamily="34" charset="0"/>
                          <a:ea typeface="Noto Sans KR" pitchFamily="34" charset="-122"/>
                          <a:cs typeface="Noto Sans KR" pitchFamily="34" charset="-120"/>
                        </a:rPr>
                        <a:t>중단</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000" b="1" dirty="0">
                          <a:solidFill>
                            <a:srgbClr val="2DE2FF"/>
                          </a:solidFill>
                          <a:latin typeface="Noto Sans KR" pitchFamily="34" charset="0"/>
                          <a:ea typeface="Noto Sans KR" pitchFamily="34" charset="-122"/>
                          <a:cs typeface="Noto Sans KR" pitchFamily="34" charset="-120"/>
                        </a:rPr>
                        <a:t>Medium 모델</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301752">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출시 SKU 5개 중 3개의 세션 전환율</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8% 이상</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주력 5% 미만</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게이트에서 관측</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01752">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3개월차 TACOS, 매월 하락</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30% 이하</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40% 초과</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30%</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01752">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반품률</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4% 이하</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7% 초과</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3%</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01752">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5개 중 3개 SKU의 광고 전 개당 공헌이익</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$11 이상</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주력 $8 미만</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$12.14</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01752">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다음 PO 자금 확보 후 현금 런웨이</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4개월 이상</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2개월 미만</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10.2개월</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01752">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리스팅 정지 또는 IP 신고</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미해결 건 없음</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14일 초과 미해결</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게이트에서 관측</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bl>
          </a:graphicData>
        </a:graphic>
      </p:graphicFrame>
      <p:sp>
        <p:nvSpPr>
          <p:cNvPr id="6" name="Text 2"/>
          <p:cNvSpPr txBox="1"/>
          <p:nvPr/>
        </p:nvSpPr>
        <p:spPr>
          <a:xfrm>
            <a:off x="457200" y="3931920"/>
            <a:ext cx="7132320" cy="274320"/>
          </a:xfrm>
          <a:prstGeom prst="rect">
            <a:avLst/>
          </a:prstGeom>
          <a:noFill/>
          <a:ln/>
        </p:spPr>
        <p:txBody>
          <a:bodyPr wrap="square" lIns="0" tIns="0" rIns="0" bIns="0" rtlCol="0" anchor="t"/>
          <a:lstStyle/>
          <a:p>
            <a:pPr algn="l" indent="0" marL="0">
              <a:buNone/>
            </a:pPr>
            <a:r>
              <a:rPr lang="ko-KR" altLang="en-US" sz="1300" b="1" dirty="0">
                <a:solidFill>
                  <a:schemeClr val="accent1"/>
                </a:solidFill>
              </a:rPr>
              <a:t>12개월차 게이트</a:t>
            </a:r>
            <a:endParaRPr lang="ko-KR" altLang="en-US" sz="1300" dirty="0"/>
          </a:p>
        </p:txBody>
      </p:sp>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457200" y="4206240"/>
          <a:ext cx="7132320" cy="914400"/>
        </p:xfrm>
        <a:graphic>
          <a:graphicData uri="http://schemas.openxmlformats.org/drawingml/2006/table">
            <a:tbl>
              <a:tblPr/>
              <a:tblGrid>
                <a:gridCol w="1920240"/>
                <a:gridCol w="1554480"/>
                <a:gridCol w="2377440"/>
                <a:gridCol w="1280160"/>
              </a:tblGrid>
              <a:tr h="301752">
                <a:tc>
                  <a:txBody>
                    <a:bodyPr/>
                    <a:lstStyle/>
                    <a:p>
                      <a:pPr algn="l" indent="0" marL="0">
                        <a:buNone/>
                      </a:pPr>
                      <a:r>
                        <a:rPr lang="ko-KR" altLang="en-US" sz="1000" b="1" dirty="0">
                          <a:solidFill>
                            <a:srgbClr val="2DE2FF"/>
                          </a:solidFill>
                          <a:latin typeface="Noto Sans KR" pitchFamily="34" charset="0"/>
                          <a:ea typeface="Noto Sans KR" pitchFamily="34" charset="-122"/>
                          <a:cs typeface="Noto Sans KR" pitchFamily="34" charset="-120"/>
                        </a:rPr>
                        <a:t>지표</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000" b="1" dirty="0">
                          <a:solidFill>
                            <a:srgbClr val="2DE2FF"/>
                          </a:solidFill>
                          <a:latin typeface="Noto Sans KR" pitchFamily="34" charset="0"/>
                          <a:ea typeface="Noto Sans KR" pitchFamily="34" charset="-122"/>
                          <a:cs typeface="Noto Sans KR" pitchFamily="34" charset="-120"/>
                        </a:rPr>
                        <a:t>통과</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000" b="1" dirty="0">
                          <a:solidFill>
                            <a:srgbClr val="2DE2FF"/>
                          </a:solidFill>
                          <a:latin typeface="Noto Sans KR" pitchFamily="34" charset="0"/>
                          <a:ea typeface="Noto Sans KR" pitchFamily="34" charset="-122"/>
                          <a:cs typeface="Noto Sans KR" pitchFamily="34" charset="-120"/>
                        </a:rPr>
                        <a:t>중단</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000" b="1" dirty="0">
                          <a:solidFill>
                            <a:srgbClr val="2DE2FF"/>
                          </a:solidFill>
                          <a:latin typeface="Noto Sans KR" pitchFamily="34" charset="0"/>
                          <a:ea typeface="Noto Sans KR" pitchFamily="34" charset="-122"/>
                          <a:cs typeface="Noto Sans KR" pitchFamily="34" charset="-120"/>
                        </a:rPr>
                        <a:t>Medium 모델</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301752">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12개월차 월 매출</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$70,000 이상</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$50,000 미만</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$86,100</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01752">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누적 순이익</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$0 이상</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($25,000) 미만</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$38,040</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01752">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TACOS</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15% 이하</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25% 초과</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15%</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01752">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반품률</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3% 이하</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5% 초과</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3%</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01752">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영업 현금흐름</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2개월 연속 플러스</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3개월 연속 마이너스에 자금 부족분 $50,000 초과</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$7,587 (11, 12개월차 중 낮은 값)</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bl>
          </a:graphicData>
        </a:graphic>
      </p:graphicFrame>
      <p:sp>
        <p:nvSpPr>
          <p:cNvPr id="8" name="card"/>
          <p:cNvSpPr/>
          <p:nvPr/>
        </p:nvSpPr>
        <p:spPr>
          <a:xfrm>
            <a:off x="7863840" y="1115568"/>
            <a:ext cx="3867912" cy="2057400"/>
          </a:xfrm>
          <a:prstGeom prst="roundRect">
            <a:avLst>
              <a:gd name="adj" fmla="val 5333"/>
            </a:avLst>
          </a:prstGeom>
          <a:solidFill>
            <a:schemeClr val="bg2"/>
          </a:solidFill>
          <a:ln w="12700">
            <a:solidFill>
              <a:srgbClr val="141C36"/>
            </a:solidFill>
            <a:prstDash val="solid"/>
          </a:ln>
        </p:spPr>
      </p:sp>
      <p:sp>
        <p:nvSpPr>
          <p:cNvPr id="9" name="Text 4"/>
          <p:cNvSpPr txBox="1"/>
          <p:nvPr/>
        </p:nvSpPr>
        <p:spPr>
          <a:xfrm>
            <a:off x="8092440" y="1207008"/>
            <a:ext cx="3474720" cy="320040"/>
          </a:xfrm>
          <a:prstGeom prst="rect">
            <a:avLst/>
          </a:prstGeom>
          <a:noFill/>
          <a:ln/>
        </p:spPr>
        <p:txBody>
          <a:bodyPr wrap="square" lIns="0" tIns="0" rIns="0" bIns="0" rtlCol="0" anchor="t"/>
          <a:lstStyle/>
          <a:p>
            <a:pPr algn="l" indent="0" marL="0">
              <a:buNone/>
            </a:pPr>
            <a:r>
              <a:rPr lang="ko-KR" altLang="en-US" sz="1300" b="1" dirty="0">
                <a:solidFill>
                  <a:schemeClr val="accent1"/>
                </a:solidFill>
              </a:rPr>
              <a:t>시나리오별 모델 결과</a:t>
            </a:r>
            <a:endParaRPr lang="ko-KR" altLang="en-US" sz="1300" dirty="0"/>
          </a:p>
        </p:txBody>
      </p:sp>
      <p:sp>
        <p:nvSpPr>
          <p:cNvPr id="10" name="Text 5"/>
          <p:cNvSpPr txBox="1"/>
          <p:nvPr/>
        </p:nvSpPr>
        <p:spPr>
          <a:xfrm>
            <a:off x="8092440" y="1600200"/>
            <a:ext cx="1097280" cy="384048"/>
          </a:xfrm>
          <a:prstGeom prst="rect">
            <a:avLst/>
          </a:prstGeom>
          <a:noFill/>
          <a:ln/>
        </p:spPr>
        <p:txBody>
          <a:bodyPr wrap="square" lIns="0" tIns="0" rIns="0" bIns="0" rtlCol="0" anchor="ctr"/>
          <a:lstStyle/>
          <a:p>
            <a:pPr algn="l" indent="0" marL="0">
              <a:buNone/>
            </a:pPr>
            <a:r>
              <a:rPr lang="ko-KR" altLang="en-US" sz="1250" b="1" dirty="0">
                <a:solidFill>
                  <a:schemeClr val="tx1"/>
                </a:solidFill>
              </a:rPr>
              <a:t>Low</a:t>
            </a:r>
            <a:endParaRPr lang="ko-KR" altLang="en-US" sz="1250" dirty="0"/>
          </a:p>
        </p:txBody>
      </p:sp>
      <p:sp>
        <p:nvSpPr>
          <p:cNvPr id="11" name="Shape 6"/>
          <p:cNvSpPr/>
          <p:nvPr/>
        </p:nvSpPr>
        <p:spPr>
          <a:xfrm>
            <a:off x="9189720" y="1600200"/>
            <a:ext cx="1188720" cy="384048"/>
          </a:xfrm>
          <a:prstGeom prst="roundRect">
            <a:avLst>
              <a:gd name="adj" fmla="val 19048"/>
            </a:avLst>
          </a:prstGeom>
          <a:solidFill>
            <a:srgbClr val="FFB547"/>
          </a:solidFill>
          <a:ln w="12700">
            <a:solidFill>
              <a:srgbClr val="FFB547"/>
            </a:solidFill>
            <a:prstDash val="solid"/>
          </a:ln>
        </p:spPr>
      </p:sp>
      <p:sp>
        <p:nvSpPr>
          <p:cNvPr id="12" name="Text 7"/>
          <p:cNvSpPr txBox="1"/>
          <p:nvPr/>
        </p:nvSpPr>
        <p:spPr>
          <a:xfrm>
            <a:off x="9189720" y="1600200"/>
            <a:ext cx="1188720" cy="384048"/>
          </a:xfrm>
          <a:prstGeom prst="rect">
            <a:avLst/>
          </a:prstGeom>
          <a:noFill/>
          <a:ln/>
        </p:spPr>
        <p:txBody>
          <a:bodyPr wrap="square" lIns="0" tIns="0" rIns="0" bIns="0" rtlCol="0" anchor="ctr"/>
          <a:lstStyle/>
          <a:p>
            <a:pPr algn="ctr" indent="0" marL="0">
              <a:buNone/>
            </a:pPr>
            <a:r>
              <a:rPr lang="ko-KR" altLang="en-US" sz="950" b="1" dirty="0">
                <a:solidFill>
                  <a:srgbClr val="0A0F1E"/>
                </a:solidFill>
              </a:rPr>
              <a:t>90일: 재검토</a:t>
            </a:r>
            <a:endParaRPr lang="ko-KR" altLang="en-US" sz="950" dirty="0"/>
          </a:p>
        </p:txBody>
      </p:sp>
      <p:sp>
        <p:nvSpPr>
          <p:cNvPr id="13" name="Shape 8"/>
          <p:cNvSpPr/>
          <p:nvPr/>
        </p:nvSpPr>
        <p:spPr>
          <a:xfrm>
            <a:off x="10469880" y="1600200"/>
            <a:ext cx="1188720" cy="384048"/>
          </a:xfrm>
          <a:prstGeom prst="roundRect">
            <a:avLst>
              <a:gd name="adj" fmla="val 19048"/>
            </a:avLst>
          </a:prstGeom>
          <a:solidFill>
            <a:srgbClr val="FF4FD8"/>
          </a:solidFill>
          <a:ln w="12700">
            <a:solidFill>
              <a:srgbClr val="FF4FD8"/>
            </a:solidFill>
            <a:prstDash val="solid"/>
          </a:ln>
        </p:spPr>
      </p:sp>
      <p:sp>
        <p:nvSpPr>
          <p:cNvPr id="14" name="Text 9"/>
          <p:cNvSpPr txBox="1"/>
          <p:nvPr/>
        </p:nvSpPr>
        <p:spPr>
          <a:xfrm>
            <a:off x="10469880" y="1600200"/>
            <a:ext cx="1188720" cy="384048"/>
          </a:xfrm>
          <a:prstGeom prst="rect">
            <a:avLst/>
          </a:prstGeom>
          <a:noFill/>
          <a:ln/>
        </p:spPr>
        <p:txBody>
          <a:bodyPr wrap="square" lIns="0" tIns="0" rIns="0" bIns="0" rtlCol="0" anchor="ctr"/>
          <a:lstStyle/>
          <a:p>
            <a:pPr algn="ctr" indent="0" marL="0">
              <a:buNone/>
            </a:pPr>
            <a:r>
              <a:rPr lang="ko-KR" altLang="en-US" sz="950" b="1" dirty="0">
                <a:solidFill>
                  <a:srgbClr val="0A0F1E"/>
                </a:solidFill>
              </a:rPr>
              <a:t>12개월차: 중단</a:t>
            </a:r>
            <a:endParaRPr lang="ko-KR" altLang="en-US" sz="950" dirty="0"/>
          </a:p>
        </p:txBody>
      </p:sp>
      <p:sp>
        <p:nvSpPr>
          <p:cNvPr id="15" name="Text 10"/>
          <p:cNvSpPr txBox="1"/>
          <p:nvPr/>
        </p:nvSpPr>
        <p:spPr>
          <a:xfrm>
            <a:off x="8092440" y="2075688"/>
            <a:ext cx="1097280" cy="384048"/>
          </a:xfrm>
          <a:prstGeom prst="rect">
            <a:avLst/>
          </a:prstGeom>
          <a:noFill/>
          <a:ln/>
        </p:spPr>
        <p:txBody>
          <a:bodyPr wrap="square" lIns="0" tIns="0" rIns="0" bIns="0" rtlCol="0" anchor="ctr"/>
          <a:lstStyle/>
          <a:p>
            <a:pPr algn="l" indent="0" marL="0">
              <a:buNone/>
            </a:pPr>
            <a:r>
              <a:rPr lang="ko-KR" altLang="en-US" sz="1250" b="1" dirty="0">
                <a:solidFill>
                  <a:schemeClr val="tx1"/>
                </a:solidFill>
              </a:rPr>
              <a:t>Medium</a:t>
            </a:r>
            <a:endParaRPr lang="ko-KR" altLang="en-US" sz="1250" dirty="0"/>
          </a:p>
        </p:txBody>
      </p:sp>
      <p:sp>
        <p:nvSpPr>
          <p:cNvPr id="16" name="Shape 11"/>
          <p:cNvSpPr/>
          <p:nvPr/>
        </p:nvSpPr>
        <p:spPr>
          <a:xfrm>
            <a:off x="9189720" y="2075688"/>
            <a:ext cx="1188720" cy="384048"/>
          </a:xfrm>
          <a:prstGeom prst="roundRect">
            <a:avLst>
              <a:gd name="adj" fmla="val 19048"/>
            </a:avLst>
          </a:prstGeom>
          <a:solidFill>
            <a:srgbClr val="3DDC97"/>
          </a:solidFill>
          <a:ln w="12700">
            <a:solidFill>
              <a:srgbClr val="3DDC97"/>
            </a:solidFill>
            <a:prstDash val="solid"/>
          </a:ln>
        </p:spPr>
      </p:sp>
      <p:sp>
        <p:nvSpPr>
          <p:cNvPr id="17" name="Text 12"/>
          <p:cNvSpPr txBox="1"/>
          <p:nvPr/>
        </p:nvSpPr>
        <p:spPr>
          <a:xfrm>
            <a:off x="9189720" y="2075688"/>
            <a:ext cx="1188720" cy="384048"/>
          </a:xfrm>
          <a:prstGeom prst="rect">
            <a:avLst/>
          </a:prstGeom>
          <a:noFill/>
          <a:ln/>
        </p:spPr>
        <p:txBody>
          <a:bodyPr wrap="square" lIns="0" tIns="0" rIns="0" bIns="0" rtlCol="0" anchor="ctr"/>
          <a:lstStyle/>
          <a:p>
            <a:pPr algn="ctr" indent="0" marL="0">
              <a:buNone/>
            </a:pPr>
            <a:r>
              <a:rPr lang="ko-KR" altLang="en-US" sz="950" b="1" dirty="0">
                <a:solidFill>
                  <a:srgbClr val="0A0F1E"/>
                </a:solidFill>
              </a:rPr>
              <a:t>90일: 통과</a:t>
            </a:r>
            <a:endParaRPr lang="ko-KR" altLang="en-US" sz="950" dirty="0"/>
          </a:p>
        </p:txBody>
      </p:sp>
      <p:sp>
        <p:nvSpPr>
          <p:cNvPr id="18" name="Shape 13"/>
          <p:cNvSpPr/>
          <p:nvPr/>
        </p:nvSpPr>
        <p:spPr>
          <a:xfrm>
            <a:off x="10469880" y="2075688"/>
            <a:ext cx="1188720" cy="384048"/>
          </a:xfrm>
          <a:prstGeom prst="roundRect">
            <a:avLst>
              <a:gd name="adj" fmla="val 19048"/>
            </a:avLst>
          </a:prstGeom>
          <a:solidFill>
            <a:srgbClr val="3DDC97"/>
          </a:solidFill>
          <a:ln w="12700">
            <a:solidFill>
              <a:srgbClr val="3DDC97"/>
            </a:solidFill>
            <a:prstDash val="solid"/>
          </a:ln>
        </p:spPr>
      </p:sp>
      <p:sp>
        <p:nvSpPr>
          <p:cNvPr id="19" name="Text 14"/>
          <p:cNvSpPr txBox="1"/>
          <p:nvPr/>
        </p:nvSpPr>
        <p:spPr>
          <a:xfrm>
            <a:off x="10469880" y="2075688"/>
            <a:ext cx="1188720" cy="384048"/>
          </a:xfrm>
          <a:prstGeom prst="rect">
            <a:avLst/>
          </a:prstGeom>
          <a:noFill/>
          <a:ln/>
        </p:spPr>
        <p:txBody>
          <a:bodyPr wrap="square" lIns="0" tIns="0" rIns="0" bIns="0" rtlCol="0" anchor="ctr"/>
          <a:lstStyle/>
          <a:p>
            <a:pPr algn="ctr" indent="0" marL="0">
              <a:buNone/>
            </a:pPr>
            <a:r>
              <a:rPr lang="ko-KR" altLang="en-US" sz="950" b="1" dirty="0">
                <a:solidFill>
                  <a:srgbClr val="0A0F1E"/>
                </a:solidFill>
              </a:rPr>
              <a:t>12개월차: 통과</a:t>
            </a:r>
            <a:endParaRPr lang="ko-KR" altLang="en-US" sz="950" dirty="0"/>
          </a:p>
        </p:txBody>
      </p:sp>
      <p:sp>
        <p:nvSpPr>
          <p:cNvPr id="20" name="Text 15"/>
          <p:cNvSpPr txBox="1"/>
          <p:nvPr/>
        </p:nvSpPr>
        <p:spPr>
          <a:xfrm>
            <a:off x="8092440" y="2551176"/>
            <a:ext cx="1097280" cy="384048"/>
          </a:xfrm>
          <a:prstGeom prst="rect">
            <a:avLst/>
          </a:prstGeom>
          <a:noFill/>
          <a:ln/>
        </p:spPr>
        <p:txBody>
          <a:bodyPr wrap="square" lIns="0" tIns="0" rIns="0" bIns="0" rtlCol="0" anchor="ctr"/>
          <a:lstStyle/>
          <a:p>
            <a:pPr algn="l" indent="0" marL="0">
              <a:buNone/>
            </a:pPr>
            <a:r>
              <a:rPr lang="ko-KR" altLang="en-US" sz="1250" b="1" dirty="0">
                <a:solidFill>
                  <a:schemeClr val="tx1"/>
                </a:solidFill>
              </a:rPr>
              <a:t>High</a:t>
            </a:r>
            <a:endParaRPr lang="ko-KR" altLang="en-US" sz="1250" dirty="0"/>
          </a:p>
        </p:txBody>
      </p:sp>
      <p:sp>
        <p:nvSpPr>
          <p:cNvPr id="21" name="Shape 16"/>
          <p:cNvSpPr/>
          <p:nvPr/>
        </p:nvSpPr>
        <p:spPr>
          <a:xfrm>
            <a:off x="9189720" y="2551176"/>
            <a:ext cx="1188720" cy="384048"/>
          </a:xfrm>
          <a:prstGeom prst="roundRect">
            <a:avLst>
              <a:gd name="adj" fmla="val 19048"/>
            </a:avLst>
          </a:prstGeom>
          <a:solidFill>
            <a:srgbClr val="3DDC97"/>
          </a:solidFill>
          <a:ln w="12700">
            <a:solidFill>
              <a:srgbClr val="3DDC97"/>
            </a:solidFill>
            <a:prstDash val="solid"/>
          </a:ln>
        </p:spPr>
      </p:sp>
      <p:sp>
        <p:nvSpPr>
          <p:cNvPr id="22" name="Text 17"/>
          <p:cNvSpPr txBox="1"/>
          <p:nvPr/>
        </p:nvSpPr>
        <p:spPr>
          <a:xfrm>
            <a:off x="9189720" y="2551176"/>
            <a:ext cx="1188720" cy="384048"/>
          </a:xfrm>
          <a:prstGeom prst="rect">
            <a:avLst/>
          </a:prstGeom>
          <a:noFill/>
          <a:ln/>
        </p:spPr>
        <p:txBody>
          <a:bodyPr wrap="square" lIns="0" tIns="0" rIns="0" bIns="0" rtlCol="0" anchor="ctr"/>
          <a:lstStyle/>
          <a:p>
            <a:pPr algn="ctr" indent="0" marL="0">
              <a:buNone/>
            </a:pPr>
            <a:r>
              <a:rPr lang="ko-KR" altLang="en-US" sz="950" b="1" dirty="0">
                <a:solidFill>
                  <a:srgbClr val="0A0F1E"/>
                </a:solidFill>
              </a:rPr>
              <a:t>90일: 통과</a:t>
            </a:r>
            <a:endParaRPr lang="ko-KR" altLang="en-US" sz="950" dirty="0"/>
          </a:p>
        </p:txBody>
      </p:sp>
      <p:sp>
        <p:nvSpPr>
          <p:cNvPr id="23" name="Shape 18"/>
          <p:cNvSpPr/>
          <p:nvPr/>
        </p:nvSpPr>
        <p:spPr>
          <a:xfrm>
            <a:off x="10469880" y="2551176"/>
            <a:ext cx="1188720" cy="384048"/>
          </a:xfrm>
          <a:prstGeom prst="roundRect">
            <a:avLst>
              <a:gd name="adj" fmla="val 19048"/>
            </a:avLst>
          </a:prstGeom>
          <a:solidFill>
            <a:srgbClr val="3DDC97"/>
          </a:solidFill>
          <a:ln w="12700">
            <a:solidFill>
              <a:srgbClr val="3DDC97"/>
            </a:solidFill>
            <a:prstDash val="solid"/>
          </a:ln>
        </p:spPr>
      </p:sp>
      <p:sp>
        <p:nvSpPr>
          <p:cNvPr id="24" name="Text 19"/>
          <p:cNvSpPr txBox="1"/>
          <p:nvPr/>
        </p:nvSpPr>
        <p:spPr>
          <a:xfrm>
            <a:off x="10469880" y="2551176"/>
            <a:ext cx="1188720" cy="384048"/>
          </a:xfrm>
          <a:prstGeom prst="rect">
            <a:avLst/>
          </a:prstGeom>
          <a:noFill/>
          <a:ln/>
        </p:spPr>
        <p:txBody>
          <a:bodyPr wrap="square" lIns="0" tIns="0" rIns="0" bIns="0" rtlCol="0" anchor="ctr"/>
          <a:lstStyle/>
          <a:p>
            <a:pPr algn="ctr" indent="0" marL="0">
              <a:buNone/>
            </a:pPr>
            <a:r>
              <a:rPr lang="ko-KR" altLang="en-US" sz="950" b="1" dirty="0">
                <a:solidFill>
                  <a:srgbClr val="0A0F1E"/>
                </a:solidFill>
              </a:rPr>
              <a:t>12개월차: 통과</a:t>
            </a:r>
            <a:endParaRPr lang="ko-KR" altLang="en-US" sz="950" dirty="0"/>
          </a:p>
        </p:txBody>
      </p:sp>
      <p:sp>
        <p:nvSpPr>
          <p:cNvPr id="25" name="card"/>
          <p:cNvSpPr/>
          <p:nvPr/>
        </p:nvSpPr>
        <p:spPr>
          <a:xfrm>
            <a:off x="7863840" y="3337560"/>
            <a:ext cx="3867912" cy="2880360"/>
          </a:xfrm>
          <a:prstGeom prst="roundRect">
            <a:avLst>
              <a:gd name="adj" fmla="val 3810"/>
            </a:avLst>
          </a:prstGeom>
          <a:solidFill>
            <a:srgbClr val="10172D"/>
          </a:solidFill>
          <a:ln w="12700">
            <a:solidFill>
              <a:srgbClr val="10172D"/>
            </a:solidFill>
            <a:prstDash val="solid"/>
          </a:ln>
        </p:spPr>
      </p:sp>
      <p:sp>
        <p:nvSpPr>
          <p:cNvPr id="26" name="Shape 21"/>
          <p:cNvSpPr/>
          <p:nvPr/>
        </p:nvSpPr>
        <p:spPr>
          <a:xfrm>
            <a:off x="8092440" y="3520440"/>
            <a:ext cx="502920" cy="502920"/>
          </a:xfrm>
          <a:prstGeom prst="ellipse">
            <a:avLst/>
          </a:prstGeom>
          <a:solidFill>
            <a:srgbClr val="1B2447"/>
          </a:solidFill>
          <a:ln w="12700">
            <a:solidFill>
              <a:srgbClr val="1B2447"/>
            </a:solidFill>
            <a:prstDash val="solid"/>
          </a:ln>
        </p:spPr>
      </p:sp>
      <p:pic>
        <p:nvPicPr>
          <p:cNvPr id="27" name="Image 0" descr="preencoded.png">    </p:cNvPr>
          <p:cNvPicPr>
            <a:picLocks noChangeAspect="1"/>
          </p:cNvPicPr>
          <p:nvPr/>
        </p:nvPicPr>
        <p:blipFill>
          <a:blip r:embed="rId1"/>
          <a:stretch>
            <a:fillRect/>
          </a:stretch>
        </p:blipFill>
        <p:spPr>
          <a:xfrm>
            <a:off x="8203082" y="3631082"/>
            <a:ext cx="281635" cy="281635"/>
          </a:xfrm>
          <a:prstGeom prst="rect">
            <a:avLst/>
          </a:prstGeom>
        </p:spPr>
      </p:pic>
      <p:sp>
        <p:nvSpPr>
          <p:cNvPr id="28" name="Text 22"/>
          <p:cNvSpPr txBox="1"/>
          <p:nvPr/>
        </p:nvSpPr>
        <p:spPr>
          <a:xfrm>
            <a:off x="8092440" y="4114800"/>
            <a:ext cx="3474720" cy="2011680"/>
          </a:xfrm>
          <a:prstGeom prst="rect">
            <a:avLst/>
          </a:prstGeom>
          <a:noFill/>
          <a:ln/>
        </p:spPr>
        <p:txBody>
          <a:bodyPr wrap="square" lIns="0" tIns="0" rIns="0" bIns="0" rtlCol="0" anchor="t"/>
          <a:lstStyle/>
          <a:p>
            <a:pPr algn="l" indent="0" marL="0">
              <a:buNone/>
            </a:pPr>
            <a:r>
              <a:rPr lang="ko-KR" altLang="en-US" sz="1200" dirty="0">
                <a:solidFill>
                  <a:schemeClr val="tx1"/>
                </a:solidFill>
              </a:rPr>
              <a:t>중단 트리거가 하나라도 걸리면 중단 KILL. 모든 기준을 충족하면 통과 PASS. 그 외는 재검토 REVIEW: 30일 내 보완 후 재검증. 중단은 추가 자본 없음, 재고 소진, 패자 SKU 삭제, Plan B 전환을 뜻합니다.</a:t>
            </a:r>
            <a:endParaRPr lang="ko-KR" alt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19</a:t>
            </a:fld>
            <a:endParaRPr lang="ko-KR"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85800" y="3749040"/>
            <a:ext cx="9144000" cy="1005840"/>
          </a:xfrm>
          <a:prstGeom prst="rect">
            <a:avLst/>
          </a:prstGeom>
          <a:noFill/>
          <a:ln/>
        </p:spPr>
        <p:txBody>
          <a:bodyPr wrap="square" lIns="0" tIns="0" rIns="0" bIns="0" rtlCol="0" anchor="b"/>
          <a:lstStyle/>
          <a:p>
            <a:pPr algn="l" indent="0" marL="0">
              <a:buNone/>
            </a:pPr>
            <a:r>
              <a:rPr lang="ko-KR" altLang="en-US" sz="3600" b="1" dirty="0">
                <a:solidFill>
                  <a:srgbClr val="F3F6FF"/>
                </a:solidFill>
              </a:rPr>
              <a:t>경제성</a:t>
            </a:r>
            <a:endParaRPr lang="ko-KR" altLang="en-US" sz="3600" dirty="0"/>
          </a:p>
        </p:txBody>
      </p:sp>
      <p:sp>
        <p:nvSpPr>
          <p:cNvPr id="3" name="Text 0"/>
          <p:cNvSpPr/>
          <p:nvPr>
            <p:ph idx="101" type="body" hasCustomPrompt="1"/>
          </p:nvPr>
        </p:nvSpPr>
        <p:spPr>
          <a:xfrm>
            <a:off x="685800" y="4800600"/>
            <a:ext cx="9144000" cy="457200"/>
          </a:xfrm>
          <a:prstGeom prst="rect">
            <a:avLst/>
          </a:prstGeom>
          <a:noFill/>
          <a:ln/>
        </p:spPr>
        <p:txBody>
          <a:bodyPr wrap="square" lIns="0" tIns="0" rIns="0" bIns="0" rtlCol="0" anchor="t"/>
          <a:lstStyle/>
          <a:p>
            <a:pPr indent="0" marL="0">
              <a:buNone/>
            </a:pPr>
            <a:r>
              <a:rPr lang="ko-KR" altLang="en-US" sz="1600" dirty="0">
                <a:solidFill>
                  <a:srgbClr val="2DE2FF"/>
                </a:solidFill>
              </a:rPr>
              <a:t>5개 섹션 중 5</a:t>
            </a:r>
            <a:endParaRPr lang="ko-KR" altLang="en-US" sz="16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20</a:t>
            </a:fld>
            <a:endParaRPr lang="ko-KR"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아마존 US 주력 SKU 단위 경제성</a:t>
            </a:r>
            <a:endParaRPr lang="ko-KR" altLang="en-US" sz="3200" dirty="0"/>
          </a:p>
        </p:txBody>
      </p:sp>
      <p:graphicFrame>
        <p:nvGraphicFramePr>
          <p:cNvPr id="4" name="Chart 0" descr=""/>
          <p:cNvGraphicFramePr/>
          <p:nvPr/>
        </p:nvGraphicFramePr>
        <p:xfrm>
          <a:off x="457200" y="1188720"/>
          <a:ext cx="7315200" cy="416052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457200" y="5440680"/>
            <a:ext cx="7315200" cy="868680"/>
          </a:xfrm>
          <a:prstGeom prst="rect">
            <a:avLst/>
          </a:prstGeom>
          <a:noFill/>
          <a:ln/>
        </p:spPr>
        <p:txBody>
          <a:bodyPr wrap="square" lIns="0" tIns="0" rIns="0" bIns="0" rtlCol="0" anchor="t"/>
          <a:lstStyle/>
          <a:p>
            <a:pPr algn="l" indent="0" marL="0">
              <a:buNone/>
            </a:pPr>
            <a:r>
              <a:rPr lang="ko-KR" altLang="en-US" sz="1100" dirty="0">
                <a:solidFill>
                  <a:schemeClr val="tx2"/>
                </a:solidFill>
              </a:rPr>
              <a:t>워터폴: 가격 $44.99에서 착지 원가 $17.10, 판매 수수료 $6.75, FBA $5.50, 광고 $5.40, 반품과 보관 $2.25를 빼면 순이익 $8.00. 8월 모델, 근거 기반: 착지 원가(landed cost)는 관세 판정 전까지 가격의 38%로 가정. 광고 $5.40는 18개월 혼합 비율입니다. Alibaba 벤치마크 원가면 같은 제품이 적자입니다 (다음 슬라이드).</a:t>
            </a:r>
            <a:endParaRPr lang="ko-KR" altLang="en-US" sz="1100" dirty="0"/>
          </a:p>
        </p:txBody>
      </p:sp>
      <p:sp>
        <p:nvSpPr>
          <p:cNvPr id="6" name="card"/>
          <p:cNvSpPr/>
          <p:nvPr/>
        </p:nvSpPr>
        <p:spPr>
          <a:xfrm>
            <a:off x="8046720" y="1188720"/>
            <a:ext cx="3685032" cy="1325880"/>
          </a:xfrm>
          <a:prstGeom prst="roundRect">
            <a:avLst>
              <a:gd name="adj" fmla="val 8276"/>
            </a:avLst>
          </a:prstGeom>
          <a:solidFill>
            <a:schemeClr val="bg2"/>
          </a:solidFill>
          <a:ln w="12700">
            <a:solidFill>
              <a:srgbClr val="141C36"/>
            </a:solidFill>
            <a:prstDash val="solid"/>
          </a:ln>
        </p:spPr>
      </p:sp>
      <p:sp>
        <p:nvSpPr>
          <p:cNvPr id="7" name="Text 3"/>
          <p:cNvSpPr txBox="1"/>
          <p:nvPr/>
        </p:nvSpPr>
        <p:spPr>
          <a:xfrm>
            <a:off x="8229600" y="1280160"/>
            <a:ext cx="3291840" cy="274320"/>
          </a:xfrm>
          <a:prstGeom prst="rect">
            <a:avLst/>
          </a:prstGeom>
          <a:noFill/>
          <a:ln/>
        </p:spPr>
        <p:txBody>
          <a:bodyPr wrap="square" lIns="0" tIns="0" rIns="0" bIns="0" rtlCol="0" anchor="t"/>
          <a:lstStyle/>
          <a:p>
            <a:pPr algn="l" indent="0" marL="0">
              <a:buNone/>
            </a:pPr>
            <a:r>
              <a:rPr lang="ko-KR" altLang="en-US" sz="1200" dirty="0">
                <a:solidFill>
                  <a:schemeClr val="tx2"/>
                </a:solidFill>
              </a:rPr>
              <a:t>개당 순이익</a:t>
            </a:r>
            <a:endParaRPr lang="ko-KR" altLang="en-US" sz="1200" dirty="0"/>
          </a:p>
        </p:txBody>
      </p:sp>
      <p:sp>
        <p:nvSpPr>
          <p:cNvPr id="8" name="Text 4"/>
          <p:cNvSpPr txBox="1"/>
          <p:nvPr/>
        </p:nvSpPr>
        <p:spPr>
          <a:xfrm>
            <a:off x="8229600" y="1554480"/>
            <a:ext cx="3291840" cy="548640"/>
          </a:xfrm>
          <a:prstGeom prst="rect">
            <a:avLst/>
          </a:prstGeom>
          <a:noFill/>
          <a:ln/>
        </p:spPr>
        <p:txBody>
          <a:bodyPr wrap="square" lIns="0" tIns="0" rIns="0" bIns="0" rtlCol="0" anchor="ctr"/>
          <a:lstStyle/>
          <a:p>
            <a:pPr algn="l" indent="0" marL="0">
              <a:buNone/>
            </a:pPr>
            <a:r>
              <a:rPr lang="ko-KR" altLang="en-US" sz="2800" b="1" dirty="0">
                <a:solidFill>
                  <a:schemeClr val="accent4"/>
                </a:solidFill>
              </a:rPr>
              <a:t>$8.00</a:t>
            </a:r>
            <a:endParaRPr lang="ko-KR" altLang="en-US" sz="2800" dirty="0"/>
          </a:p>
        </p:txBody>
      </p:sp>
      <p:sp>
        <p:nvSpPr>
          <p:cNvPr id="9" name="Text 5"/>
          <p:cNvSpPr txBox="1"/>
          <p:nvPr/>
        </p:nvSpPr>
        <p:spPr>
          <a:xfrm>
            <a:off x="8229600" y="2103120"/>
            <a:ext cx="3291840" cy="384048"/>
          </a:xfrm>
          <a:prstGeom prst="rect">
            <a:avLst/>
          </a:prstGeom>
          <a:noFill/>
          <a:ln/>
        </p:spPr>
        <p:txBody>
          <a:bodyPr wrap="square" lIns="0" tIns="0" rIns="0" bIns="0" rtlCol="0" anchor="t"/>
          <a:lstStyle/>
          <a:p>
            <a:pPr algn="l" indent="0" marL="0">
              <a:buNone/>
            </a:pPr>
            <a:r>
              <a:rPr lang="ko-KR" altLang="en-US" sz="1100" dirty="0">
                <a:solidFill>
                  <a:schemeClr val="tx2"/>
                </a:solidFill>
              </a:rPr>
              <a:t>$44.99의 17.8%</a:t>
            </a:r>
            <a:endParaRPr lang="ko-KR" altLang="en-US" sz="1100" dirty="0"/>
          </a:p>
        </p:txBody>
      </p:sp>
      <p:sp>
        <p:nvSpPr>
          <p:cNvPr id="10" name="card"/>
          <p:cNvSpPr/>
          <p:nvPr/>
        </p:nvSpPr>
        <p:spPr>
          <a:xfrm>
            <a:off x="8046720" y="2651760"/>
            <a:ext cx="3685032" cy="1325880"/>
          </a:xfrm>
          <a:prstGeom prst="roundRect">
            <a:avLst>
              <a:gd name="adj" fmla="val 8276"/>
            </a:avLst>
          </a:prstGeom>
          <a:solidFill>
            <a:schemeClr val="bg2"/>
          </a:solidFill>
          <a:ln w="12700">
            <a:solidFill>
              <a:srgbClr val="141C36"/>
            </a:solidFill>
            <a:prstDash val="solid"/>
          </a:ln>
        </p:spPr>
      </p:sp>
      <p:sp>
        <p:nvSpPr>
          <p:cNvPr id="11" name="Text 7"/>
          <p:cNvSpPr txBox="1"/>
          <p:nvPr/>
        </p:nvSpPr>
        <p:spPr>
          <a:xfrm>
            <a:off x="8229600" y="2743200"/>
            <a:ext cx="3291840" cy="274320"/>
          </a:xfrm>
          <a:prstGeom prst="rect">
            <a:avLst/>
          </a:prstGeom>
          <a:noFill/>
          <a:ln/>
        </p:spPr>
        <p:txBody>
          <a:bodyPr wrap="square" lIns="0" tIns="0" rIns="0" bIns="0" rtlCol="0" anchor="t"/>
          <a:lstStyle/>
          <a:p>
            <a:pPr algn="l" indent="0" marL="0">
              <a:buNone/>
            </a:pPr>
            <a:r>
              <a:rPr lang="ko-KR" altLang="en-US" sz="1200" dirty="0">
                <a:solidFill>
                  <a:schemeClr val="tx2"/>
                </a:solidFill>
              </a:rPr>
              <a:t>같은 제품의 한국 도매</a:t>
            </a:r>
            <a:endParaRPr lang="ko-KR" altLang="en-US" sz="1200" dirty="0"/>
          </a:p>
        </p:txBody>
      </p:sp>
      <p:sp>
        <p:nvSpPr>
          <p:cNvPr id="12" name="Text 8"/>
          <p:cNvSpPr txBox="1"/>
          <p:nvPr/>
        </p:nvSpPr>
        <p:spPr>
          <a:xfrm>
            <a:off x="8229600" y="3017520"/>
            <a:ext cx="3291840" cy="548640"/>
          </a:xfrm>
          <a:prstGeom prst="rect">
            <a:avLst/>
          </a:prstGeom>
          <a:noFill/>
          <a:ln/>
        </p:spPr>
        <p:txBody>
          <a:bodyPr wrap="square" lIns="0" tIns="0" rIns="0" bIns="0" rtlCol="0" anchor="ctr"/>
          <a:lstStyle/>
          <a:p>
            <a:pPr algn="l" indent="0" marL="0">
              <a:buNone/>
            </a:pPr>
            <a:r>
              <a:rPr lang="ko-KR" altLang="en-US" sz="2800" b="1" dirty="0">
                <a:solidFill>
                  <a:schemeClr val="accent5"/>
                </a:solidFill>
              </a:rPr>
              <a:t>$1.86</a:t>
            </a:r>
            <a:endParaRPr lang="ko-KR" altLang="en-US" sz="2800" dirty="0"/>
          </a:p>
        </p:txBody>
      </p:sp>
      <p:sp>
        <p:nvSpPr>
          <p:cNvPr id="13" name="Text 9"/>
          <p:cNvSpPr txBox="1"/>
          <p:nvPr/>
        </p:nvSpPr>
        <p:spPr>
          <a:xfrm>
            <a:off x="8229600" y="3566160"/>
            <a:ext cx="3291840" cy="384048"/>
          </a:xfrm>
          <a:prstGeom prst="rect">
            <a:avLst/>
          </a:prstGeom>
          <a:noFill/>
          <a:ln/>
        </p:spPr>
        <p:txBody>
          <a:bodyPr wrap="square" lIns="0" tIns="0" rIns="0" bIns="0" rtlCol="0" anchor="t"/>
          <a:lstStyle/>
          <a:p>
            <a:pPr algn="l" indent="0" marL="0">
              <a:buNone/>
            </a:pPr>
            <a:r>
              <a:rPr lang="ko-KR" altLang="en-US" sz="1100" dirty="0">
                <a:solidFill>
                  <a:schemeClr val="tx2"/>
                </a:solidFill>
              </a:rPr>
              <a:t>개당 매출총이익, 8월 거래</a:t>
            </a:r>
            <a:endParaRPr lang="ko-KR" altLang="en-US" sz="1100" dirty="0"/>
          </a:p>
        </p:txBody>
      </p:sp>
      <p:sp>
        <p:nvSpPr>
          <p:cNvPr id="14" name="card"/>
          <p:cNvSpPr/>
          <p:nvPr/>
        </p:nvSpPr>
        <p:spPr>
          <a:xfrm>
            <a:off x="8046720" y="4114800"/>
            <a:ext cx="3685032" cy="1325880"/>
          </a:xfrm>
          <a:prstGeom prst="roundRect">
            <a:avLst>
              <a:gd name="adj" fmla="val 8276"/>
            </a:avLst>
          </a:prstGeom>
          <a:solidFill>
            <a:schemeClr val="bg2"/>
          </a:solidFill>
          <a:ln w="12700">
            <a:solidFill>
              <a:srgbClr val="141C36"/>
            </a:solidFill>
            <a:prstDash val="solid"/>
          </a:ln>
        </p:spPr>
      </p:sp>
      <p:sp>
        <p:nvSpPr>
          <p:cNvPr id="15" name="Text 11"/>
          <p:cNvSpPr txBox="1"/>
          <p:nvPr/>
        </p:nvSpPr>
        <p:spPr>
          <a:xfrm>
            <a:off x="8229600" y="4206240"/>
            <a:ext cx="3291840" cy="274320"/>
          </a:xfrm>
          <a:prstGeom prst="rect">
            <a:avLst/>
          </a:prstGeom>
          <a:noFill/>
          <a:ln/>
        </p:spPr>
        <p:txBody>
          <a:bodyPr wrap="square" lIns="0" tIns="0" rIns="0" bIns="0" rtlCol="0" anchor="t"/>
          <a:lstStyle/>
          <a:p>
            <a:pPr algn="l" indent="0" marL="0">
              <a:buNone/>
            </a:pPr>
            <a:r>
              <a:rPr lang="ko-KR" altLang="en-US" sz="1200" dirty="0">
                <a:solidFill>
                  <a:schemeClr val="tx2"/>
                </a:solidFill>
              </a:rPr>
              <a:t>광고 전 공헌이익</a:t>
            </a:r>
            <a:endParaRPr lang="ko-KR" altLang="en-US" sz="1200" dirty="0"/>
          </a:p>
        </p:txBody>
      </p:sp>
      <p:sp>
        <p:nvSpPr>
          <p:cNvPr id="16" name="Text 12"/>
          <p:cNvSpPr txBox="1"/>
          <p:nvPr/>
        </p:nvSpPr>
        <p:spPr>
          <a:xfrm>
            <a:off x="8229600" y="4480560"/>
            <a:ext cx="3291840" cy="548640"/>
          </a:xfrm>
          <a:prstGeom prst="rect">
            <a:avLst/>
          </a:prstGeom>
          <a:noFill/>
          <a:ln/>
        </p:spPr>
        <p:txBody>
          <a:bodyPr wrap="square" lIns="0" tIns="0" rIns="0" bIns="0" rtlCol="0" anchor="ctr"/>
          <a:lstStyle/>
          <a:p>
            <a:pPr algn="l" indent="0" marL="0">
              <a:buNone/>
            </a:pPr>
            <a:r>
              <a:rPr lang="ko-KR" altLang="en-US" sz="2800" b="1" dirty="0">
                <a:solidFill>
                  <a:schemeClr val="accent4"/>
                </a:solidFill>
              </a:rPr>
              <a:t>$12.14</a:t>
            </a:r>
            <a:endParaRPr lang="ko-KR" altLang="en-US" sz="2800" dirty="0"/>
          </a:p>
        </p:txBody>
      </p:sp>
      <p:sp>
        <p:nvSpPr>
          <p:cNvPr id="17" name="Text 13"/>
          <p:cNvSpPr txBox="1"/>
          <p:nvPr/>
        </p:nvSpPr>
        <p:spPr>
          <a:xfrm>
            <a:off x="8229600" y="5029200"/>
            <a:ext cx="3291840" cy="384048"/>
          </a:xfrm>
          <a:prstGeom prst="rect">
            <a:avLst/>
          </a:prstGeom>
          <a:noFill/>
          <a:ln/>
        </p:spPr>
        <p:txBody>
          <a:bodyPr wrap="square" lIns="0" tIns="0" rIns="0" bIns="0" rtlCol="0" anchor="t"/>
          <a:lstStyle/>
          <a:p>
            <a:pPr algn="l" indent="0" marL="0">
              <a:buNone/>
            </a:pPr>
            <a:r>
              <a:rPr lang="ko-KR" altLang="en-US" sz="1100" dirty="0">
                <a:solidFill>
                  <a:schemeClr val="tx2"/>
                </a:solidFill>
              </a:rPr>
              <a:t>혼합 ASP $42 기준. 90일 게이트 요구치는 $11</a:t>
            </a:r>
            <a:endParaRPr lang="ko-KR" altLang="en-US" sz="1100" dirty="0"/>
          </a:p>
        </p:txBody>
      </p:sp>
      <p:sp>
        <p:nvSpPr>
          <p:cNvPr id="18" name="card"/>
          <p:cNvSpPr/>
          <p:nvPr/>
        </p:nvSpPr>
        <p:spPr>
          <a:xfrm>
            <a:off x="8046720" y="5577840"/>
            <a:ext cx="3685032" cy="685800"/>
          </a:xfrm>
          <a:prstGeom prst="roundRect">
            <a:avLst>
              <a:gd name="adj" fmla="val 16000"/>
            </a:avLst>
          </a:prstGeom>
          <a:solidFill>
            <a:srgbClr val="10172D"/>
          </a:solidFill>
          <a:ln w="12700">
            <a:solidFill>
              <a:srgbClr val="10172D"/>
            </a:solidFill>
            <a:prstDash val="solid"/>
          </a:ln>
        </p:spPr>
      </p:sp>
      <p:sp>
        <p:nvSpPr>
          <p:cNvPr id="19" name="Text 15"/>
          <p:cNvSpPr txBox="1"/>
          <p:nvPr/>
        </p:nvSpPr>
        <p:spPr>
          <a:xfrm>
            <a:off x="8229600" y="5577840"/>
            <a:ext cx="3383280" cy="685800"/>
          </a:xfrm>
          <a:prstGeom prst="rect">
            <a:avLst/>
          </a:prstGeom>
          <a:noFill/>
          <a:ln/>
        </p:spPr>
        <p:txBody>
          <a:bodyPr wrap="square" lIns="0" tIns="0" rIns="0" bIns="0" rtlCol="0" anchor="ctr"/>
          <a:lstStyle/>
          <a:p>
            <a:pPr algn="l" indent="0" marL="0">
              <a:buNone/>
            </a:pPr>
            <a:r>
              <a:rPr lang="ko-KR" altLang="en-US" sz="1150" b="1" dirty="0">
                <a:solidFill>
                  <a:schemeClr val="accent1"/>
                </a:solidFill>
              </a:rPr>
              <a:t>$8.00 대 $1.86: 같은 제품의 아마존 US와 한국 도매</a:t>
            </a:r>
            <a:endParaRPr lang="ko-KR" altLang="en-US" sz="11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21</a:t>
            </a:fld>
            <a:endParaRPr lang="ko-KR"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공장 원가 교차 확인</a:t>
            </a:r>
            <a:endParaRPr lang="ko-KR" alt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7223760" cy="914400"/>
        </p:xfrm>
        <a:graphic>
          <a:graphicData uri="http://schemas.openxmlformats.org/drawingml/2006/table">
            <a:tbl>
              <a:tblPr/>
              <a:tblGrid>
                <a:gridCol w="2834640"/>
                <a:gridCol w="1188720"/>
                <a:gridCol w="1188720"/>
                <a:gridCol w="2011680"/>
              </a:tblGrid>
              <a:tr h="512064">
                <a:tc>
                  <a:txBody>
                    <a:bodyPr/>
                    <a:lstStyle/>
                    <a:p>
                      <a:pPr algn="l" indent="0" marL="0">
                        <a:buNone/>
                      </a:pPr>
                      <a:r>
                        <a:rPr lang="ko-KR" altLang="en-US" sz="1100" b="1" dirty="0">
                          <a:solidFill>
                            <a:srgbClr val="2DE2FF"/>
                          </a:solidFill>
                          <a:latin typeface="Noto Sans KR" pitchFamily="34" charset="0"/>
                          <a:ea typeface="Noto Sans KR" pitchFamily="34" charset="-122"/>
                          <a:cs typeface="Noto Sans KR" pitchFamily="34" charset="-120"/>
                        </a:rPr>
                        <a:t>원가 기준</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100" b="1" dirty="0">
                          <a:solidFill>
                            <a:srgbClr val="2DE2FF"/>
                          </a:solidFill>
                          <a:latin typeface="Noto Sans KR" pitchFamily="34" charset="0"/>
                          <a:ea typeface="Noto Sans KR" pitchFamily="34" charset="-122"/>
                          <a:cs typeface="Noto Sans KR" pitchFamily="34" charset="-120"/>
                        </a:rPr>
                        <a:t>주력 SKU 개당 착지 원가</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100" b="1" dirty="0">
                          <a:solidFill>
                            <a:srgbClr val="2DE2FF"/>
                          </a:solidFill>
                          <a:latin typeface="Noto Sans KR" pitchFamily="34" charset="0"/>
                          <a:ea typeface="Noto Sans KR" pitchFamily="34" charset="-122"/>
                          <a:cs typeface="Noto Sans KR" pitchFamily="34" charset="-120"/>
                        </a:rPr>
                        <a:t>$44.99에서 개당 순이익</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100" b="1" dirty="0">
                          <a:solidFill>
                            <a:srgbClr val="2DE2FF"/>
                          </a:solidFill>
                          <a:latin typeface="Noto Sans KR" pitchFamily="34" charset="0"/>
                          <a:ea typeface="Noto Sans KR" pitchFamily="34" charset="-122"/>
                          <a:cs typeface="Noto Sans KR" pitchFamily="34" charset="-120"/>
                        </a:rPr>
                        <a:t>근거</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512064">
                <a:tc>
                  <a:txBody>
                    <a:bodyPr/>
                    <a:lstStyle/>
                    <a:p>
                      <a:pPr algn="l" indent="0" marL="0">
                        <a:buNone/>
                      </a:pPr>
                      <a:r>
                        <a:rPr lang="ko-KR" altLang="en-US" sz="1100" dirty="0">
                          <a:solidFill>
                            <a:srgbClr val="F3F6FF"/>
                          </a:solidFill>
                          <a:latin typeface="Noto Sans KR" pitchFamily="34" charset="0"/>
                          <a:ea typeface="Noto Sans KR" pitchFamily="34" charset="-122"/>
                          <a:cs typeface="Noto Sans KR" pitchFamily="34" charset="-120"/>
                        </a:rPr>
                        <a:t>H2 원가 기준 (8월 거래, FOB = 한국 도착 원가의 0.92배)</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$13.22</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00" b="1" dirty="0">
                          <a:solidFill>
                            <a:srgbClr val="F3F6FF"/>
                          </a:solidFill>
                          <a:latin typeface="Noto Sans KR" pitchFamily="34" charset="0"/>
                          <a:ea typeface="Noto Sans KR" pitchFamily="34" charset="-122"/>
                          <a:cs typeface="Noto Sans KR" pitchFamily="34" charset="-120"/>
                        </a:rPr>
                        <a:t>$11.87</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100" dirty="0">
                          <a:solidFill>
                            <a:srgbClr val="F3F6FF"/>
                          </a:solidFill>
                          <a:latin typeface="Noto Sans KR" pitchFamily="34" charset="0"/>
                          <a:ea typeface="Noto Sans KR" pitchFamily="34" charset="-122"/>
                          <a:cs typeface="Noto Sans KR" pitchFamily="34" charset="-120"/>
                        </a:rPr>
                        <a:t>근거 기반 원가, FOB 계수는 경영진 추정</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512064">
                <a:tc>
                  <a:txBody>
                    <a:bodyPr/>
                    <a:lstStyle/>
                    <a:p>
                      <a:pPr algn="l" indent="0" marL="0">
                        <a:buNone/>
                      </a:pPr>
                      <a:r>
                        <a:rPr lang="ko-KR" altLang="en-US" sz="1100" dirty="0">
                          <a:solidFill>
                            <a:srgbClr val="F3F6FF"/>
                          </a:solidFill>
                          <a:latin typeface="Noto Sans KR" pitchFamily="34" charset="0"/>
                          <a:ea typeface="Noto Sans KR" pitchFamily="34" charset="-122"/>
                          <a:cs typeface="Noto Sans KR" pitchFamily="34" charset="-120"/>
                        </a:rPr>
                        <a:t>8월 모델 가정 (가격의 38%)</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$17.10</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00" b="1" dirty="0">
                          <a:solidFill>
                            <a:srgbClr val="F3F6FF"/>
                          </a:solidFill>
                          <a:latin typeface="Noto Sans KR" pitchFamily="34" charset="0"/>
                          <a:ea typeface="Noto Sans KR" pitchFamily="34" charset="-122"/>
                          <a:cs typeface="Noto Sans KR" pitchFamily="34" charset="-120"/>
                        </a:rPr>
                        <a:t>$8.00</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100" dirty="0">
                          <a:solidFill>
                            <a:srgbClr val="F3F6FF"/>
                          </a:solidFill>
                          <a:latin typeface="Noto Sans KR" pitchFamily="34" charset="0"/>
                          <a:ea typeface="Noto Sans KR" pitchFamily="34" charset="-122"/>
                          <a:cs typeface="Noto Sans KR" pitchFamily="34" charset="-120"/>
                        </a:rPr>
                        <a:t>근거 기반 (8월 제안서 가정)</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512064">
                <a:tc>
                  <a:txBody>
                    <a:bodyPr/>
                    <a:lstStyle/>
                    <a:p>
                      <a:pPr algn="l" indent="0" marL="0">
                        <a:buNone/>
                      </a:pPr>
                      <a:r>
                        <a:rPr lang="ko-KR" altLang="en-US" sz="1100" dirty="0">
                          <a:solidFill>
                            <a:srgbClr val="F3F6FF"/>
                          </a:solidFill>
                          <a:latin typeface="Noto Sans KR" pitchFamily="34" charset="0"/>
                          <a:ea typeface="Noto Sans KR" pitchFamily="34" charset="-122"/>
                          <a:cs typeface="Noto Sans KR" pitchFamily="34" charset="-120"/>
                        </a:rPr>
                        <a:t>Alibaba 벤치마크, 낮은 값 (유사 30 ft AOC FOB $17)</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$26.70</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00" b="1" dirty="0">
                          <a:solidFill>
                            <a:srgbClr val="F3F6FF"/>
                          </a:solidFill>
                          <a:latin typeface="Noto Sans KR" pitchFamily="34" charset="0"/>
                          <a:ea typeface="Noto Sans KR" pitchFamily="34" charset="-122"/>
                          <a:cs typeface="Noto Sans KR" pitchFamily="34" charset="-120"/>
                        </a:rPr>
                        <a:t>($1.61)</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100" dirty="0">
                          <a:solidFill>
                            <a:srgbClr val="F3F6FF"/>
                          </a:solidFill>
                          <a:latin typeface="Noto Sans KR" pitchFamily="34" charset="0"/>
                          <a:ea typeface="Noto Sans KR" pitchFamily="34" charset="-122"/>
                          <a:cs typeface="Noto Sans KR" pitchFamily="34" charset="-120"/>
                        </a:rPr>
                        <a:t>근거 기반 견적, 주의 표시</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512064">
                <a:tc>
                  <a:txBody>
                    <a:bodyPr/>
                    <a:lstStyle/>
                    <a:p>
                      <a:pPr algn="l" indent="0" marL="0">
                        <a:buNone/>
                      </a:pPr>
                      <a:r>
                        <a:rPr lang="ko-KR" altLang="en-US" sz="1100" dirty="0">
                          <a:solidFill>
                            <a:srgbClr val="F3F6FF"/>
                          </a:solidFill>
                          <a:latin typeface="Noto Sans KR" pitchFamily="34" charset="0"/>
                          <a:ea typeface="Noto Sans KR" pitchFamily="34" charset="-122"/>
                          <a:cs typeface="Noto Sans KR" pitchFamily="34" charset="-120"/>
                        </a:rPr>
                        <a:t>Alibaba 벤치마크, 높은 값 (FOB $22)</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00" dirty="0">
                          <a:solidFill>
                            <a:srgbClr val="F3F6FF"/>
                          </a:solidFill>
                          <a:latin typeface="Noto Sans KR" pitchFamily="34" charset="0"/>
                          <a:ea typeface="Noto Sans KR" pitchFamily="34" charset="-122"/>
                          <a:cs typeface="Noto Sans KR" pitchFamily="34" charset="-120"/>
                        </a:rPr>
                        <a:t>$33.71</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00" b="1" dirty="0">
                          <a:solidFill>
                            <a:srgbClr val="F3F6FF"/>
                          </a:solidFill>
                          <a:latin typeface="Noto Sans KR" pitchFamily="34" charset="0"/>
                          <a:ea typeface="Noto Sans KR" pitchFamily="34" charset="-122"/>
                          <a:cs typeface="Noto Sans KR" pitchFamily="34" charset="-120"/>
                        </a:rPr>
                        <a:t>($8.61)</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100" dirty="0">
                          <a:solidFill>
                            <a:srgbClr val="F3F6FF"/>
                          </a:solidFill>
                          <a:latin typeface="Noto Sans KR" pitchFamily="34" charset="0"/>
                          <a:ea typeface="Noto Sans KR" pitchFamily="34" charset="-122"/>
                          <a:cs typeface="Noto Sans KR" pitchFamily="34" charset="-120"/>
                        </a:rPr>
                        <a:t>근거 기반 견적, 주의 표시</a:t>
                      </a:r>
                      <a:endParaRPr lang="ko-KR" altLang="en-US" sz="11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bl>
          </a:graphicData>
        </a:graphic>
      </p:graphicFrame>
      <p:sp>
        <p:nvSpPr>
          <p:cNvPr id="5" name="Text 1"/>
          <p:cNvSpPr txBox="1"/>
          <p:nvPr/>
        </p:nvSpPr>
        <p:spPr>
          <a:xfrm>
            <a:off x="457200" y="3767328"/>
            <a:ext cx="7223760" cy="365760"/>
          </a:xfrm>
          <a:prstGeom prst="rect">
            <a:avLst/>
          </a:prstGeom>
          <a:noFill/>
          <a:ln/>
        </p:spPr>
        <p:txBody>
          <a:bodyPr wrap="square" lIns="0" tIns="0" rIns="0" bIns="0" rtlCol="0" anchor="t"/>
          <a:lstStyle/>
          <a:p>
            <a:pPr algn="l" indent="0" marL="0">
              <a:buNone/>
            </a:pPr>
            <a:r>
              <a:rPr lang="ko-KR" altLang="en-US" sz="1000" dirty="0">
                <a:solidFill>
                  <a:schemeClr val="tx2"/>
                </a:solidFill>
              </a:rPr>
              <a:t>순이익은 8월 수수료 구조(FBA $5.50) 기준입니다. 7번 슬라이드의 가격 사다리는 SKU 탭의 FBA 추정치 $4.90를 써서 $12.47가 나옵니다.</a:t>
            </a:r>
            <a:endParaRPr lang="ko-KR" altLang="en-US" sz="1000" dirty="0"/>
          </a:p>
        </p:txBody>
      </p:sp>
      <p:sp>
        <p:nvSpPr>
          <p:cNvPr id="6" name="card"/>
          <p:cNvSpPr/>
          <p:nvPr/>
        </p:nvSpPr>
        <p:spPr>
          <a:xfrm>
            <a:off x="457200" y="4160520"/>
            <a:ext cx="7223760" cy="1325880"/>
          </a:xfrm>
          <a:prstGeom prst="roundRect">
            <a:avLst>
              <a:gd name="adj" fmla="val 8276"/>
            </a:avLst>
          </a:prstGeom>
          <a:solidFill>
            <a:schemeClr val="bg2"/>
          </a:solidFill>
          <a:ln w="12700">
            <a:solidFill>
              <a:srgbClr val="141C36"/>
            </a:solidFill>
            <a:prstDash val="solid"/>
          </a:ln>
        </p:spPr>
      </p:sp>
      <p:sp>
        <p:nvSpPr>
          <p:cNvPr id="7" name="Text 3"/>
          <p:cNvSpPr txBox="1"/>
          <p:nvPr/>
        </p:nvSpPr>
        <p:spPr>
          <a:xfrm>
            <a:off x="685800" y="4206240"/>
            <a:ext cx="6766560" cy="292608"/>
          </a:xfrm>
          <a:prstGeom prst="rect">
            <a:avLst/>
          </a:prstGeom>
          <a:noFill/>
          <a:ln/>
        </p:spPr>
        <p:txBody>
          <a:bodyPr wrap="square" lIns="0" tIns="0" rIns="0" bIns="0" rtlCol="0" anchor="t"/>
          <a:lstStyle/>
          <a:p>
            <a:pPr algn="l" indent="0" marL="0">
              <a:buNone/>
            </a:pPr>
            <a:r>
              <a:rPr lang="ko-KR" altLang="en-US" sz="1400" b="1" dirty="0">
                <a:solidFill>
                  <a:schemeClr val="accent3"/>
                </a:solidFill>
              </a:rPr>
              <a:t>있는 그대로 말하면</a:t>
            </a:r>
            <a:endParaRPr lang="ko-KR" altLang="en-US" sz="1400" dirty="0"/>
          </a:p>
        </p:txBody>
      </p:sp>
      <p:sp>
        <p:nvSpPr>
          <p:cNvPr id="8" name="Text 4"/>
          <p:cNvSpPr txBox="1"/>
          <p:nvPr/>
        </p:nvSpPr>
        <p:spPr>
          <a:xfrm>
            <a:off x="685800" y="4498848"/>
            <a:ext cx="6766560" cy="960120"/>
          </a:xfrm>
          <a:prstGeom prst="rect">
            <a:avLst/>
          </a:prstGeom>
          <a:noFill/>
          <a:ln/>
        </p:spPr>
        <p:txBody>
          <a:bodyPr wrap="square" lIns="0" tIns="0" rIns="0" bIns="0" rtlCol="0" anchor="t"/>
          <a:lstStyle/>
          <a:p>
            <a:pPr algn="l" indent="0" marL="0">
              <a:buNone/>
            </a:pPr>
            <a:r>
              <a:rPr lang="ko-KR" altLang="en-US" sz="1200" dirty="0">
                <a:solidFill>
                  <a:schemeClr val="tx1"/>
                </a:solidFill>
              </a:rPr>
              <a:t>Alibaba 원가면 주력 SKU는 $44.99에서 적자입니다. H2 원가 기준은 개당 FOB $7.38로 $17에서 $22 견적보다 훨씬 낮습니다. 공장이 미국 물량의 서면 FOB 가격을 확인해 주기 전까지 이 격차가 계획의 가장 큰 리스크입니다.</a:t>
            </a:r>
            <a:endParaRPr lang="ko-KR" altLang="en-US" sz="1200" dirty="0"/>
          </a:p>
        </p:txBody>
      </p:sp>
      <p:sp>
        <p:nvSpPr>
          <p:cNvPr id="9" name="Text 5"/>
          <p:cNvSpPr txBox="1"/>
          <p:nvPr/>
        </p:nvSpPr>
        <p:spPr>
          <a:xfrm>
            <a:off x="457200" y="5532120"/>
            <a:ext cx="7223760" cy="777240"/>
          </a:xfrm>
          <a:prstGeom prst="rect">
            <a:avLst/>
          </a:prstGeom>
          <a:noFill/>
          <a:ln/>
        </p:spPr>
        <p:txBody>
          <a:bodyPr wrap="square" lIns="0" tIns="0" rIns="0" bIns="0" rtlCol="0" anchor="t"/>
          <a:lstStyle/>
          <a:p>
            <a:pPr algn="l" indent="0" marL="0">
              <a:buNone/>
            </a:pPr>
            <a:r>
              <a:rPr lang="ko-KR" altLang="en-US" sz="1200" b="1" dirty="0">
                <a:solidFill>
                  <a:schemeClr val="accent5"/>
                </a:solidFill>
              </a:rPr>
              <a:t>1주차 조치: 출시 SKU 5개에 대해 300, 1,000, 5,000개 기준 공장 서면 FOB 견적서 [PLACEHOLDER: 공장 FOB 견적서].</a:t>
            </a:r>
            <a:endParaRPr lang="ko-KR" altLang="en-US" sz="1200" dirty="0"/>
          </a:p>
        </p:txBody>
      </p:sp>
      <p:sp>
        <p:nvSpPr>
          <p:cNvPr id="10" name="Text 6"/>
          <p:cNvSpPr txBox="1"/>
          <p:nvPr/>
        </p:nvSpPr>
        <p:spPr>
          <a:xfrm>
            <a:off x="7909560" y="1188720"/>
            <a:ext cx="3822192" cy="320040"/>
          </a:xfrm>
          <a:prstGeom prst="rect">
            <a:avLst/>
          </a:prstGeom>
          <a:noFill/>
          <a:ln/>
        </p:spPr>
        <p:txBody>
          <a:bodyPr wrap="square" lIns="0" tIns="0" rIns="0" bIns="0" rtlCol="0" anchor="t"/>
          <a:lstStyle/>
          <a:p>
            <a:pPr algn="l" indent="0" marL="0">
              <a:buNone/>
            </a:pPr>
            <a:r>
              <a:rPr lang="ko-KR" altLang="en-US" sz="1300" b="1" dirty="0">
                <a:solidFill>
                  <a:schemeClr val="tx1"/>
                </a:solidFill>
              </a:rPr>
              <a:t>원가 기준별 주력 SKU 개당 순이익</a:t>
            </a:r>
            <a:endParaRPr lang="ko-KR" altLang="en-US" sz="1300" dirty="0"/>
          </a:p>
        </p:txBody>
      </p:sp>
      <p:graphicFrame>
        <p:nvGraphicFramePr>
          <p:cNvPr id="11" name="Chart 0" descr=""/>
          <p:cNvGraphicFramePr/>
          <p:nvPr/>
        </p:nvGraphicFramePr>
        <p:xfrm>
          <a:off x="7909560" y="1508760"/>
          <a:ext cx="3822192" cy="39319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22</a:t>
            </a:fld>
            <a:endParaRPr lang="ko-KR"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18개월 아마존 US 손익</a:t>
            </a:r>
            <a:endParaRPr lang="ko-KR" altLang="en-US" sz="3200" dirty="0"/>
          </a:p>
        </p:txBody>
      </p:sp>
      <p:graphicFrame>
        <p:nvGraphicFramePr>
          <p:cNvPr id="4" name="Chart 0" descr=""/>
          <p:cNvGraphicFramePr/>
          <p:nvPr/>
        </p:nvGraphicFramePr>
        <p:xfrm>
          <a:off x="457200" y="1188720"/>
          <a:ext cx="7269480" cy="411480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457200" y="5394960"/>
            <a:ext cx="11277295" cy="914400"/>
          </a:xfrm>
          <a:prstGeom prst="rect">
            <a:avLst/>
          </a:prstGeom>
          <a:noFill/>
          <a:ln/>
        </p:spPr>
        <p:txBody>
          <a:bodyPr wrap="square" lIns="0" tIns="0" rIns="0" bIns="0" rtlCol="0" anchor="t"/>
          <a:lstStyle/>
          <a:p>
            <a:pPr algn="l" indent="0" marL="0">
              <a:buNone/>
            </a:pPr>
            <a:r>
              <a:rPr lang="ko-KR" altLang="en-US" sz="1100" dirty="0">
                <a:solidFill>
                  <a:schemeClr val="tx2"/>
                </a:solidFill>
              </a:rPr>
              <a:t>Medium은 8월 모델을 재현합니다 (근거 기반): ASP $42, 착지 COGS 38%, 반품 3%, 광고비는 단계별로 매출의 30%, 22%, 15%, 11%, 고정비 월 $850, 셀러 수수료 $39.99, 출시 비용 $9,500. Low와 High는 보정된 경영진 추정입니다. Low와 Medium을 가르는 단 하나의 변수는 관세 판정과 그에 따른 원가입니다. 워크북의 월 표기는 Month 1에서 Month 24이며, 손익분기 8개월차는 워크북의 Month 8입니다.</a:t>
            </a:r>
            <a:endParaRPr lang="ko-KR" alt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955280" y="1188720"/>
          <a:ext cx="3776472" cy="914400"/>
        </p:xfrm>
        <a:graphic>
          <a:graphicData uri="http://schemas.openxmlformats.org/drawingml/2006/table">
            <a:tbl>
              <a:tblPr/>
              <a:tblGrid>
                <a:gridCol w="1490472"/>
                <a:gridCol w="731520"/>
                <a:gridCol w="822960"/>
                <a:gridCol w="731520"/>
              </a:tblGrid>
              <a:tr h="411480">
                <a:tc>
                  <a:txBody>
                    <a:bodyPr/>
                    <a:lstStyle/>
                    <a:p>
                      <a:pPr algn="l" indent="0" marL="0">
                        <a:buNone/>
                      </a:pP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Low</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Medium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High</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411480">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매출</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$633K</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$1.17M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$1.85M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11480">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순이익</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($20K)</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$153K</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$447K</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11480">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순이익률</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(3.1%)</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13.1%</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24.2%</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11480">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누적 손익분기</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없음</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8개월차</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5개월차</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11480">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18개월차 연환산 매출</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$834K</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$1.54M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$2.44M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11480">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출구 순이익률 (18개월차)</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2.2%</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17.2%</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27.3%</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11480">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판매 수량</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16,662</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27,770</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43,047</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23</a:t>
            </a:fld>
            <a:endParaRPr lang="ko-KR"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5년 궤적</a:t>
            </a:r>
            <a:endParaRPr lang="ko-KR" altLang="en-US" sz="3200" dirty="0"/>
          </a:p>
        </p:txBody>
      </p:sp>
      <p:graphicFrame>
        <p:nvGraphicFramePr>
          <p:cNvPr id="4" name="Chart 0" descr=""/>
          <p:cNvGraphicFramePr/>
          <p:nvPr/>
        </p:nvGraphicFramePr>
        <p:xfrm>
          <a:off x="457200" y="1188720"/>
          <a:ext cx="6675120" cy="4937760"/>
        </p:xfrm>
        <a:graphic xmlns:a="http://schemas.openxmlformats.org/drawingml/2006/main">
          <a:graphicData uri="http://schemas.openxmlformats.org/drawingml/2006/chart">
            <c:chart xmlns:c="http://schemas.openxmlformats.org/drawingml/2006/chart" r:id="rId1"/>
          </a:graphicData>
        </a:graphic>
      </p:graphicFrame>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360920" y="1188720"/>
          <a:ext cx="4370832" cy="914400"/>
        </p:xfrm>
        <a:graphic>
          <a:graphicData uri="http://schemas.openxmlformats.org/drawingml/2006/table">
            <a:tbl>
              <a:tblPr/>
              <a:tblGrid>
                <a:gridCol w="713232"/>
                <a:gridCol w="548640"/>
                <a:gridCol w="566928"/>
                <a:gridCol w="566928"/>
                <a:gridCol w="566928"/>
                <a:gridCol w="566928"/>
                <a:gridCol w="841248"/>
              </a:tblGrid>
              <a:tr h="411480">
                <a:tc>
                  <a:txBody>
                    <a:bodyPr/>
                    <a:lstStyle/>
                    <a:p>
                      <a:pPr algn="l" indent="0" marL="0">
                        <a:buNone/>
                      </a:pP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950" b="1" dirty="0">
                          <a:solidFill>
                            <a:srgbClr val="2DE2FF"/>
                          </a:solidFill>
                          <a:latin typeface="Noto Sans KR" pitchFamily="34" charset="0"/>
                          <a:ea typeface="Noto Sans KR" pitchFamily="34" charset="-122"/>
                          <a:cs typeface="Noto Sans KR" pitchFamily="34" charset="-120"/>
                        </a:rPr>
                        <a:t>1년차</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950" b="1" dirty="0">
                          <a:solidFill>
                            <a:srgbClr val="2DE2FF"/>
                          </a:solidFill>
                          <a:latin typeface="Noto Sans KR" pitchFamily="34" charset="0"/>
                          <a:ea typeface="Noto Sans KR" pitchFamily="34" charset="-122"/>
                          <a:cs typeface="Noto Sans KR" pitchFamily="34" charset="-120"/>
                        </a:rPr>
                        <a:t>2년차</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950" b="1" dirty="0">
                          <a:solidFill>
                            <a:srgbClr val="2DE2FF"/>
                          </a:solidFill>
                          <a:latin typeface="Noto Sans KR" pitchFamily="34" charset="0"/>
                          <a:ea typeface="Noto Sans KR" pitchFamily="34" charset="-122"/>
                          <a:cs typeface="Noto Sans KR" pitchFamily="34" charset="-120"/>
                        </a:rPr>
                        <a:t>3년차</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950" b="1" dirty="0">
                          <a:solidFill>
                            <a:srgbClr val="2DE2FF"/>
                          </a:solidFill>
                          <a:latin typeface="Noto Sans KR" pitchFamily="34" charset="0"/>
                          <a:ea typeface="Noto Sans KR" pitchFamily="34" charset="-122"/>
                          <a:cs typeface="Noto Sans KR" pitchFamily="34" charset="-120"/>
                        </a:rPr>
                        <a:t>4년차</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950" b="1" dirty="0">
                          <a:solidFill>
                            <a:srgbClr val="2DE2FF"/>
                          </a:solidFill>
                          <a:latin typeface="Noto Sans KR" pitchFamily="34" charset="0"/>
                          <a:ea typeface="Noto Sans KR" pitchFamily="34" charset="-122"/>
                          <a:cs typeface="Noto Sans KR" pitchFamily="34" charset="-120"/>
                        </a:rPr>
                        <a:t>5년차</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950" b="1" dirty="0">
                          <a:solidFill>
                            <a:srgbClr val="2DE2FF"/>
                          </a:solidFill>
                          <a:latin typeface="Noto Sans KR" pitchFamily="34" charset="0"/>
                          <a:ea typeface="Noto Sans KR" pitchFamily="34" charset="-122"/>
                          <a:cs typeface="Noto Sans KR" pitchFamily="34" charset="-120"/>
                        </a:rPr>
                        <a:t>5년차 순이익</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411480">
                <a:tc>
                  <a:txBody>
                    <a:bodyPr/>
                    <a:lstStyle/>
                    <a:p>
                      <a:pPr algn="l" indent="0" marL="0">
                        <a:buNone/>
                      </a:pPr>
                      <a:r>
                        <a:rPr lang="ko-KR" altLang="en-US" sz="950" b="1" dirty="0">
                          <a:solidFill>
                            <a:srgbClr val="F3F6FF"/>
                          </a:solidFill>
                          <a:latin typeface="Noto Sans KR" pitchFamily="34" charset="0"/>
                          <a:ea typeface="Noto Sans KR" pitchFamily="34" charset="-122"/>
                          <a:cs typeface="Noto Sans KR" pitchFamily="34" charset="-120"/>
                        </a:rPr>
                        <a:t>Low</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950" dirty="0">
                          <a:solidFill>
                            <a:srgbClr val="F3F6FF"/>
                          </a:solidFill>
                          <a:latin typeface="Noto Sans KR" pitchFamily="34" charset="0"/>
                          <a:ea typeface="Noto Sans KR" pitchFamily="34" charset="-122"/>
                          <a:cs typeface="Noto Sans KR" pitchFamily="34" charset="-120"/>
                        </a:rPr>
                        <a:t>$268K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950" dirty="0">
                          <a:solidFill>
                            <a:srgbClr val="F3F6FF"/>
                          </a:solidFill>
                          <a:latin typeface="Noto Sans KR" pitchFamily="34" charset="0"/>
                          <a:ea typeface="Noto Sans KR" pitchFamily="34" charset="-122"/>
                          <a:cs typeface="Noto Sans KR" pitchFamily="34" charset="-120"/>
                        </a:rPr>
                        <a:t>$642K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950" dirty="0">
                          <a:solidFill>
                            <a:srgbClr val="F3F6FF"/>
                          </a:solidFill>
                          <a:latin typeface="Noto Sans KR" pitchFamily="34" charset="0"/>
                          <a:ea typeface="Noto Sans KR" pitchFamily="34" charset="-122"/>
                          <a:cs typeface="Noto Sans KR" pitchFamily="34" charset="-120"/>
                        </a:rPr>
                        <a:t>$738K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950" dirty="0">
                          <a:solidFill>
                            <a:srgbClr val="F3F6FF"/>
                          </a:solidFill>
                          <a:latin typeface="Noto Sans KR" pitchFamily="34" charset="0"/>
                          <a:ea typeface="Noto Sans KR" pitchFamily="34" charset="-122"/>
                          <a:cs typeface="Noto Sans KR" pitchFamily="34" charset="-120"/>
                        </a:rPr>
                        <a:t>$763K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950" dirty="0">
                          <a:solidFill>
                            <a:srgbClr val="F3F6FF"/>
                          </a:solidFill>
                          <a:latin typeface="Noto Sans KR" pitchFamily="34" charset="0"/>
                          <a:ea typeface="Noto Sans KR" pitchFamily="34" charset="-122"/>
                          <a:cs typeface="Noto Sans KR" pitchFamily="34" charset="-120"/>
                        </a:rPr>
                        <a:t>$768K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950" dirty="0">
                          <a:solidFill>
                            <a:srgbClr val="FFB547"/>
                          </a:solidFill>
                          <a:latin typeface="Noto Sans KR" pitchFamily="34" charset="0"/>
                          <a:ea typeface="Noto Sans KR" pitchFamily="34" charset="-122"/>
                          <a:cs typeface="Noto Sans KR" pitchFamily="34" charset="-120"/>
                        </a:rPr>
                        <a:t>($2K), (0.3%)</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11480">
                <a:tc>
                  <a:txBody>
                    <a:bodyPr/>
                    <a:lstStyle/>
                    <a:p>
                      <a:pPr algn="l" indent="0" marL="0">
                        <a:buNone/>
                      </a:pPr>
                      <a:r>
                        <a:rPr lang="ko-KR" altLang="en-US" sz="950" b="1" dirty="0">
                          <a:solidFill>
                            <a:srgbClr val="F3F6FF"/>
                          </a:solidFill>
                          <a:latin typeface="Noto Sans KR" pitchFamily="34" charset="0"/>
                          <a:ea typeface="Noto Sans KR" pitchFamily="34" charset="-122"/>
                          <a:cs typeface="Noto Sans KR" pitchFamily="34" charset="-120"/>
                        </a:rPr>
                        <a:t>Medium</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950" dirty="0">
                          <a:solidFill>
                            <a:srgbClr val="F3F6FF"/>
                          </a:solidFill>
                          <a:latin typeface="Noto Sans KR" pitchFamily="34" charset="0"/>
                          <a:ea typeface="Noto Sans KR" pitchFamily="34" charset="-122"/>
                          <a:cs typeface="Noto Sans KR" pitchFamily="34" charset="-120"/>
                        </a:rPr>
                        <a:t>$494K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950" dirty="0">
                          <a:solidFill>
                            <a:srgbClr val="F3F6FF"/>
                          </a:solidFill>
                          <a:latin typeface="Noto Sans KR" pitchFamily="34" charset="0"/>
                          <a:ea typeface="Noto Sans KR" pitchFamily="34" charset="-122"/>
                          <a:cs typeface="Noto Sans KR" pitchFamily="34" charset="-120"/>
                        </a:rPr>
                        <a:t>$1.77M</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950" dirty="0">
                          <a:solidFill>
                            <a:srgbClr val="F3F6FF"/>
                          </a:solidFill>
                          <a:latin typeface="Noto Sans KR" pitchFamily="34" charset="0"/>
                          <a:ea typeface="Noto Sans KR" pitchFamily="34" charset="-122"/>
                          <a:cs typeface="Noto Sans KR" pitchFamily="34" charset="-120"/>
                        </a:rPr>
                        <a:t>$2.61M</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950" dirty="0">
                          <a:solidFill>
                            <a:srgbClr val="F3F6FF"/>
                          </a:solidFill>
                          <a:latin typeface="Noto Sans KR" pitchFamily="34" charset="0"/>
                          <a:ea typeface="Noto Sans KR" pitchFamily="34" charset="-122"/>
                          <a:cs typeface="Noto Sans KR" pitchFamily="34" charset="-120"/>
                        </a:rPr>
                        <a:t>$3.66M</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950" dirty="0">
                          <a:solidFill>
                            <a:srgbClr val="F3F6FF"/>
                          </a:solidFill>
                          <a:latin typeface="Noto Sans KR" pitchFamily="34" charset="0"/>
                          <a:ea typeface="Noto Sans KR" pitchFamily="34" charset="-122"/>
                          <a:cs typeface="Noto Sans KR" pitchFamily="34" charset="-120"/>
                        </a:rPr>
                        <a:t>$4.58M</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950" dirty="0">
                          <a:solidFill>
                            <a:srgbClr val="3DDC97"/>
                          </a:solidFill>
                          <a:latin typeface="Noto Sans KR" pitchFamily="34" charset="0"/>
                          <a:ea typeface="Noto Sans KR" pitchFamily="34" charset="-122"/>
                          <a:cs typeface="Noto Sans KR" pitchFamily="34" charset="-120"/>
                        </a:rPr>
                        <a:t>$613K, 13.4%</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11480">
                <a:tc>
                  <a:txBody>
                    <a:bodyPr/>
                    <a:lstStyle/>
                    <a:p>
                      <a:pPr algn="l" indent="0" marL="0">
                        <a:buNone/>
                      </a:pPr>
                      <a:r>
                        <a:rPr lang="ko-KR" altLang="en-US" sz="950" b="1" dirty="0">
                          <a:solidFill>
                            <a:srgbClr val="F3F6FF"/>
                          </a:solidFill>
                          <a:latin typeface="Noto Sans KR" pitchFamily="34" charset="0"/>
                          <a:ea typeface="Noto Sans KR" pitchFamily="34" charset="-122"/>
                          <a:cs typeface="Noto Sans KR" pitchFamily="34" charset="-120"/>
                        </a:rPr>
                        <a:t>High</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950" dirty="0">
                          <a:solidFill>
                            <a:srgbClr val="F3F6FF"/>
                          </a:solidFill>
                          <a:latin typeface="Noto Sans KR" pitchFamily="34" charset="0"/>
                          <a:ea typeface="Noto Sans KR" pitchFamily="34" charset="-122"/>
                          <a:cs typeface="Noto Sans KR" pitchFamily="34" charset="-120"/>
                        </a:rPr>
                        <a:t>$785K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950" dirty="0">
                          <a:solidFill>
                            <a:srgbClr val="F3F6FF"/>
                          </a:solidFill>
                          <a:latin typeface="Noto Sans KR" pitchFamily="34" charset="0"/>
                          <a:ea typeface="Noto Sans KR" pitchFamily="34" charset="-122"/>
                          <a:cs typeface="Noto Sans KR" pitchFamily="34" charset="-120"/>
                        </a:rPr>
                        <a:t>$2.84M</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950" dirty="0">
                          <a:solidFill>
                            <a:srgbClr val="F3F6FF"/>
                          </a:solidFill>
                          <a:latin typeface="Noto Sans KR" pitchFamily="34" charset="0"/>
                          <a:ea typeface="Noto Sans KR" pitchFamily="34" charset="-122"/>
                          <a:cs typeface="Noto Sans KR" pitchFamily="34" charset="-120"/>
                        </a:rPr>
                        <a:t>$4.42M</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950" dirty="0">
                          <a:solidFill>
                            <a:srgbClr val="F3F6FF"/>
                          </a:solidFill>
                          <a:latin typeface="Noto Sans KR" pitchFamily="34" charset="0"/>
                          <a:ea typeface="Noto Sans KR" pitchFamily="34" charset="-122"/>
                          <a:cs typeface="Noto Sans KR" pitchFamily="34" charset="-120"/>
                        </a:rPr>
                        <a:t>$6.47M</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950" dirty="0">
                          <a:solidFill>
                            <a:srgbClr val="F3F6FF"/>
                          </a:solidFill>
                          <a:latin typeface="Noto Sans KR" pitchFamily="34" charset="0"/>
                          <a:ea typeface="Noto Sans KR" pitchFamily="34" charset="-122"/>
                          <a:cs typeface="Noto Sans KR" pitchFamily="34" charset="-120"/>
                        </a:rPr>
                        <a:t>$8.30M</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950" dirty="0">
                          <a:solidFill>
                            <a:srgbClr val="3DDC97"/>
                          </a:solidFill>
                          <a:latin typeface="Noto Sans KR" pitchFamily="34" charset="0"/>
                          <a:ea typeface="Noto Sans KR" pitchFamily="34" charset="-122"/>
                          <a:cs typeface="Noto Sans KR" pitchFamily="34" charset="-120"/>
                        </a:rPr>
                        <a:t>$1.84M, 22.2%</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bl>
          </a:graphicData>
        </a:graphic>
      </p:graphicFrame>
      <p:sp>
        <p:nvSpPr>
          <p:cNvPr id="6" name="card"/>
          <p:cNvSpPr/>
          <p:nvPr/>
        </p:nvSpPr>
        <p:spPr>
          <a:xfrm>
            <a:off x="7360920" y="3063240"/>
            <a:ext cx="4370832" cy="3063240"/>
          </a:xfrm>
          <a:prstGeom prst="roundRect">
            <a:avLst>
              <a:gd name="adj" fmla="val 3582"/>
            </a:avLst>
          </a:prstGeom>
          <a:solidFill>
            <a:srgbClr val="10172D"/>
          </a:solidFill>
          <a:ln w="12700">
            <a:solidFill>
              <a:srgbClr val="10172D"/>
            </a:solidFill>
            <a:prstDash val="solid"/>
          </a:ln>
        </p:spPr>
      </p:sp>
      <p:sp>
        <p:nvSpPr>
          <p:cNvPr id="7" name="Text 2"/>
          <p:cNvSpPr txBox="1"/>
          <p:nvPr/>
        </p:nvSpPr>
        <p:spPr>
          <a:xfrm>
            <a:off x="7589520" y="3200400"/>
            <a:ext cx="3931920" cy="2834640"/>
          </a:xfrm>
          <a:prstGeom prst="rect">
            <a:avLst/>
          </a:prstGeom>
          <a:noFill/>
          <a:ln/>
        </p:spPr>
        <p:txBody>
          <a:bodyPr wrap="square" lIns="0" tIns="0" rIns="0" bIns="0" rtlCol="0" anchor="t"/>
          <a:lstStyle/>
          <a:p>
            <a:pPr algn="l" indent="0" marL="0">
              <a:buNone/>
            </a:pPr>
            <a:r>
              <a:rPr lang="ko-KR" altLang="en-US" sz="1400" dirty="0">
                <a:solidFill>
                  <a:schemeClr val="tx1"/>
                </a:solidFill>
              </a:rPr>
              <a:t>누적 막대: Medium 채널별 매출. 1년차는 아마존 US만이며 18개월 모델과 일치합니다. 2년차에 eBay와 Walmart 오버플로와 B2B 설치업체, 3년차에 DTC 사이트와 로드맵 SKU, 4년차와 5년차에 아마존 캐나다와 프로 라인을 더합니다.</a:t>
            </a:r>
            <a:endParaRPr lang="ko-KR" alt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24</a:t>
            </a:fld>
            <a:endParaRPr lang="ko-KR"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각 밴드가 성립하려면</a:t>
            </a:r>
            <a:endParaRPr lang="ko-KR" altLang="en-US" sz="3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7295" cy="914400"/>
        </p:xfrm>
        <a:graphic>
          <a:graphicData uri="http://schemas.openxmlformats.org/drawingml/2006/table">
            <a:tbl>
              <a:tblPr/>
              <a:tblGrid>
                <a:gridCol w="2651760"/>
                <a:gridCol w="2743200"/>
                <a:gridCol w="3017520"/>
                <a:gridCol w="2862072"/>
              </a:tblGrid>
              <a:tr h="420624">
                <a:tc>
                  <a:txBody>
                    <a:bodyPr/>
                    <a:lstStyle/>
                    <a:p>
                      <a:pPr algn="l" indent="0" marL="0">
                        <a:buNone/>
                      </a:pPr>
                      <a:r>
                        <a:rPr lang="ko-KR" altLang="en-US" sz="1050" b="1" dirty="0">
                          <a:solidFill>
                            <a:srgbClr val="2DE2FF"/>
                          </a:solidFill>
                          <a:latin typeface="Noto Sans KR" pitchFamily="34" charset="0"/>
                          <a:ea typeface="Noto Sans KR" pitchFamily="34" charset="-122"/>
                          <a:cs typeface="Noto Sans KR" pitchFamily="34" charset="-120"/>
                        </a:rPr>
                        <a:t>동인</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050" b="1" dirty="0">
                          <a:solidFill>
                            <a:srgbClr val="2DE2FF"/>
                          </a:solidFill>
                          <a:latin typeface="Noto Sans KR" pitchFamily="34" charset="0"/>
                          <a:ea typeface="Noto Sans KR" pitchFamily="34" charset="-122"/>
                          <a:cs typeface="Noto Sans KR" pitchFamily="34" charset="-120"/>
                        </a:rPr>
                        <a:t>Low</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050" b="1" dirty="0">
                          <a:solidFill>
                            <a:srgbClr val="2DE2FF"/>
                          </a:solidFill>
                          <a:latin typeface="Noto Sans KR" pitchFamily="34" charset="0"/>
                          <a:ea typeface="Noto Sans KR" pitchFamily="34" charset="-122"/>
                          <a:cs typeface="Noto Sans KR" pitchFamily="34" charset="-120"/>
                        </a:rPr>
                        <a:t>Medium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050" b="1" dirty="0">
                          <a:solidFill>
                            <a:srgbClr val="2DE2FF"/>
                          </a:solidFill>
                          <a:latin typeface="Noto Sans KR" pitchFamily="34" charset="0"/>
                          <a:ea typeface="Noto Sans KR" pitchFamily="34" charset="-122"/>
                          <a:cs typeface="Noto Sans KR" pitchFamily="34" charset="-120"/>
                        </a:rPr>
                        <a:t>High</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420624">
                <a:tc>
                  <a:txBody>
                    <a:bodyPr/>
                    <a:lstStyle/>
                    <a:p>
                      <a:pPr algn="l" indent="0" marL="0">
                        <a:buNone/>
                      </a:pPr>
                      <a:r>
                        <a:rPr lang="ko-KR" altLang="en-US" sz="1050" b="1" dirty="0">
                          <a:solidFill>
                            <a:srgbClr val="F3F6FF"/>
                          </a:solidFill>
                          <a:latin typeface="Noto Sans KR" pitchFamily="34" charset="0"/>
                          <a:ea typeface="Noto Sans KR" pitchFamily="34" charset="-122"/>
                          <a:cs typeface="Noto Sans KR" pitchFamily="34" charset="-120"/>
                        </a:rPr>
                        <a:t>아마존 수량: 1년차와 3년차에서 5년차 성장률</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7,062개, 이후 +10%, +8%, +5%</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2DE2FF"/>
                          </a:solidFill>
                          <a:latin typeface="Noto Sans KR" pitchFamily="34" charset="0"/>
                          <a:ea typeface="Noto Sans KR" pitchFamily="34" charset="-122"/>
                          <a:cs typeface="Noto Sans KR" pitchFamily="34" charset="-120"/>
                        </a:rPr>
                        <a:t>11,770개, 이후 +30%, +20%, +12%</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18,245개, 이후 +35%, +25%, +15%</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20624">
                <a:tc>
                  <a:txBody>
                    <a:bodyPr/>
                    <a:lstStyle/>
                    <a:p>
                      <a:pPr algn="l" indent="0" marL="0">
                        <a:buNone/>
                      </a:pPr>
                      <a:r>
                        <a:rPr lang="ko-KR" altLang="en-US" sz="1050" b="1" dirty="0">
                          <a:solidFill>
                            <a:srgbClr val="F3F6FF"/>
                          </a:solidFill>
                          <a:latin typeface="Noto Sans KR" pitchFamily="34" charset="0"/>
                          <a:ea typeface="Noto Sans KR" pitchFamily="34" charset="-122"/>
                          <a:cs typeface="Noto Sans KR" pitchFamily="34" charset="-120"/>
                        </a:rPr>
                        <a:t>ASP 1년차에서 5년차</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$38에서 $33.62</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2DE2FF"/>
                          </a:solidFill>
                          <a:latin typeface="Noto Sans KR" pitchFamily="34" charset="0"/>
                          <a:ea typeface="Noto Sans KR" pitchFamily="34" charset="-122"/>
                          <a:cs typeface="Noto Sans KR" pitchFamily="34" charset="-120"/>
                        </a:rPr>
                        <a:t>$42에서 $38.27</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$43에서 $40.42</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20624">
                <a:tc>
                  <a:txBody>
                    <a:bodyPr/>
                    <a:lstStyle/>
                    <a:p>
                      <a:pPr algn="l" indent="0" marL="0">
                        <a:buNone/>
                      </a:pPr>
                      <a:r>
                        <a:rPr lang="ko-KR" altLang="en-US" sz="1050" b="1" dirty="0">
                          <a:solidFill>
                            <a:srgbClr val="F3F6FF"/>
                          </a:solidFill>
                          <a:latin typeface="Noto Sans KR" pitchFamily="34" charset="0"/>
                          <a:ea typeface="Noto Sans KR" pitchFamily="34" charset="-122"/>
                          <a:cs typeface="Noto Sans KR" pitchFamily="34" charset="-120"/>
                        </a:rPr>
                        <a:t>착지 COGS 1년차에서 5년차</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43%에서 43%</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2DE2FF"/>
                          </a:solidFill>
                          <a:latin typeface="Noto Sans KR" pitchFamily="34" charset="0"/>
                          <a:ea typeface="Noto Sans KR" pitchFamily="34" charset="-122"/>
                          <a:cs typeface="Noto Sans KR" pitchFamily="34" charset="-120"/>
                        </a:rPr>
                        <a:t>38%에서 37.5%</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32%에서 32%</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20624">
                <a:tc>
                  <a:txBody>
                    <a:bodyPr/>
                    <a:lstStyle/>
                    <a:p>
                      <a:pPr algn="l" indent="0" marL="0">
                        <a:buNone/>
                      </a:pPr>
                      <a:r>
                        <a:rPr lang="ko-KR" altLang="en-US" sz="1050" b="1" dirty="0">
                          <a:solidFill>
                            <a:srgbClr val="F3F6FF"/>
                          </a:solidFill>
                          <a:latin typeface="Noto Sans KR" pitchFamily="34" charset="0"/>
                          <a:ea typeface="Noto Sans KR" pitchFamily="34" charset="-122"/>
                          <a:cs typeface="Noto Sans KR" pitchFamily="34" charset="-120"/>
                        </a:rPr>
                        <a:t>광고비 1년차에서 5년차 (하한 8%)</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24.1%에서 16.5%</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2DE2FF"/>
                          </a:solidFill>
                          <a:latin typeface="Noto Sans KR" pitchFamily="34" charset="0"/>
                          <a:ea typeface="Noto Sans KR" pitchFamily="34" charset="-122"/>
                          <a:cs typeface="Noto Sans KR" pitchFamily="34" charset="-120"/>
                        </a:rPr>
                        <a:t>17.1%에서 11.5%</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13.1%에서 9.5%</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20624">
                <a:tc>
                  <a:txBody>
                    <a:bodyPr/>
                    <a:lstStyle/>
                    <a:p>
                      <a:pPr algn="l" indent="0" marL="0">
                        <a:buNone/>
                      </a:pPr>
                      <a:r>
                        <a:rPr lang="ko-KR" altLang="en-US" sz="1050" b="1" dirty="0">
                          <a:solidFill>
                            <a:srgbClr val="F3F6FF"/>
                          </a:solidFill>
                          <a:latin typeface="Noto Sans KR" pitchFamily="34" charset="0"/>
                          <a:ea typeface="Noto Sans KR" pitchFamily="34" charset="-122"/>
                          <a:cs typeface="Noto Sans KR" pitchFamily="34" charset="-120"/>
                        </a:rPr>
                        <a:t>반품률</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4% 고정</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2DE2FF"/>
                          </a:solidFill>
                          <a:latin typeface="Noto Sans KR" pitchFamily="34" charset="0"/>
                          <a:ea typeface="Noto Sans KR" pitchFamily="34" charset="-122"/>
                          <a:cs typeface="Noto Sans KR" pitchFamily="34" charset="-120"/>
                        </a:rPr>
                        <a:t>3%, 이후 2.5%</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2.5%, 이후 2%</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20624">
                <a:tc>
                  <a:txBody>
                    <a:bodyPr/>
                    <a:lstStyle/>
                    <a:p>
                      <a:pPr algn="l" indent="0" marL="0">
                        <a:buNone/>
                      </a:pPr>
                      <a:r>
                        <a:rPr lang="ko-KR" altLang="en-US" sz="1050" b="1" dirty="0">
                          <a:solidFill>
                            <a:srgbClr val="F3F6FF"/>
                          </a:solidFill>
                          <a:latin typeface="Noto Sans KR" pitchFamily="34" charset="0"/>
                          <a:ea typeface="Noto Sans KR" pitchFamily="34" charset="-122"/>
                          <a:cs typeface="Noto Sans KR" pitchFamily="34" charset="-120"/>
                        </a:rPr>
                        <a:t>관세와 운송</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Copper 세율, 항공만</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2DE2FF"/>
                          </a:solidFill>
                          <a:latin typeface="Noto Sans KR" pitchFamily="34" charset="0"/>
                          <a:ea typeface="Noto Sans KR" pitchFamily="34" charset="-122"/>
                          <a:cs typeface="Noto Sans KR" pitchFamily="34" charset="-120"/>
                        </a:rPr>
                        <a:t>Copper 세율, 게이트 후 해상</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Fiber 판정, 해상, 물량 단가</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20624">
                <a:tc>
                  <a:txBody>
                    <a:bodyPr/>
                    <a:lstStyle/>
                    <a:p>
                      <a:pPr algn="l" indent="0" marL="0">
                        <a:buNone/>
                      </a:pPr>
                      <a:r>
                        <a:rPr lang="ko-KR" altLang="en-US" sz="1050" b="1" dirty="0">
                          <a:solidFill>
                            <a:srgbClr val="F3F6FF"/>
                          </a:solidFill>
                          <a:latin typeface="Noto Sans KR" pitchFamily="34" charset="0"/>
                          <a:ea typeface="Noto Sans KR" pitchFamily="34" charset="-122"/>
                          <a:cs typeface="Noto Sans KR" pitchFamily="34" charset="-120"/>
                        </a:rPr>
                        <a:t>아마존 US 외 채널</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eBay와 Walmart 오버플로, 3년차부터 B2B $60K</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2DE2FF"/>
                          </a:solidFill>
                          <a:latin typeface="Noto Sans KR" pitchFamily="34" charset="0"/>
                          <a:ea typeface="Noto Sans KR" pitchFamily="34" charset="-122"/>
                          <a:cs typeface="Noto Sans KR" pitchFamily="34" charset="-120"/>
                        </a:rPr>
                        <a:t>B2B 2년차 $120K에서 $850K로, DTC, 캐나다, 프로 라인</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Medium 채널 매출의 1.8배</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20624">
                <a:tc>
                  <a:txBody>
                    <a:bodyPr/>
                    <a:lstStyle/>
                    <a:p>
                      <a:pPr algn="l" indent="0" marL="0">
                        <a:buNone/>
                      </a:pPr>
                      <a:r>
                        <a:rPr lang="ko-KR" altLang="en-US" sz="1050" b="1" dirty="0">
                          <a:solidFill>
                            <a:srgbClr val="F3F6FF"/>
                          </a:solidFill>
                          <a:latin typeface="Noto Sans KR" pitchFamily="34" charset="0"/>
                          <a:ea typeface="Noto Sans KR" pitchFamily="34" charset="-122"/>
                          <a:cs typeface="Noto Sans KR" pitchFamily="34" charset="-120"/>
                        </a:rPr>
                        <a:t>잃어버린 분기 (리스팅 정지)</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19에서 21개월차 추세의 10%</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2DE2FF"/>
                          </a:solidFill>
                          <a:latin typeface="Noto Sans KR" pitchFamily="34" charset="0"/>
                          <a:ea typeface="Noto Sans KR" pitchFamily="34" charset="-122"/>
                          <a:cs typeface="Noto Sans KR" pitchFamily="34" charset="-120"/>
                        </a:rPr>
                        <a:t>없음</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없음</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20624">
                <a:tc>
                  <a:txBody>
                    <a:bodyPr/>
                    <a:lstStyle/>
                    <a:p>
                      <a:pPr algn="l" indent="0" marL="0">
                        <a:buNone/>
                      </a:pPr>
                      <a:r>
                        <a:rPr lang="ko-KR" altLang="en-US" sz="1050" b="1" dirty="0">
                          <a:solidFill>
                            <a:srgbClr val="F3F6FF"/>
                          </a:solidFill>
                          <a:latin typeface="Noto Sans KR" pitchFamily="34" charset="0"/>
                          <a:ea typeface="Noto Sans KR" pitchFamily="34" charset="-122"/>
                          <a:cs typeface="Noto Sans KR" pitchFamily="34" charset="-120"/>
                        </a:rPr>
                        <a:t>5년차 결과</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$768K, 순이익 ($2K)</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2DE2FF"/>
                          </a:solidFill>
                          <a:latin typeface="Noto Sans KR" pitchFamily="34" charset="0"/>
                          <a:ea typeface="Noto Sans KR" pitchFamily="34" charset="-122"/>
                          <a:cs typeface="Noto Sans KR" pitchFamily="34" charset="-120"/>
                        </a:rPr>
                        <a:t>$4.58M, 순이익 $613K</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$8.30M, 순이익 $1.84M</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bl>
          </a:graphicData>
        </a:graphic>
      </p:graphicFrame>
      <p:sp>
        <p:nvSpPr>
          <p:cNvPr id="5" name="Text 1"/>
          <p:cNvSpPr txBox="1"/>
          <p:nvPr/>
        </p:nvSpPr>
        <p:spPr>
          <a:xfrm>
            <a:off x="457200" y="5623560"/>
            <a:ext cx="11277295" cy="640080"/>
          </a:xfrm>
          <a:prstGeom prst="rect">
            <a:avLst/>
          </a:prstGeom>
          <a:noFill/>
          <a:ln/>
        </p:spPr>
        <p:txBody>
          <a:bodyPr wrap="square" lIns="0" tIns="0" rIns="0" bIns="0" rtlCol="0" anchor="t"/>
          <a:lstStyle/>
          <a:p>
            <a:pPr algn="l" indent="0" marL="0">
              <a:buNone/>
            </a:pPr>
            <a:r>
              <a:rPr lang="ko-KR" altLang="en-US" sz="1100" dirty="0">
                <a:solidFill>
                  <a:schemeClr val="tx2"/>
                </a:solidFill>
              </a:rPr>
              <a:t>1년차 Medium 동인은 8월 모델입니다 (근거 기반). 18개월차 이후는 모두 경영진 추정이며, 마진이 매년 최소 1포인트 줄고 광고비가 8% 아래로 내려가지 않도록 보정했습니다.</a:t>
            </a:r>
            <a:endParaRPr lang="ko-KR" alt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25</a:t>
            </a:fld>
            <a:endParaRPr lang="ko-KR"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채널 확장 로드맵</a:t>
            </a:r>
            <a:endParaRPr lang="ko-KR" altLang="en-US" sz="3200" dirty="0"/>
          </a:p>
        </p:txBody>
      </p:sp>
      <p:sp>
        <p:nvSpPr>
          <p:cNvPr id="4" name="Shape 1"/>
          <p:cNvSpPr/>
          <p:nvPr/>
        </p:nvSpPr>
        <p:spPr>
          <a:xfrm>
            <a:off x="1523531" y="1097280"/>
            <a:ext cx="9144634" cy="4160520"/>
          </a:xfrm>
          <a:prstGeom prst="roundRect">
            <a:avLst>
              <a:gd name="adj" fmla="val 1758"/>
            </a:avLst>
          </a:prstGeom>
          <a:solidFill>
            <a:srgbClr val="FFFFFF"/>
          </a:solidFill>
          <a:ln w="12700">
            <a:solidFill>
              <a:srgbClr val="FFFFFF"/>
            </a:solidFill>
            <a:prstDash val="solid"/>
          </a:ln>
        </p:spPr>
      </p:sp>
      <p:pic>
        <p:nvPicPr>
          <p:cNvPr id="5" name="Image 0" descr="/home/user/lakehouse-tracker/BRAND_US_Launch/build/assets/deck_flow/07_five_year_channel_map_deck_ko.png">    </p:cNvPr>
          <p:cNvPicPr>
            <a:picLocks noChangeAspect="1"/>
          </p:cNvPicPr>
          <p:nvPr/>
        </p:nvPicPr>
        <p:blipFill>
          <a:blip r:embed="rId1"/>
          <a:stretch>
            <a:fillRect/>
          </a:stretch>
        </p:blipFill>
        <p:spPr>
          <a:xfrm>
            <a:off x="1614971" y="1188720"/>
            <a:ext cx="8961754" cy="3977640"/>
          </a:xfrm>
          <a:prstGeom prst="rect">
            <a:avLst/>
          </a:prstGeom>
        </p:spPr>
      </p:pic>
      <p:sp>
        <p:nvSpPr>
          <p:cNvPr id="6" name="Text 2"/>
          <p:cNvSpPr txBox="1"/>
          <p:nvPr/>
        </p:nvSpPr>
        <p:spPr>
          <a:xfrm>
            <a:off x="457200" y="5303520"/>
            <a:ext cx="11277295" cy="411480"/>
          </a:xfrm>
          <a:prstGeom prst="rect">
            <a:avLst/>
          </a:prstGeom>
          <a:noFill/>
          <a:ln/>
        </p:spPr>
        <p:txBody>
          <a:bodyPr wrap="square" lIns="0" tIns="0" rIns="0" bIns="0" rtlCol="0" anchor="t"/>
          <a:lstStyle/>
          <a:p>
            <a:pPr algn="l" indent="0" marL="0">
              <a:buNone/>
            </a:pPr>
            <a:r>
              <a:rPr lang="ko-KR" altLang="en-US" sz="1100" dirty="0">
                <a:solidFill>
                  <a:schemeClr val="tx2"/>
                </a:solidFill>
              </a:rPr>
              <a:t>흐름도 07: 연도별 채널. 각 연도는 앞선 게이트를 지나야 시작합니다. 12개월차 게이트 통과 (2년차), 아마존 US와 B2B 흑자 (3년차), DTC 목록과 로드맵 SKU 가동 (4년차). 전체 크기: output/04_Flowcharts/07_five_year_channel_map.png</a:t>
            </a:r>
            <a:endParaRPr lang="ko-KR" altLang="en-US" sz="1100" dirty="0"/>
          </a:p>
        </p:txBody>
      </p:sp>
      <p:sp>
        <p:nvSpPr>
          <p:cNvPr id="7" name="Text 3"/>
          <p:cNvSpPr txBox="1"/>
          <p:nvPr/>
        </p:nvSpPr>
        <p:spPr>
          <a:xfrm>
            <a:off x="457200" y="5760720"/>
            <a:ext cx="1828800" cy="548640"/>
          </a:xfrm>
          <a:prstGeom prst="rect">
            <a:avLst/>
          </a:prstGeom>
          <a:noFill/>
          <a:ln/>
        </p:spPr>
        <p:txBody>
          <a:bodyPr wrap="square" lIns="0" tIns="0" rIns="0" bIns="0" rtlCol="0" anchor="ctr"/>
          <a:lstStyle/>
          <a:p>
            <a:pPr algn="l" indent="0" marL="0">
              <a:buNone/>
            </a:pPr>
            <a:r>
              <a:rPr lang="ko-KR" altLang="en-US" sz="1250" b="1" dirty="0">
                <a:solidFill>
                  <a:schemeClr val="accent1"/>
                </a:solidFill>
              </a:rPr>
              <a:t>연도별 Medium 매출</a:t>
            </a:r>
            <a:endParaRPr lang="ko-KR" altLang="en-US" sz="1250" dirty="0"/>
          </a:p>
        </p:txBody>
      </p:sp>
      <p:sp>
        <p:nvSpPr>
          <p:cNvPr id="8" name="card"/>
          <p:cNvSpPr/>
          <p:nvPr/>
        </p:nvSpPr>
        <p:spPr>
          <a:xfrm>
            <a:off x="2286000" y="5760720"/>
            <a:ext cx="1670243" cy="548640"/>
          </a:xfrm>
          <a:prstGeom prst="roundRect">
            <a:avLst>
              <a:gd name="adj" fmla="val 20000"/>
            </a:avLst>
          </a:prstGeom>
          <a:solidFill>
            <a:srgbClr val="10172D"/>
          </a:solidFill>
          <a:ln w="12700">
            <a:solidFill>
              <a:srgbClr val="10172D"/>
            </a:solidFill>
            <a:prstDash val="solid"/>
          </a:ln>
        </p:spPr>
      </p:sp>
      <p:sp>
        <p:nvSpPr>
          <p:cNvPr id="9" name="Text 5"/>
          <p:cNvSpPr txBox="1"/>
          <p:nvPr/>
        </p:nvSpPr>
        <p:spPr>
          <a:xfrm>
            <a:off x="2423160" y="5760720"/>
            <a:ext cx="594360" cy="548640"/>
          </a:xfrm>
          <a:prstGeom prst="rect">
            <a:avLst/>
          </a:prstGeom>
          <a:noFill/>
          <a:ln/>
        </p:spPr>
        <p:txBody>
          <a:bodyPr wrap="square" lIns="0" tIns="0" rIns="0" bIns="0" rtlCol="0" anchor="ctr"/>
          <a:lstStyle/>
          <a:p>
            <a:pPr algn="l" indent="0" marL="0">
              <a:buNone/>
            </a:pPr>
            <a:r>
              <a:rPr lang="ko-KR" altLang="en-US" sz="1200" dirty="0">
                <a:solidFill>
                  <a:schemeClr val="tx2"/>
                </a:solidFill>
              </a:rPr>
              <a:t>1년차</a:t>
            </a:r>
            <a:endParaRPr lang="ko-KR" altLang="en-US" sz="1200" dirty="0"/>
          </a:p>
        </p:txBody>
      </p:sp>
      <p:sp>
        <p:nvSpPr>
          <p:cNvPr id="10" name="Text 6"/>
          <p:cNvSpPr txBox="1"/>
          <p:nvPr/>
        </p:nvSpPr>
        <p:spPr>
          <a:xfrm>
            <a:off x="2880360" y="5760720"/>
            <a:ext cx="938723" cy="548640"/>
          </a:xfrm>
          <a:prstGeom prst="rect">
            <a:avLst/>
          </a:prstGeom>
          <a:noFill/>
          <a:ln/>
        </p:spPr>
        <p:txBody>
          <a:bodyPr wrap="square" lIns="0" tIns="0" rIns="0" bIns="0" rtlCol="0" anchor="ctr"/>
          <a:lstStyle/>
          <a:p>
            <a:pPr algn="r" indent="0" marL="0">
              <a:buNone/>
            </a:pPr>
            <a:r>
              <a:rPr lang="ko-KR" altLang="en-US" sz="1600" b="1" dirty="0">
                <a:solidFill>
                  <a:schemeClr val="accent4"/>
                </a:solidFill>
              </a:rPr>
              <a:t>$494K</a:t>
            </a:r>
            <a:endParaRPr lang="ko-KR" altLang="en-US" sz="1600" dirty="0"/>
          </a:p>
        </p:txBody>
      </p:sp>
      <p:sp>
        <p:nvSpPr>
          <p:cNvPr id="11" name="card"/>
          <p:cNvSpPr/>
          <p:nvPr/>
        </p:nvSpPr>
        <p:spPr>
          <a:xfrm>
            <a:off x="4230563" y="5760720"/>
            <a:ext cx="1670243" cy="548640"/>
          </a:xfrm>
          <a:prstGeom prst="roundRect">
            <a:avLst>
              <a:gd name="adj" fmla="val 20000"/>
            </a:avLst>
          </a:prstGeom>
          <a:solidFill>
            <a:srgbClr val="10172D"/>
          </a:solidFill>
          <a:ln w="12700">
            <a:solidFill>
              <a:srgbClr val="10172D"/>
            </a:solidFill>
            <a:prstDash val="solid"/>
          </a:ln>
        </p:spPr>
      </p:sp>
      <p:sp>
        <p:nvSpPr>
          <p:cNvPr id="12" name="Text 8"/>
          <p:cNvSpPr txBox="1"/>
          <p:nvPr/>
        </p:nvSpPr>
        <p:spPr>
          <a:xfrm>
            <a:off x="4367723" y="5760720"/>
            <a:ext cx="594360" cy="548640"/>
          </a:xfrm>
          <a:prstGeom prst="rect">
            <a:avLst/>
          </a:prstGeom>
          <a:noFill/>
          <a:ln/>
        </p:spPr>
        <p:txBody>
          <a:bodyPr wrap="square" lIns="0" tIns="0" rIns="0" bIns="0" rtlCol="0" anchor="ctr"/>
          <a:lstStyle/>
          <a:p>
            <a:pPr algn="l" indent="0" marL="0">
              <a:buNone/>
            </a:pPr>
            <a:r>
              <a:rPr lang="ko-KR" altLang="en-US" sz="1200" dirty="0">
                <a:solidFill>
                  <a:schemeClr val="tx2"/>
                </a:solidFill>
              </a:rPr>
              <a:t>2년차</a:t>
            </a:r>
            <a:endParaRPr lang="ko-KR" altLang="en-US" sz="1200" dirty="0"/>
          </a:p>
        </p:txBody>
      </p:sp>
      <p:sp>
        <p:nvSpPr>
          <p:cNvPr id="13" name="Text 9"/>
          <p:cNvSpPr txBox="1"/>
          <p:nvPr/>
        </p:nvSpPr>
        <p:spPr>
          <a:xfrm>
            <a:off x="4824923" y="5760720"/>
            <a:ext cx="938723" cy="548640"/>
          </a:xfrm>
          <a:prstGeom prst="rect">
            <a:avLst/>
          </a:prstGeom>
          <a:noFill/>
          <a:ln/>
        </p:spPr>
        <p:txBody>
          <a:bodyPr wrap="square" lIns="0" tIns="0" rIns="0" bIns="0" rtlCol="0" anchor="ctr"/>
          <a:lstStyle/>
          <a:p>
            <a:pPr algn="r" indent="0" marL="0">
              <a:buNone/>
            </a:pPr>
            <a:r>
              <a:rPr lang="ko-KR" altLang="en-US" sz="1600" b="1" dirty="0">
                <a:solidFill>
                  <a:schemeClr val="accent4"/>
                </a:solidFill>
              </a:rPr>
              <a:t>$1.77M</a:t>
            </a:r>
            <a:endParaRPr lang="ko-KR" altLang="en-US" sz="1600" dirty="0"/>
          </a:p>
        </p:txBody>
      </p:sp>
      <p:sp>
        <p:nvSpPr>
          <p:cNvPr id="14" name="card"/>
          <p:cNvSpPr/>
          <p:nvPr/>
        </p:nvSpPr>
        <p:spPr>
          <a:xfrm>
            <a:off x="6175126" y="5760720"/>
            <a:ext cx="1670243" cy="548640"/>
          </a:xfrm>
          <a:prstGeom prst="roundRect">
            <a:avLst>
              <a:gd name="adj" fmla="val 20000"/>
            </a:avLst>
          </a:prstGeom>
          <a:solidFill>
            <a:srgbClr val="10172D"/>
          </a:solidFill>
          <a:ln w="12700">
            <a:solidFill>
              <a:srgbClr val="10172D"/>
            </a:solidFill>
            <a:prstDash val="solid"/>
          </a:ln>
        </p:spPr>
      </p:sp>
      <p:sp>
        <p:nvSpPr>
          <p:cNvPr id="15" name="Text 11"/>
          <p:cNvSpPr txBox="1"/>
          <p:nvPr/>
        </p:nvSpPr>
        <p:spPr>
          <a:xfrm>
            <a:off x="6312286" y="5760720"/>
            <a:ext cx="594360" cy="548640"/>
          </a:xfrm>
          <a:prstGeom prst="rect">
            <a:avLst/>
          </a:prstGeom>
          <a:noFill/>
          <a:ln/>
        </p:spPr>
        <p:txBody>
          <a:bodyPr wrap="square" lIns="0" tIns="0" rIns="0" bIns="0" rtlCol="0" anchor="ctr"/>
          <a:lstStyle/>
          <a:p>
            <a:pPr algn="l" indent="0" marL="0">
              <a:buNone/>
            </a:pPr>
            <a:r>
              <a:rPr lang="ko-KR" altLang="en-US" sz="1200" dirty="0">
                <a:solidFill>
                  <a:schemeClr val="tx2"/>
                </a:solidFill>
              </a:rPr>
              <a:t>3년차</a:t>
            </a:r>
            <a:endParaRPr lang="ko-KR" altLang="en-US" sz="1200" dirty="0"/>
          </a:p>
        </p:txBody>
      </p:sp>
      <p:sp>
        <p:nvSpPr>
          <p:cNvPr id="16" name="Text 12"/>
          <p:cNvSpPr txBox="1"/>
          <p:nvPr/>
        </p:nvSpPr>
        <p:spPr>
          <a:xfrm>
            <a:off x="6769486" y="5760720"/>
            <a:ext cx="938723" cy="548640"/>
          </a:xfrm>
          <a:prstGeom prst="rect">
            <a:avLst/>
          </a:prstGeom>
          <a:noFill/>
          <a:ln/>
        </p:spPr>
        <p:txBody>
          <a:bodyPr wrap="square" lIns="0" tIns="0" rIns="0" bIns="0" rtlCol="0" anchor="ctr"/>
          <a:lstStyle/>
          <a:p>
            <a:pPr algn="r" indent="0" marL="0">
              <a:buNone/>
            </a:pPr>
            <a:r>
              <a:rPr lang="ko-KR" altLang="en-US" sz="1600" b="1" dirty="0">
                <a:solidFill>
                  <a:schemeClr val="accent4"/>
                </a:solidFill>
              </a:rPr>
              <a:t>$2.61M</a:t>
            </a:r>
            <a:endParaRPr lang="ko-KR" altLang="en-US" sz="1600" dirty="0"/>
          </a:p>
        </p:txBody>
      </p:sp>
      <p:sp>
        <p:nvSpPr>
          <p:cNvPr id="17" name="card"/>
          <p:cNvSpPr/>
          <p:nvPr/>
        </p:nvSpPr>
        <p:spPr>
          <a:xfrm>
            <a:off x="8119689" y="5760720"/>
            <a:ext cx="1670243" cy="548640"/>
          </a:xfrm>
          <a:prstGeom prst="roundRect">
            <a:avLst>
              <a:gd name="adj" fmla="val 20000"/>
            </a:avLst>
          </a:prstGeom>
          <a:solidFill>
            <a:srgbClr val="10172D"/>
          </a:solidFill>
          <a:ln w="12700">
            <a:solidFill>
              <a:srgbClr val="10172D"/>
            </a:solidFill>
            <a:prstDash val="solid"/>
          </a:ln>
        </p:spPr>
      </p:sp>
      <p:sp>
        <p:nvSpPr>
          <p:cNvPr id="18" name="Text 14"/>
          <p:cNvSpPr txBox="1"/>
          <p:nvPr/>
        </p:nvSpPr>
        <p:spPr>
          <a:xfrm>
            <a:off x="8256849" y="5760720"/>
            <a:ext cx="594360" cy="548640"/>
          </a:xfrm>
          <a:prstGeom prst="rect">
            <a:avLst/>
          </a:prstGeom>
          <a:noFill/>
          <a:ln/>
        </p:spPr>
        <p:txBody>
          <a:bodyPr wrap="square" lIns="0" tIns="0" rIns="0" bIns="0" rtlCol="0" anchor="ctr"/>
          <a:lstStyle/>
          <a:p>
            <a:pPr algn="l" indent="0" marL="0">
              <a:buNone/>
            </a:pPr>
            <a:r>
              <a:rPr lang="ko-KR" altLang="en-US" sz="1200" dirty="0">
                <a:solidFill>
                  <a:schemeClr val="tx2"/>
                </a:solidFill>
              </a:rPr>
              <a:t>4년차</a:t>
            </a:r>
            <a:endParaRPr lang="ko-KR" altLang="en-US" sz="1200" dirty="0"/>
          </a:p>
        </p:txBody>
      </p:sp>
      <p:sp>
        <p:nvSpPr>
          <p:cNvPr id="19" name="Text 15"/>
          <p:cNvSpPr txBox="1"/>
          <p:nvPr/>
        </p:nvSpPr>
        <p:spPr>
          <a:xfrm>
            <a:off x="8714049" y="5760720"/>
            <a:ext cx="938723" cy="548640"/>
          </a:xfrm>
          <a:prstGeom prst="rect">
            <a:avLst/>
          </a:prstGeom>
          <a:noFill/>
          <a:ln/>
        </p:spPr>
        <p:txBody>
          <a:bodyPr wrap="square" lIns="0" tIns="0" rIns="0" bIns="0" rtlCol="0" anchor="ctr"/>
          <a:lstStyle/>
          <a:p>
            <a:pPr algn="r" indent="0" marL="0">
              <a:buNone/>
            </a:pPr>
            <a:r>
              <a:rPr lang="ko-KR" altLang="en-US" sz="1600" b="1" dirty="0">
                <a:solidFill>
                  <a:schemeClr val="accent4"/>
                </a:solidFill>
              </a:rPr>
              <a:t>$3.66M</a:t>
            </a:r>
            <a:endParaRPr lang="ko-KR" altLang="en-US" sz="1600" dirty="0"/>
          </a:p>
        </p:txBody>
      </p:sp>
      <p:sp>
        <p:nvSpPr>
          <p:cNvPr id="20" name="card"/>
          <p:cNvSpPr/>
          <p:nvPr/>
        </p:nvSpPr>
        <p:spPr>
          <a:xfrm>
            <a:off x="10064252" y="5760720"/>
            <a:ext cx="1670243" cy="548640"/>
          </a:xfrm>
          <a:prstGeom prst="roundRect">
            <a:avLst>
              <a:gd name="adj" fmla="val 20000"/>
            </a:avLst>
          </a:prstGeom>
          <a:solidFill>
            <a:srgbClr val="10172D"/>
          </a:solidFill>
          <a:ln w="12700">
            <a:solidFill>
              <a:srgbClr val="10172D"/>
            </a:solidFill>
            <a:prstDash val="solid"/>
          </a:ln>
        </p:spPr>
      </p:sp>
      <p:sp>
        <p:nvSpPr>
          <p:cNvPr id="21" name="Text 17"/>
          <p:cNvSpPr txBox="1"/>
          <p:nvPr/>
        </p:nvSpPr>
        <p:spPr>
          <a:xfrm>
            <a:off x="10201412" y="5760720"/>
            <a:ext cx="594360" cy="548640"/>
          </a:xfrm>
          <a:prstGeom prst="rect">
            <a:avLst/>
          </a:prstGeom>
          <a:noFill/>
          <a:ln/>
        </p:spPr>
        <p:txBody>
          <a:bodyPr wrap="square" lIns="0" tIns="0" rIns="0" bIns="0" rtlCol="0" anchor="ctr"/>
          <a:lstStyle/>
          <a:p>
            <a:pPr algn="l" indent="0" marL="0">
              <a:buNone/>
            </a:pPr>
            <a:r>
              <a:rPr lang="ko-KR" altLang="en-US" sz="1200" dirty="0">
                <a:solidFill>
                  <a:schemeClr val="tx2"/>
                </a:solidFill>
              </a:rPr>
              <a:t>5년차</a:t>
            </a:r>
            <a:endParaRPr lang="ko-KR" altLang="en-US" sz="1200" dirty="0"/>
          </a:p>
        </p:txBody>
      </p:sp>
      <p:sp>
        <p:nvSpPr>
          <p:cNvPr id="22" name="Text 18"/>
          <p:cNvSpPr txBox="1"/>
          <p:nvPr/>
        </p:nvSpPr>
        <p:spPr>
          <a:xfrm>
            <a:off x="10658612" y="5760720"/>
            <a:ext cx="938723" cy="548640"/>
          </a:xfrm>
          <a:prstGeom prst="rect">
            <a:avLst/>
          </a:prstGeom>
          <a:noFill/>
          <a:ln/>
        </p:spPr>
        <p:txBody>
          <a:bodyPr wrap="square" lIns="0" tIns="0" rIns="0" bIns="0" rtlCol="0" anchor="ctr"/>
          <a:lstStyle/>
          <a:p>
            <a:pPr algn="r" indent="0" marL="0">
              <a:buNone/>
            </a:pPr>
            <a:r>
              <a:rPr lang="ko-KR" altLang="en-US" sz="1600" b="1" dirty="0">
                <a:solidFill>
                  <a:schemeClr val="accent4"/>
                </a:solidFill>
              </a:rPr>
              <a:t>$4.58M</a:t>
            </a:r>
            <a:endParaRPr lang="ko-KR" alt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26</a:t>
            </a:fld>
            <a:endParaRPr lang="ko-KR"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월별 현금과 최대 소요 시점</a:t>
            </a:r>
            <a:endParaRPr lang="ko-KR" altLang="en-US" sz="3200" dirty="0"/>
          </a:p>
        </p:txBody>
      </p:sp>
      <p:graphicFrame>
        <p:nvGraphicFramePr>
          <p:cNvPr id="4" name="Chart 0" descr=""/>
          <p:cNvGraphicFramePr/>
          <p:nvPr/>
        </p:nvGraphicFramePr>
        <p:xfrm>
          <a:off x="457200" y="1188720"/>
          <a:ext cx="7315200" cy="502920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8046720" y="1188720"/>
            <a:ext cx="3685032" cy="987552"/>
          </a:xfrm>
          <a:prstGeom prst="roundRect">
            <a:avLst>
              <a:gd name="adj" fmla="val 11111"/>
            </a:avLst>
          </a:prstGeom>
          <a:solidFill>
            <a:schemeClr val="bg2"/>
          </a:solidFill>
          <a:ln w="12700">
            <a:solidFill>
              <a:srgbClr val="141C36"/>
            </a:solidFill>
            <a:prstDash val="solid"/>
          </a:ln>
        </p:spPr>
      </p:sp>
      <p:sp>
        <p:nvSpPr>
          <p:cNvPr id="6" name="Text 2"/>
          <p:cNvSpPr txBox="1"/>
          <p:nvPr/>
        </p:nvSpPr>
        <p:spPr>
          <a:xfrm>
            <a:off x="8229600" y="1261872"/>
            <a:ext cx="3291840" cy="256032"/>
          </a:xfrm>
          <a:prstGeom prst="rect">
            <a:avLst/>
          </a:prstGeom>
          <a:noFill/>
          <a:ln/>
        </p:spPr>
        <p:txBody>
          <a:bodyPr wrap="square" lIns="0" tIns="0" rIns="0" bIns="0" rtlCol="0" anchor="t"/>
          <a:lstStyle/>
          <a:p>
            <a:pPr algn="l" indent="0" marL="0">
              <a:buNone/>
            </a:pPr>
            <a:r>
              <a:rPr lang="ko-KR" altLang="en-US" sz="1100" dirty="0">
                <a:solidFill>
                  <a:schemeClr val="tx2"/>
                </a:solidFill>
              </a:rPr>
              <a:t>Medium 최대 현금 소요</a:t>
            </a:r>
            <a:endParaRPr lang="ko-KR" altLang="en-US" sz="1100" dirty="0"/>
          </a:p>
        </p:txBody>
      </p:sp>
      <p:sp>
        <p:nvSpPr>
          <p:cNvPr id="7" name="Text 3"/>
          <p:cNvSpPr txBox="1"/>
          <p:nvPr/>
        </p:nvSpPr>
        <p:spPr>
          <a:xfrm>
            <a:off x="8229600" y="1490472"/>
            <a:ext cx="1463040" cy="411480"/>
          </a:xfrm>
          <a:prstGeom prst="rect">
            <a:avLst/>
          </a:prstGeom>
          <a:noFill/>
          <a:ln/>
        </p:spPr>
        <p:txBody>
          <a:bodyPr wrap="square" lIns="0" tIns="0" rIns="0" bIns="0" rtlCol="0" anchor="ctr"/>
          <a:lstStyle/>
          <a:p>
            <a:pPr algn="l" indent="0" marL="0">
              <a:buNone/>
            </a:pPr>
            <a:r>
              <a:rPr lang="ko-KR" altLang="en-US" sz="2200" b="1" dirty="0">
                <a:solidFill>
                  <a:schemeClr val="accent1"/>
                </a:solidFill>
              </a:rPr>
              <a:t>$96K</a:t>
            </a:r>
            <a:endParaRPr lang="ko-KR" altLang="en-US" sz="2200" dirty="0"/>
          </a:p>
        </p:txBody>
      </p:sp>
      <p:sp>
        <p:nvSpPr>
          <p:cNvPr id="8" name="Text 4"/>
          <p:cNvSpPr txBox="1"/>
          <p:nvPr/>
        </p:nvSpPr>
        <p:spPr>
          <a:xfrm>
            <a:off x="9692640" y="1463040"/>
            <a:ext cx="1920240" cy="658368"/>
          </a:xfrm>
          <a:prstGeom prst="rect">
            <a:avLst/>
          </a:prstGeom>
          <a:noFill/>
          <a:ln/>
        </p:spPr>
        <p:txBody>
          <a:bodyPr wrap="square" lIns="0" tIns="0" rIns="0" bIns="0" rtlCol="0" anchor="ctr"/>
          <a:lstStyle/>
          <a:p>
            <a:pPr algn="l" indent="0" marL="0">
              <a:buNone/>
            </a:pPr>
            <a:r>
              <a:rPr lang="ko-KR" altLang="en-US" sz="1000" dirty="0">
                <a:solidFill>
                  <a:schemeClr val="tx2"/>
                </a:solidFill>
              </a:rPr>
              <a:t>12개월차. 신용한도 $116K를 2개월차까지</a:t>
            </a:r>
            <a:endParaRPr lang="ko-KR" altLang="en-US" sz="1000" dirty="0"/>
          </a:p>
        </p:txBody>
      </p:sp>
      <p:sp>
        <p:nvSpPr>
          <p:cNvPr id="9" name="card"/>
          <p:cNvSpPr/>
          <p:nvPr/>
        </p:nvSpPr>
        <p:spPr>
          <a:xfrm>
            <a:off x="8046720" y="2286000"/>
            <a:ext cx="3685032" cy="987552"/>
          </a:xfrm>
          <a:prstGeom prst="roundRect">
            <a:avLst>
              <a:gd name="adj" fmla="val 11111"/>
            </a:avLst>
          </a:prstGeom>
          <a:solidFill>
            <a:schemeClr val="bg2"/>
          </a:solidFill>
          <a:ln w="12700">
            <a:solidFill>
              <a:srgbClr val="141C36"/>
            </a:solidFill>
            <a:prstDash val="solid"/>
          </a:ln>
        </p:spPr>
      </p:sp>
      <p:sp>
        <p:nvSpPr>
          <p:cNvPr id="10" name="Text 6"/>
          <p:cNvSpPr txBox="1"/>
          <p:nvPr/>
        </p:nvSpPr>
        <p:spPr>
          <a:xfrm>
            <a:off x="8229600" y="2359152"/>
            <a:ext cx="3291840" cy="256032"/>
          </a:xfrm>
          <a:prstGeom prst="rect">
            <a:avLst/>
          </a:prstGeom>
          <a:noFill/>
          <a:ln/>
        </p:spPr>
        <p:txBody>
          <a:bodyPr wrap="square" lIns="0" tIns="0" rIns="0" bIns="0" rtlCol="0" anchor="t"/>
          <a:lstStyle/>
          <a:p>
            <a:pPr algn="l" indent="0" marL="0">
              <a:buNone/>
            </a:pPr>
            <a:r>
              <a:rPr lang="ko-KR" altLang="en-US" sz="1100" dirty="0">
                <a:solidFill>
                  <a:schemeClr val="tx2"/>
                </a:solidFill>
              </a:rPr>
              <a:t>Low 최대 현금 소요</a:t>
            </a:r>
            <a:endParaRPr lang="ko-KR" altLang="en-US" sz="1100" dirty="0"/>
          </a:p>
        </p:txBody>
      </p:sp>
      <p:sp>
        <p:nvSpPr>
          <p:cNvPr id="11" name="Text 7"/>
          <p:cNvSpPr txBox="1"/>
          <p:nvPr/>
        </p:nvSpPr>
        <p:spPr>
          <a:xfrm>
            <a:off x="8229600" y="2587752"/>
            <a:ext cx="1463040" cy="411480"/>
          </a:xfrm>
          <a:prstGeom prst="rect">
            <a:avLst/>
          </a:prstGeom>
          <a:noFill/>
          <a:ln/>
        </p:spPr>
        <p:txBody>
          <a:bodyPr wrap="square" lIns="0" tIns="0" rIns="0" bIns="0" rtlCol="0" anchor="ctr"/>
          <a:lstStyle/>
          <a:p>
            <a:pPr algn="l" indent="0" marL="0">
              <a:buNone/>
            </a:pPr>
            <a:r>
              <a:rPr lang="ko-KR" altLang="en-US" sz="2200" b="1" dirty="0">
                <a:solidFill>
                  <a:schemeClr val="accent5"/>
                </a:solidFill>
              </a:rPr>
              <a:t>$114K</a:t>
            </a:r>
            <a:endParaRPr lang="ko-KR" altLang="en-US" sz="2200" dirty="0"/>
          </a:p>
        </p:txBody>
      </p:sp>
      <p:sp>
        <p:nvSpPr>
          <p:cNvPr id="12" name="Text 8"/>
          <p:cNvSpPr txBox="1"/>
          <p:nvPr/>
        </p:nvSpPr>
        <p:spPr>
          <a:xfrm>
            <a:off x="9692640" y="2560320"/>
            <a:ext cx="1920240" cy="658368"/>
          </a:xfrm>
          <a:prstGeom prst="rect">
            <a:avLst/>
          </a:prstGeom>
          <a:noFill/>
          <a:ln/>
        </p:spPr>
        <p:txBody>
          <a:bodyPr wrap="square" lIns="0" tIns="0" rIns="0" bIns="0" rtlCol="0" anchor="ctr"/>
          <a:lstStyle/>
          <a:p>
            <a:pPr algn="l" indent="0" marL="0">
              <a:buNone/>
            </a:pPr>
            <a:r>
              <a:rPr lang="ko-KR" altLang="en-US" sz="1000" dirty="0">
                <a:solidFill>
                  <a:schemeClr val="tx2"/>
                </a:solidFill>
              </a:rPr>
              <a:t>24개월차. 신용한도 $136K를 2개월차까지</a:t>
            </a:r>
            <a:endParaRPr lang="ko-KR" altLang="en-US" sz="1000" dirty="0"/>
          </a:p>
        </p:txBody>
      </p:sp>
      <p:sp>
        <p:nvSpPr>
          <p:cNvPr id="13" name="card"/>
          <p:cNvSpPr/>
          <p:nvPr/>
        </p:nvSpPr>
        <p:spPr>
          <a:xfrm>
            <a:off x="8046720" y="3383280"/>
            <a:ext cx="3685032" cy="987552"/>
          </a:xfrm>
          <a:prstGeom prst="roundRect">
            <a:avLst>
              <a:gd name="adj" fmla="val 11111"/>
            </a:avLst>
          </a:prstGeom>
          <a:solidFill>
            <a:schemeClr val="bg2"/>
          </a:solidFill>
          <a:ln w="12700">
            <a:solidFill>
              <a:srgbClr val="141C36"/>
            </a:solidFill>
            <a:prstDash val="solid"/>
          </a:ln>
        </p:spPr>
      </p:sp>
      <p:sp>
        <p:nvSpPr>
          <p:cNvPr id="14" name="Text 10"/>
          <p:cNvSpPr txBox="1"/>
          <p:nvPr/>
        </p:nvSpPr>
        <p:spPr>
          <a:xfrm>
            <a:off x="8229600" y="3456432"/>
            <a:ext cx="3291840" cy="256032"/>
          </a:xfrm>
          <a:prstGeom prst="rect">
            <a:avLst/>
          </a:prstGeom>
          <a:noFill/>
          <a:ln/>
        </p:spPr>
        <p:txBody>
          <a:bodyPr wrap="square" lIns="0" tIns="0" rIns="0" bIns="0" rtlCol="0" anchor="t"/>
          <a:lstStyle/>
          <a:p>
            <a:pPr algn="l" indent="0" marL="0">
              <a:buNone/>
            </a:pPr>
            <a:r>
              <a:rPr lang="ko-KR" altLang="en-US" sz="1100" dirty="0">
                <a:solidFill>
                  <a:schemeClr val="tx2"/>
                </a:solidFill>
              </a:rPr>
              <a:t>High 최대 현금 소요</a:t>
            </a:r>
            <a:endParaRPr lang="ko-KR" altLang="en-US" sz="1100" dirty="0"/>
          </a:p>
        </p:txBody>
      </p:sp>
      <p:sp>
        <p:nvSpPr>
          <p:cNvPr id="15" name="Text 11"/>
          <p:cNvSpPr txBox="1"/>
          <p:nvPr/>
        </p:nvSpPr>
        <p:spPr>
          <a:xfrm>
            <a:off x="8229600" y="3685032"/>
            <a:ext cx="1463040" cy="411480"/>
          </a:xfrm>
          <a:prstGeom prst="rect">
            <a:avLst/>
          </a:prstGeom>
          <a:noFill/>
          <a:ln/>
        </p:spPr>
        <p:txBody>
          <a:bodyPr wrap="square" lIns="0" tIns="0" rIns="0" bIns="0" rtlCol="0" anchor="ctr"/>
          <a:lstStyle/>
          <a:p>
            <a:pPr algn="l" indent="0" marL="0">
              <a:buNone/>
            </a:pPr>
            <a:r>
              <a:rPr lang="ko-KR" altLang="en-US" sz="2200" b="1" dirty="0">
                <a:solidFill>
                  <a:schemeClr val="accent4"/>
                </a:solidFill>
              </a:rPr>
              <a:t>$34K</a:t>
            </a:r>
            <a:endParaRPr lang="ko-KR" altLang="en-US" sz="2200" dirty="0"/>
          </a:p>
        </p:txBody>
      </p:sp>
      <p:sp>
        <p:nvSpPr>
          <p:cNvPr id="16" name="Text 12"/>
          <p:cNvSpPr txBox="1"/>
          <p:nvPr/>
        </p:nvSpPr>
        <p:spPr>
          <a:xfrm>
            <a:off x="9692640" y="3657600"/>
            <a:ext cx="1920240" cy="658368"/>
          </a:xfrm>
          <a:prstGeom prst="rect">
            <a:avLst/>
          </a:prstGeom>
          <a:noFill/>
          <a:ln/>
        </p:spPr>
        <p:txBody>
          <a:bodyPr wrap="square" lIns="0" tIns="0" rIns="0" bIns="0" rtlCol="0" anchor="ctr"/>
          <a:lstStyle/>
          <a:p>
            <a:pPr algn="l" indent="0" marL="0">
              <a:buNone/>
            </a:pPr>
            <a:r>
              <a:rPr lang="ko-KR" altLang="en-US" sz="1000" dirty="0">
                <a:solidFill>
                  <a:schemeClr val="tx2"/>
                </a:solidFill>
              </a:rPr>
              <a:t>7개월차. 신용한도 $41K를 1개월차까지</a:t>
            </a:r>
            <a:endParaRPr lang="ko-KR" altLang="en-US" sz="1000" dirty="0"/>
          </a:p>
        </p:txBody>
      </p:sp>
      <p:sp>
        <p:nvSpPr>
          <p:cNvPr id="17" name="card"/>
          <p:cNvSpPr/>
          <p:nvPr/>
        </p:nvSpPr>
        <p:spPr>
          <a:xfrm>
            <a:off x="8046720" y="4526280"/>
            <a:ext cx="3685032" cy="1691640"/>
          </a:xfrm>
          <a:prstGeom prst="roundRect">
            <a:avLst>
              <a:gd name="adj" fmla="val 6486"/>
            </a:avLst>
          </a:prstGeom>
          <a:solidFill>
            <a:srgbClr val="10172D"/>
          </a:solidFill>
          <a:ln w="12700">
            <a:solidFill>
              <a:srgbClr val="10172D"/>
            </a:solidFill>
            <a:prstDash val="solid"/>
          </a:ln>
        </p:spPr>
      </p:sp>
      <p:sp>
        <p:nvSpPr>
          <p:cNvPr id="18" name="Text 14"/>
          <p:cNvSpPr txBox="1"/>
          <p:nvPr/>
        </p:nvSpPr>
        <p:spPr>
          <a:xfrm>
            <a:off x="8229600" y="4572000"/>
            <a:ext cx="3291840" cy="274320"/>
          </a:xfrm>
          <a:prstGeom prst="rect">
            <a:avLst/>
          </a:prstGeom>
          <a:noFill/>
          <a:ln/>
        </p:spPr>
        <p:txBody>
          <a:bodyPr wrap="square" lIns="0" tIns="0" rIns="0" bIns="0" rtlCol="0" anchor="t"/>
          <a:lstStyle/>
          <a:p>
            <a:pPr algn="l" indent="0" marL="0">
              <a:buNone/>
            </a:pPr>
            <a:r>
              <a:rPr lang="ko-KR" altLang="en-US" sz="1200" b="1" dirty="0">
                <a:solidFill>
                  <a:schemeClr val="accent1"/>
                </a:solidFill>
              </a:rPr>
              <a:t>현금 가정</a:t>
            </a:r>
            <a:endParaRPr lang="ko-KR" altLang="en-US" sz="1200" dirty="0"/>
          </a:p>
        </p:txBody>
      </p:sp>
      <p:sp>
        <p:nvSpPr>
          <p:cNvPr id="19" name="Text 15"/>
          <p:cNvSpPr txBox="1"/>
          <p:nvPr/>
        </p:nvSpPr>
        <p:spPr>
          <a:xfrm>
            <a:off x="8229600" y="4846320"/>
            <a:ext cx="3337560" cy="1371600"/>
          </a:xfrm>
          <a:prstGeom prst="rect">
            <a:avLst/>
          </a:prstGeom>
          <a:noFill/>
          <a:ln/>
        </p:spPr>
        <p:txBody>
          <a:bodyPr wrap="square" lIns="0" tIns="0" rIns="0" bIns="0" rtlCol="0" anchor="t"/>
          <a:lstStyle/>
          <a:p>
            <a:pPr algn="l" marL="114300" indent="-114300">
              <a:spcAft>
                <a:spcPts val="100"/>
              </a:spcAft>
              <a:buSzPct val="100000"/>
              <a:buChar char="•"/>
            </a:pPr>
            <a:r>
              <a:rPr lang="ko-KR" altLang="en-US" sz="950" dirty="0">
                <a:solidFill>
                  <a:schemeClr val="tx1"/>
                </a:solidFill>
              </a:rPr>
              <a:t>초기 자본 $39K, 자기 자금.</a:t>
            </a:r>
            <a:endParaRPr lang="ko-KR" altLang="en-US" sz="950" dirty="0"/>
          </a:p>
          <a:p>
            <a:pPr algn="l" marL="114300" indent="-114300">
              <a:spcAft>
                <a:spcPts val="100"/>
              </a:spcAft>
              <a:buSzPct val="100000"/>
              <a:buChar char="•"/>
            </a:pPr>
            <a:r>
              <a:rPr lang="ko-KR" altLang="en-US" sz="950" dirty="0">
                <a:solidFill>
                  <a:schemeClr val="tx1"/>
                </a:solidFill>
              </a:rPr>
              <a:t>재고 보유: 향후 판매량의 2.5개월 (Medium), 3.0 (Low), 2.0 (High).</a:t>
            </a:r>
            <a:endParaRPr lang="ko-KR" altLang="en-US" sz="950" dirty="0"/>
          </a:p>
          <a:p>
            <a:pPr algn="l" marL="114300" indent="-114300">
              <a:spcAft>
                <a:spcPts val="100"/>
              </a:spcAft>
              <a:buSzPct val="100000"/>
              <a:buChar char="•"/>
            </a:pPr>
            <a:r>
              <a:rPr lang="ko-KR" altLang="en-US" sz="950" dirty="0">
                <a:solidFill>
                  <a:schemeClr val="tx1"/>
                </a:solidFill>
              </a:rPr>
              <a:t>PO 조건 발주 시 30%, 선적 시 70%. 리드타임 항공 1개월, 게이트 후 해상 2개월.</a:t>
            </a:r>
            <a:endParaRPr lang="ko-KR" altLang="en-US" sz="950" dirty="0"/>
          </a:p>
          <a:p>
            <a:pPr algn="l" marL="114300" indent="-114300">
              <a:spcAft>
                <a:spcPts val="100"/>
              </a:spcAft>
              <a:buSzPct val="100000"/>
              <a:buChar char="•"/>
            </a:pPr>
            <a:r>
              <a:rPr lang="ko-KR" altLang="en-US" sz="950" dirty="0">
                <a:solidFill>
                  <a:schemeClr val="tx1"/>
                </a:solidFill>
              </a:rPr>
              <a:t>아마존 정산 지연 14일. 운송 중 재고는 회사가 부담합니다.</a:t>
            </a:r>
            <a:endParaRPr lang="ko-KR" altLang="en-US" sz="950" dirty="0"/>
          </a:p>
          <a:p>
            <a:pPr algn="l" marL="114300" indent="-114300">
              <a:spcAft>
                <a:spcPts val="100"/>
              </a:spcAft>
              <a:buSzPct val="100000"/>
              <a:buChar char="•"/>
            </a:pPr>
            <a:r>
              <a:rPr lang="ko-KR" altLang="en-US" sz="950" dirty="0">
                <a:solidFill>
                  <a:schemeClr val="tx1"/>
                </a:solidFill>
              </a:rPr>
              <a:t>잔액은 신규 자금 조달 전 기준. 신용한도는 최대 소요의 1.2배.</a:t>
            </a:r>
            <a:endParaRPr lang="ko-KR" altLang="en-US" sz="9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27</a:t>
            </a:fld>
            <a:endParaRPr lang="ko-KR"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자금 계획</a:t>
            </a:r>
            <a:endParaRPr lang="ko-KR" altLang="en-US" sz="3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7223760" cy="914400"/>
        </p:xfrm>
        <a:graphic>
          <a:graphicData uri="http://schemas.openxmlformats.org/drawingml/2006/table">
            <a:tbl>
              <a:tblPr/>
              <a:tblGrid>
                <a:gridCol w="3200400"/>
                <a:gridCol w="1280160"/>
                <a:gridCol w="1371600"/>
                <a:gridCol w="1371600"/>
              </a:tblGrid>
              <a:tr h="457200">
                <a:tc>
                  <a:txBody>
                    <a:bodyPr/>
                    <a:lstStyle/>
                    <a:p>
                      <a:pPr algn="l" indent="0" marL="0">
                        <a:buNone/>
                      </a:pP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150" b="1" dirty="0">
                          <a:solidFill>
                            <a:srgbClr val="2DE2FF"/>
                          </a:solidFill>
                          <a:latin typeface="Noto Sans KR" pitchFamily="34" charset="0"/>
                          <a:ea typeface="Noto Sans KR" pitchFamily="34" charset="-122"/>
                          <a:cs typeface="Noto Sans KR" pitchFamily="34" charset="-120"/>
                        </a:rPr>
                        <a:t>Low</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150" b="1" dirty="0">
                          <a:solidFill>
                            <a:srgbClr val="2DE2FF"/>
                          </a:solidFill>
                          <a:latin typeface="Noto Sans KR" pitchFamily="34" charset="0"/>
                          <a:ea typeface="Noto Sans KR" pitchFamily="34" charset="-122"/>
                          <a:cs typeface="Noto Sans KR" pitchFamily="34" charset="-120"/>
                        </a:rPr>
                        <a:t>Medium</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150" b="1" dirty="0">
                          <a:solidFill>
                            <a:srgbClr val="2DE2FF"/>
                          </a:solidFill>
                          <a:latin typeface="Noto Sans KR" pitchFamily="34" charset="0"/>
                          <a:ea typeface="Noto Sans KR" pitchFamily="34" charset="-122"/>
                          <a:cs typeface="Noto Sans KR" pitchFamily="34" charset="-120"/>
                        </a:rPr>
                        <a:t>High</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457200">
                <a:tc>
                  <a:txBody>
                    <a:bodyPr/>
                    <a:lstStyle/>
                    <a:p>
                      <a:pPr algn="l" indent="0" marL="0">
                        <a:buNone/>
                      </a:pPr>
                      <a:r>
                        <a:rPr lang="ko-KR" altLang="en-US" sz="1150" dirty="0">
                          <a:solidFill>
                            <a:srgbClr val="F3F6FF"/>
                          </a:solidFill>
                          <a:latin typeface="Noto Sans KR" pitchFamily="34" charset="0"/>
                          <a:ea typeface="Noto Sans KR" pitchFamily="34" charset="-122"/>
                          <a:cs typeface="Noto Sans KR" pitchFamily="34" charset="-120"/>
                        </a:rPr>
                        <a:t>초기 자본 (Lucy 자기 자금)</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50" dirty="0">
                          <a:solidFill>
                            <a:srgbClr val="F3F6FF"/>
                          </a:solidFill>
                          <a:latin typeface="Noto Sans KR" pitchFamily="34" charset="0"/>
                          <a:ea typeface="Noto Sans KR" pitchFamily="34" charset="-122"/>
                          <a:cs typeface="Noto Sans KR" pitchFamily="34" charset="-120"/>
                        </a:rPr>
                        <a:t>$39K</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50" b="1" dirty="0">
                          <a:solidFill>
                            <a:srgbClr val="2DE2FF"/>
                          </a:solidFill>
                          <a:latin typeface="Noto Sans KR" pitchFamily="34" charset="0"/>
                          <a:ea typeface="Noto Sans KR" pitchFamily="34" charset="-122"/>
                          <a:cs typeface="Noto Sans KR" pitchFamily="34" charset="-120"/>
                        </a:rPr>
                        <a:t>$39K</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50" dirty="0">
                          <a:solidFill>
                            <a:srgbClr val="F3F6FF"/>
                          </a:solidFill>
                          <a:latin typeface="Noto Sans KR" pitchFamily="34" charset="0"/>
                          <a:ea typeface="Noto Sans KR" pitchFamily="34" charset="-122"/>
                          <a:cs typeface="Noto Sans KR" pitchFamily="34" charset="-120"/>
                        </a:rPr>
                        <a:t>$39K</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57200">
                <a:tc>
                  <a:txBody>
                    <a:bodyPr/>
                    <a:lstStyle/>
                    <a:p>
                      <a:pPr algn="l" indent="0" marL="0">
                        <a:buNone/>
                      </a:pPr>
                      <a:r>
                        <a:rPr lang="ko-KR" altLang="en-US" sz="1150" dirty="0">
                          <a:solidFill>
                            <a:srgbClr val="F3F6FF"/>
                          </a:solidFill>
                          <a:latin typeface="Noto Sans KR" pitchFamily="34" charset="0"/>
                          <a:ea typeface="Noto Sans KR" pitchFamily="34" charset="-122"/>
                          <a:cs typeface="Noto Sans KR" pitchFamily="34" charset="-120"/>
                        </a:rPr>
                        <a:t>자금 조달 전 최대 현금 소요</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50" dirty="0">
                          <a:solidFill>
                            <a:srgbClr val="F3F6FF"/>
                          </a:solidFill>
                          <a:latin typeface="Noto Sans KR" pitchFamily="34" charset="0"/>
                          <a:ea typeface="Noto Sans KR" pitchFamily="34" charset="-122"/>
                          <a:cs typeface="Noto Sans KR" pitchFamily="34" charset="-120"/>
                        </a:rPr>
                        <a:t>$114K</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50" b="1" dirty="0">
                          <a:solidFill>
                            <a:srgbClr val="2DE2FF"/>
                          </a:solidFill>
                          <a:latin typeface="Noto Sans KR" pitchFamily="34" charset="0"/>
                          <a:ea typeface="Noto Sans KR" pitchFamily="34" charset="-122"/>
                          <a:cs typeface="Noto Sans KR" pitchFamily="34" charset="-120"/>
                        </a:rPr>
                        <a:t>$96K</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50" dirty="0">
                          <a:solidFill>
                            <a:srgbClr val="F3F6FF"/>
                          </a:solidFill>
                          <a:latin typeface="Noto Sans KR" pitchFamily="34" charset="0"/>
                          <a:ea typeface="Noto Sans KR" pitchFamily="34" charset="-122"/>
                          <a:cs typeface="Noto Sans KR" pitchFamily="34" charset="-120"/>
                        </a:rPr>
                        <a:t>$34K</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57200">
                <a:tc>
                  <a:txBody>
                    <a:bodyPr/>
                    <a:lstStyle/>
                    <a:p>
                      <a:pPr algn="l" indent="0" marL="0">
                        <a:buNone/>
                      </a:pPr>
                      <a:r>
                        <a:rPr lang="ko-KR" altLang="en-US" sz="1150" dirty="0">
                          <a:solidFill>
                            <a:srgbClr val="F3F6FF"/>
                          </a:solidFill>
                          <a:latin typeface="Noto Sans KR" pitchFamily="34" charset="0"/>
                          <a:ea typeface="Noto Sans KR" pitchFamily="34" charset="-122"/>
                          <a:cs typeface="Noto Sans KR" pitchFamily="34" charset="-120"/>
                        </a:rPr>
                        <a:t>최대 소요 시점</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50" dirty="0">
                          <a:solidFill>
                            <a:srgbClr val="F3F6FF"/>
                          </a:solidFill>
                          <a:latin typeface="Noto Sans KR" pitchFamily="34" charset="0"/>
                          <a:ea typeface="Noto Sans KR" pitchFamily="34" charset="-122"/>
                          <a:cs typeface="Noto Sans KR" pitchFamily="34" charset="-120"/>
                        </a:rPr>
                        <a:t>24개월차</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50" b="1" dirty="0">
                          <a:solidFill>
                            <a:srgbClr val="2DE2FF"/>
                          </a:solidFill>
                          <a:latin typeface="Noto Sans KR" pitchFamily="34" charset="0"/>
                          <a:ea typeface="Noto Sans KR" pitchFamily="34" charset="-122"/>
                          <a:cs typeface="Noto Sans KR" pitchFamily="34" charset="-120"/>
                        </a:rPr>
                        <a:t>12개월차</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50" dirty="0">
                          <a:solidFill>
                            <a:srgbClr val="F3F6FF"/>
                          </a:solidFill>
                          <a:latin typeface="Noto Sans KR" pitchFamily="34" charset="0"/>
                          <a:ea typeface="Noto Sans KR" pitchFamily="34" charset="-122"/>
                          <a:cs typeface="Noto Sans KR" pitchFamily="34" charset="-120"/>
                        </a:rPr>
                        <a:t>7개월차</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57200">
                <a:tc>
                  <a:txBody>
                    <a:bodyPr/>
                    <a:lstStyle/>
                    <a:p>
                      <a:pPr algn="l" indent="0" marL="0">
                        <a:buNone/>
                      </a:pPr>
                      <a:r>
                        <a:rPr lang="ko-KR" altLang="en-US" sz="1150" dirty="0">
                          <a:solidFill>
                            <a:srgbClr val="F3F6FF"/>
                          </a:solidFill>
                          <a:latin typeface="Noto Sans KR" pitchFamily="34" charset="0"/>
                          <a:ea typeface="Noto Sans KR" pitchFamily="34" charset="-122"/>
                          <a:cs typeface="Noto Sans KR" pitchFamily="34" charset="-120"/>
                        </a:rPr>
                        <a:t>신용한도 또는 투자금 (최대 소요의 1.2배)</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50" dirty="0">
                          <a:solidFill>
                            <a:srgbClr val="F3F6FF"/>
                          </a:solidFill>
                          <a:latin typeface="Noto Sans KR" pitchFamily="34" charset="0"/>
                          <a:ea typeface="Noto Sans KR" pitchFamily="34" charset="-122"/>
                          <a:cs typeface="Noto Sans KR" pitchFamily="34" charset="-120"/>
                        </a:rPr>
                        <a:t>$136K</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50" b="1" dirty="0">
                          <a:solidFill>
                            <a:srgbClr val="2DE2FF"/>
                          </a:solidFill>
                          <a:latin typeface="Noto Sans KR" pitchFamily="34" charset="0"/>
                          <a:ea typeface="Noto Sans KR" pitchFamily="34" charset="-122"/>
                          <a:cs typeface="Noto Sans KR" pitchFamily="34" charset="-120"/>
                        </a:rPr>
                        <a:t>$116K</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50" dirty="0">
                          <a:solidFill>
                            <a:srgbClr val="F3F6FF"/>
                          </a:solidFill>
                          <a:latin typeface="Noto Sans KR" pitchFamily="34" charset="0"/>
                          <a:ea typeface="Noto Sans KR" pitchFamily="34" charset="-122"/>
                          <a:cs typeface="Noto Sans KR" pitchFamily="34" charset="-120"/>
                        </a:rPr>
                        <a:t>$41K</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57200">
                <a:tc>
                  <a:txBody>
                    <a:bodyPr/>
                    <a:lstStyle/>
                    <a:p>
                      <a:pPr algn="l" indent="0" marL="0">
                        <a:buNone/>
                      </a:pPr>
                      <a:r>
                        <a:rPr lang="ko-KR" altLang="en-US" sz="1150" dirty="0">
                          <a:solidFill>
                            <a:srgbClr val="F3F6FF"/>
                          </a:solidFill>
                          <a:latin typeface="Noto Sans KR" pitchFamily="34" charset="0"/>
                          <a:ea typeface="Noto Sans KR" pitchFamily="34" charset="-122"/>
                          <a:cs typeface="Noto Sans KR" pitchFamily="34" charset="-120"/>
                        </a:rPr>
                        <a:t>확보 기한</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50" dirty="0">
                          <a:solidFill>
                            <a:srgbClr val="F3F6FF"/>
                          </a:solidFill>
                          <a:latin typeface="Noto Sans KR" pitchFamily="34" charset="0"/>
                          <a:ea typeface="Noto Sans KR" pitchFamily="34" charset="-122"/>
                          <a:cs typeface="Noto Sans KR" pitchFamily="34" charset="-120"/>
                        </a:rPr>
                        <a:t>2개월차</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50" b="1" dirty="0">
                          <a:solidFill>
                            <a:srgbClr val="2DE2FF"/>
                          </a:solidFill>
                          <a:latin typeface="Noto Sans KR" pitchFamily="34" charset="0"/>
                          <a:ea typeface="Noto Sans KR" pitchFamily="34" charset="-122"/>
                          <a:cs typeface="Noto Sans KR" pitchFamily="34" charset="-120"/>
                        </a:rPr>
                        <a:t>2개월차</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50" dirty="0">
                          <a:solidFill>
                            <a:srgbClr val="F3F6FF"/>
                          </a:solidFill>
                          <a:latin typeface="Noto Sans KR" pitchFamily="34" charset="0"/>
                          <a:ea typeface="Noto Sans KR" pitchFamily="34" charset="-122"/>
                          <a:cs typeface="Noto Sans KR" pitchFamily="34" charset="-120"/>
                        </a:rPr>
                        <a:t>1개월차</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57200">
                <a:tc>
                  <a:txBody>
                    <a:bodyPr/>
                    <a:lstStyle/>
                    <a:p>
                      <a:pPr algn="l" indent="0" marL="0">
                        <a:buNone/>
                      </a:pPr>
                      <a:r>
                        <a:rPr lang="ko-KR" altLang="en-US" sz="1150" dirty="0">
                          <a:solidFill>
                            <a:srgbClr val="F3F6FF"/>
                          </a:solidFill>
                          <a:latin typeface="Noto Sans KR" pitchFamily="34" charset="0"/>
                          <a:ea typeface="Noto Sans KR" pitchFamily="34" charset="-122"/>
                          <a:cs typeface="Noto Sans KR" pitchFamily="34" charset="-120"/>
                        </a:rPr>
                        <a:t>자금 조달 후 90일 시점 런웨이</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50" dirty="0">
                          <a:solidFill>
                            <a:srgbClr val="F3F6FF"/>
                          </a:solidFill>
                          <a:latin typeface="Noto Sans KR" pitchFamily="34" charset="0"/>
                          <a:ea typeface="Noto Sans KR" pitchFamily="34" charset="-122"/>
                          <a:cs typeface="Noto Sans KR" pitchFamily="34" charset="-120"/>
                        </a:rPr>
                        <a:t>15.3개월</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50" b="1" dirty="0">
                          <a:solidFill>
                            <a:srgbClr val="2DE2FF"/>
                          </a:solidFill>
                          <a:latin typeface="Noto Sans KR" pitchFamily="34" charset="0"/>
                          <a:ea typeface="Noto Sans KR" pitchFamily="34" charset="-122"/>
                          <a:cs typeface="Noto Sans KR" pitchFamily="34" charset="-120"/>
                        </a:rPr>
                        <a:t>10.2개월</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50" dirty="0">
                          <a:solidFill>
                            <a:srgbClr val="F3F6FF"/>
                          </a:solidFill>
                          <a:latin typeface="Noto Sans KR" pitchFamily="34" charset="0"/>
                          <a:ea typeface="Noto Sans KR" pitchFamily="34" charset="-122"/>
                          <a:cs typeface="Noto Sans KR" pitchFamily="34" charset="-120"/>
                        </a:rPr>
                        <a:t>4.0개월</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57200">
                <a:tc>
                  <a:txBody>
                    <a:bodyPr/>
                    <a:lstStyle/>
                    <a:p>
                      <a:pPr algn="l" indent="0" marL="0">
                        <a:buNone/>
                      </a:pPr>
                      <a:r>
                        <a:rPr lang="ko-KR" altLang="en-US" sz="1150" dirty="0">
                          <a:solidFill>
                            <a:srgbClr val="F3F6FF"/>
                          </a:solidFill>
                          <a:latin typeface="Noto Sans KR" pitchFamily="34" charset="0"/>
                          <a:ea typeface="Noto Sans KR" pitchFamily="34" charset="-122"/>
                          <a:cs typeface="Noto Sans KR" pitchFamily="34" charset="-120"/>
                        </a:rPr>
                        <a:t>자금 조달 후 24개월차 말 현금</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50" dirty="0">
                          <a:solidFill>
                            <a:srgbClr val="F3F6FF"/>
                          </a:solidFill>
                          <a:latin typeface="Noto Sans KR" pitchFamily="34" charset="0"/>
                          <a:ea typeface="Noto Sans KR" pitchFamily="34" charset="-122"/>
                          <a:cs typeface="Noto Sans KR" pitchFamily="34" charset="-120"/>
                        </a:rPr>
                        <a:t>$23K</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50" b="1" dirty="0">
                          <a:solidFill>
                            <a:srgbClr val="2DE2FF"/>
                          </a:solidFill>
                          <a:latin typeface="Noto Sans KR" pitchFamily="34" charset="0"/>
                          <a:ea typeface="Noto Sans KR" pitchFamily="34" charset="-122"/>
                          <a:cs typeface="Noto Sans KR" pitchFamily="34" charset="-120"/>
                        </a:rPr>
                        <a:t>$186K</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150" dirty="0">
                          <a:solidFill>
                            <a:srgbClr val="F3F6FF"/>
                          </a:solidFill>
                          <a:latin typeface="Noto Sans KR" pitchFamily="34" charset="0"/>
                          <a:ea typeface="Noto Sans KR" pitchFamily="34" charset="-122"/>
                          <a:cs typeface="Noto Sans KR" pitchFamily="34" charset="-120"/>
                        </a:rPr>
                        <a:t>$577K</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57200">
                <a:tc>
                  <a:txBody>
                    <a:bodyPr/>
                    <a:lstStyle/>
                    <a:p>
                      <a:pPr algn="l" indent="0" marL="0">
                        <a:buNone/>
                      </a:pPr>
                      <a:r>
                        <a:rPr lang="ko-KR" altLang="en-US" sz="1150" dirty="0">
                          <a:solidFill>
                            <a:srgbClr val="F3F6FF"/>
                          </a:solidFill>
                          <a:latin typeface="Noto Sans KR" pitchFamily="34" charset="0"/>
                          <a:ea typeface="Noto Sans KR" pitchFamily="34" charset="-122"/>
                          <a:cs typeface="Noto Sans KR" pitchFamily="34" charset="-120"/>
                        </a:rPr>
                        <a:t>자금 조달 후 5년차 말 현금</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50" dirty="0">
                          <a:solidFill>
                            <a:srgbClr val="F3F6FF"/>
                          </a:solidFill>
                          <a:latin typeface="Noto Sans KR" pitchFamily="34" charset="0"/>
                          <a:ea typeface="Noto Sans KR" pitchFamily="34" charset="-122"/>
                          <a:cs typeface="Noto Sans KR" pitchFamily="34" charset="-120"/>
                        </a:rPr>
                        <a:t>$63K</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50" b="1" dirty="0">
                          <a:solidFill>
                            <a:srgbClr val="2DE2FF"/>
                          </a:solidFill>
                          <a:latin typeface="Noto Sans KR" pitchFamily="34" charset="0"/>
                          <a:ea typeface="Noto Sans KR" pitchFamily="34" charset="-122"/>
                          <a:cs typeface="Noto Sans KR" pitchFamily="34" charset="-120"/>
                        </a:rPr>
                        <a:t>$1,401K</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150" dirty="0">
                          <a:solidFill>
                            <a:srgbClr val="F3F6FF"/>
                          </a:solidFill>
                          <a:latin typeface="Noto Sans KR" pitchFamily="34" charset="0"/>
                          <a:ea typeface="Noto Sans KR" pitchFamily="34" charset="-122"/>
                          <a:cs typeface="Noto Sans KR" pitchFamily="34" charset="-120"/>
                        </a:rPr>
                        <a:t>$4,492K</a:t>
                      </a:r>
                      <a:endParaRPr lang="ko-KR" altLang="en-US" sz="11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bl>
          </a:graphicData>
        </a:graphic>
      </p:graphicFrame>
      <p:sp>
        <p:nvSpPr>
          <p:cNvPr id="5" name="card"/>
          <p:cNvSpPr/>
          <p:nvPr/>
        </p:nvSpPr>
        <p:spPr>
          <a:xfrm>
            <a:off x="7955280" y="1188720"/>
            <a:ext cx="3776472" cy="5029200"/>
          </a:xfrm>
          <a:prstGeom prst="roundRect">
            <a:avLst>
              <a:gd name="adj" fmla="val 2906"/>
            </a:avLst>
          </a:prstGeom>
          <a:solidFill>
            <a:schemeClr val="bg2"/>
          </a:solidFill>
          <a:ln w="12700">
            <a:solidFill>
              <a:srgbClr val="141C36"/>
            </a:solidFill>
            <a:prstDash val="solid"/>
          </a:ln>
        </p:spPr>
      </p:sp>
      <p:sp>
        <p:nvSpPr>
          <p:cNvPr id="6" name="Text 2"/>
          <p:cNvSpPr txBox="1"/>
          <p:nvPr/>
        </p:nvSpPr>
        <p:spPr>
          <a:xfrm>
            <a:off x="8183880" y="1325880"/>
            <a:ext cx="3383280" cy="365760"/>
          </a:xfrm>
          <a:prstGeom prst="rect">
            <a:avLst/>
          </a:prstGeom>
          <a:noFill/>
          <a:ln/>
        </p:spPr>
        <p:txBody>
          <a:bodyPr wrap="square" lIns="0" tIns="0" rIns="0" bIns="0" rtlCol="0" anchor="t"/>
          <a:lstStyle/>
          <a:p>
            <a:pPr algn="l" indent="0" marL="0">
              <a:buNone/>
            </a:pPr>
            <a:r>
              <a:rPr lang="ko-KR" altLang="en-US" sz="1600" b="1" dirty="0">
                <a:solidFill>
                  <a:schemeClr val="accent1"/>
                </a:solidFill>
              </a:rPr>
              <a:t>자금 조달 순서</a:t>
            </a:r>
            <a:endParaRPr lang="ko-KR" altLang="en-US" sz="1600" dirty="0"/>
          </a:p>
        </p:txBody>
      </p:sp>
      <p:sp>
        <p:nvSpPr>
          <p:cNvPr id="7" name="Text 3"/>
          <p:cNvSpPr txBox="1"/>
          <p:nvPr/>
        </p:nvSpPr>
        <p:spPr>
          <a:xfrm>
            <a:off x="8183880" y="1828800"/>
            <a:ext cx="3337560" cy="1005840"/>
          </a:xfrm>
          <a:prstGeom prst="rect">
            <a:avLst/>
          </a:prstGeom>
          <a:noFill/>
          <a:ln/>
        </p:spPr>
        <p:txBody>
          <a:bodyPr wrap="square" lIns="0" tIns="0" rIns="0" bIns="0" rtlCol="0" anchor="t"/>
          <a:lstStyle/>
          <a:p>
            <a:pPr algn="l" indent="0" marL="0">
              <a:buNone/>
            </a:pPr>
            <a:r>
              <a:rPr lang="ko-KR" altLang="en-US" sz="1250" dirty="0">
                <a:solidFill>
                  <a:schemeClr val="tx1"/>
                </a:solidFill>
              </a:rPr>
              <a:t>1. 유보 이익 우선: 3년차까지 모든 순이익은 LLC에 남깁니다.</a:t>
            </a:r>
            <a:endParaRPr lang="ko-KR" altLang="en-US" sz="1250" dirty="0"/>
          </a:p>
        </p:txBody>
      </p:sp>
      <p:sp>
        <p:nvSpPr>
          <p:cNvPr id="8" name="Text 4"/>
          <p:cNvSpPr txBox="1"/>
          <p:nvPr/>
        </p:nvSpPr>
        <p:spPr>
          <a:xfrm>
            <a:off x="8183880" y="2880360"/>
            <a:ext cx="3337560" cy="1005840"/>
          </a:xfrm>
          <a:prstGeom prst="rect">
            <a:avLst/>
          </a:prstGeom>
          <a:noFill/>
          <a:ln/>
        </p:spPr>
        <p:txBody>
          <a:bodyPr wrap="square" lIns="0" tIns="0" rIns="0" bIns="0" rtlCol="0" anchor="t"/>
          <a:lstStyle/>
          <a:p>
            <a:pPr algn="l" indent="0" marL="0">
              <a:buNone/>
            </a:pPr>
            <a:r>
              <a:rPr lang="ko-KR" altLang="en-US" sz="1250" dirty="0">
                <a:solidFill>
                  <a:schemeClr val="tx1"/>
                </a:solidFill>
              </a:rPr>
              <a:t>2. 2개월차부터 필요에 따라 인출하는 $116K(Medium)의 신용한도. 같은 규모의 투자금이 대안입니다.</a:t>
            </a:r>
            <a:endParaRPr lang="ko-KR" altLang="en-US" sz="1250" dirty="0"/>
          </a:p>
        </p:txBody>
      </p:sp>
      <p:sp>
        <p:nvSpPr>
          <p:cNvPr id="9" name="Text 5"/>
          <p:cNvSpPr txBox="1"/>
          <p:nvPr/>
        </p:nvSpPr>
        <p:spPr>
          <a:xfrm>
            <a:off x="8183880" y="3931920"/>
            <a:ext cx="3337560" cy="1005840"/>
          </a:xfrm>
          <a:prstGeom prst="rect">
            <a:avLst/>
          </a:prstGeom>
          <a:noFill/>
          <a:ln/>
        </p:spPr>
        <p:txBody>
          <a:bodyPr wrap="square" lIns="0" tIns="0" rIns="0" bIns="0" rtlCol="0" anchor="t"/>
          <a:lstStyle/>
          <a:p>
            <a:pPr algn="l" indent="0" marL="0">
              <a:buNone/>
            </a:pPr>
            <a:r>
              <a:rPr lang="ko-KR" altLang="en-US" sz="1250" dirty="0">
                <a:solidFill>
                  <a:schemeClr val="tx1"/>
                </a:solidFill>
              </a:rPr>
              <a:t>3. Fiber 판정은 Medium 자금 부족분을 $71K로 줄이고, Stress 케이스는 $133K로 늘립니다.</a:t>
            </a:r>
            <a:endParaRPr lang="ko-KR" altLang="en-US" sz="1250" dirty="0"/>
          </a:p>
        </p:txBody>
      </p:sp>
      <p:sp>
        <p:nvSpPr>
          <p:cNvPr id="10" name="Text 6"/>
          <p:cNvSpPr txBox="1"/>
          <p:nvPr/>
        </p:nvSpPr>
        <p:spPr>
          <a:xfrm>
            <a:off x="8183880" y="4983480"/>
            <a:ext cx="3337560" cy="1005840"/>
          </a:xfrm>
          <a:prstGeom prst="rect">
            <a:avLst/>
          </a:prstGeom>
          <a:noFill/>
          <a:ln/>
        </p:spPr>
        <p:txBody>
          <a:bodyPr wrap="square" lIns="0" tIns="0" rIns="0" bIns="0" rtlCol="0" anchor="t"/>
          <a:lstStyle/>
          <a:p>
            <a:pPr algn="l" indent="0" marL="0">
              <a:buNone/>
            </a:pPr>
            <a:r>
              <a:rPr lang="ko-KR" altLang="en-US" sz="1250" dirty="0">
                <a:solidFill>
                  <a:schemeClr val="tx1"/>
                </a:solidFill>
              </a:rPr>
              <a:t>4. 대표 인출은 12개월차 게이트 통과와 한도 상환 후에만 시작합니다.</a:t>
            </a:r>
            <a:endParaRPr lang="ko-KR" altLang="en-US" sz="12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28</a:t>
            </a:fld>
            <a:endParaRPr lang="ko-KR"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민감도: 5년차 순이익을 움직이는 것</a:t>
            </a:r>
            <a:endParaRPr lang="ko-KR" altLang="en-US" sz="3200" dirty="0"/>
          </a:p>
        </p:txBody>
      </p:sp>
      <p:graphicFrame>
        <p:nvGraphicFramePr>
          <p:cNvPr id="4" name="Chart 0" descr=""/>
          <p:cNvGraphicFramePr/>
          <p:nvPr/>
        </p:nvGraphicFramePr>
        <p:xfrm>
          <a:off x="457200" y="1188720"/>
          <a:ext cx="5943600" cy="448056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457200" y="5715000"/>
            <a:ext cx="5943600" cy="274320"/>
          </a:xfrm>
          <a:prstGeom prst="rect">
            <a:avLst/>
          </a:prstGeom>
          <a:noFill/>
          <a:ln/>
        </p:spPr>
        <p:txBody>
          <a:bodyPr wrap="square" lIns="0" tIns="0" rIns="0" bIns="0" rtlCol="0" anchor="t"/>
          <a:lstStyle/>
          <a:p>
            <a:pPr algn="l" indent="0" marL="0">
              <a:buNone/>
            </a:pPr>
            <a:r>
              <a:rPr lang="ko-KR" altLang="en-US" sz="1150" b="1" dirty="0">
                <a:solidFill>
                  <a:schemeClr val="accent1"/>
                </a:solidFill>
              </a:rPr>
              <a:t>기준: Medium 5년차 순이익 $613K</a:t>
            </a:r>
            <a:endParaRPr lang="ko-KR" altLang="en-US" sz="1150" dirty="0"/>
          </a:p>
        </p:txBody>
      </p:sp>
      <p:sp>
        <p:nvSpPr>
          <p:cNvPr id="6" name="Text 2"/>
          <p:cNvSpPr txBox="1"/>
          <p:nvPr/>
        </p:nvSpPr>
        <p:spPr>
          <a:xfrm>
            <a:off x="457200" y="5989320"/>
            <a:ext cx="5943600" cy="411480"/>
          </a:xfrm>
          <a:prstGeom prst="rect">
            <a:avLst/>
          </a:prstGeom>
          <a:noFill/>
          <a:ln/>
        </p:spPr>
        <p:txBody>
          <a:bodyPr wrap="square" lIns="0" tIns="0" rIns="0" bIns="0" rtlCol="0" anchor="t"/>
          <a:lstStyle/>
          <a:p>
            <a:pPr algn="l" indent="0" marL="0">
              <a:buNone/>
            </a:pPr>
            <a:r>
              <a:rPr lang="ko-KR" altLang="en-US" sz="1000" dirty="0">
                <a:solidFill>
                  <a:schemeClr val="tx2"/>
                </a:solidFill>
              </a:rPr>
              <a:t>Medium 5년차 순이익의 단일 변수 민감도이며 Sensitivity 탭의 실시간 수식입니다. 공장 원가 막대는 의도적으로 잘랐습니다. Alibaba 벤치마크에서 5년차 순이익은 ($1.35M)입니다.</a:t>
            </a:r>
            <a:endParaRPr lang="ko-KR" alt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675120" y="1188720"/>
          <a:ext cx="5056632" cy="914400"/>
        </p:xfrm>
        <a:graphic>
          <a:graphicData uri="http://schemas.openxmlformats.org/drawingml/2006/table">
            <a:tbl>
              <a:tblPr/>
              <a:tblGrid>
                <a:gridCol w="1417320"/>
                <a:gridCol w="1097280"/>
                <a:gridCol w="731520"/>
                <a:gridCol w="1097280"/>
                <a:gridCol w="713232"/>
              </a:tblGrid>
              <a:tr h="475488">
                <a:tc>
                  <a:txBody>
                    <a:bodyPr/>
                    <a:lstStyle/>
                    <a:p>
                      <a:pPr algn="l" indent="0" marL="0">
                        <a:buNone/>
                      </a:pPr>
                      <a:r>
                        <a:rPr lang="ko-KR" altLang="en-US" sz="1000" b="1" dirty="0">
                          <a:solidFill>
                            <a:srgbClr val="2DE2FF"/>
                          </a:solidFill>
                          <a:latin typeface="Noto Sans KR" pitchFamily="34" charset="0"/>
                          <a:ea typeface="Noto Sans KR" pitchFamily="34" charset="-122"/>
                          <a:cs typeface="Noto Sans KR" pitchFamily="34" charset="-120"/>
                        </a:rPr>
                        <a:t>동인</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000" b="1" dirty="0">
                          <a:solidFill>
                            <a:srgbClr val="2DE2FF"/>
                          </a:solidFill>
                          <a:latin typeface="Noto Sans KR" pitchFamily="34" charset="0"/>
                          <a:ea typeface="Noto Sans KR" pitchFamily="34" charset="-122"/>
                          <a:cs typeface="Noto Sans KR" pitchFamily="34" charset="-120"/>
                        </a:rPr>
                        <a:t>하방 케이스</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000" b="1" dirty="0">
                          <a:solidFill>
                            <a:srgbClr val="2DE2FF"/>
                          </a:solidFill>
                          <a:latin typeface="Noto Sans KR" pitchFamily="34" charset="0"/>
                          <a:ea typeface="Noto Sans KR" pitchFamily="34" charset="-122"/>
                          <a:cs typeface="Noto Sans KR" pitchFamily="34" charset="-120"/>
                        </a:rPr>
                        <a:t>5년차 순이익</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000" b="1" dirty="0">
                          <a:solidFill>
                            <a:srgbClr val="2DE2FF"/>
                          </a:solidFill>
                          <a:latin typeface="Noto Sans KR" pitchFamily="34" charset="0"/>
                          <a:ea typeface="Noto Sans KR" pitchFamily="34" charset="-122"/>
                          <a:cs typeface="Noto Sans KR" pitchFamily="34" charset="-120"/>
                        </a:rPr>
                        <a:t>상방 케이스</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000" b="1" dirty="0">
                          <a:solidFill>
                            <a:srgbClr val="2DE2FF"/>
                          </a:solidFill>
                          <a:latin typeface="Noto Sans KR" pitchFamily="34" charset="0"/>
                          <a:ea typeface="Noto Sans KR" pitchFamily="34" charset="-122"/>
                          <a:cs typeface="Noto Sans KR" pitchFamily="34" charset="-120"/>
                        </a:rPr>
                        <a:t>5년차 순이익</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475488">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공장 원가 (FOB)</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Alibaba 벤치마크</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00" dirty="0">
                          <a:solidFill>
                            <a:srgbClr val="FF4FD8"/>
                          </a:solidFill>
                          <a:latin typeface="Noto Sans KR" pitchFamily="34" charset="0"/>
                          <a:ea typeface="Noto Sans KR" pitchFamily="34" charset="-122"/>
                          <a:cs typeface="Noto Sans KR" pitchFamily="34" charset="-120"/>
                        </a:rPr>
                        <a:t>($1,345K)</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10% 하락</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00" dirty="0">
                          <a:solidFill>
                            <a:srgbClr val="3DDC97"/>
                          </a:solidFill>
                          <a:latin typeface="Noto Sans KR" pitchFamily="34" charset="0"/>
                          <a:ea typeface="Noto Sans KR" pitchFamily="34" charset="-122"/>
                          <a:cs typeface="Noto Sans KR" pitchFamily="34" charset="-120"/>
                        </a:rPr>
                        <a:t>$732K</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75488">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관세율</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Stress 50.1%</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00" dirty="0">
                          <a:solidFill>
                            <a:srgbClr val="F3F6FF"/>
                          </a:solidFill>
                          <a:latin typeface="Noto Sans KR" pitchFamily="34" charset="0"/>
                          <a:ea typeface="Noto Sans KR" pitchFamily="34" charset="-122"/>
                          <a:cs typeface="Noto Sans KR" pitchFamily="34" charset="-120"/>
                        </a:rPr>
                        <a:t>$528K</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Fiber 12.5%</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00" dirty="0">
                          <a:solidFill>
                            <a:srgbClr val="3DDC97"/>
                          </a:solidFill>
                          <a:latin typeface="Noto Sans KR" pitchFamily="34" charset="0"/>
                          <a:ea typeface="Noto Sans KR" pitchFamily="34" charset="-122"/>
                          <a:cs typeface="Noto Sans KR" pitchFamily="34" charset="-120"/>
                        </a:rPr>
                        <a:t>$848K</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75488">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ASP</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10% 하락</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00" dirty="0">
                          <a:solidFill>
                            <a:srgbClr val="F3F6FF"/>
                          </a:solidFill>
                          <a:latin typeface="Noto Sans KR" pitchFamily="34" charset="0"/>
                          <a:ea typeface="Noto Sans KR" pitchFamily="34" charset="-122"/>
                          <a:cs typeface="Noto Sans KR" pitchFamily="34" charset="-120"/>
                        </a:rPr>
                        <a:t>$462K</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10% 상승</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00" dirty="0">
                          <a:solidFill>
                            <a:srgbClr val="3DDC97"/>
                          </a:solidFill>
                          <a:latin typeface="Noto Sans KR" pitchFamily="34" charset="0"/>
                          <a:ea typeface="Noto Sans KR" pitchFamily="34" charset="-122"/>
                          <a:cs typeface="Noto Sans KR" pitchFamily="34" charset="-120"/>
                        </a:rPr>
                        <a:t>$763K</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75488">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광고비</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3포인트 상승</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00" dirty="0">
                          <a:solidFill>
                            <a:srgbClr val="F3F6FF"/>
                          </a:solidFill>
                          <a:latin typeface="Noto Sans KR" pitchFamily="34" charset="0"/>
                          <a:ea typeface="Noto Sans KR" pitchFamily="34" charset="-122"/>
                          <a:cs typeface="Noto Sans KR" pitchFamily="34" charset="-120"/>
                        </a:rPr>
                        <a:t>$475K</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3포인트 하락</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00" dirty="0">
                          <a:solidFill>
                            <a:srgbClr val="3DDC97"/>
                          </a:solidFill>
                          <a:latin typeface="Noto Sans KR" pitchFamily="34" charset="0"/>
                          <a:ea typeface="Noto Sans KR" pitchFamily="34" charset="-122"/>
                          <a:cs typeface="Noto Sans KR" pitchFamily="34" charset="-120"/>
                        </a:rPr>
                        <a:t>$750K</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75488">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환율 (USD당 KRW)</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1,300</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00" dirty="0">
                          <a:solidFill>
                            <a:srgbClr val="F3F6FF"/>
                          </a:solidFill>
                          <a:latin typeface="Noto Sans KR" pitchFamily="34" charset="0"/>
                          <a:ea typeface="Noto Sans KR" pitchFamily="34" charset="-122"/>
                          <a:cs typeface="Noto Sans KR" pitchFamily="34" charset="-120"/>
                        </a:rPr>
                        <a:t>$528K</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1,550</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00" dirty="0">
                          <a:solidFill>
                            <a:srgbClr val="3DDC97"/>
                          </a:solidFill>
                          <a:latin typeface="Noto Sans KR" pitchFamily="34" charset="0"/>
                          <a:ea typeface="Noto Sans KR" pitchFamily="34" charset="-122"/>
                          <a:cs typeface="Noto Sans KR" pitchFamily="34" charset="-120"/>
                        </a:rPr>
                        <a:t>$679K</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75488">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반품률</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5%</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00" dirty="0">
                          <a:solidFill>
                            <a:srgbClr val="F3F6FF"/>
                          </a:solidFill>
                          <a:latin typeface="Noto Sans KR" pitchFamily="34" charset="0"/>
                          <a:ea typeface="Noto Sans KR" pitchFamily="34" charset="-122"/>
                          <a:cs typeface="Noto Sans KR" pitchFamily="34" charset="-120"/>
                        </a:rPr>
                        <a:t>$498K</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00" dirty="0">
                          <a:solidFill>
                            <a:srgbClr val="F3F6FF"/>
                          </a:solidFill>
                          <a:latin typeface="Noto Sans KR" pitchFamily="34" charset="0"/>
                          <a:ea typeface="Noto Sans KR" pitchFamily="34" charset="-122"/>
                          <a:cs typeface="Noto Sans KR" pitchFamily="34" charset="-120"/>
                        </a:rPr>
                        <a:t>2%</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00" dirty="0">
                          <a:solidFill>
                            <a:srgbClr val="3DDC97"/>
                          </a:solidFill>
                          <a:latin typeface="Noto Sans KR" pitchFamily="34" charset="0"/>
                          <a:ea typeface="Noto Sans KR" pitchFamily="34" charset="-122"/>
                          <a:cs typeface="Noto Sans KR" pitchFamily="34" charset="-120"/>
                        </a:rPr>
                        <a:t>$636K</a:t>
                      </a:r>
                      <a:endParaRPr lang="ko-KR" altLang="en-US" sz="100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29</a:t>
            </a:fld>
            <a:endParaRPr lang="ko-KR"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레버 12개와 각각이 움직이는 것</a:t>
            </a:r>
            <a:endParaRPr lang="ko-KR" altLang="en-US" sz="3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77295" cy="914400"/>
        </p:xfrm>
        <a:graphic>
          <a:graphicData uri="http://schemas.openxmlformats.org/drawingml/2006/table">
            <a:tbl>
              <a:tblPr/>
              <a:tblGrid>
                <a:gridCol w="320040"/>
                <a:gridCol w="2834640"/>
                <a:gridCol w="1920240"/>
                <a:gridCol w="1188720"/>
                <a:gridCol w="1828800"/>
                <a:gridCol w="1051560"/>
                <a:gridCol w="1097280"/>
                <a:gridCol w="1033272"/>
              </a:tblGrid>
              <a:tr h="365760">
                <a:tc>
                  <a:txBody>
                    <a:bodyPr/>
                    <a:lstStyle/>
                    <a:p>
                      <a:pPr algn="l" indent="0" marL="0">
                        <a:buNone/>
                      </a:pPr>
                      <a:r>
                        <a:rPr lang="ko-KR" altLang="en-US" sz="950" b="1" dirty="0">
                          <a:solidFill>
                            <a:srgbClr val="2DE2FF"/>
                          </a:solidFill>
                          <a:latin typeface="Noto Sans KR" pitchFamily="34" charset="0"/>
                          <a:ea typeface="Noto Sans KR" pitchFamily="34" charset="-122"/>
                          <a:cs typeface="Noto Sans KR" pitchFamily="34" charset="-120"/>
                        </a:rPr>
                        <a:t>#</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950" b="1" dirty="0">
                          <a:solidFill>
                            <a:srgbClr val="2DE2FF"/>
                          </a:solidFill>
                          <a:latin typeface="Noto Sans KR" pitchFamily="34" charset="0"/>
                          <a:ea typeface="Noto Sans KR" pitchFamily="34" charset="-122"/>
                          <a:cs typeface="Noto Sans KR" pitchFamily="34" charset="-120"/>
                        </a:rPr>
                        <a:t>레버</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950" b="1" dirty="0">
                          <a:solidFill>
                            <a:srgbClr val="2DE2FF"/>
                          </a:solidFill>
                          <a:latin typeface="Noto Sans KR" pitchFamily="34" charset="0"/>
                          <a:ea typeface="Noto Sans KR" pitchFamily="34" charset="-122"/>
                          <a:cs typeface="Noto Sans KR" pitchFamily="34" charset="-120"/>
                        </a:rPr>
                        <a:t>움직이는 가정</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950" b="1" dirty="0">
                          <a:solidFill>
                            <a:srgbClr val="2DE2FF"/>
                          </a:solidFill>
                          <a:latin typeface="Noto Sans KR" pitchFamily="34" charset="0"/>
                          <a:ea typeface="Noto Sans KR" pitchFamily="34" charset="-122"/>
                          <a:cs typeface="Noto Sans KR" pitchFamily="34" charset="-120"/>
                        </a:rPr>
                        <a:t>현재</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950" b="1" dirty="0">
                          <a:solidFill>
                            <a:srgbClr val="2DE2FF"/>
                          </a:solidFill>
                          <a:latin typeface="Noto Sans KR" pitchFamily="34" charset="0"/>
                          <a:ea typeface="Noto Sans KR" pitchFamily="34" charset="-122"/>
                          <a:cs typeface="Noto Sans KR" pitchFamily="34" charset="-120"/>
                        </a:rPr>
                        <a:t>목표</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950" b="1" dirty="0">
                          <a:solidFill>
                            <a:srgbClr val="2DE2FF"/>
                          </a:solidFill>
                          <a:latin typeface="Noto Sans KR" pitchFamily="34" charset="0"/>
                          <a:ea typeface="Noto Sans KR" pitchFamily="34" charset="-122"/>
                          <a:cs typeface="Noto Sans KR" pitchFamily="34" charset="-120"/>
                        </a:rPr>
                        <a:t>담당</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950" b="1" dirty="0">
                          <a:solidFill>
                            <a:srgbClr val="2DE2FF"/>
                          </a:solidFill>
                          <a:latin typeface="Noto Sans KR" pitchFamily="34" charset="0"/>
                          <a:ea typeface="Noto Sans KR" pitchFamily="34" charset="-122"/>
                          <a:cs typeface="Noto Sans KR" pitchFamily="34" charset="-120"/>
                        </a:rPr>
                        <a:t>18개월 순이익 효과</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950" b="1" dirty="0">
                          <a:solidFill>
                            <a:srgbClr val="2DE2FF"/>
                          </a:solidFill>
                          <a:latin typeface="Noto Sans KR" pitchFamily="34" charset="0"/>
                          <a:ea typeface="Noto Sans KR" pitchFamily="34" charset="-122"/>
                          <a:cs typeface="Noto Sans KR" pitchFamily="34" charset="-120"/>
                        </a:rPr>
                        <a:t>근거</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365760">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1</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CBP 품목분류 사전심사: 광케이블 분류 8544.70.00</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관세율, 착지 COGS %</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38%</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33.5%</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관세사, Mark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950" dirty="0">
                          <a:solidFill>
                            <a:srgbClr val="3DDC97"/>
                          </a:solidFill>
                          <a:latin typeface="Noto Sans KR" pitchFamily="34" charset="0"/>
                          <a:ea typeface="Noto Sans KR" pitchFamily="34" charset="-122"/>
                          <a:cs typeface="Noto Sans KR" pitchFamily="34" charset="-120"/>
                        </a:rPr>
                        <a:t>$53K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8월 제안서 레버</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65760">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2</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90일 게이트 후 항공에서 해상 운송으로</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개당 운임, 착지 COGS %</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항공 kg당 $8.50</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해상 kg당 $1.10</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Lucy, 3PL</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950" dirty="0">
                          <a:solidFill>
                            <a:srgbClr val="3DDC97"/>
                          </a:solidFill>
                          <a:latin typeface="Noto Sans KR" pitchFamily="34" charset="0"/>
                          <a:ea typeface="Noto Sans KR" pitchFamily="34" charset="-122"/>
                          <a:cs typeface="Noto Sans KR" pitchFamily="34" charset="-120"/>
                        </a:rPr>
                        <a:t>$42K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8월 제안서 레버</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65760">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3</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방향 오류 방지 커넥터 설계</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반품률</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3%</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2.5% (목표 2%)</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Lucy, 공장</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950" dirty="0">
                          <a:solidFill>
                            <a:srgbClr val="3DDC97"/>
                          </a:solidFill>
                          <a:latin typeface="Noto Sans KR" pitchFamily="34" charset="0"/>
                          <a:ea typeface="Noto Sans KR" pitchFamily="34" charset="-122"/>
                          <a:cs typeface="Noto Sans KR" pitchFamily="34" charset="-120"/>
                        </a:rPr>
                        <a:t>$6K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8월 제안서 레버</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65760">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4</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키워드 정리와 제외 키워드</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광고비 %</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단계별 비율</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2포인트 감소</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Mark, VA</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950" dirty="0">
                          <a:solidFill>
                            <a:srgbClr val="3DDC97"/>
                          </a:solidFill>
                          <a:latin typeface="Noto Sans KR" pitchFamily="34" charset="0"/>
                          <a:ea typeface="Noto Sans KR" pitchFamily="34" charset="-122"/>
                          <a:cs typeface="Noto Sans KR" pitchFamily="34" charset="-120"/>
                        </a:rPr>
                        <a:t>$23K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8월 제안서 레버</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65760">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5</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리뷰 속도 (Vine, 동봉 카드, Brand Registry 후속 메시지)</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전환율, 수량 램프</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기본 램프</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수량 10% 증가</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Mark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950" dirty="0">
                          <a:solidFill>
                            <a:srgbClr val="3DDC97"/>
                          </a:solidFill>
                          <a:latin typeface="Noto Sans KR" pitchFamily="34" charset="0"/>
                          <a:ea typeface="Noto Sans KR" pitchFamily="34" charset="-122"/>
                          <a:cs typeface="Noto Sans KR" pitchFamily="34" charset="-120"/>
                        </a:rPr>
                        <a:t>$18K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8월 제안서 레버</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65760">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6</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부모 ASIN 하나 아래 길이별 변형</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전환율, 리뷰 통합, 광고 효율</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개별 ASIN</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부모 하나</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Mark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950" dirty="0">
                          <a:solidFill>
                            <a:srgbClr val="9AA5C4"/>
                          </a:solidFill>
                          <a:latin typeface="Noto Sans KR" pitchFamily="34" charset="0"/>
                          <a:ea typeface="Noto Sans KR" pitchFamily="34" charset="-122"/>
                          <a:cs typeface="Noto Sans KR" pitchFamily="34" charset="-120"/>
                        </a:rPr>
                        <a:t>레버 4와 5를 뒷받침</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8월 제안서 레버</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65760">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7</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공장 물량 단가 구간</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FOB 원가</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H2 기준</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분기 5,000개에서 5% 인하</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Lucy</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950" dirty="0">
                          <a:solidFill>
                            <a:srgbClr val="3DDC97"/>
                          </a:solidFill>
                          <a:latin typeface="Noto Sans KR" pitchFamily="34" charset="0"/>
                          <a:ea typeface="Noto Sans KR" pitchFamily="34" charset="-122"/>
                          <a:cs typeface="Noto Sans KR" pitchFamily="34" charset="-120"/>
                        </a:rPr>
                        <a:t>$13K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경영진 추정</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65760">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8</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더 작은 FBA 크기 등급으로 포장</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개당 FBA 수수료</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$5.50</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7 m와 10 m에서 $4.75</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Lucy, 공장</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950" dirty="0">
                          <a:solidFill>
                            <a:srgbClr val="3DDC97"/>
                          </a:solidFill>
                          <a:latin typeface="Noto Sans KR" pitchFamily="34" charset="0"/>
                          <a:ea typeface="Noto Sans KR" pitchFamily="34" charset="-122"/>
                          <a:cs typeface="Noto Sans KR" pitchFamily="34" charset="-120"/>
                        </a:rPr>
                        <a:t>$21K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경영진 추정</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65760">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9</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3PL에서 FBA로 보급, 장기 재고 추가 요금 회피</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보관과 입고 %</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2%</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1.5%</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3PL, Lucy</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950" dirty="0">
                          <a:solidFill>
                            <a:srgbClr val="3DDC97"/>
                          </a:solidFill>
                          <a:latin typeface="Noto Sans KR" pitchFamily="34" charset="0"/>
                          <a:ea typeface="Noto Sans KR" pitchFamily="34" charset="-122"/>
                          <a:cs typeface="Noto Sans KR" pitchFamily="34" charset="-120"/>
                        </a:rPr>
                        <a:t>$6K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경영진 추정</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65760">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10</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가격 사다리와 쿠폰 (정가 대 판매가)</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ASP</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$42</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5% 상하 테스트</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Mark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950" dirty="0">
                          <a:solidFill>
                            <a:srgbClr val="3DDC97"/>
                          </a:solidFill>
                          <a:latin typeface="Noto Sans KR" pitchFamily="34" charset="0"/>
                          <a:ea typeface="Noto Sans KR" pitchFamily="34" charset="-122"/>
                          <a:cs typeface="Noto Sans KR" pitchFamily="34" charset="-120"/>
                        </a:rPr>
                        <a:t>$17K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경영진 추정</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65760">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11</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아마존 외부 이메일 목록 (Spec Match 파인더, 트레이드업 등록)</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DTC 매출, 광고 %</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0</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3년차부터 DTC ($100K)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Mark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950" dirty="0">
                          <a:solidFill>
                            <a:srgbClr val="3DDC97"/>
                          </a:solidFill>
                          <a:latin typeface="Noto Sans KR" pitchFamily="34" charset="0"/>
                          <a:ea typeface="Noto Sans KR" pitchFamily="34" charset="-122"/>
                          <a:cs typeface="Noto Sans KR" pitchFamily="34" charset="-120"/>
                        </a:rPr>
                        <a:t>$16K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경영진 추정</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65760">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12</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B2B 설치업체 프로그램 (AV 통합업체, 커스텀 설치업체)</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B2B 채널 매출</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0</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2년차 $120K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Mark, Lucy</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950" dirty="0">
                          <a:solidFill>
                            <a:srgbClr val="3DDC97"/>
                          </a:solidFill>
                          <a:latin typeface="Noto Sans KR" pitchFamily="34" charset="0"/>
                          <a:ea typeface="Noto Sans KR" pitchFamily="34" charset="-122"/>
                          <a:cs typeface="Noto Sans KR" pitchFamily="34" charset="-120"/>
                        </a:rPr>
                        <a:t>$14K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경영진 추정</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30</a:t>
            </a:fld>
            <a:endParaRPr lang="ko-KR"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마케팅 플레이북</a:t>
            </a:r>
            <a:endParaRPr lang="ko-KR" altLang="en-US" sz="3200" dirty="0"/>
          </a:p>
        </p:txBody>
      </p:sp>
      <p:sp>
        <p:nvSpPr>
          <p:cNvPr id="4" name="card"/>
          <p:cNvSpPr/>
          <p:nvPr/>
        </p:nvSpPr>
        <p:spPr>
          <a:xfrm>
            <a:off x="457200" y="1188720"/>
            <a:ext cx="3576218" cy="2377440"/>
          </a:xfrm>
          <a:prstGeom prst="roundRect">
            <a:avLst>
              <a:gd name="adj" fmla="val 4615"/>
            </a:avLst>
          </a:prstGeom>
          <a:solidFill>
            <a:schemeClr val="bg2"/>
          </a:solidFill>
          <a:ln w="12700">
            <a:solidFill>
              <a:srgbClr val="141C36"/>
            </a:solidFill>
            <a:prstDash val="solid"/>
          </a:ln>
        </p:spPr>
      </p:sp>
      <p:sp>
        <p:nvSpPr>
          <p:cNvPr id="5" name="Shape 2"/>
          <p:cNvSpPr/>
          <p:nvPr/>
        </p:nvSpPr>
        <p:spPr>
          <a:xfrm>
            <a:off x="640080" y="1353312"/>
            <a:ext cx="502920" cy="502920"/>
          </a:xfrm>
          <a:prstGeom prst="ellipse">
            <a:avLst/>
          </a:prstGeom>
          <a:solidFill>
            <a:srgbClr val="1B2447"/>
          </a:solidFill>
          <a:ln w="12700">
            <a:solidFill>
              <a:srgbClr val="1B2447"/>
            </a:solidFill>
            <a:prstDash val="solid"/>
          </a:ln>
        </p:spPr>
      </p:sp>
      <p:pic>
        <p:nvPicPr>
          <p:cNvPr id="6" name="Image 0" descr="preencoded.png">    </p:cNvPr>
          <p:cNvPicPr>
            <a:picLocks noChangeAspect="1"/>
          </p:cNvPicPr>
          <p:nvPr/>
        </p:nvPicPr>
        <p:blipFill>
          <a:blip r:embed="rId1"/>
          <a:stretch>
            <a:fillRect/>
          </a:stretch>
        </p:blipFill>
        <p:spPr>
          <a:xfrm>
            <a:off x="750722" y="1463954"/>
            <a:ext cx="281635" cy="281635"/>
          </a:xfrm>
          <a:prstGeom prst="rect">
            <a:avLst/>
          </a:prstGeom>
        </p:spPr>
      </p:pic>
      <p:sp>
        <p:nvSpPr>
          <p:cNvPr id="7" name="Text 3"/>
          <p:cNvSpPr txBox="1"/>
          <p:nvPr/>
        </p:nvSpPr>
        <p:spPr>
          <a:xfrm>
            <a:off x="1280160" y="1353312"/>
            <a:ext cx="2570378" cy="502920"/>
          </a:xfrm>
          <a:prstGeom prst="rect">
            <a:avLst/>
          </a:prstGeom>
          <a:noFill/>
          <a:ln/>
        </p:spPr>
        <p:txBody>
          <a:bodyPr wrap="square" lIns="0" tIns="0" rIns="0" bIns="0" rtlCol="0" anchor="ctr"/>
          <a:lstStyle/>
          <a:p>
            <a:pPr algn="l" indent="0" marL="0">
              <a:buNone/>
            </a:pPr>
            <a:r>
              <a:rPr lang="ko-KR" altLang="en-US" sz="1500" b="1" dirty="0">
                <a:solidFill>
                  <a:schemeClr val="tx1"/>
                </a:solidFill>
              </a:rPr>
              <a:t>단계별 광고비</a:t>
            </a:r>
            <a:endParaRPr lang="ko-KR" altLang="en-US" sz="1500" dirty="0"/>
          </a:p>
        </p:txBody>
      </p:sp>
      <p:sp>
        <p:nvSpPr>
          <p:cNvPr id="8" name="Text 4"/>
          <p:cNvSpPr txBox="1"/>
          <p:nvPr/>
        </p:nvSpPr>
        <p:spPr>
          <a:xfrm>
            <a:off x="640080" y="2011680"/>
            <a:ext cx="3210458" cy="1463040"/>
          </a:xfrm>
          <a:prstGeom prst="rect">
            <a:avLst/>
          </a:prstGeom>
          <a:noFill/>
          <a:ln/>
        </p:spPr>
        <p:txBody>
          <a:bodyPr wrap="square" lIns="0" tIns="0" rIns="0" bIns="0" rtlCol="0" anchor="t"/>
          <a:lstStyle/>
          <a:p>
            <a:pPr algn="l" indent="0" marL="0">
              <a:buNone/>
            </a:pPr>
            <a:r>
              <a:rPr lang="ko-KR" altLang="en-US" sz="1400" dirty="0">
                <a:solidFill>
                  <a:schemeClr val="tx1"/>
                </a:solidFill>
              </a:rPr>
              <a:t>1에서 3개월차 매출의 30%, 4에서 6개월차 22%, 7에서 12개월차 15%, 13에서 18개월차 11%. 8% 아래로는 내려가지 않습니다. TACOS 게이트: 3개월차 30%, 12개월차 15%.</a:t>
            </a:r>
            <a:endParaRPr lang="ko-KR" altLang="en-US" sz="1400" dirty="0"/>
          </a:p>
        </p:txBody>
      </p:sp>
      <p:sp>
        <p:nvSpPr>
          <p:cNvPr id="9" name="card"/>
          <p:cNvSpPr/>
          <p:nvPr/>
        </p:nvSpPr>
        <p:spPr>
          <a:xfrm>
            <a:off x="4307738" y="1188720"/>
            <a:ext cx="3576218" cy="2377440"/>
          </a:xfrm>
          <a:prstGeom prst="roundRect">
            <a:avLst>
              <a:gd name="adj" fmla="val 4615"/>
            </a:avLst>
          </a:prstGeom>
          <a:solidFill>
            <a:schemeClr val="bg2"/>
          </a:solidFill>
          <a:ln w="12700">
            <a:solidFill>
              <a:srgbClr val="141C36"/>
            </a:solidFill>
            <a:prstDash val="solid"/>
          </a:ln>
        </p:spPr>
      </p:sp>
      <p:sp>
        <p:nvSpPr>
          <p:cNvPr id="10" name="Shape 6"/>
          <p:cNvSpPr/>
          <p:nvPr/>
        </p:nvSpPr>
        <p:spPr>
          <a:xfrm>
            <a:off x="4490618" y="1353312"/>
            <a:ext cx="502920" cy="502920"/>
          </a:xfrm>
          <a:prstGeom prst="ellipse">
            <a:avLst/>
          </a:prstGeom>
          <a:solidFill>
            <a:srgbClr val="1B2447"/>
          </a:solidFill>
          <a:ln w="12700">
            <a:solidFill>
              <a:srgbClr val="1B2447"/>
            </a:solidFill>
            <a:prstDash val="solid"/>
          </a:ln>
        </p:spPr>
      </p:sp>
      <p:pic>
        <p:nvPicPr>
          <p:cNvPr id="11" name="Image 1" descr="preencoded.png">    </p:cNvPr>
          <p:cNvPicPr>
            <a:picLocks noChangeAspect="1"/>
          </p:cNvPicPr>
          <p:nvPr/>
        </p:nvPicPr>
        <p:blipFill>
          <a:blip r:embed="rId2"/>
          <a:stretch>
            <a:fillRect/>
          </a:stretch>
        </p:blipFill>
        <p:spPr>
          <a:xfrm>
            <a:off x="4601261" y="1463954"/>
            <a:ext cx="281635" cy="281635"/>
          </a:xfrm>
          <a:prstGeom prst="rect">
            <a:avLst/>
          </a:prstGeom>
        </p:spPr>
      </p:pic>
      <p:sp>
        <p:nvSpPr>
          <p:cNvPr id="12" name="Text 7"/>
          <p:cNvSpPr txBox="1"/>
          <p:nvPr/>
        </p:nvSpPr>
        <p:spPr>
          <a:xfrm>
            <a:off x="5130698" y="1353312"/>
            <a:ext cx="2570378" cy="502920"/>
          </a:xfrm>
          <a:prstGeom prst="rect">
            <a:avLst/>
          </a:prstGeom>
          <a:noFill/>
          <a:ln/>
        </p:spPr>
        <p:txBody>
          <a:bodyPr wrap="square" lIns="0" tIns="0" rIns="0" bIns="0" rtlCol="0" anchor="ctr"/>
          <a:lstStyle/>
          <a:p>
            <a:pPr algn="l" indent="0" marL="0">
              <a:buNone/>
            </a:pPr>
            <a:r>
              <a:rPr lang="ko-KR" altLang="en-US" sz="1500" b="1" dirty="0">
                <a:solidFill>
                  <a:schemeClr val="tx1"/>
                </a:solidFill>
              </a:rPr>
              <a:t>리뷰 속도</a:t>
            </a:r>
            <a:endParaRPr lang="ko-KR" altLang="en-US" sz="1500" dirty="0"/>
          </a:p>
        </p:txBody>
      </p:sp>
      <p:sp>
        <p:nvSpPr>
          <p:cNvPr id="13" name="Text 8"/>
          <p:cNvSpPr txBox="1"/>
          <p:nvPr/>
        </p:nvSpPr>
        <p:spPr>
          <a:xfrm>
            <a:off x="4490618" y="2011680"/>
            <a:ext cx="3210458" cy="1463040"/>
          </a:xfrm>
          <a:prstGeom prst="rect">
            <a:avLst/>
          </a:prstGeom>
          <a:noFill/>
          <a:ln/>
        </p:spPr>
        <p:txBody>
          <a:bodyPr wrap="square" lIns="0" tIns="0" rIns="0" bIns="0" rtlCol="0" anchor="t"/>
          <a:lstStyle/>
          <a:p>
            <a:pPr algn="l" indent="0" marL="0">
              <a:buNone/>
            </a:pPr>
            <a:r>
              <a:rPr lang="ko-KR" altLang="en-US" sz="1400" dirty="0">
                <a:solidFill>
                  <a:schemeClr val="tx1"/>
                </a:solidFill>
              </a:rPr>
              <a:t>출시 시 Vine, 보증 등록을 안내하는 동봉 카드, Brand Registry 후속 메시지. 목표: 부모 ASIN 하나에 리뷰 통합.</a:t>
            </a:r>
            <a:endParaRPr lang="ko-KR" altLang="en-US" sz="1400" dirty="0"/>
          </a:p>
        </p:txBody>
      </p:sp>
      <p:sp>
        <p:nvSpPr>
          <p:cNvPr id="14" name="card"/>
          <p:cNvSpPr/>
          <p:nvPr/>
        </p:nvSpPr>
        <p:spPr>
          <a:xfrm>
            <a:off x="8158277" y="1188720"/>
            <a:ext cx="3576218" cy="2377440"/>
          </a:xfrm>
          <a:prstGeom prst="roundRect">
            <a:avLst>
              <a:gd name="adj" fmla="val 4615"/>
            </a:avLst>
          </a:prstGeom>
          <a:solidFill>
            <a:schemeClr val="bg2"/>
          </a:solidFill>
          <a:ln w="12700">
            <a:solidFill>
              <a:srgbClr val="141C36"/>
            </a:solidFill>
            <a:prstDash val="solid"/>
          </a:ln>
        </p:spPr>
      </p:sp>
      <p:sp>
        <p:nvSpPr>
          <p:cNvPr id="15" name="Shape 10"/>
          <p:cNvSpPr/>
          <p:nvPr/>
        </p:nvSpPr>
        <p:spPr>
          <a:xfrm>
            <a:off x="8341157" y="1353312"/>
            <a:ext cx="502920" cy="502920"/>
          </a:xfrm>
          <a:prstGeom prst="ellipse">
            <a:avLst/>
          </a:prstGeom>
          <a:solidFill>
            <a:srgbClr val="1B2447"/>
          </a:solidFill>
          <a:ln w="12700">
            <a:solidFill>
              <a:srgbClr val="1B2447"/>
            </a:solidFill>
            <a:prstDash val="solid"/>
          </a:ln>
        </p:spPr>
      </p:sp>
      <p:pic>
        <p:nvPicPr>
          <p:cNvPr id="16" name="Image 2" descr="preencoded.png">    </p:cNvPr>
          <p:cNvPicPr>
            <a:picLocks noChangeAspect="1"/>
          </p:cNvPicPr>
          <p:nvPr/>
        </p:nvPicPr>
        <p:blipFill>
          <a:blip r:embed="rId3"/>
          <a:stretch>
            <a:fillRect/>
          </a:stretch>
        </p:blipFill>
        <p:spPr>
          <a:xfrm>
            <a:off x="8451799" y="1463954"/>
            <a:ext cx="281635" cy="281635"/>
          </a:xfrm>
          <a:prstGeom prst="rect">
            <a:avLst/>
          </a:prstGeom>
        </p:spPr>
      </p:pic>
      <p:sp>
        <p:nvSpPr>
          <p:cNvPr id="17" name="Text 11"/>
          <p:cNvSpPr txBox="1"/>
          <p:nvPr/>
        </p:nvSpPr>
        <p:spPr>
          <a:xfrm>
            <a:off x="8981237" y="1353312"/>
            <a:ext cx="2570378" cy="502920"/>
          </a:xfrm>
          <a:prstGeom prst="rect">
            <a:avLst/>
          </a:prstGeom>
          <a:noFill/>
          <a:ln/>
        </p:spPr>
        <p:txBody>
          <a:bodyPr wrap="square" lIns="0" tIns="0" rIns="0" bIns="0" rtlCol="0" anchor="ctr"/>
          <a:lstStyle/>
          <a:p>
            <a:pPr algn="l" indent="0" marL="0">
              <a:buNone/>
            </a:pPr>
            <a:r>
              <a:rPr lang="ko-KR" altLang="en-US" sz="1500" b="1" dirty="0">
                <a:solidFill>
                  <a:schemeClr val="tx1"/>
                </a:solidFill>
              </a:rPr>
              <a:t>콘텐츠</a:t>
            </a:r>
            <a:endParaRPr lang="ko-KR" altLang="en-US" sz="1500" dirty="0"/>
          </a:p>
        </p:txBody>
      </p:sp>
      <p:sp>
        <p:nvSpPr>
          <p:cNvPr id="18" name="Text 12"/>
          <p:cNvSpPr txBox="1"/>
          <p:nvPr/>
        </p:nvSpPr>
        <p:spPr>
          <a:xfrm>
            <a:off x="8341157" y="2011680"/>
            <a:ext cx="3210458" cy="1463040"/>
          </a:xfrm>
          <a:prstGeom prst="rect">
            <a:avLst/>
          </a:prstGeom>
          <a:noFill/>
          <a:ln/>
        </p:spPr>
        <p:txBody>
          <a:bodyPr wrap="square" lIns="0" tIns="0" rIns="0" bIns="0" rtlCol="0" anchor="t"/>
          <a:lstStyle/>
          <a:p>
            <a:pPr algn="l" indent="0" marL="0">
              <a:buNone/>
            </a:pPr>
            <a:r>
              <a:rPr lang="ko-KR" altLang="en-US" sz="1400" dirty="0">
                <a:solidFill>
                  <a:schemeClr val="tx1"/>
                </a:solidFill>
              </a:rPr>
              <a:t>이미지 7슬롯과 영상 슬롯, 7개 모듈의 A+ 콘텐츠, 브랜드 스토어. 제목에는 48Gbps와 8K를 쓰고 카테고리명만 사용, 버전 번호 금지.</a:t>
            </a:r>
            <a:endParaRPr lang="ko-KR" altLang="en-US" sz="1400" dirty="0"/>
          </a:p>
        </p:txBody>
      </p:sp>
      <p:sp>
        <p:nvSpPr>
          <p:cNvPr id="19" name="card"/>
          <p:cNvSpPr/>
          <p:nvPr/>
        </p:nvSpPr>
        <p:spPr>
          <a:xfrm>
            <a:off x="457200" y="3840480"/>
            <a:ext cx="3576218" cy="2377440"/>
          </a:xfrm>
          <a:prstGeom prst="roundRect">
            <a:avLst>
              <a:gd name="adj" fmla="val 4615"/>
            </a:avLst>
          </a:prstGeom>
          <a:solidFill>
            <a:schemeClr val="bg2"/>
          </a:solidFill>
          <a:ln w="12700">
            <a:solidFill>
              <a:srgbClr val="141C36"/>
            </a:solidFill>
            <a:prstDash val="solid"/>
          </a:ln>
        </p:spPr>
      </p:sp>
      <p:sp>
        <p:nvSpPr>
          <p:cNvPr id="20" name="Shape 14"/>
          <p:cNvSpPr/>
          <p:nvPr/>
        </p:nvSpPr>
        <p:spPr>
          <a:xfrm>
            <a:off x="640080" y="4005072"/>
            <a:ext cx="502920" cy="502920"/>
          </a:xfrm>
          <a:prstGeom prst="ellipse">
            <a:avLst/>
          </a:prstGeom>
          <a:solidFill>
            <a:srgbClr val="1B2447"/>
          </a:solidFill>
          <a:ln w="12700">
            <a:solidFill>
              <a:srgbClr val="1B2447"/>
            </a:solidFill>
            <a:prstDash val="solid"/>
          </a:ln>
        </p:spPr>
      </p:sp>
      <p:pic>
        <p:nvPicPr>
          <p:cNvPr id="21" name="Image 3" descr="preencoded.png">    </p:cNvPr>
          <p:cNvPicPr>
            <a:picLocks noChangeAspect="1"/>
          </p:cNvPicPr>
          <p:nvPr/>
        </p:nvPicPr>
        <p:blipFill>
          <a:blip r:embed="rId4"/>
          <a:stretch>
            <a:fillRect/>
          </a:stretch>
        </p:blipFill>
        <p:spPr>
          <a:xfrm>
            <a:off x="750722" y="4115714"/>
            <a:ext cx="281635" cy="281635"/>
          </a:xfrm>
          <a:prstGeom prst="rect">
            <a:avLst/>
          </a:prstGeom>
        </p:spPr>
      </p:pic>
      <p:sp>
        <p:nvSpPr>
          <p:cNvPr id="22" name="Text 15"/>
          <p:cNvSpPr txBox="1"/>
          <p:nvPr/>
        </p:nvSpPr>
        <p:spPr>
          <a:xfrm>
            <a:off x="1280160" y="4005072"/>
            <a:ext cx="2570378" cy="502920"/>
          </a:xfrm>
          <a:prstGeom prst="rect">
            <a:avLst/>
          </a:prstGeom>
          <a:noFill/>
          <a:ln/>
        </p:spPr>
        <p:txBody>
          <a:bodyPr wrap="square" lIns="0" tIns="0" rIns="0" bIns="0" rtlCol="0" anchor="ctr"/>
          <a:lstStyle/>
          <a:p>
            <a:pPr algn="l" indent="0" marL="0">
              <a:buNone/>
            </a:pPr>
            <a:r>
              <a:rPr lang="ko-KR" altLang="en-US" sz="1500" b="1" dirty="0">
                <a:solidFill>
                  <a:schemeClr val="tx1"/>
                </a:solidFill>
              </a:rPr>
              <a:t>키워드 관리</a:t>
            </a:r>
            <a:endParaRPr lang="ko-KR" altLang="en-US" sz="1500" dirty="0"/>
          </a:p>
        </p:txBody>
      </p:sp>
      <p:sp>
        <p:nvSpPr>
          <p:cNvPr id="23" name="Text 16"/>
          <p:cNvSpPr txBox="1"/>
          <p:nvPr/>
        </p:nvSpPr>
        <p:spPr>
          <a:xfrm>
            <a:off x="640080" y="4663440"/>
            <a:ext cx="3210458" cy="1463040"/>
          </a:xfrm>
          <a:prstGeom prst="rect">
            <a:avLst/>
          </a:prstGeom>
          <a:noFill/>
          <a:ln/>
        </p:spPr>
        <p:txBody>
          <a:bodyPr wrap="square" lIns="0" tIns="0" rIns="0" bIns="0" rtlCol="0" anchor="t"/>
          <a:lstStyle/>
          <a:p>
            <a:pPr algn="l" indent="0" marL="0">
              <a:buNone/>
            </a:pPr>
            <a:r>
              <a:rPr lang="ko-KR" altLang="en-US" sz="1400" dirty="0">
                <a:solidFill>
                  <a:schemeClr val="tx1"/>
                </a:solidFill>
              </a:rPr>
              <a:t>매주 키워드 정리와 제외 키워드 (레버 4). 장거리와 광케이블 검색어에서 순위를 잡고 저가 구리 검색어는 버립니다.</a:t>
            </a:r>
            <a:endParaRPr lang="ko-KR" altLang="en-US" sz="1400" dirty="0"/>
          </a:p>
        </p:txBody>
      </p:sp>
      <p:sp>
        <p:nvSpPr>
          <p:cNvPr id="24" name="card"/>
          <p:cNvSpPr/>
          <p:nvPr/>
        </p:nvSpPr>
        <p:spPr>
          <a:xfrm>
            <a:off x="4307738" y="3840480"/>
            <a:ext cx="3576218" cy="2377440"/>
          </a:xfrm>
          <a:prstGeom prst="roundRect">
            <a:avLst>
              <a:gd name="adj" fmla="val 4615"/>
            </a:avLst>
          </a:prstGeom>
          <a:solidFill>
            <a:schemeClr val="bg2"/>
          </a:solidFill>
          <a:ln w="12700">
            <a:solidFill>
              <a:srgbClr val="141C36"/>
            </a:solidFill>
            <a:prstDash val="solid"/>
          </a:ln>
        </p:spPr>
      </p:sp>
      <p:sp>
        <p:nvSpPr>
          <p:cNvPr id="25" name="Shape 18"/>
          <p:cNvSpPr/>
          <p:nvPr/>
        </p:nvSpPr>
        <p:spPr>
          <a:xfrm>
            <a:off x="4490618" y="4005072"/>
            <a:ext cx="502920" cy="502920"/>
          </a:xfrm>
          <a:prstGeom prst="ellipse">
            <a:avLst/>
          </a:prstGeom>
          <a:solidFill>
            <a:srgbClr val="1B2447"/>
          </a:solidFill>
          <a:ln w="12700">
            <a:solidFill>
              <a:srgbClr val="1B2447"/>
            </a:solidFill>
            <a:prstDash val="solid"/>
          </a:ln>
        </p:spPr>
      </p:sp>
      <p:pic>
        <p:nvPicPr>
          <p:cNvPr id="26" name="Image 4" descr="preencoded.png">    </p:cNvPr>
          <p:cNvPicPr>
            <a:picLocks noChangeAspect="1"/>
          </p:cNvPicPr>
          <p:nvPr/>
        </p:nvPicPr>
        <p:blipFill>
          <a:blip r:embed="rId5"/>
          <a:stretch>
            <a:fillRect/>
          </a:stretch>
        </p:blipFill>
        <p:spPr>
          <a:xfrm>
            <a:off x="4601261" y="4115714"/>
            <a:ext cx="281635" cy="281635"/>
          </a:xfrm>
          <a:prstGeom prst="rect">
            <a:avLst/>
          </a:prstGeom>
        </p:spPr>
      </p:pic>
      <p:sp>
        <p:nvSpPr>
          <p:cNvPr id="27" name="Text 19"/>
          <p:cNvSpPr txBox="1"/>
          <p:nvPr/>
        </p:nvSpPr>
        <p:spPr>
          <a:xfrm>
            <a:off x="5130698" y="4005072"/>
            <a:ext cx="2570378" cy="502920"/>
          </a:xfrm>
          <a:prstGeom prst="rect">
            <a:avLst/>
          </a:prstGeom>
          <a:noFill/>
          <a:ln/>
        </p:spPr>
        <p:txBody>
          <a:bodyPr wrap="square" lIns="0" tIns="0" rIns="0" bIns="0" rtlCol="0" anchor="ctr"/>
          <a:lstStyle/>
          <a:p>
            <a:pPr algn="l" indent="0" marL="0">
              <a:buNone/>
            </a:pPr>
            <a:r>
              <a:rPr lang="ko-KR" altLang="en-US" sz="1500" b="1" dirty="0">
                <a:solidFill>
                  <a:schemeClr val="tx1"/>
                </a:solidFill>
              </a:rPr>
              <a:t>가격 사다리와 쿠폰</a:t>
            </a:r>
            <a:endParaRPr lang="ko-KR" altLang="en-US" sz="1500" dirty="0"/>
          </a:p>
        </p:txBody>
      </p:sp>
      <p:sp>
        <p:nvSpPr>
          <p:cNvPr id="28" name="Text 20"/>
          <p:cNvSpPr txBox="1"/>
          <p:nvPr/>
        </p:nvSpPr>
        <p:spPr>
          <a:xfrm>
            <a:off x="4490618" y="4663440"/>
            <a:ext cx="3210458" cy="1463040"/>
          </a:xfrm>
          <a:prstGeom prst="rect">
            <a:avLst/>
          </a:prstGeom>
          <a:noFill/>
          <a:ln/>
        </p:spPr>
        <p:txBody>
          <a:bodyPr wrap="square" lIns="0" tIns="0" rIns="0" bIns="0" rtlCol="0" anchor="t"/>
          <a:lstStyle/>
          <a:p>
            <a:pPr algn="l" indent="0" marL="0">
              <a:buNone/>
            </a:pPr>
            <a:r>
              <a:rPr lang="ko-KR" altLang="en-US" sz="1400" dirty="0">
                <a:solidFill>
                  <a:schemeClr val="tx1"/>
                </a:solidFill>
              </a:rPr>
              <a:t>정가 $59.99가 주력 $44.99의 가치를 고정합니다. 레버 10: 쿠폰으로 5% 상하 테스트. Temu 테스트 전에 아마존 가격 하한을 정합니다.</a:t>
            </a:r>
            <a:endParaRPr lang="ko-KR" altLang="en-US" sz="1400" dirty="0"/>
          </a:p>
        </p:txBody>
      </p:sp>
      <p:sp>
        <p:nvSpPr>
          <p:cNvPr id="29" name="card"/>
          <p:cNvSpPr/>
          <p:nvPr/>
        </p:nvSpPr>
        <p:spPr>
          <a:xfrm>
            <a:off x="8158277" y="3840480"/>
            <a:ext cx="3576218" cy="2377440"/>
          </a:xfrm>
          <a:prstGeom prst="roundRect">
            <a:avLst>
              <a:gd name="adj" fmla="val 4615"/>
            </a:avLst>
          </a:prstGeom>
          <a:solidFill>
            <a:schemeClr val="bg2"/>
          </a:solidFill>
          <a:ln w="12700">
            <a:solidFill>
              <a:srgbClr val="141C36"/>
            </a:solidFill>
            <a:prstDash val="solid"/>
          </a:ln>
        </p:spPr>
      </p:sp>
      <p:sp>
        <p:nvSpPr>
          <p:cNvPr id="30" name="Shape 22"/>
          <p:cNvSpPr/>
          <p:nvPr/>
        </p:nvSpPr>
        <p:spPr>
          <a:xfrm>
            <a:off x="8341157" y="4005072"/>
            <a:ext cx="502920" cy="502920"/>
          </a:xfrm>
          <a:prstGeom prst="ellipse">
            <a:avLst/>
          </a:prstGeom>
          <a:solidFill>
            <a:srgbClr val="1B2447"/>
          </a:solidFill>
          <a:ln w="12700">
            <a:solidFill>
              <a:srgbClr val="1B2447"/>
            </a:solidFill>
            <a:prstDash val="solid"/>
          </a:ln>
        </p:spPr>
      </p:sp>
      <p:pic>
        <p:nvPicPr>
          <p:cNvPr id="31" name="Image 5" descr="preencoded.png">    </p:cNvPr>
          <p:cNvPicPr>
            <a:picLocks noChangeAspect="1"/>
          </p:cNvPicPr>
          <p:nvPr/>
        </p:nvPicPr>
        <p:blipFill>
          <a:blip r:embed="rId6"/>
          <a:stretch>
            <a:fillRect/>
          </a:stretch>
        </p:blipFill>
        <p:spPr>
          <a:xfrm>
            <a:off x="8451799" y="4115714"/>
            <a:ext cx="281635" cy="281635"/>
          </a:xfrm>
          <a:prstGeom prst="rect">
            <a:avLst/>
          </a:prstGeom>
        </p:spPr>
      </p:pic>
      <p:sp>
        <p:nvSpPr>
          <p:cNvPr id="32" name="Text 23"/>
          <p:cNvSpPr txBox="1"/>
          <p:nvPr/>
        </p:nvSpPr>
        <p:spPr>
          <a:xfrm>
            <a:off x="8981237" y="4005072"/>
            <a:ext cx="2570378" cy="502920"/>
          </a:xfrm>
          <a:prstGeom prst="rect">
            <a:avLst/>
          </a:prstGeom>
          <a:noFill/>
          <a:ln/>
        </p:spPr>
        <p:txBody>
          <a:bodyPr wrap="square" lIns="0" tIns="0" rIns="0" bIns="0" rtlCol="0" anchor="ctr"/>
          <a:lstStyle/>
          <a:p>
            <a:pPr algn="l" indent="0" marL="0">
              <a:buNone/>
            </a:pPr>
            <a:r>
              <a:rPr lang="ko-KR" altLang="en-US" sz="1500" b="1" dirty="0">
                <a:solidFill>
                  <a:schemeClr val="tx1"/>
                </a:solidFill>
              </a:rPr>
              <a:t>아마존 외부 목록</a:t>
            </a:r>
            <a:endParaRPr lang="ko-KR" altLang="en-US" sz="1500" dirty="0"/>
          </a:p>
        </p:txBody>
      </p:sp>
      <p:sp>
        <p:nvSpPr>
          <p:cNvPr id="33" name="Text 24"/>
          <p:cNvSpPr txBox="1"/>
          <p:nvPr/>
        </p:nvSpPr>
        <p:spPr>
          <a:xfrm>
            <a:off x="8341157" y="4663440"/>
            <a:ext cx="3210458" cy="1463040"/>
          </a:xfrm>
          <a:prstGeom prst="rect">
            <a:avLst/>
          </a:prstGeom>
          <a:noFill/>
          <a:ln/>
        </p:spPr>
        <p:txBody>
          <a:bodyPr wrap="square" lIns="0" tIns="0" rIns="0" bIns="0" rtlCol="0" anchor="t"/>
          <a:lstStyle/>
          <a:p>
            <a:pPr algn="l" indent="0" marL="0">
              <a:buNone/>
            </a:pPr>
            <a:r>
              <a:rPr lang="ko-KR" altLang="en-US" sz="1400" dirty="0">
                <a:solidFill>
                  <a:schemeClr val="tx1"/>
                </a:solidFill>
              </a:rPr>
              <a:t>Spec Match 파인더와 트레이드업 등록이 광고비 없이 이메일을 모읍니다. 레버 11과 12: 3년차 DTC 사이트와 설치업체 프로그램에 공급합니다.</a:t>
            </a:r>
            <a:endParaRPr lang="ko-KR" alt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31</a:t>
            </a:fld>
            <a:endParaRPr lang="ko-KR"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운영 모델과 팀</a:t>
            </a:r>
            <a:endParaRPr lang="ko-KR" altLang="en-US" sz="3200" dirty="0"/>
          </a:p>
        </p:txBody>
      </p:sp>
      <p:sp>
        <p:nvSpPr>
          <p:cNvPr id="4" name="card"/>
          <p:cNvSpPr/>
          <p:nvPr/>
        </p:nvSpPr>
        <p:spPr>
          <a:xfrm>
            <a:off x="457200" y="1188720"/>
            <a:ext cx="3566160" cy="2331720"/>
          </a:xfrm>
          <a:prstGeom prst="roundRect">
            <a:avLst>
              <a:gd name="adj" fmla="val 4706"/>
            </a:avLst>
          </a:prstGeom>
          <a:solidFill>
            <a:schemeClr val="bg2"/>
          </a:solidFill>
          <a:ln w="12700">
            <a:solidFill>
              <a:srgbClr val="141C36"/>
            </a:solidFill>
            <a:prstDash val="solid"/>
          </a:ln>
        </p:spPr>
      </p:sp>
      <p:sp>
        <p:nvSpPr>
          <p:cNvPr id="5" name="Shape 2"/>
          <p:cNvSpPr/>
          <p:nvPr/>
        </p:nvSpPr>
        <p:spPr>
          <a:xfrm>
            <a:off x="640080" y="1353312"/>
            <a:ext cx="502920" cy="502920"/>
          </a:xfrm>
          <a:prstGeom prst="ellipse">
            <a:avLst/>
          </a:prstGeom>
          <a:solidFill>
            <a:srgbClr val="1B2447"/>
          </a:solidFill>
          <a:ln w="12700">
            <a:solidFill>
              <a:srgbClr val="1B2447"/>
            </a:solidFill>
            <a:prstDash val="solid"/>
          </a:ln>
        </p:spPr>
      </p:sp>
      <p:pic>
        <p:nvPicPr>
          <p:cNvPr id="6" name="Image 0" descr="preencoded.png">    </p:cNvPr>
          <p:cNvPicPr>
            <a:picLocks noChangeAspect="1"/>
          </p:cNvPicPr>
          <p:nvPr/>
        </p:nvPicPr>
        <p:blipFill>
          <a:blip r:embed="rId1"/>
          <a:stretch>
            <a:fillRect/>
          </a:stretch>
        </p:blipFill>
        <p:spPr>
          <a:xfrm>
            <a:off x="750722" y="1463954"/>
            <a:ext cx="281635" cy="281635"/>
          </a:xfrm>
          <a:prstGeom prst="rect">
            <a:avLst/>
          </a:prstGeom>
        </p:spPr>
      </p:pic>
      <p:sp>
        <p:nvSpPr>
          <p:cNvPr id="7" name="Text 3"/>
          <p:cNvSpPr txBox="1"/>
          <p:nvPr/>
        </p:nvSpPr>
        <p:spPr>
          <a:xfrm>
            <a:off x="1280160" y="1353312"/>
            <a:ext cx="2560320" cy="502920"/>
          </a:xfrm>
          <a:prstGeom prst="rect">
            <a:avLst/>
          </a:prstGeom>
          <a:noFill/>
          <a:ln/>
        </p:spPr>
        <p:txBody>
          <a:bodyPr wrap="square" lIns="0" tIns="0" rIns="0" bIns="0" rtlCol="0" anchor="ctr"/>
          <a:lstStyle/>
          <a:p>
            <a:pPr algn="l" indent="0" marL="0">
              <a:buNone/>
            </a:pPr>
            <a:r>
              <a:rPr lang="ko-KR" altLang="en-US" sz="1400" b="1" dirty="0">
                <a:solidFill>
                  <a:schemeClr val="tx1"/>
                </a:solidFill>
              </a:rPr>
              <a:t>Lucy (Hyejin Yoo), 대표</a:t>
            </a:r>
            <a:endParaRPr lang="ko-KR" altLang="en-US" sz="1400" dirty="0"/>
          </a:p>
        </p:txBody>
      </p:sp>
      <p:sp>
        <p:nvSpPr>
          <p:cNvPr id="8" name="Text 4"/>
          <p:cNvSpPr txBox="1"/>
          <p:nvPr/>
        </p:nvSpPr>
        <p:spPr>
          <a:xfrm>
            <a:off x="640080" y="2011680"/>
            <a:ext cx="3200400" cy="1417320"/>
          </a:xfrm>
          <a:prstGeom prst="rect">
            <a:avLst/>
          </a:prstGeom>
          <a:noFill/>
          <a:ln/>
        </p:spPr>
        <p:txBody>
          <a:bodyPr wrap="square" lIns="0" tIns="0" rIns="0" bIns="0" rtlCol="0" anchor="t"/>
          <a:lstStyle/>
          <a:p>
            <a:pPr algn="l" indent="0" marL="0">
              <a:buNone/>
            </a:pPr>
            <a:r>
              <a:rPr lang="ko-KR" altLang="en-US" sz="1200" dirty="0">
                <a:solidFill>
                  <a:schemeClr val="tx1"/>
                </a:solidFill>
              </a:rPr>
              <a:t>BRAND LLC 100% 소유. 공장 관계, 구매, QC, 한국 신고, 자본. 모든 게이트에서 결정합니다.</a:t>
            </a:r>
            <a:endParaRPr lang="ko-KR" altLang="en-US" sz="1200" dirty="0"/>
          </a:p>
        </p:txBody>
      </p:sp>
      <p:sp>
        <p:nvSpPr>
          <p:cNvPr id="9" name="card"/>
          <p:cNvSpPr/>
          <p:nvPr/>
        </p:nvSpPr>
        <p:spPr>
          <a:xfrm>
            <a:off x="4297680" y="1188720"/>
            <a:ext cx="3566160" cy="2331720"/>
          </a:xfrm>
          <a:prstGeom prst="roundRect">
            <a:avLst>
              <a:gd name="adj" fmla="val 4706"/>
            </a:avLst>
          </a:prstGeom>
          <a:solidFill>
            <a:schemeClr val="bg2"/>
          </a:solidFill>
          <a:ln w="12700">
            <a:solidFill>
              <a:srgbClr val="141C36"/>
            </a:solidFill>
            <a:prstDash val="solid"/>
          </a:ln>
        </p:spPr>
      </p:sp>
      <p:sp>
        <p:nvSpPr>
          <p:cNvPr id="10" name="Shape 6"/>
          <p:cNvSpPr/>
          <p:nvPr/>
        </p:nvSpPr>
        <p:spPr>
          <a:xfrm>
            <a:off x="4480560" y="1353312"/>
            <a:ext cx="502920" cy="502920"/>
          </a:xfrm>
          <a:prstGeom prst="ellipse">
            <a:avLst/>
          </a:prstGeom>
          <a:solidFill>
            <a:srgbClr val="1B2447"/>
          </a:solidFill>
          <a:ln w="12700">
            <a:solidFill>
              <a:srgbClr val="1B2447"/>
            </a:solidFill>
            <a:prstDash val="solid"/>
          </a:ln>
        </p:spPr>
      </p:sp>
      <p:pic>
        <p:nvPicPr>
          <p:cNvPr id="11" name="Image 1" descr="preencoded.png">    </p:cNvPr>
          <p:cNvPicPr>
            <a:picLocks noChangeAspect="1"/>
          </p:cNvPicPr>
          <p:nvPr/>
        </p:nvPicPr>
        <p:blipFill>
          <a:blip r:embed="rId2"/>
          <a:stretch>
            <a:fillRect/>
          </a:stretch>
        </p:blipFill>
        <p:spPr>
          <a:xfrm>
            <a:off x="4591202" y="1463954"/>
            <a:ext cx="281635" cy="281635"/>
          </a:xfrm>
          <a:prstGeom prst="rect">
            <a:avLst/>
          </a:prstGeom>
        </p:spPr>
      </p:pic>
      <p:sp>
        <p:nvSpPr>
          <p:cNvPr id="12" name="Text 7"/>
          <p:cNvSpPr txBox="1"/>
          <p:nvPr/>
        </p:nvSpPr>
        <p:spPr>
          <a:xfrm>
            <a:off x="5120640" y="1353312"/>
            <a:ext cx="2560320" cy="502920"/>
          </a:xfrm>
          <a:prstGeom prst="rect">
            <a:avLst/>
          </a:prstGeom>
          <a:noFill/>
          <a:ln/>
        </p:spPr>
        <p:txBody>
          <a:bodyPr wrap="square" lIns="0" tIns="0" rIns="0" bIns="0" rtlCol="0" anchor="ctr"/>
          <a:lstStyle/>
          <a:p>
            <a:pPr algn="l" indent="0" marL="0">
              <a:buNone/>
            </a:pPr>
            <a:r>
              <a:rPr lang="ko-KR" altLang="en-US" sz="1400" b="1" dirty="0">
                <a:solidFill>
                  <a:schemeClr val="tx1"/>
                </a:solidFill>
              </a:rPr>
              <a:t>Mark Taylor, 미국 운영 지원</a:t>
            </a:r>
            <a:endParaRPr lang="ko-KR" altLang="en-US" sz="1400" dirty="0"/>
          </a:p>
        </p:txBody>
      </p:sp>
      <p:sp>
        <p:nvSpPr>
          <p:cNvPr id="13" name="Text 8"/>
          <p:cNvSpPr txBox="1"/>
          <p:nvPr/>
        </p:nvSpPr>
        <p:spPr>
          <a:xfrm>
            <a:off x="4480560" y="2011680"/>
            <a:ext cx="3200400" cy="1417320"/>
          </a:xfrm>
          <a:prstGeom prst="rect">
            <a:avLst/>
          </a:prstGeom>
          <a:noFill/>
          <a:ln/>
        </p:spPr>
        <p:txBody>
          <a:bodyPr wrap="square" lIns="0" tIns="0" rIns="0" bIns="0" rtlCol="0" anchor="t"/>
          <a:lstStyle/>
          <a:p>
            <a:pPr algn="l" indent="0" marL="0">
              <a:buNone/>
            </a:pPr>
            <a:r>
              <a:rPr lang="ko-KR" altLang="en-US" sz="1200" dirty="0">
                <a:solidFill>
                  <a:schemeClr val="tx1"/>
                </a:solidFill>
              </a:rPr>
              <a:t>서면 컨설팅 또는 커미션 계약, 지분 없음. 리스팅, PPC, 관세사와 3PL 조율, 게이트 준비, B2B 프로그램. 계약을 협상하거나 서명하는 대리인이 아닙니다.</a:t>
            </a:r>
            <a:endParaRPr lang="ko-KR" altLang="en-US" sz="1200" dirty="0"/>
          </a:p>
        </p:txBody>
      </p:sp>
      <p:sp>
        <p:nvSpPr>
          <p:cNvPr id="14" name="card"/>
          <p:cNvSpPr/>
          <p:nvPr/>
        </p:nvSpPr>
        <p:spPr>
          <a:xfrm>
            <a:off x="457200" y="3794760"/>
            <a:ext cx="3566160" cy="2331720"/>
          </a:xfrm>
          <a:prstGeom prst="roundRect">
            <a:avLst>
              <a:gd name="adj" fmla="val 4706"/>
            </a:avLst>
          </a:prstGeom>
          <a:solidFill>
            <a:schemeClr val="bg2"/>
          </a:solidFill>
          <a:ln w="12700">
            <a:solidFill>
              <a:srgbClr val="141C36"/>
            </a:solidFill>
            <a:prstDash val="solid"/>
          </a:ln>
        </p:spPr>
      </p:sp>
      <p:sp>
        <p:nvSpPr>
          <p:cNvPr id="15" name="Shape 10"/>
          <p:cNvSpPr/>
          <p:nvPr/>
        </p:nvSpPr>
        <p:spPr>
          <a:xfrm>
            <a:off x="640080" y="3959352"/>
            <a:ext cx="502920" cy="502920"/>
          </a:xfrm>
          <a:prstGeom prst="ellipse">
            <a:avLst/>
          </a:prstGeom>
          <a:solidFill>
            <a:srgbClr val="1B2447"/>
          </a:solidFill>
          <a:ln w="12700">
            <a:solidFill>
              <a:srgbClr val="1B2447"/>
            </a:solidFill>
            <a:prstDash val="solid"/>
          </a:ln>
        </p:spPr>
      </p:sp>
      <p:pic>
        <p:nvPicPr>
          <p:cNvPr id="16" name="Image 2" descr="preencoded.png">    </p:cNvPr>
          <p:cNvPicPr>
            <a:picLocks noChangeAspect="1"/>
          </p:cNvPicPr>
          <p:nvPr/>
        </p:nvPicPr>
        <p:blipFill>
          <a:blip r:embed="rId3"/>
          <a:stretch>
            <a:fillRect/>
          </a:stretch>
        </p:blipFill>
        <p:spPr>
          <a:xfrm>
            <a:off x="750722" y="4069994"/>
            <a:ext cx="281635" cy="281635"/>
          </a:xfrm>
          <a:prstGeom prst="rect">
            <a:avLst/>
          </a:prstGeom>
        </p:spPr>
      </p:pic>
      <p:sp>
        <p:nvSpPr>
          <p:cNvPr id="17" name="Text 11"/>
          <p:cNvSpPr txBox="1"/>
          <p:nvPr/>
        </p:nvSpPr>
        <p:spPr>
          <a:xfrm>
            <a:off x="1280160" y="3959352"/>
            <a:ext cx="2560320" cy="502920"/>
          </a:xfrm>
          <a:prstGeom prst="rect">
            <a:avLst/>
          </a:prstGeom>
          <a:noFill/>
          <a:ln/>
        </p:spPr>
        <p:txBody>
          <a:bodyPr wrap="square" lIns="0" tIns="0" rIns="0" bIns="0" rtlCol="0" anchor="ctr"/>
          <a:lstStyle/>
          <a:p>
            <a:pPr algn="l" indent="0" marL="0">
              <a:buNone/>
            </a:pPr>
            <a:r>
              <a:rPr lang="ko-KR" altLang="en-US" sz="1400" b="1" dirty="0">
                <a:solidFill>
                  <a:schemeClr val="tx1"/>
                </a:solidFill>
              </a:rPr>
              <a:t>변호사, 관세사, 세무사, 미국 CPA</a:t>
            </a:r>
            <a:endParaRPr lang="ko-KR" altLang="en-US" sz="1400" dirty="0"/>
          </a:p>
        </p:txBody>
      </p:sp>
      <p:sp>
        <p:nvSpPr>
          <p:cNvPr id="18" name="Text 12"/>
          <p:cNvSpPr txBox="1"/>
          <p:nvPr/>
        </p:nvSpPr>
        <p:spPr>
          <a:xfrm>
            <a:off x="640080" y="4617720"/>
            <a:ext cx="3200400" cy="1417320"/>
          </a:xfrm>
          <a:prstGeom prst="rect">
            <a:avLst/>
          </a:prstGeom>
          <a:noFill/>
          <a:ln/>
        </p:spPr>
        <p:txBody>
          <a:bodyPr wrap="square" lIns="0" tIns="0" rIns="0" bIns="0" rtlCol="0" anchor="t"/>
          <a:lstStyle/>
          <a:p>
            <a:pPr algn="l" indent="0" marL="0">
              <a:buNone/>
            </a:pPr>
            <a:r>
              <a:rPr lang="ko-KR" altLang="en-US" sz="1200" dirty="0">
                <a:solidFill>
                  <a:schemeClr val="tx1"/>
                </a:solidFill>
              </a:rPr>
              <a:t>상표와 LLC. 통관, 보증과 품목분류 사전심사. 해외직접투자 신고와 한국 보고. Form 5472와 캘리포니아 넥서스 문제.</a:t>
            </a:r>
            <a:endParaRPr lang="ko-KR" altLang="en-US" sz="1200" dirty="0"/>
          </a:p>
        </p:txBody>
      </p:sp>
      <p:sp>
        <p:nvSpPr>
          <p:cNvPr id="19" name="card"/>
          <p:cNvSpPr/>
          <p:nvPr/>
        </p:nvSpPr>
        <p:spPr>
          <a:xfrm>
            <a:off x="4297680" y="3794760"/>
            <a:ext cx="3566160" cy="2331720"/>
          </a:xfrm>
          <a:prstGeom prst="roundRect">
            <a:avLst>
              <a:gd name="adj" fmla="val 4706"/>
            </a:avLst>
          </a:prstGeom>
          <a:solidFill>
            <a:schemeClr val="bg2"/>
          </a:solidFill>
          <a:ln w="12700">
            <a:solidFill>
              <a:srgbClr val="141C36"/>
            </a:solidFill>
            <a:prstDash val="solid"/>
          </a:ln>
        </p:spPr>
      </p:sp>
      <p:sp>
        <p:nvSpPr>
          <p:cNvPr id="20" name="Shape 14"/>
          <p:cNvSpPr/>
          <p:nvPr/>
        </p:nvSpPr>
        <p:spPr>
          <a:xfrm>
            <a:off x="4480560" y="3959352"/>
            <a:ext cx="502920" cy="502920"/>
          </a:xfrm>
          <a:prstGeom prst="ellipse">
            <a:avLst/>
          </a:prstGeom>
          <a:solidFill>
            <a:srgbClr val="1B2447"/>
          </a:solidFill>
          <a:ln w="12700">
            <a:solidFill>
              <a:srgbClr val="1B2447"/>
            </a:solidFill>
            <a:prstDash val="solid"/>
          </a:ln>
        </p:spPr>
      </p:sp>
      <p:pic>
        <p:nvPicPr>
          <p:cNvPr id="21" name="Image 3" descr="preencoded.png">    </p:cNvPr>
          <p:cNvPicPr>
            <a:picLocks noChangeAspect="1"/>
          </p:cNvPicPr>
          <p:nvPr/>
        </p:nvPicPr>
        <p:blipFill>
          <a:blip r:embed="rId4"/>
          <a:stretch>
            <a:fillRect/>
          </a:stretch>
        </p:blipFill>
        <p:spPr>
          <a:xfrm>
            <a:off x="4591202" y="4069994"/>
            <a:ext cx="281635" cy="281635"/>
          </a:xfrm>
          <a:prstGeom prst="rect">
            <a:avLst/>
          </a:prstGeom>
        </p:spPr>
      </p:pic>
      <p:sp>
        <p:nvSpPr>
          <p:cNvPr id="22" name="Text 15"/>
          <p:cNvSpPr txBox="1"/>
          <p:nvPr/>
        </p:nvSpPr>
        <p:spPr>
          <a:xfrm>
            <a:off x="5120640" y="3959352"/>
            <a:ext cx="2560320" cy="502920"/>
          </a:xfrm>
          <a:prstGeom prst="rect">
            <a:avLst/>
          </a:prstGeom>
          <a:noFill/>
          <a:ln/>
        </p:spPr>
        <p:txBody>
          <a:bodyPr wrap="square" lIns="0" tIns="0" rIns="0" bIns="0" rtlCol="0" anchor="ctr"/>
          <a:lstStyle/>
          <a:p>
            <a:pPr algn="l" indent="0" marL="0">
              <a:buNone/>
            </a:pPr>
            <a:r>
              <a:rPr lang="ko-KR" altLang="en-US" sz="1400" b="1" dirty="0">
                <a:solidFill>
                  <a:schemeClr val="tx1"/>
                </a:solidFill>
              </a:rPr>
              <a:t>공장, 3PL, 가상 비서</a:t>
            </a:r>
            <a:endParaRPr lang="ko-KR" altLang="en-US" sz="1400" dirty="0"/>
          </a:p>
        </p:txBody>
      </p:sp>
      <p:sp>
        <p:nvSpPr>
          <p:cNvPr id="23" name="Text 16"/>
          <p:cNvSpPr txBox="1"/>
          <p:nvPr/>
        </p:nvSpPr>
        <p:spPr>
          <a:xfrm>
            <a:off x="4480560" y="4617720"/>
            <a:ext cx="3200400" cy="1417320"/>
          </a:xfrm>
          <a:prstGeom prst="rect">
            <a:avLst/>
          </a:prstGeom>
          <a:noFill/>
          <a:ln/>
        </p:spPr>
        <p:txBody>
          <a:bodyPr wrap="square" lIns="0" tIns="0" rIns="0" bIns="0" rtlCol="0" anchor="t"/>
          <a:lstStyle/>
          <a:p>
            <a:pPr algn="l" indent="0" marL="0">
              <a:buNone/>
            </a:pPr>
            <a:r>
              <a:rPr lang="ko-KR" altLang="en-US" sz="1200" dirty="0">
                <a:solidFill>
                  <a:schemeClr val="tx1"/>
                </a:solidFill>
              </a:rPr>
              <a:t>출고 시 FNSKU 라벨을 붙이는 HDMI Adopter 공장. 3PL이 대량 재고를 보관하고 FBA에 보급. 3년차부터 고객 응대와 키워드 작업을 맡는 VA.</a:t>
            </a:r>
            <a:endParaRPr lang="ko-KR" altLang="en-US" sz="1200" dirty="0"/>
          </a:p>
        </p:txBody>
      </p:sp>
      <p:sp>
        <p:nvSpPr>
          <p:cNvPr id="24" name="Text 17"/>
          <p:cNvSpPr txBox="1"/>
          <p:nvPr/>
        </p:nvSpPr>
        <p:spPr>
          <a:xfrm>
            <a:off x="8138160" y="1188720"/>
            <a:ext cx="3596335" cy="320040"/>
          </a:xfrm>
          <a:prstGeom prst="rect">
            <a:avLst/>
          </a:prstGeom>
          <a:noFill/>
          <a:ln/>
        </p:spPr>
        <p:txBody>
          <a:bodyPr wrap="square" lIns="0" tIns="0" rIns="0" bIns="0" rtlCol="0" anchor="t"/>
          <a:lstStyle/>
          <a:p>
            <a:pPr algn="l" indent="0" marL="0">
              <a:buNone/>
            </a:pPr>
            <a:r>
              <a:rPr lang="ko-KR" altLang="en-US" sz="1250" b="1" dirty="0">
                <a:solidFill>
                  <a:schemeClr val="accent1"/>
                </a:solidFill>
              </a:rPr>
              <a:t>고정비 증가 (Medium, 모델 기준)</a:t>
            </a:r>
            <a:endParaRPr lang="ko-KR" altLang="en-US" sz="12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8138160" y="1554480"/>
          <a:ext cx="3596335" cy="914400"/>
        </p:xfrm>
        <a:graphic>
          <a:graphicData uri="http://schemas.openxmlformats.org/drawingml/2006/table">
            <a:tbl>
              <a:tblPr/>
              <a:tblGrid>
                <a:gridCol w="640080"/>
                <a:gridCol w="640080"/>
                <a:gridCol w="2316175"/>
              </a:tblGrid>
              <a:tr h="896112">
                <a:tc>
                  <a:txBody>
                    <a:bodyPr/>
                    <a:lstStyle/>
                    <a:p>
                      <a:pPr algn="l" indent="0" marL="0">
                        <a:buNone/>
                      </a:pPr>
                      <a:r>
                        <a:rPr lang="ko-KR" altLang="en-US" sz="950" b="1" dirty="0">
                          <a:solidFill>
                            <a:srgbClr val="F3F6FF"/>
                          </a:solidFill>
                          <a:latin typeface="Noto Sans KR" pitchFamily="34" charset="0"/>
                          <a:ea typeface="Noto Sans KR" pitchFamily="34" charset="-122"/>
                          <a:cs typeface="Noto Sans KR" pitchFamily="34" charset="-120"/>
                        </a:rPr>
                        <a:t>1년차</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950" b="1" dirty="0">
                          <a:solidFill>
                            <a:srgbClr val="3DDC97"/>
                          </a:solidFill>
                          <a:latin typeface="Noto Sans KR" pitchFamily="34" charset="0"/>
                          <a:ea typeface="Noto Sans KR" pitchFamily="34" charset="-122"/>
                          <a:cs typeface="Noto Sans KR" pitchFamily="34" charset="-120"/>
                        </a:rPr>
                        <a:t>$11K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소프트웨어, 보험, 기타 월 $850에 셀러 수수료 $39.99. 출시 비용 $9,500는 1개월차에 별도 표시</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896112">
                <a:tc>
                  <a:txBody>
                    <a:bodyPr/>
                    <a:lstStyle/>
                    <a:p>
                      <a:pPr algn="l" indent="0" marL="0">
                        <a:buNone/>
                      </a:pPr>
                      <a:r>
                        <a:rPr lang="ko-KR" altLang="en-US" sz="950" b="1" dirty="0">
                          <a:solidFill>
                            <a:srgbClr val="F3F6FF"/>
                          </a:solidFill>
                          <a:latin typeface="Noto Sans KR" pitchFamily="34" charset="0"/>
                          <a:ea typeface="Noto Sans KR" pitchFamily="34" charset="-122"/>
                          <a:cs typeface="Noto Sans KR" pitchFamily="34" charset="-120"/>
                        </a:rPr>
                        <a:t>2년차</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950" b="1" dirty="0">
                          <a:solidFill>
                            <a:srgbClr val="3DDC97"/>
                          </a:solidFill>
                          <a:latin typeface="Noto Sans KR" pitchFamily="34" charset="0"/>
                          <a:ea typeface="Noto Sans KR" pitchFamily="34" charset="-122"/>
                          <a:cs typeface="Noto Sans KR" pitchFamily="34" charset="-120"/>
                        </a:rPr>
                        <a:t>$17K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컴플라이언스 추가: Form 5472 준비, Wyoming 보고서, 보증, 제조물 책임 보험</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896112">
                <a:tc>
                  <a:txBody>
                    <a:bodyPr/>
                    <a:lstStyle/>
                    <a:p>
                      <a:pPr algn="l" indent="0" marL="0">
                        <a:buNone/>
                      </a:pPr>
                      <a:r>
                        <a:rPr lang="ko-KR" altLang="en-US" sz="950" b="1" dirty="0">
                          <a:solidFill>
                            <a:srgbClr val="F3F6FF"/>
                          </a:solidFill>
                          <a:latin typeface="Noto Sans KR" pitchFamily="34" charset="0"/>
                          <a:ea typeface="Noto Sans KR" pitchFamily="34" charset="-122"/>
                          <a:cs typeface="Noto Sans KR" pitchFamily="34" charset="-120"/>
                        </a:rPr>
                        <a:t>3년차</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950" b="1" dirty="0">
                          <a:solidFill>
                            <a:srgbClr val="3DDC97"/>
                          </a:solidFill>
                          <a:latin typeface="Noto Sans KR" pitchFamily="34" charset="0"/>
                          <a:ea typeface="Noto Sans KR" pitchFamily="34" charset="-122"/>
                          <a:cs typeface="Noto Sans KR" pitchFamily="34" charset="-120"/>
                        </a:rPr>
                        <a:t>$51K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Mark 컨설팅 리테이너, 가상 비서, 도구와 보험 추가</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896112">
                <a:tc>
                  <a:txBody>
                    <a:bodyPr/>
                    <a:lstStyle/>
                    <a:p>
                      <a:pPr algn="l" indent="0" marL="0">
                        <a:buNone/>
                      </a:pPr>
                      <a:r>
                        <a:rPr lang="ko-KR" altLang="en-US" sz="950" b="1" dirty="0">
                          <a:solidFill>
                            <a:srgbClr val="F3F6FF"/>
                          </a:solidFill>
                          <a:latin typeface="Noto Sans KR" pitchFamily="34" charset="0"/>
                          <a:ea typeface="Noto Sans KR" pitchFamily="34" charset="-122"/>
                          <a:cs typeface="Noto Sans KR" pitchFamily="34" charset="-120"/>
                        </a:rPr>
                        <a:t>4년차</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950" b="1" dirty="0">
                          <a:solidFill>
                            <a:srgbClr val="3DDC97"/>
                          </a:solidFill>
                          <a:latin typeface="Noto Sans KR" pitchFamily="34" charset="0"/>
                          <a:ea typeface="Noto Sans KR" pitchFamily="34" charset="-122"/>
                          <a:cs typeface="Noto Sans KR" pitchFamily="34" charset="-120"/>
                        </a:rPr>
                        <a:t>$87K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파트타임 운영 지원</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896112">
                <a:tc>
                  <a:txBody>
                    <a:bodyPr/>
                    <a:lstStyle/>
                    <a:p>
                      <a:pPr algn="l" indent="0" marL="0">
                        <a:buNone/>
                      </a:pPr>
                      <a:r>
                        <a:rPr lang="ko-KR" altLang="en-US" sz="950" b="1" dirty="0">
                          <a:solidFill>
                            <a:srgbClr val="F3F6FF"/>
                          </a:solidFill>
                          <a:latin typeface="Noto Sans KR" pitchFamily="34" charset="0"/>
                          <a:ea typeface="Noto Sans KR" pitchFamily="34" charset="-122"/>
                          <a:cs typeface="Noto Sans KR" pitchFamily="34" charset="-120"/>
                        </a:rPr>
                        <a:t>5년차</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950" b="1" dirty="0">
                          <a:solidFill>
                            <a:srgbClr val="3DDC97"/>
                          </a:solidFill>
                          <a:latin typeface="Noto Sans KR" pitchFamily="34" charset="0"/>
                          <a:ea typeface="Noto Sans KR" pitchFamily="34" charset="-122"/>
                          <a:cs typeface="Noto Sans KR" pitchFamily="34" charset="-120"/>
                        </a:rPr>
                        <a:t>$123K</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950" dirty="0">
                          <a:solidFill>
                            <a:srgbClr val="F3F6FF"/>
                          </a:solidFill>
                          <a:latin typeface="Noto Sans KR" pitchFamily="34" charset="0"/>
                          <a:ea typeface="Noto Sans KR" pitchFamily="34" charset="-122"/>
                          <a:cs typeface="Noto Sans KR" pitchFamily="34" charset="-120"/>
                        </a:rPr>
                        <a:t>소규모 팀, 여전히 미국 사무실과 직원 없음</a:t>
                      </a:r>
                      <a:endParaRPr lang="ko-KR" altLang="en-US" sz="9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32</a:t>
            </a:fld>
            <a:endParaRPr lang="ko-KR"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리스크 등록부 요약: 상위 8개</a:t>
            </a:r>
            <a:endParaRPr lang="ko-KR" altLang="en-US" sz="3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77295" cy="914400"/>
        </p:xfrm>
        <a:graphic>
          <a:graphicData uri="http://schemas.openxmlformats.org/drawingml/2006/table">
            <a:tbl>
              <a:tblPr/>
              <a:tblGrid>
                <a:gridCol w="3017520"/>
                <a:gridCol w="2651760"/>
                <a:gridCol w="4416552"/>
                <a:gridCol w="1188720"/>
              </a:tblGrid>
              <a:tr h="512064">
                <a:tc>
                  <a:txBody>
                    <a:bodyPr/>
                    <a:lstStyle/>
                    <a:p>
                      <a:pPr algn="l" indent="0" marL="0">
                        <a:buNone/>
                      </a:pPr>
                      <a:r>
                        <a:rPr lang="ko-KR" altLang="en-US" sz="1050" b="1" dirty="0">
                          <a:solidFill>
                            <a:srgbClr val="2DE2FF"/>
                          </a:solidFill>
                          <a:latin typeface="Noto Sans KR" pitchFamily="34" charset="0"/>
                          <a:ea typeface="Noto Sans KR" pitchFamily="34" charset="-122"/>
                          <a:cs typeface="Noto Sans KR" pitchFamily="34" charset="-120"/>
                        </a:rPr>
                        <a:t>리스크</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050" b="1" dirty="0">
                          <a:solidFill>
                            <a:srgbClr val="2DE2FF"/>
                          </a:solidFill>
                          <a:latin typeface="Noto Sans KR" pitchFamily="34" charset="0"/>
                          <a:ea typeface="Noto Sans KR" pitchFamily="34" charset="-122"/>
                          <a:cs typeface="Noto Sans KR" pitchFamily="34" charset="-120"/>
                        </a:rPr>
                        <a:t>조기 경고 신호</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050" b="1" dirty="0">
                          <a:solidFill>
                            <a:srgbClr val="2DE2FF"/>
                          </a:solidFill>
                          <a:latin typeface="Noto Sans KR" pitchFamily="34" charset="0"/>
                          <a:ea typeface="Noto Sans KR" pitchFamily="34" charset="-122"/>
                          <a:cs typeface="Noto Sans KR" pitchFamily="34" charset="-120"/>
                        </a:rPr>
                        <a:t>대응</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ko-KR" altLang="en-US" sz="1050" b="1" dirty="0">
                          <a:solidFill>
                            <a:srgbClr val="2DE2FF"/>
                          </a:solidFill>
                          <a:latin typeface="Noto Sans KR" pitchFamily="34" charset="0"/>
                          <a:ea typeface="Noto Sans KR" pitchFamily="34" charset="-122"/>
                          <a:cs typeface="Noto Sans KR" pitchFamily="34" charset="-120"/>
                        </a:rPr>
                        <a:t>담당</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512064">
                <a:tc>
                  <a:txBody>
                    <a:bodyPr/>
                    <a:lstStyle/>
                    <a:p>
                      <a:pPr algn="l" indent="0" marL="0">
                        <a:buNone/>
                      </a:pPr>
                      <a:r>
                        <a:rPr lang="ko-KR" altLang="en-US" sz="1050" b="1" dirty="0">
                          <a:solidFill>
                            <a:srgbClr val="F3F6FF"/>
                          </a:solidFill>
                          <a:latin typeface="Noto Sans KR" pitchFamily="34" charset="0"/>
                          <a:ea typeface="Noto Sans KR" pitchFamily="34" charset="-122"/>
                          <a:cs typeface="Noto Sans KR" pitchFamily="34" charset="-120"/>
                        </a:rPr>
                        <a:t>공장 원가 격차 (H2 기준 대 Alibaba 벤치마크)</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서면 FOB 견적이 H2 기준보다 높음</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1주차 견적. 사다리 재조정 또는 LLC 설립 전 중단</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Lucy</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512064">
                <a:tc>
                  <a:txBody>
                    <a:bodyPr/>
                    <a:lstStyle/>
                    <a:p>
                      <a:pPr algn="l" indent="0" marL="0">
                        <a:buNone/>
                      </a:pPr>
                      <a:r>
                        <a:rPr lang="ko-KR" altLang="en-US" sz="1050" b="1" dirty="0">
                          <a:solidFill>
                            <a:srgbClr val="F3F6FF"/>
                          </a:solidFill>
                          <a:latin typeface="Noto Sans KR" pitchFamily="34" charset="0"/>
                          <a:ea typeface="Noto Sans KR" pitchFamily="34" charset="-122"/>
                          <a:cs typeface="Noto Sans KR" pitchFamily="34" charset="-120"/>
                        </a:rPr>
                        <a:t>관세 분류가 Copper 또는 그 이하로 판정</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판정 회신, 2차 301조 조치</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모델은 Copper 세율 적용, Stress 케이스 자금 확보, 해상 물량은 판정 대기</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관세사, Mark</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512064">
                <a:tc>
                  <a:txBody>
                    <a:bodyPr/>
                    <a:lstStyle/>
                    <a:p>
                      <a:pPr algn="l" indent="0" marL="0">
                        <a:buNone/>
                      </a:pPr>
                      <a:r>
                        <a:rPr lang="ko-KR" altLang="en-US" sz="1050" b="1" dirty="0">
                          <a:solidFill>
                            <a:srgbClr val="F3F6FF"/>
                          </a:solidFill>
                          <a:latin typeface="Noto Sans KR" pitchFamily="34" charset="0"/>
                          <a:ea typeface="Noto Sans KR" pitchFamily="34" charset="-122"/>
                          <a:cs typeface="Noto Sans KR" pitchFamily="34" charset="-120"/>
                        </a:rPr>
                        <a:t>HDMI LA 압류 또는 라이선스 신고</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Adopter 증빙이나 ATC 보고서 누락</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문서 없이는 선적 없음, 포장에는 카테고리명만</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Lucy</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512064">
                <a:tc>
                  <a:txBody>
                    <a:bodyPr/>
                    <a:lstStyle/>
                    <a:p>
                      <a:pPr algn="l" indent="0" marL="0">
                        <a:buNone/>
                      </a:pPr>
                      <a:r>
                        <a:rPr lang="ko-KR" altLang="en-US" sz="1050" b="1" dirty="0">
                          <a:solidFill>
                            <a:srgbClr val="F3F6FF"/>
                          </a:solidFill>
                          <a:latin typeface="Noto Sans KR" pitchFamily="34" charset="0"/>
                          <a:ea typeface="Noto Sans KR" pitchFamily="34" charset="-122"/>
                          <a:cs typeface="Noto Sans KR" pitchFamily="34" charset="-120"/>
                        </a:rPr>
                        <a:t>계정 정지 또는 리스팅 정지</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계정 건전성 통지, IP 신고</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Brand Registry, 규정에 맞는 표현, 14일 대응 규칙. Low 케이스에 잃어버린 분기 하나 반영</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Mark</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512064">
                <a:tc>
                  <a:txBody>
                    <a:bodyPr/>
                    <a:lstStyle/>
                    <a:p>
                      <a:pPr algn="l" indent="0" marL="0">
                        <a:buNone/>
                      </a:pPr>
                      <a:r>
                        <a:rPr lang="ko-KR" altLang="en-US" sz="1050" b="1" dirty="0">
                          <a:solidFill>
                            <a:srgbClr val="F3F6FF"/>
                          </a:solidFill>
                          <a:latin typeface="Noto Sans KR" pitchFamily="34" charset="0"/>
                          <a:ea typeface="Noto Sans KR" pitchFamily="34" charset="-122"/>
                          <a:cs typeface="Noto Sans KR" pitchFamily="34" charset="-120"/>
                        </a:rPr>
                        <a:t>현금: 판매보다 앞선 재고 매입</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잔액이 자금 조달 트리거 아래로</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2개월차까지 신용한도 $116K 확보, 시나리오별 보유 개월</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Lucy</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512064">
                <a:tc>
                  <a:txBody>
                    <a:bodyPr/>
                    <a:lstStyle/>
                    <a:p>
                      <a:pPr algn="l" indent="0" marL="0">
                        <a:buNone/>
                      </a:pPr>
                      <a:r>
                        <a:rPr lang="ko-KR" altLang="en-US" sz="1050" b="1" dirty="0">
                          <a:solidFill>
                            <a:srgbClr val="F3F6FF"/>
                          </a:solidFill>
                          <a:latin typeface="Noto Sans KR" pitchFamily="34" charset="0"/>
                          <a:ea typeface="Noto Sans KR" pitchFamily="34" charset="-122"/>
                          <a:cs typeface="Noto Sans KR" pitchFamily="34" charset="-120"/>
                        </a:rPr>
                        <a:t>방향 혼동으로 인한 반품</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반품률 4% 초과</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방향 오류 방지 설계, QR 설치 영상, 보증 교체 절차</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Lucy, 공장</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512064">
                <a:tc>
                  <a:txBody>
                    <a:bodyPr/>
                    <a:lstStyle/>
                    <a:p>
                      <a:pPr algn="l" indent="0" marL="0">
                        <a:buNone/>
                      </a:pPr>
                      <a:r>
                        <a:rPr lang="ko-KR" altLang="en-US" sz="1050" b="1" dirty="0">
                          <a:solidFill>
                            <a:srgbClr val="F3F6FF"/>
                          </a:solidFill>
                          <a:latin typeface="Noto Sans KR" pitchFamily="34" charset="0"/>
                          <a:ea typeface="Noto Sans KR" pitchFamily="34" charset="-122"/>
                          <a:cs typeface="Noto Sans KR" pitchFamily="34" charset="-120"/>
                        </a:rPr>
                        <a:t>한국 또는 미국 신고 누락 (해외직접투자 신고, Form 5472)</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달력 항목 기한 초과</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컴플라이언스 달력. 자본 이체 전 해외직접투자 신고. Form 5472 벌금 $25,000</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Lucy, 세무사와 CPA</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512064">
                <a:tc>
                  <a:txBody>
                    <a:bodyPr/>
                    <a:lstStyle/>
                    <a:p>
                      <a:pPr algn="l" indent="0" marL="0">
                        <a:buNone/>
                      </a:pPr>
                      <a:r>
                        <a:rPr lang="ko-KR" altLang="en-US" sz="1050" b="1" dirty="0">
                          <a:solidFill>
                            <a:srgbClr val="F3F6FF"/>
                          </a:solidFill>
                          <a:latin typeface="Noto Sans KR" pitchFamily="34" charset="0"/>
                          <a:ea typeface="Noto Sans KR" pitchFamily="34" charset="-122"/>
                          <a:cs typeface="Noto Sans KR" pitchFamily="34" charset="-120"/>
                        </a:rPr>
                        <a:t>핵심 인력 (Lucy 또는 Mark 부재)</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주간 리뷰 누락</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서면 SOP (05_Operating_Processes), 3년차부터 VA, 로그인 공유</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양측</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bl>
          </a:graphicData>
        </a:graphic>
      </p:graphicFrame>
      <p:sp>
        <p:nvSpPr>
          <p:cNvPr id="5" name="Text 1"/>
          <p:cNvSpPr txBox="1"/>
          <p:nvPr/>
        </p:nvSpPr>
        <p:spPr>
          <a:xfrm>
            <a:off x="457200" y="5897880"/>
            <a:ext cx="11277295" cy="411480"/>
          </a:xfrm>
          <a:prstGeom prst="rect">
            <a:avLst/>
          </a:prstGeom>
          <a:noFill/>
          <a:ln/>
        </p:spPr>
        <p:txBody>
          <a:bodyPr wrap="square" lIns="0" tIns="0" rIns="0" bIns="0" rtlCol="0" anchor="t"/>
          <a:lstStyle/>
          <a:p>
            <a:pPr algn="l" indent="0" marL="0">
              <a:buNone/>
            </a:pPr>
            <a:r>
              <a:rPr lang="ko-KR" altLang="en-US" sz="1050" dirty="0">
                <a:solidFill>
                  <a:schemeClr val="tx2"/>
                </a:solidFill>
              </a:rPr>
              <a:t>확률과 영향 점수는 08_Risk_Register.xlsx에 있습니다 (경영진 추정). 이 슬라이드는 계획을 멈출 수 있는 8개를 모았습니다.</a:t>
            </a:r>
            <a:endParaRPr lang="ko-KR" altLang="en-US" sz="10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33</a:t>
            </a:fld>
            <a:endParaRPr lang="ko-KR"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중단 기준과 Plan B</a:t>
            </a:r>
            <a:endParaRPr lang="ko-KR" altLang="en-US" sz="3200" dirty="0"/>
          </a:p>
        </p:txBody>
      </p:sp>
      <p:sp>
        <p:nvSpPr>
          <p:cNvPr id="4" name="Shape 1"/>
          <p:cNvSpPr/>
          <p:nvPr/>
        </p:nvSpPr>
        <p:spPr>
          <a:xfrm>
            <a:off x="457200" y="1097280"/>
            <a:ext cx="11277295" cy="3101565"/>
          </a:xfrm>
          <a:prstGeom prst="roundRect">
            <a:avLst>
              <a:gd name="adj" fmla="val 2359"/>
            </a:avLst>
          </a:prstGeom>
          <a:solidFill>
            <a:srgbClr val="FFFFFF"/>
          </a:solidFill>
          <a:ln w="12700">
            <a:solidFill>
              <a:srgbClr val="FFFFFF"/>
            </a:solidFill>
            <a:prstDash val="solid"/>
          </a:ln>
        </p:spPr>
      </p:sp>
      <p:pic>
        <p:nvPicPr>
          <p:cNvPr id="5" name="Image 0" descr="/home/user/lakehouse-tracker/BRAND_US_Launch/build/assets/deck_flow/06_day90_scale_or_kill_deck_ko.png">    </p:cNvPr>
          <p:cNvPicPr>
            <a:picLocks noChangeAspect="1"/>
          </p:cNvPicPr>
          <p:nvPr/>
        </p:nvPicPr>
        <p:blipFill>
          <a:blip r:embed="rId1"/>
          <a:stretch>
            <a:fillRect/>
          </a:stretch>
        </p:blipFill>
        <p:spPr>
          <a:xfrm>
            <a:off x="548640" y="1188720"/>
            <a:ext cx="11094415" cy="2918685"/>
          </a:xfrm>
          <a:prstGeom prst="rect">
            <a:avLst/>
          </a:prstGeom>
        </p:spPr>
      </p:pic>
      <p:sp>
        <p:nvSpPr>
          <p:cNvPr id="6" name="Text 2"/>
          <p:cNvSpPr txBox="1"/>
          <p:nvPr/>
        </p:nvSpPr>
        <p:spPr>
          <a:xfrm>
            <a:off x="457200" y="4244565"/>
            <a:ext cx="11277295" cy="274320"/>
          </a:xfrm>
          <a:prstGeom prst="rect">
            <a:avLst/>
          </a:prstGeom>
          <a:noFill/>
          <a:ln/>
        </p:spPr>
        <p:txBody>
          <a:bodyPr wrap="square" lIns="0" tIns="0" rIns="0" bIns="0" rtlCol="0" anchor="t"/>
          <a:lstStyle/>
          <a:p>
            <a:pPr algn="l" indent="0" marL="0">
              <a:buNone/>
            </a:pPr>
            <a:r>
              <a:rPr lang="ko-KR" altLang="en-US" sz="1100" dirty="0">
                <a:solidFill>
                  <a:schemeClr val="tx2"/>
                </a:solidFill>
              </a:rPr>
              <a:t>흐름도 06: 90일 결정 트리. 12개월차 기준은 19번 슬라이드에 있습니다. 전체 크기: output/04_Flowcharts/06_day90_scale_or_kill.png</a:t>
            </a:r>
            <a:endParaRPr lang="ko-KR" alt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4582893"/>
          <a:ext cx="6766560" cy="914400"/>
        </p:xfrm>
        <a:graphic>
          <a:graphicData uri="http://schemas.openxmlformats.org/drawingml/2006/table">
            <a:tbl>
              <a:tblPr/>
              <a:tblGrid>
                <a:gridCol w="4297680"/>
                <a:gridCol w="822960"/>
                <a:gridCol w="822960"/>
                <a:gridCol w="822960"/>
              </a:tblGrid>
              <a:tr h="310896">
                <a:tc>
                  <a:txBody>
                    <a:bodyPr/>
                    <a:lstStyle/>
                    <a:p>
                      <a:pPr algn="l" indent="0" marL="0">
                        <a:buNone/>
                      </a:pPr>
                      <a:r>
                        <a:rPr lang="ko-KR" altLang="en-US" sz="1050" b="1" dirty="0">
                          <a:solidFill>
                            <a:srgbClr val="2DE2FF"/>
                          </a:solidFill>
                          <a:latin typeface="Noto Sans KR" pitchFamily="34" charset="0"/>
                          <a:ea typeface="Noto Sans KR" pitchFamily="34" charset="-122"/>
                          <a:cs typeface="Noto Sans KR" pitchFamily="34" charset="-120"/>
                        </a:rPr>
                        <a:t>Plan B: B2B 설치업체 유통과 한국 도매</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1년차</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2년차</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ko-KR" altLang="en-US" sz="1050" b="1" dirty="0">
                          <a:solidFill>
                            <a:srgbClr val="2DE2FF"/>
                          </a:solidFill>
                          <a:latin typeface="Noto Sans KR" pitchFamily="34" charset="0"/>
                          <a:ea typeface="Noto Sans KR" pitchFamily="34" charset="-122"/>
                          <a:cs typeface="Noto Sans KR" pitchFamily="34" charset="-120"/>
                        </a:rPr>
                        <a:t>3년차</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310896">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B2B 매출 (3PL만, 아마존 수수료 없음)</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$120K</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$300K</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$450K</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10896">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한국 도매 매출총이익</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$14K</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$16K</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$19K</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10896">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총매출</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$188K</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$368K</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$518K</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10896">
                <a:tc>
                  <a:txBody>
                    <a:bodyPr/>
                    <a:lstStyle/>
                    <a:p>
                      <a:pPr algn="l" indent="0" marL="0">
                        <a:buNone/>
                      </a:pPr>
                      <a:r>
                        <a:rPr lang="ko-KR" altLang="en-US" sz="1050" dirty="0">
                          <a:solidFill>
                            <a:srgbClr val="F3F6FF"/>
                          </a:solidFill>
                          <a:latin typeface="Noto Sans KR" pitchFamily="34" charset="0"/>
                          <a:ea typeface="Noto Sans KR" pitchFamily="34" charset="-122"/>
                          <a:cs typeface="Noto Sans KR" pitchFamily="34" charset="-120"/>
                        </a:rPr>
                        <a:t>순이익</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$17K</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$32K</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ko-KR" altLang="en-US" sz="1050" dirty="0">
                          <a:solidFill>
                            <a:srgbClr val="F3F6FF"/>
                          </a:solidFill>
                          <a:latin typeface="Noto Sans KR" pitchFamily="34" charset="0"/>
                          <a:ea typeface="Noto Sans KR" pitchFamily="34" charset="-122"/>
                          <a:cs typeface="Noto Sans KR" pitchFamily="34" charset="-120"/>
                        </a:rPr>
                        <a:t>$50K</a:t>
                      </a:r>
                      <a:endParaRPr lang="ko-KR" altLang="en-US" sz="1050" dirty="0">
                        <a:latin typeface="Noto Sans KR" charset="0"/>
                        <a:ea typeface="Noto Sans KR" charset="0"/>
                        <a:cs typeface="Noto Sans KR"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bl>
          </a:graphicData>
        </a:graphic>
      </p:graphicFrame>
      <p:sp>
        <p:nvSpPr>
          <p:cNvPr id="8" name="card"/>
          <p:cNvSpPr/>
          <p:nvPr/>
        </p:nvSpPr>
        <p:spPr>
          <a:xfrm>
            <a:off x="7498080" y="4582893"/>
            <a:ext cx="4236415" cy="1726467"/>
          </a:xfrm>
          <a:prstGeom prst="roundRect">
            <a:avLst>
              <a:gd name="adj" fmla="val 6356"/>
            </a:avLst>
          </a:prstGeom>
          <a:solidFill>
            <a:srgbClr val="10172D"/>
          </a:solidFill>
          <a:ln w="12700">
            <a:solidFill>
              <a:srgbClr val="10172D"/>
            </a:solidFill>
            <a:prstDash val="solid"/>
          </a:ln>
        </p:spPr>
      </p:sp>
      <p:sp>
        <p:nvSpPr>
          <p:cNvPr id="9" name="Text 4"/>
          <p:cNvSpPr txBox="1"/>
          <p:nvPr/>
        </p:nvSpPr>
        <p:spPr>
          <a:xfrm>
            <a:off x="7680960" y="4656045"/>
            <a:ext cx="3870655" cy="292608"/>
          </a:xfrm>
          <a:prstGeom prst="rect">
            <a:avLst/>
          </a:prstGeom>
          <a:noFill/>
          <a:ln/>
        </p:spPr>
        <p:txBody>
          <a:bodyPr wrap="square" lIns="0" tIns="0" rIns="0" bIns="0" rtlCol="0" anchor="t"/>
          <a:lstStyle/>
          <a:p>
            <a:pPr algn="l" indent="0" marL="0">
              <a:buNone/>
            </a:pPr>
            <a:r>
              <a:rPr lang="ko-KR" altLang="en-US" sz="1250" b="1" dirty="0">
                <a:solidFill>
                  <a:schemeClr val="accent3"/>
                </a:solidFill>
              </a:rPr>
              <a:t>중단이 뜻하는 것</a:t>
            </a:r>
            <a:endParaRPr lang="ko-KR" altLang="en-US" sz="1250" dirty="0"/>
          </a:p>
        </p:txBody>
      </p:sp>
      <p:sp>
        <p:nvSpPr>
          <p:cNvPr id="10" name="Text 5"/>
          <p:cNvSpPr txBox="1"/>
          <p:nvPr/>
        </p:nvSpPr>
        <p:spPr>
          <a:xfrm>
            <a:off x="7680960" y="4966941"/>
            <a:ext cx="3870655" cy="777240"/>
          </a:xfrm>
          <a:prstGeom prst="rect">
            <a:avLst/>
          </a:prstGeom>
          <a:noFill/>
          <a:ln/>
        </p:spPr>
        <p:txBody>
          <a:bodyPr wrap="square" lIns="0" tIns="0" rIns="0" bIns="0" rtlCol="0" anchor="t"/>
          <a:lstStyle/>
          <a:p>
            <a:pPr algn="l" indent="0" marL="0">
              <a:buNone/>
            </a:pPr>
            <a:r>
              <a:rPr lang="ko-KR" altLang="en-US" sz="1150" dirty="0">
                <a:solidFill>
                  <a:schemeClr val="tx1"/>
                </a:solidFill>
              </a:rPr>
              <a:t>추가 자본 없음. 재고 소진. 패자 SKU 삭제. Plan B 전환. 결정은 Lucy의 몫이고 Mark가 숫자를 준비합니다.</a:t>
            </a:r>
            <a:endParaRPr lang="ko-KR" altLang="en-US" sz="1150" dirty="0"/>
          </a:p>
        </p:txBody>
      </p:sp>
      <p:sp>
        <p:nvSpPr>
          <p:cNvPr id="11" name="Text 6"/>
          <p:cNvSpPr txBox="1"/>
          <p:nvPr/>
        </p:nvSpPr>
        <p:spPr>
          <a:xfrm>
            <a:off x="7680960" y="5725893"/>
            <a:ext cx="3870655" cy="537747"/>
          </a:xfrm>
          <a:prstGeom prst="rect">
            <a:avLst/>
          </a:prstGeom>
          <a:noFill/>
          <a:ln/>
        </p:spPr>
        <p:txBody>
          <a:bodyPr wrap="square" lIns="0" tIns="0" rIns="0" bIns="0" rtlCol="0" anchor="t"/>
          <a:lstStyle/>
          <a:p>
            <a:pPr algn="l" indent="0" marL="0">
              <a:buNone/>
            </a:pPr>
            <a:r>
              <a:rPr lang="ko-KR" altLang="en-US" sz="1000" dirty="0">
                <a:solidFill>
                  <a:schemeClr val="tx2"/>
                </a:solidFill>
              </a:rPr>
              <a:t>경영진 추정. Plan B는 부업 수준이며 있는 그대로 보여 줍니다. 소매가의 60%로 3PL 출고하는 B2B에, 8월 페이스로 연 4건의 한국 거래가 매년 15% 성장합니다.</a:t>
            </a:r>
            <a:endParaRPr lang="ko-KR" alt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34</a:t>
            </a:fld>
            <a:endParaRPr lang="ko-KR"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요청 사항</a:t>
            </a:r>
            <a:endParaRPr lang="ko-KR" altLang="en-US" sz="3200" dirty="0"/>
          </a:p>
        </p:txBody>
      </p:sp>
      <p:sp>
        <p:nvSpPr>
          <p:cNvPr id="4" name="card"/>
          <p:cNvSpPr/>
          <p:nvPr/>
        </p:nvSpPr>
        <p:spPr>
          <a:xfrm>
            <a:off x="457200" y="1188720"/>
            <a:ext cx="2613584" cy="2926080"/>
          </a:xfrm>
          <a:prstGeom prst="roundRect">
            <a:avLst>
              <a:gd name="adj" fmla="val 4198"/>
            </a:avLst>
          </a:prstGeom>
          <a:solidFill>
            <a:schemeClr val="bg2"/>
          </a:solidFill>
          <a:ln w="12700">
            <a:solidFill>
              <a:srgbClr val="141C36"/>
            </a:solidFill>
            <a:prstDash val="solid"/>
          </a:ln>
        </p:spPr>
      </p:sp>
      <p:sp>
        <p:nvSpPr>
          <p:cNvPr id="5" name="Text 2"/>
          <p:cNvSpPr txBox="1"/>
          <p:nvPr/>
        </p:nvSpPr>
        <p:spPr>
          <a:xfrm>
            <a:off x="640080" y="1280160"/>
            <a:ext cx="640080" cy="640080"/>
          </a:xfrm>
          <a:prstGeom prst="rect">
            <a:avLst/>
          </a:prstGeom>
          <a:noFill/>
          <a:ln/>
        </p:spPr>
        <p:txBody>
          <a:bodyPr wrap="square" lIns="0" tIns="0" rIns="0" bIns="0" rtlCol="0" anchor="t"/>
          <a:lstStyle/>
          <a:p>
            <a:pPr algn="l" indent="0" marL="0">
              <a:buNone/>
            </a:pPr>
            <a:r>
              <a:rPr lang="ko-KR" altLang="en-US" sz="3400" b="1" dirty="0">
                <a:solidFill>
                  <a:schemeClr val="accent1"/>
                </a:solidFill>
              </a:rPr>
              <a:t>1</a:t>
            </a:r>
            <a:endParaRPr lang="ko-KR" altLang="en-US" sz="3400" dirty="0"/>
          </a:p>
        </p:txBody>
      </p:sp>
      <p:sp>
        <p:nvSpPr>
          <p:cNvPr id="6" name="Text 3"/>
          <p:cNvSpPr txBox="1"/>
          <p:nvPr/>
        </p:nvSpPr>
        <p:spPr>
          <a:xfrm>
            <a:off x="1280160" y="1371600"/>
            <a:ext cx="1607744" cy="457200"/>
          </a:xfrm>
          <a:prstGeom prst="rect">
            <a:avLst/>
          </a:prstGeom>
          <a:noFill/>
          <a:ln/>
        </p:spPr>
        <p:txBody>
          <a:bodyPr wrap="square" lIns="0" tIns="0" rIns="0" bIns="0" rtlCol="0" anchor="ctr"/>
          <a:lstStyle/>
          <a:p>
            <a:pPr algn="l" indent="0" marL="0">
              <a:buNone/>
            </a:pPr>
            <a:r>
              <a:rPr lang="ko-KR" altLang="en-US" sz="1700" b="1" dirty="0">
                <a:solidFill>
                  <a:schemeClr val="tx1"/>
                </a:solidFill>
              </a:rPr>
              <a:t>자본</a:t>
            </a:r>
            <a:endParaRPr lang="ko-KR" altLang="en-US" sz="1700" dirty="0"/>
          </a:p>
        </p:txBody>
      </p:sp>
      <p:sp>
        <p:nvSpPr>
          <p:cNvPr id="7" name="Text 4"/>
          <p:cNvSpPr txBox="1"/>
          <p:nvPr/>
        </p:nvSpPr>
        <p:spPr>
          <a:xfrm>
            <a:off x="640080" y="2011680"/>
            <a:ext cx="2247824" cy="2011680"/>
          </a:xfrm>
          <a:prstGeom prst="rect">
            <a:avLst/>
          </a:prstGeom>
          <a:noFill/>
          <a:ln/>
        </p:spPr>
        <p:txBody>
          <a:bodyPr wrap="square" lIns="0" tIns="0" rIns="0" bIns="0" rtlCol="0" anchor="t"/>
          <a:lstStyle/>
          <a:p>
            <a:pPr algn="l" indent="0" marL="0">
              <a:buNone/>
            </a:pPr>
            <a:r>
              <a:rPr lang="ko-KR" altLang="en-US" sz="1400" dirty="0">
                <a:solidFill>
                  <a:schemeClr val="tx1"/>
                </a:solidFill>
              </a:rPr>
              <a:t>지금 자기 자금 $39K, 그리고 2개월차까지 $116K의 신용한도 또는 투자 약정 (Medium). Low는 $136K, High는 $41K가 필요합니다.</a:t>
            </a:r>
            <a:endParaRPr lang="ko-KR" altLang="en-US" sz="1400" dirty="0"/>
          </a:p>
        </p:txBody>
      </p:sp>
      <p:sp>
        <p:nvSpPr>
          <p:cNvPr id="8" name="card"/>
          <p:cNvSpPr/>
          <p:nvPr/>
        </p:nvSpPr>
        <p:spPr>
          <a:xfrm>
            <a:off x="3345104" y="1188720"/>
            <a:ext cx="2613584" cy="2926080"/>
          </a:xfrm>
          <a:prstGeom prst="roundRect">
            <a:avLst>
              <a:gd name="adj" fmla="val 4198"/>
            </a:avLst>
          </a:prstGeom>
          <a:solidFill>
            <a:schemeClr val="bg2"/>
          </a:solidFill>
          <a:ln w="12700">
            <a:solidFill>
              <a:srgbClr val="141C36"/>
            </a:solidFill>
            <a:prstDash val="solid"/>
          </a:ln>
        </p:spPr>
      </p:sp>
      <p:sp>
        <p:nvSpPr>
          <p:cNvPr id="9" name="Text 6"/>
          <p:cNvSpPr txBox="1"/>
          <p:nvPr/>
        </p:nvSpPr>
        <p:spPr>
          <a:xfrm>
            <a:off x="3527984" y="1280160"/>
            <a:ext cx="640080" cy="640080"/>
          </a:xfrm>
          <a:prstGeom prst="rect">
            <a:avLst/>
          </a:prstGeom>
          <a:noFill/>
          <a:ln/>
        </p:spPr>
        <p:txBody>
          <a:bodyPr wrap="square" lIns="0" tIns="0" rIns="0" bIns="0" rtlCol="0" anchor="t"/>
          <a:lstStyle/>
          <a:p>
            <a:pPr algn="l" indent="0" marL="0">
              <a:buNone/>
            </a:pPr>
            <a:r>
              <a:rPr lang="ko-KR" altLang="en-US" sz="3400" b="1" dirty="0">
                <a:solidFill>
                  <a:schemeClr val="accent1"/>
                </a:solidFill>
              </a:rPr>
              <a:t>2</a:t>
            </a:r>
            <a:endParaRPr lang="ko-KR" altLang="en-US" sz="3400" dirty="0"/>
          </a:p>
        </p:txBody>
      </p:sp>
      <p:sp>
        <p:nvSpPr>
          <p:cNvPr id="10" name="Text 7"/>
          <p:cNvSpPr txBox="1"/>
          <p:nvPr/>
        </p:nvSpPr>
        <p:spPr>
          <a:xfrm>
            <a:off x="4168064" y="1371600"/>
            <a:ext cx="1607744" cy="457200"/>
          </a:xfrm>
          <a:prstGeom prst="rect">
            <a:avLst/>
          </a:prstGeom>
          <a:noFill/>
          <a:ln/>
        </p:spPr>
        <p:txBody>
          <a:bodyPr wrap="square" lIns="0" tIns="0" rIns="0" bIns="0" rtlCol="0" anchor="ctr"/>
          <a:lstStyle/>
          <a:p>
            <a:pPr algn="l" indent="0" marL="0">
              <a:buNone/>
            </a:pPr>
            <a:r>
              <a:rPr lang="ko-KR" altLang="en-US" sz="1700" b="1" dirty="0">
                <a:solidFill>
                  <a:schemeClr val="tx1"/>
                </a:solidFill>
              </a:rPr>
              <a:t>구조</a:t>
            </a:r>
            <a:endParaRPr lang="ko-KR" altLang="en-US" sz="1700" dirty="0"/>
          </a:p>
        </p:txBody>
      </p:sp>
      <p:sp>
        <p:nvSpPr>
          <p:cNvPr id="11" name="Text 8"/>
          <p:cNvSpPr txBox="1"/>
          <p:nvPr/>
        </p:nvSpPr>
        <p:spPr>
          <a:xfrm>
            <a:off x="3527984" y="2011680"/>
            <a:ext cx="2247824" cy="2011680"/>
          </a:xfrm>
          <a:prstGeom prst="rect">
            <a:avLst/>
          </a:prstGeom>
          <a:noFill/>
          <a:ln/>
        </p:spPr>
        <p:txBody>
          <a:bodyPr wrap="square" lIns="0" tIns="0" rIns="0" bIns="0" rtlCol="0" anchor="t"/>
          <a:lstStyle/>
          <a:p>
            <a:pPr algn="l" indent="0" marL="0">
              <a:buNone/>
            </a:pPr>
            <a:r>
              <a:rPr lang="ko-KR" altLang="en-US" sz="1400" dirty="0">
                <a:solidFill>
                  <a:schemeClr val="tx1"/>
                </a:solidFill>
              </a:rPr>
              <a:t>Wyoming의 BRAND LLC 승인, Lucy 100% 소유, Mark는 컨설팅 또는 커미션 계약. 1주차에 변호사와 관세사 선임.</a:t>
            </a:r>
            <a:endParaRPr lang="ko-KR" altLang="en-US" sz="1400" dirty="0"/>
          </a:p>
        </p:txBody>
      </p:sp>
      <p:sp>
        <p:nvSpPr>
          <p:cNvPr id="12" name="card"/>
          <p:cNvSpPr/>
          <p:nvPr/>
        </p:nvSpPr>
        <p:spPr>
          <a:xfrm>
            <a:off x="6233008" y="1188720"/>
            <a:ext cx="2613584" cy="2926080"/>
          </a:xfrm>
          <a:prstGeom prst="roundRect">
            <a:avLst>
              <a:gd name="adj" fmla="val 4198"/>
            </a:avLst>
          </a:prstGeom>
          <a:solidFill>
            <a:schemeClr val="bg2"/>
          </a:solidFill>
          <a:ln w="12700">
            <a:solidFill>
              <a:srgbClr val="141C36"/>
            </a:solidFill>
            <a:prstDash val="solid"/>
          </a:ln>
        </p:spPr>
      </p:sp>
      <p:sp>
        <p:nvSpPr>
          <p:cNvPr id="13" name="Text 10"/>
          <p:cNvSpPr txBox="1"/>
          <p:nvPr/>
        </p:nvSpPr>
        <p:spPr>
          <a:xfrm>
            <a:off x="6415888" y="1280160"/>
            <a:ext cx="640080" cy="640080"/>
          </a:xfrm>
          <a:prstGeom prst="rect">
            <a:avLst/>
          </a:prstGeom>
          <a:noFill/>
          <a:ln/>
        </p:spPr>
        <p:txBody>
          <a:bodyPr wrap="square" lIns="0" tIns="0" rIns="0" bIns="0" rtlCol="0" anchor="t"/>
          <a:lstStyle/>
          <a:p>
            <a:pPr algn="l" indent="0" marL="0">
              <a:buNone/>
            </a:pPr>
            <a:r>
              <a:rPr lang="ko-KR" altLang="en-US" sz="3400" b="1" dirty="0">
                <a:solidFill>
                  <a:schemeClr val="accent1"/>
                </a:solidFill>
              </a:rPr>
              <a:t>3</a:t>
            </a:r>
            <a:endParaRPr lang="ko-KR" altLang="en-US" sz="3400" dirty="0"/>
          </a:p>
        </p:txBody>
      </p:sp>
      <p:sp>
        <p:nvSpPr>
          <p:cNvPr id="14" name="Text 11"/>
          <p:cNvSpPr txBox="1"/>
          <p:nvPr/>
        </p:nvSpPr>
        <p:spPr>
          <a:xfrm>
            <a:off x="7055968" y="1371600"/>
            <a:ext cx="1607744" cy="457200"/>
          </a:xfrm>
          <a:prstGeom prst="rect">
            <a:avLst/>
          </a:prstGeom>
          <a:noFill/>
          <a:ln/>
        </p:spPr>
        <p:txBody>
          <a:bodyPr wrap="square" lIns="0" tIns="0" rIns="0" bIns="0" rtlCol="0" anchor="ctr"/>
          <a:lstStyle/>
          <a:p>
            <a:pPr algn="l" indent="0" marL="0">
              <a:buNone/>
            </a:pPr>
            <a:r>
              <a:rPr lang="ko-KR" altLang="en-US" sz="1700" b="1" dirty="0">
                <a:solidFill>
                  <a:schemeClr val="tx1"/>
                </a:solidFill>
              </a:rPr>
              <a:t>돈보다 사실 먼저</a:t>
            </a:r>
            <a:endParaRPr lang="ko-KR" altLang="en-US" sz="1700" dirty="0"/>
          </a:p>
        </p:txBody>
      </p:sp>
      <p:sp>
        <p:nvSpPr>
          <p:cNvPr id="15" name="Text 12"/>
          <p:cNvSpPr txBox="1"/>
          <p:nvPr/>
        </p:nvSpPr>
        <p:spPr>
          <a:xfrm>
            <a:off x="6415888" y="2011680"/>
            <a:ext cx="2247824" cy="2011680"/>
          </a:xfrm>
          <a:prstGeom prst="rect">
            <a:avLst/>
          </a:prstGeom>
          <a:noFill/>
          <a:ln/>
        </p:spPr>
        <p:txBody>
          <a:bodyPr wrap="square" lIns="0" tIns="0" rIns="0" bIns="0" rtlCol="0" anchor="t"/>
          <a:lstStyle/>
          <a:p>
            <a:pPr algn="l" indent="0" marL="0">
              <a:buNone/>
            </a:pPr>
            <a:r>
              <a:rPr lang="ko-KR" altLang="en-US" sz="1400" dirty="0">
                <a:solidFill>
                  <a:schemeClr val="tx1"/>
                </a:solidFill>
              </a:rPr>
              <a:t>공장의 서면 FOB 견적, HDMI Adopter 증빙, ATC, FCC, CL3 문서. 2주차까지 브랜드명 후보 목록.</a:t>
            </a:r>
            <a:endParaRPr lang="ko-KR" altLang="en-US" sz="1400" dirty="0"/>
          </a:p>
        </p:txBody>
      </p:sp>
      <p:sp>
        <p:nvSpPr>
          <p:cNvPr id="16" name="card"/>
          <p:cNvSpPr/>
          <p:nvPr/>
        </p:nvSpPr>
        <p:spPr>
          <a:xfrm>
            <a:off x="9120911" y="1188720"/>
            <a:ext cx="2613584" cy="2926080"/>
          </a:xfrm>
          <a:prstGeom prst="roundRect">
            <a:avLst>
              <a:gd name="adj" fmla="val 4198"/>
            </a:avLst>
          </a:prstGeom>
          <a:solidFill>
            <a:schemeClr val="bg2"/>
          </a:solidFill>
          <a:ln w="12700">
            <a:solidFill>
              <a:srgbClr val="141C36"/>
            </a:solidFill>
            <a:prstDash val="solid"/>
          </a:ln>
        </p:spPr>
      </p:sp>
      <p:sp>
        <p:nvSpPr>
          <p:cNvPr id="17" name="Text 14"/>
          <p:cNvSpPr txBox="1"/>
          <p:nvPr/>
        </p:nvSpPr>
        <p:spPr>
          <a:xfrm>
            <a:off x="9303791" y="1280160"/>
            <a:ext cx="640080" cy="640080"/>
          </a:xfrm>
          <a:prstGeom prst="rect">
            <a:avLst/>
          </a:prstGeom>
          <a:noFill/>
          <a:ln/>
        </p:spPr>
        <p:txBody>
          <a:bodyPr wrap="square" lIns="0" tIns="0" rIns="0" bIns="0" rtlCol="0" anchor="t"/>
          <a:lstStyle/>
          <a:p>
            <a:pPr algn="l" indent="0" marL="0">
              <a:buNone/>
            </a:pPr>
            <a:r>
              <a:rPr lang="ko-KR" altLang="en-US" sz="3400" b="1" dirty="0">
                <a:solidFill>
                  <a:schemeClr val="accent1"/>
                </a:solidFill>
              </a:rPr>
              <a:t>4</a:t>
            </a:r>
            <a:endParaRPr lang="ko-KR" altLang="en-US" sz="3400" dirty="0"/>
          </a:p>
        </p:txBody>
      </p:sp>
      <p:sp>
        <p:nvSpPr>
          <p:cNvPr id="18" name="Text 15"/>
          <p:cNvSpPr txBox="1"/>
          <p:nvPr/>
        </p:nvSpPr>
        <p:spPr>
          <a:xfrm>
            <a:off x="9943871" y="1371600"/>
            <a:ext cx="1607744" cy="457200"/>
          </a:xfrm>
          <a:prstGeom prst="rect">
            <a:avLst/>
          </a:prstGeom>
          <a:noFill/>
          <a:ln/>
        </p:spPr>
        <p:txBody>
          <a:bodyPr wrap="square" lIns="0" tIns="0" rIns="0" bIns="0" rtlCol="0" anchor="ctr"/>
          <a:lstStyle/>
          <a:p>
            <a:pPr algn="l" indent="0" marL="0">
              <a:buNone/>
            </a:pPr>
            <a:r>
              <a:rPr lang="ko-KR" altLang="en-US" sz="1700" b="1" dirty="0">
                <a:solidFill>
                  <a:schemeClr val="tx1"/>
                </a:solidFill>
              </a:rPr>
              <a:t>원칙</a:t>
            </a:r>
            <a:endParaRPr lang="ko-KR" altLang="en-US" sz="1700" dirty="0"/>
          </a:p>
        </p:txBody>
      </p:sp>
      <p:sp>
        <p:nvSpPr>
          <p:cNvPr id="19" name="Text 16"/>
          <p:cNvSpPr txBox="1"/>
          <p:nvPr/>
        </p:nvSpPr>
        <p:spPr>
          <a:xfrm>
            <a:off x="9303791" y="2011680"/>
            <a:ext cx="2247824" cy="2011680"/>
          </a:xfrm>
          <a:prstGeom prst="rect">
            <a:avLst/>
          </a:prstGeom>
          <a:noFill/>
          <a:ln/>
        </p:spPr>
        <p:txBody>
          <a:bodyPr wrap="square" lIns="0" tIns="0" rIns="0" bIns="0" rtlCol="0" anchor="t"/>
          <a:lstStyle/>
          <a:p>
            <a:pPr algn="l" indent="0" marL="0">
              <a:buNone/>
            </a:pPr>
            <a:r>
              <a:rPr lang="ko-KR" altLang="en-US" sz="1400" dirty="0">
                <a:solidFill>
                  <a:schemeClr val="tx1"/>
                </a:solidFill>
              </a:rPr>
              <a:t>첫 발주 전에 19번 슬라이드의 90일과 12개월차 게이트 숫자에 합의하고, 트리거가 걸리면 추가 자본 없음이라는 중단 규칙에 합의합니다.</a:t>
            </a:r>
            <a:endParaRPr lang="ko-KR" altLang="en-US" sz="1400" dirty="0"/>
          </a:p>
        </p:txBody>
      </p:sp>
      <p:sp>
        <p:nvSpPr>
          <p:cNvPr id="20" name="card"/>
          <p:cNvSpPr/>
          <p:nvPr/>
        </p:nvSpPr>
        <p:spPr>
          <a:xfrm>
            <a:off x="457200" y="4343400"/>
            <a:ext cx="11277295" cy="1874520"/>
          </a:xfrm>
          <a:prstGeom prst="roundRect">
            <a:avLst>
              <a:gd name="adj" fmla="val 5854"/>
            </a:avLst>
          </a:prstGeom>
          <a:solidFill>
            <a:srgbClr val="10172D"/>
          </a:solidFill>
          <a:ln w="12700">
            <a:solidFill>
              <a:srgbClr val="10172D"/>
            </a:solidFill>
            <a:prstDash val="solid"/>
          </a:ln>
        </p:spPr>
      </p:sp>
      <p:sp>
        <p:nvSpPr>
          <p:cNvPr id="21" name="Text 18"/>
          <p:cNvSpPr txBox="1"/>
          <p:nvPr/>
        </p:nvSpPr>
        <p:spPr>
          <a:xfrm>
            <a:off x="731520" y="4480560"/>
            <a:ext cx="5486400" cy="365760"/>
          </a:xfrm>
          <a:prstGeom prst="rect">
            <a:avLst/>
          </a:prstGeom>
          <a:noFill/>
          <a:ln/>
        </p:spPr>
        <p:txBody>
          <a:bodyPr wrap="square" lIns="0" tIns="0" rIns="0" bIns="0" rtlCol="0" anchor="t"/>
          <a:lstStyle/>
          <a:p>
            <a:pPr algn="l" indent="0" marL="0">
              <a:buNone/>
            </a:pPr>
            <a:r>
              <a:rPr lang="ko-KR" altLang="en-US" sz="1500" b="1" dirty="0">
                <a:solidFill>
                  <a:schemeClr val="accent4"/>
                </a:solidFill>
              </a:rPr>
              <a:t>Medium 케이스에서 얻는 것</a:t>
            </a:r>
            <a:endParaRPr lang="ko-KR" altLang="en-US" sz="1500" dirty="0"/>
          </a:p>
        </p:txBody>
      </p:sp>
      <p:sp>
        <p:nvSpPr>
          <p:cNvPr id="22" name="Text 19"/>
          <p:cNvSpPr txBox="1"/>
          <p:nvPr/>
        </p:nvSpPr>
        <p:spPr>
          <a:xfrm>
            <a:off x="731520" y="4892040"/>
            <a:ext cx="10728655" cy="1188720"/>
          </a:xfrm>
          <a:prstGeom prst="rect">
            <a:avLst/>
          </a:prstGeom>
          <a:noFill/>
          <a:ln/>
        </p:spPr>
        <p:txBody>
          <a:bodyPr wrap="square" lIns="0" tIns="0" rIns="0" bIns="0" rtlCol="0" anchor="t"/>
          <a:lstStyle/>
          <a:p>
            <a:pPr algn="l" indent="0" marL="0">
              <a:buNone/>
            </a:pPr>
            <a:r>
              <a:rPr lang="ko-KR" altLang="en-US" sz="1500" dirty="0">
                <a:solidFill>
                  <a:schemeClr val="tx1"/>
                </a:solidFill>
              </a:rPr>
              <a:t>18개월 순이익 $153K, 5년차 매출 $4.58M과 순이익률 13.4%, 5년 누적 순이익 $1.93M. 오늘 한국 도매에서 개당 $1.86를 버는 같은 제품에서 나옵니다.</a:t>
            </a:r>
            <a:endParaRPr lang="ko-KR" alt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35</a:t>
            </a:fld>
            <a:endParaRPr lang="ko-KR"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첫 30일</a:t>
            </a:r>
            <a:endParaRPr lang="ko-KR" altLang="en-US" sz="3200" dirty="0"/>
          </a:p>
        </p:txBody>
      </p:sp>
      <p:sp>
        <p:nvSpPr>
          <p:cNvPr id="4" name="card"/>
          <p:cNvSpPr/>
          <p:nvPr/>
        </p:nvSpPr>
        <p:spPr>
          <a:xfrm>
            <a:off x="457200" y="1188720"/>
            <a:ext cx="2613584" cy="3246120"/>
          </a:xfrm>
          <a:prstGeom prst="roundRect">
            <a:avLst>
              <a:gd name="adj" fmla="val 4198"/>
            </a:avLst>
          </a:prstGeom>
          <a:solidFill>
            <a:schemeClr val="bg2"/>
          </a:solidFill>
          <a:ln w="12700">
            <a:solidFill>
              <a:srgbClr val="141C36"/>
            </a:solidFill>
            <a:prstDash val="solid"/>
          </a:ln>
        </p:spPr>
      </p:sp>
      <p:sp>
        <p:nvSpPr>
          <p:cNvPr id="5" name="Text 2"/>
          <p:cNvSpPr txBox="1"/>
          <p:nvPr/>
        </p:nvSpPr>
        <p:spPr>
          <a:xfrm>
            <a:off x="640080" y="1280160"/>
            <a:ext cx="2247824" cy="411480"/>
          </a:xfrm>
          <a:prstGeom prst="rect">
            <a:avLst/>
          </a:prstGeom>
          <a:noFill/>
          <a:ln/>
        </p:spPr>
        <p:txBody>
          <a:bodyPr wrap="square" lIns="0" tIns="0" rIns="0" bIns="0" rtlCol="0" anchor="t"/>
          <a:lstStyle/>
          <a:p>
            <a:pPr algn="l" indent="0" marL="0">
              <a:buNone/>
            </a:pPr>
            <a:r>
              <a:rPr lang="ko-KR" altLang="en-US" sz="1700" b="1" dirty="0">
                <a:solidFill>
                  <a:schemeClr val="accent1"/>
                </a:solidFill>
              </a:rPr>
              <a:t>1주차</a:t>
            </a:r>
            <a:endParaRPr lang="ko-KR" altLang="en-US" sz="1700" dirty="0"/>
          </a:p>
        </p:txBody>
      </p:sp>
      <p:sp>
        <p:nvSpPr>
          <p:cNvPr id="6" name="Text 3"/>
          <p:cNvSpPr txBox="1"/>
          <p:nvPr/>
        </p:nvSpPr>
        <p:spPr>
          <a:xfrm>
            <a:off x="640080" y="1737360"/>
            <a:ext cx="2247824" cy="2651760"/>
          </a:xfrm>
          <a:prstGeom prst="rect">
            <a:avLst/>
          </a:prstGeom>
          <a:noFill/>
          <a:ln/>
        </p:spPr>
        <p:txBody>
          <a:bodyPr wrap="square" lIns="0" tIns="0" rIns="0" bIns="0" rtlCol="0" anchor="t"/>
          <a:lstStyle/>
          <a:p>
            <a:pPr algn="l" marL="139700" indent="-139700">
              <a:spcAft>
                <a:spcPts val="400"/>
              </a:spcAft>
              <a:buSzPct val="100000"/>
              <a:buChar char="•"/>
            </a:pPr>
            <a:r>
              <a:rPr lang="ko-KR" altLang="en-US" sz="1200" dirty="0">
                <a:solidFill>
                  <a:schemeClr val="tx1"/>
                </a:solidFill>
              </a:rPr>
              <a:t>공장: 서면 FOB 견적, HDMI Adopter 인증서, ATC, FCC, CL3 문서</a:t>
            </a:r>
            <a:endParaRPr lang="ko-KR" altLang="en-US" sz="1200" dirty="0"/>
          </a:p>
          <a:p>
            <a:pPr algn="l" marL="139700" indent="-139700">
              <a:spcAft>
                <a:spcPts val="400"/>
              </a:spcAft>
              <a:buSzPct val="100000"/>
              <a:buChar char="•"/>
            </a:pPr>
            <a:r>
              <a:rPr lang="ko-KR" altLang="en-US" sz="1200" dirty="0">
                <a:solidFill>
                  <a:schemeClr val="tx1"/>
                </a:solidFill>
              </a:rPr>
              <a:t>변호사 선임: 상표 검색, Wyoming LLC 설립 신청</a:t>
            </a:r>
            <a:endParaRPr lang="ko-KR" altLang="en-US" sz="1200" dirty="0"/>
          </a:p>
          <a:p>
            <a:pPr algn="l" marL="139700" indent="-139700">
              <a:spcAft>
                <a:spcPts val="400"/>
              </a:spcAft>
              <a:buSzPct val="100000"/>
              <a:buChar char="•"/>
            </a:pPr>
            <a:r>
              <a:rPr lang="ko-KR" altLang="en-US" sz="1200" dirty="0">
                <a:solidFill>
                  <a:schemeClr val="tx1"/>
                </a:solidFill>
              </a:rPr>
              <a:t>관세사 선임, 연간 보증, 품목분류 사전심사 신청</a:t>
            </a:r>
            <a:endParaRPr lang="ko-KR" altLang="en-US" sz="1200" dirty="0"/>
          </a:p>
          <a:p>
            <a:pPr algn="l" marL="139700" indent="-139700">
              <a:spcAft>
                <a:spcPts val="400"/>
              </a:spcAft>
              <a:buSzPct val="100000"/>
              <a:buChar char="•"/>
            </a:pPr>
            <a:r>
              <a:rPr lang="ko-KR" altLang="en-US" sz="1200" dirty="0">
                <a:solidFill>
                  <a:schemeClr val="tx1"/>
                </a:solidFill>
              </a:rPr>
              <a:t>브랜드명 후보 목록</a:t>
            </a:r>
            <a:endParaRPr lang="ko-KR" altLang="en-US" sz="1200" dirty="0"/>
          </a:p>
        </p:txBody>
      </p:sp>
      <p:sp>
        <p:nvSpPr>
          <p:cNvPr id="7" name="card"/>
          <p:cNvSpPr/>
          <p:nvPr/>
        </p:nvSpPr>
        <p:spPr>
          <a:xfrm>
            <a:off x="3345104" y="1188720"/>
            <a:ext cx="2613584" cy="3246120"/>
          </a:xfrm>
          <a:prstGeom prst="roundRect">
            <a:avLst>
              <a:gd name="adj" fmla="val 4198"/>
            </a:avLst>
          </a:prstGeom>
          <a:solidFill>
            <a:schemeClr val="bg2"/>
          </a:solidFill>
          <a:ln w="12700">
            <a:solidFill>
              <a:srgbClr val="141C36"/>
            </a:solidFill>
            <a:prstDash val="solid"/>
          </a:ln>
        </p:spPr>
      </p:sp>
      <p:sp>
        <p:nvSpPr>
          <p:cNvPr id="8" name="Text 5"/>
          <p:cNvSpPr txBox="1"/>
          <p:nvPr/>
        </p:nvSpPr>
        <p:spPr>
          <a:xfrm>
            <a:off x="3527984" y="1280160"/>
            <a:ext cx="2247824" cy="411480"/>
          </a:xfrm>
          <a:prstGeom prst="rect">
            <a:avLst/>
          </a:prstGeom>
          <a:noFill/>
          <a:ln/>
        </p:spPr>
        <p:txBody>
          <a:bodyPr wrap="square" lIns="0" tIns="0" rIns="0" bIns="0" rtlCol="0" anchor="t"/>
          <a:lstStyle/>
          <a:p>
            <a:pPr algn="l" indent="0" marL="0">
              <a:buNone/>
            </a:pPr>
            <a:r>
              <a:rPr lang="ko-KR" altLang="en-US" sz="1700" b="1" dirty="0">
                <a:solidFill>
                  <a:schemeClr val="accent1"/>
                </a:solidFill>
              </a:rPr>
              <a:t>2주차</a:t>
            </a:r>
            <a:endParaRPr lang="ko-KR" altLang="en-US" sz="1700" dirty="0"/>
          </a:p>
        </p:txBody>
      </p:sp>
      <p:sp>
        <p:nvSpPr>
          <p:cNvPr id="9" name="Text 6"/>
          <p:cNvSpPr txBox="1"/>
          <p:nvPr/>
        </p:nvSpPr>
        <p:spPr>
          <a:xfrm>
            <a:off x="3527984" y="1737360"/>
            <a:ext cx="2247824" cy="2651760"/>
          </a:xfrm>
          <a:prstGeom prst="rect">
            <a:avLst/>
          </a:prstGeom>
          <a:noFill/>
          <a:ln/>
        </p:spPr>
        <p:txBody>
          <a:bodyPr wrap="square" lIns="0" tIns="0" rIns="0" bIns="0" rtlCol="0" anchor="t"/>
          <a:lstStyle/>
          <a:p>
            <a:pPr algn="l" marL="139700" indent="-139700">
              <a:spcAft>
                <a:spcPts val="400"/>
              </a:spcAft>
              <a:buSzPct val="100000"/>
              <a:buChar char="•"/>
            </a:pPr>
            <a:r>
              <a:rPr lang="ko-KR" altLang="en-US" sz="1200" dirty="0">
                <a:solidFill>
                  <a:schemeClr val="tx1"/>
                </a:solidFill>
              </a:rPr>
              <a:t>Form SS-4로 전화 또는 팩스 EIN 신청</a:t>
            </a:r>
            <a:endParaRPr lang="ko-KR" altLang="en-US" sz="1200" dirty="0"/>
          </a:p>
          <a:p>
            <a:pPr algn="l" marL="139700" indent="-139700">
              <a:spcAft>
                <a:spcPts val="400"/>
              </a:spcAft>
              <a:buSzPct val="100000"/>
              <a:buChar char="•"/>
            </a:pPr>
            <a:r>
              <a:rPr lang="ko-KR" altLang="en-US" sz="1200" dirty="0">
                <a:solidFill>
                  <a:schemeClr val="tx1"/>
                </a:solidFill>
              </a:rPr>
              <a:t>외국환은행에 해외직접투자 신고</a:t>
            </a:r>
            <a:endParaRPr lang="ko-KR" altLang="en-US" sz="1200" dirty="0"/>
          </a:p>
          <a:p>
            <a:pPr algn="l" marL="139700" indent="-139700">
              <a:spcAft>
                <a:spcPts val="400"/>
              </a:spcAft>
              <a:buSzPct val="100000"/>
              <a:buChar char="•"/>
            </a:pPr>
            <a:r>
              <a:rPr lang="ko-KR" altLang="en-US" sz="1200" dirty="0">
                <a:solidFill>
                  <a:schemeClr val="tx1"/>
                </a:solidFill>
              </a:rPr>
              <a:t>상표 출원</a:t>
            </a:r>
            <a:endParaRPr lang="ko-KR" altLang="en-US" sz="1200" dirty="0"/>
          </a:p>
          <a:p>
            <a:pPr algn="l" marL="139700" indent="-139700">
              <a:spcAft>
                <a:spcPts val="400"/>
              </a:spcAft>
              <a:buSzPct val="100000"/>
              <a:buChar char="•"/>
            </a:pPr>
            <a:r>
              <a:rPr lang="ko-KR" altLang="en-US" sz="1200" dirty="0">
                <a:solidFill>
                  <a:schemeClr val="tx1"/>
                </a:solidFill>
              </a:rPr>
              <a:t>세무사 미팅: H2 법인 전환 문제, 해외금융계좌 신고</a:t>
            </a:r>
            <a:endParaRPr lang="ko-KR" altLang="en-US" sz="1200" dirty="0"/>
          </a:p>
        </p:txBody>
      </p:sp>
      <p:sp>
        <p:nvSpPr>
          <p:cNvPr id="10" name="card"/>
          <p:cNvSpPr/>
          <p:nvPr/>
        </p:nvSpPr>
        <p:spPr>
          <a:xfrm>
            <a:off x="6233008" y="1188720"/>
            <a:ext cx="2613584" cy="3246120"/>
          </a:xfrm>
          <a:prstGeom prst="roundRect">
            <a:avLst>
              <a:gd name="adj" fmla="val 4198"/>
            </a:avLst>
          </a:prstGeom>
          <a:solidFill>
            <a:schemeClr val="bg2"/>
          </a:solidFill>
          <a:ln w="12700">
            <a:solidFill>
              <a:srgbClr val="141C36"/>
            </a:solidFill>
            <a:prstDash val="solid"/>
          </a:ln>
        </p:spPr>
      </p:sp>
      <p:sp>
        <p:nvSpPr>
          <p:cNvPr id="11" name="Text 8"/>
          <p:cNvSpPr txBox="1"/>
          <p:nvPr/>
        </p:nvSpPr>
        <p:spPr>
          <a:xfrm>
            <a:off x="6415888" y="1280160"/>
            <a:ext cx="2247824" cy="411480"/>
          </a:xfrm>
          <a:prstGeom prst="rect">
            <a:avLst/>
          </a:prstGeom>
          <a:noFill/>
          <a:ln/>
        </p:spPr>
        <p:txBody>
          <a:bodyPr wrap="square" lIns="0" tIns="0" rIns="0" bIns="0" rtlCol="0" anchor="t"/>
          <a:lstStyle/>
          <a:p>
            <a:pPr algn="l" indent="0" marL="0">
              <a:buNone/>
            </a:pPr>
            <a:r>
              <a:rPr lang="ko-KR" altLang="en-US" sz="1700" b="1" dirty="0">
                <a:solidFill>
                  <a:schemeClr val="accent1"/>
                </a:solidFill>
              </a:rPr>
              <a:t>3주차</a:t>
            </a:r>
            <a:endParaRPr lang="ko-KR" altLang="en-US" sz="1700" dirty="0"/>
          </a:p>
        </p:txBody>
      </p:sp>
      <p:sp>
        <p:nvSpPr>
          <p:cNvPr id="12" name="Text 9"/>
          <p:cNvSpPr txBox="1"/>
          <p:nvPr/>
        </p:nvSpPr>
        <p:spPr>
          <a:xfrm>
            <a:off x="6415888" y="1737360"/>
            <a:ext cx="2247824" cy="2651760"/>
          </a:xfrm>
          <a:prstGeom prst="rect">
            <a:avLst/>
          </a:prstGeom>
          <a:noFill/>
          <a:ln/>
        </p:spPr>
        <p:txBody>
          <a:bodyPr wrap="square" lIns="0" tIns="0" rIns="0" bIns="0" rtlCol="0" anchor="t"/>
          <a:lstStyle/>
          <a:p>
            <a:pPr algn="l" marL="139700" indent="-139700">
              <a:spcAft>
                <a:spcPts val="400"/>
              </a:spcAft>
              <a:buSzPct val="100000"/>
              <a:buChar char="•"/>
            </a:pPr>
            <a:r>
              <a:rPr lang="ko-KR" altLang="en-US" sz="1200" dirty="0">
                <a:solidFill>
                  <a:schemeClr val="tx1"/>
                </a:solidFill>
              </a:rPr>
              <a:t>USD 은행 계좌 (Mercury 또는 Relay, 대안은 Payoneer 또는 WorldFirst)</a:t>
            </a:r>
            <a:endParaRPr lang="ko-KR" altLang="en-US" sz="1200" dirty="0"/>
          </a:p>
          <a:p>
            <a:pPr algn="l" marL="139700" indent="-139700">
              <a:spcAft>
                <a:spcPts val="400"/>
              </a:spcAft>
              <a:buSzPct val="100000"/>
              <a:buChar char="•"/>
            </a:pPr>
            <a:r>
              <a:rPr lang="ko-KR" altLang="en-US" sz="1200" dirty="0">
                <a:solidFill>
                  <a:schemeClr val="tx1"/>
                </a:solidFill>
              </a:rPr>
              <a:t>자본 이체, 해외직접투자 신고 후에만</a:t>
            </a:r>
            <a:endParaRPr lang="ko-KR" altLang="en-US" sz="1200" dirty="0"/>
          </a:p>
          <a:p>
            <a:pPr algn="l" marL="139700" indent="-139700">
              <a:spcAft>
                <a:spcPts val="400"/>
              </a:spcAft>
              <a:buSzPct val="100000"/>
              <a:buChar char="•"/>
            </a:pPr>
            <a:r>
              <a:rPr lang="ko-KR" altLang="en-US" sz="1200" dirty="0">
                <a:solidFill>
                  <a:schemeClr val="tx1"/>
                </a:solidFill>
              </a:rPr>
              <a:t>아마존 Professional 계정, 외국인 소유 법인 세금 인터뷰, 신원 확인</a:t>
            </a:r>
            <a:endParaRPr lang="ko-KR" altLang="en-US" sz="1200" dirty="0"/>
          </a:p>
          <a:p>
            <a:pPr algn="l" marL="139700" indent="-139700">
              <a:spcAft>
                <a:spcPts val="400"/>
              </a:spcAft>
              <a:buSzPct val="100000"/>
              <a:buChar char="•"/>
            </a:pPr>
            <a:r>
              <a:rPr lang="ko-KR" altLang="en-US" sz="1200" dirty="0">
                <a:solidFill>
                  <a:schemeClr val="tx1"/>
                </a:solidFill>
              </a:rPr>
              <a:t>제조물 책임 보험 견적</a:t>
            </a:r>
            <a:endParaRPr lang="ko-KR" altLang="en-US" sz="1200" dirty="0"/>
          </a:p>
        </p:txBody>
      </p:sp>
      <p:sp>
        <p:nvSpPr>
          <p:cNvPr id="13" name="card"/>
          <p:cNvSpPr/>
          <p:nvPr/>
        </p:nvSpPr>
        <p:spPr>
          <a:xfrm>
            <a:off x="9120911" y="1188720"/>
            <a:ext cx="2613584" cy="3246120"/>
          </a:xfrm>
          <a:prstGeom prst="roundRect">
            <a:avLst>
              <a:gd name="adj" fmla="val 4198"/>
            </a:avLst>
          </a:prstGeom>
          <a:solidFill>
            <a:schemeClr val="bg2"/>
          </a:solidFill>
          <a:ln w="12700">
            <a:solidFill>
              <a:srgbClr val="141C36"/>
            </a:solidFill>
            <a:prstDash val="solid"/>
          </a:ln>
        </p:spPr>
      </p:sp>
      <p:sp>
        <p:nvSpPr>
          <p:cNvPr id="14" name="Text 11"/>
          <p:cNvSpPr txBox="1"/>
          <p:nvPr/>
        </p:nvSpPr>
        <p:spPr>
          <a:xfrm>
            <a:off x="9303791" y="1280160"/>
            <a:ext cx="2247824" cy="411480"/>
          </a:xfrm>
          <a:prstGeom prst="rect">
            <a:avLst/>
          </a:prstGeom>
          <a:noFill/>
          <a:ln/>
        </p:spPr>
        <p:txBody>
          <a:bodyPr wrap="square" lIns="0" tIns="0" rIns="0" bIns="0" rtlCol="0" anchor="t"/>
          <a:lstStyle/>
          <a:p>
            <a:pPr algn="l" indent="0" marL="0">
              <a:buNone/>
            </a:pPr>
            <a:r>
              <a:rPr lang="ko-KR" altLang="en-US" sz="1700" b="1" dirty="0">
                <a:solidFill>
                  <a:schemeClr val="accent1"/>
                </a:solidFill>
              </a:rPr>
              <a:t>4주차</a:t>
            </a:r>
            <a:endParaRPr lang="ko-KR" altLang="en-US" sz="1700" dirty="0"/>
          </a:p>
        </p:txBody>
      </p:sp>
      <p:sp>
        <p:nvSpPr>
          <p:cNvPr id="15" name="Text 12"/>
          <p:cNvSpPr txBox="1"/>
          <p:nvPr/>
        </p:nvSpPr>
        <p:spPr>
          <a:xfrm>
            <a:off x="9303791" y="1737360"/>
            <a:ext cx="2247824" cy="2651760"/>
          </a:xfrm>
          <a:prstGeom prst="rect">
            <a:avLst/>
          </a:prstGeom>
          <a:noFill/>
          <a:ln/>
        </p:spPr>
        <p:txBody>
          <a:bodyPr wrap="square" lIns="0" tIns="0" rIns="0" bIns="0" rtlCol="0" anchor="t"/>
          <a:lstStyle/>
          <a:p>
            <a:pPr algn="l" marL="139700" indent="-139700">
              <a:spcAft>
                <a:spcPts val="400"/>
              </a:spcAft>
              <a:buSzPct val="100000"/>
              <a:buChar char="•"/>
            </a:pPr>
            <a:r>
              <a:rPr lang="ko-KR" altLang="en-US" sz="1200" dirty="0">
                <a:solidFill>
                  <a:schemeClr val="tx1"/>
                </a:solidFill>
              </a:rPr>
              <a:t>출원 중인 상표로 Brand Registry</a:t>
            </a:r>
            <a:endParaRPr lang="ko-KR" altLang="en-US" sz="1200" dirty="0"/>
          </a:p>
          <a:p>
            <a:pPr algn="l" marL="139700" indent="-139700">
              <a:spcAft>
                <a:spcPts val="400"/>
              </a:spcAft>
              <a:buSzPct val="100000"/>
              <a:buChar char="•"/>
            </a:pPr>
            <a:r>
              <a:rPr lang="ko-KR" altLang="en-US" sz="1200" dirty="0">
                <a:solidFill>
                  <a:schemeClr val="tx1"/>
                </a:solidFill>
              </a:rPr>
              <a:t>테스트 재고 PO: 주력 5개 SKU, 각 100에서 300개, 항공 DDP, 제3자 QC 예약</a:t>
            </a:r>
            <a:endParaRPr lang="ko-KR" altLang="en-US" sz="1200" dirty="0"/>
          </a:p>
          <a:p>
            <a:pPr algn="l" marL="139700" indent="-139700">
              <a:spcAft>
                <a:spcPts val="400"/>
              </a:spcAft>
              <a:buSzPct val="100000"/>
              <a:buChar char="•"/>
            </a:pPr>
            <a:r>
              <a:rPr lang="ko-KR" altLang="en-US" sz="1200" dirty="0">
                <a:solidFill>
                  <a:schemeClr val="tx1"/>
                </a:solidFill>
              </a:rPr>
              <a:t>사진과 영상 브리프, 09_Amazon_Listing_Kit 기반 리스팅 초안</a:t>
            </a:r>
            <a:endParaRPr lang="ko-KR" altLang="en-US" sz="1200" dirty="0"/>
          </a:p>
          <a:p>
            <a:pPr algn="l" marL="139700" indent="-139700">
              <a:spcAft>
                <a:spcPts val="400"/>
              </a:spcAft>
              <a:buSzPct val="100000"/>
              <a:buChar char="•"/>
            </a:pPr>
            <a:r>
              <a:rPr lang="ko-KR" altLang="en-US" sz="1200" dirty="0">
                <a:solidFill>
                  <a:schemeClr val="tx1"/>
                </a:solidFill>
              </a:rPr>
              <a:t>컴플라이언스 달력과 SOP 가동 (05와 06)</a:t>
            </a:r>
            <a:endParaRPr lang="ko-KR" altLang="en-US" sz="1200" dirty="0"/>
          </a:p>
        </p:txBody>
      </p:sp>
      <p:sp>
        <p:nvSpPr>
          <p:cNvPr id="16" name="card"/>
          <p:cNvSpPr/>
          <p:nvPr/>
        </p:nvSpPr>
        <p:spPr>
          <a:xfrm>
            <a:off x="457200" y="4617720"/>
            <a:ext cx="11277295" cy="1645920"/>
          </a:xfrm>
          <a:prstGeom prst="roundRect">
            <a:avLst>
              <a:gd name="adj" fmla="val 6667"/>
            </a:avLst>
          </a:prstGeom>
          <a:solidFill>
            <a:srgbClr val="10172D"/>
          </a:solidFill>
          <a:ln w="12700">
            <a:solidFill>
              <a:srgbClr val="10172D"/>
            </a:solidFill>
            <a:prstDash val="solid"/>
          </a:ln>
        </p:spPr>
      </p:sp>
      <p:sp>
        <p:nvSpPr>
          <p:cNvPr id="17" name="Text 14"/>
          <p:cNvSpPr txBox="1"/>
          <p:nvPr/>
        </p:nvSpPr>
        <p:spPr>
          <a:xfrm>
            <a:off x="731520" y="4709160"/>
            <a:ext cx="5486400" cy="320040"/>
          </a:xfrm>
          <a:prstGeom prst="rect">
            <a:avLst/>
          </a:prstGeom>
          <a:noFill/>
          <a:ln/>
        </p:spPr>
        <p:txBody>
          <a:bodyPr wrap="square" lIns="0" tIns="0" rIns="0" bIns="0" rtlCol="0" anchor="t"/>
          <a:lstStyle/>
          <a:p>
            <a:pPr algn="l" indent="0" marL="0">
              <a:buNone/>
            </a:pPr>
            <a:r>
              <a:rPr lang="ko-KR" altLang="en-US" sz="1500" b="1" dirty="0">
                <a:solidFill>
                  <a:schemeClr val="accent4"/>
                </a:solidFill>
              </a:rPr>
              <a:t>월요일 아침, Lucy의 세 가지 행동</a:t>
            </a:r>
            <a:endParaRPr lang="ko-KR" altLang="en-US" sz="1500" dirty="0"/>
          </a:p>
        </p:txBody>
      </p:sp>
      <p:sp>
        <p:nvSpPr>
          <p:cNvPr id="18" name="Text 15"/>
          <p:cNvSpPr txBox="1"/>
          <p:nvPr/>
        </p:nvSpPr>
        <p:spPr>
          <a:xfrm>
            <a:off x="731520" y="5120640"/>
            <a:ext cx="3393338" cy="1005840"/>
          </a:xfrm>
          <a:prstGeom prst="rect">
            <a:avLst/>
          </a:prstGeom>
          <a:noFill/>
          <a:ln/>
        </p:spPr>
        <p:txBody>
          <a:bodyPr wrap="square" lIns="0" tIns="0" rIns="0" bIns="0" rtlCol="0" anchor="t"/>
          <a:lstStyle/>
          <a:p>
            <a:pPr algn="l" indent="0" marL="0">
              <a:buNone/>
            </a:pPr>
            <a:r>
              <a:rPr lang="ko-KR" altLang="en-US" sz="1350" dirty="0">
                <a:solidFill>
                  <a:schemeClr val="tx1"/>
                </a:solidFill>
              </a:rPr>
              <a:t>1. 공장에 FOB 견적서와 컴플라이언스 문서 4종을 이메일로 요청합니다.</a:t>
            </a:r>
            <a:endParaRPr lang="ko-KR" altLang="en-US" sz="1350" dirty="0"/>
          </a:p>
        </p:txBody>
      </p:sp>
      <p:sp>
        <p:nvSpPr>
          <p:cNvPr id="19" name="Text 16"/>
          <p:cNvSpPr txBox="1"/>
          <p:nvPr/>
        </p:nvSpPr>
        <p:spPr>
          <a:xfrm>
            <a:off x="4490618" y="5120640"/>
            <a:ext cx="3393338" cy="1005840"/>
          </a:xfrm>
          <a:prstGeom prst="rect">
            <a:avLst/>
          </a:prstGeom>
          <a:noFill/>
          <a:ln/>
        </p:spPr>
        <p:txBody>
          <a:bodyPr wrap="square" lIns="0" tIns="0" rIns="0" bIns="0" rtlCol="0" anchor="t"/>
          <a:lstStyle/>
          <a:p>
            <a:pPr algn="l" indent="0" marL="0">
              <a:buNone/>
            </a:pPr>
            <a:r>
              <a:rPr lang="ko-KR" altLang="en-US" sz="1350" dirty="0">
                <a:solidFill>
                  <a:schemeClr val="tx1"/>
                </a:solidFill>
              </a:rPr>
              <a:t>2. 변호사와 관세사 통화를 예약합니다.</a:t>
            </a:r>
            <a:endParaRPr lang="ko-KR" altLang="en-US" sz="1350" dirty="0"/>
          </a:p>
        </p:txBody>
      </p:sp>
      <p:sp>
        <p:nvSpPr>
          <p:cNvPr id="20" name="Text 17"/>
          <p:cNvSpPr txBox="1"/>
          <p:nvPr/>
        </p:nvSpPr>
        <p:spPr>
          <a:xfrm>
            <a:off x="8249717" y="5120640"/>
            <a:ext cx="3393338" cy="1005840"/>
          </a:xfrm>
          <a:prstGeom prst="rect">
            <a:avLst/>
          </a:prstGeom>
          <a:noFill/>
          <a:ln/>
        </p:spPr>
        <p:txBody>
          <a:bodyPr wrap="square" lIns="0" tIns="0" rIns="0" bIns="0" rtlCol="0" anchor="t"/>
          <a:lstStyle/>
          <a:p>
            <a:pPr algn="l" indent="0" marL="0">
              <a:buNone/>
            </a:pPr>
            <a:r>
              <a:rPr lang="ko-KR" altLang="en-US" sz="1350" dirty="0">
                <a:solidFill>
                  <a:schemeClr val="tx1"/>
                </a:solidFill>
              </a:rPr>
              <a:t>3. 세무사에게 해외직접투자 신고 준비를 요청합니다.</a:t>
            </a:r>
            <a:endParaRPr lang="ko-KR" altLang="en-US" sz="13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36</a:t>
            </a:fld>
            <a:endParaRPr lang="ko-KR"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ko-KR" altLang="en-US" sz="3200" b="1" dirty="0">
                <a:solidFill>
                  <a:srgbClr val="F3F6FF"/>
                </a:solidFill>
              </a:rPr>
              <a:t>용어집</a:t>
            </a:r>
            <a:endParaRPr lang="ko-KR" altLang="en-US" sz="3200" dirty="0"/>
          </a:p>
        </p:txBody>
      </p:sp>
      <p:sp>
        <p:nvSpPr>
          <p:cNvPr id="4" name="card"/>
          <p:cNvSpPr/>
          <p:nvPr/>
        </p:nvSpPr>
        <p:spPr>
          <a:xfrm>
            <a:off x="457200" y="1143000"/>
            <a:ext cx="3576218" cy="5120640"/>
          </a:xfrm>
          <a:prstGeom prst="roundRect">
            <a:avLst>
              <a:gd name="adj" fmla="val 3068"/>
            </a:avLst>
          </a:prstGeom>
          <a:solidFill>
            <a:schemeClr val="bg2"/>
          </a:solidFill>
          <a:ln w="12700">
            <a:solidFill>
              <a:srgbClr val="141C36"/>
            </a:solidFill>
            <a:prstDash val="solid"/>
          </a:ln>
        </p:spPr>
      </p:sp>
      <p:sp>
        <p:nvSpPr>
          <p:cNvPr id="5" name="Text 2"/>
          <p:cNvSpPr txBox="1"/>
          <p:nvPr/>
        </p:nvSpPr>
        <p:spPr>
          <a:xfrm>
            <a:off x="640080" y="1280160"/>
            <a:ext cx="3210458" cy="4846320"/>
          </a:xfrm>
          <a:prstGeom prst="rect">
            <a:avLst/>
          </a:prstGeom>
          <a:noFill/>
          <a:ln/>
        </p:spPr>
        <p:txBody>
          <a:bodyPr wrap="square" lIns="0" tIns="0" rIns="0" bIns="0" rtlCol="0" anchor="t"/>
          <a:lstStyle/>
          <a:p>
            <a:pPr algn="l" indent="0" marL="0">
              <a:buNone/>
            </a:pPr>
            <a:r>
              <a:rPr lang="ko-KR" altLang="en-US" sz="1200" b="1" dirty="0">
                <a:solidFill>
                  <a:schemeClr val="accent1"/>
                </a:solidFill>
              </a:rPr>
              <a:t>AOC: </a:t>
            </a:r>
            <a:pPr algn="l" indent="0" marL="0">
              <a:spcAft>
                <a:spcPts val="400"/>
              </a:spcAft>
              <a:buNone/>
            </a:pPr>
            <a:r>
              <a:rPr lang="ko-KR" altLang="en-US" sz="1200" dirty="0">
                <a:solidFill>
                  <a:schemeClr val="tx1"/>
                </a:solidFill>
              </a:rPr>
              <a:t>액티브 광케이블 (active optical cable)</a:t>
            </a:r>
            <a:endParaRPr lang="ko-KR" altLang="en-US" sz="1200" dirty="0"/>
          </a:p>
          <a:p>
            <a:pPr algn="l" indent="0" marL="0">
              <a:buNone/>
            </a:pPr>
            <a:r>
              <a:rPr lang="ko-KR" altLang="en-US" sz="1200" b="1" dirty="0">
                <a:solidFill>
                  <a:schemeClr val="accent1"/>
                </a:solidFill>
              </a:rPr>
              <a:t>HDMI: </a:t>
            </a:r>
            <a:pPr algn="l" indent="0" marL="0">
              <a:spcAft>
                <a:spcPts val="400"/>
              </a:spcAft>
              <a:buNone/>
            </a:pPr>
            <a:r>
              <a:rPr lang="ko-KR" altLang="en-US" sz="1200" dirty="0">
                <a:solidFill>
                  <a:schemeClr val="tx1"/>
                </a:solidFill>
              </a:rPr>
              <a:t>High Definition Multimedia Interface</a:t>
            </a:r>
            <a:endParaRPr lang="ko-KR" altLang="en-US" sz="1200" dirty="0"/>
          </a:p>
          <a:p>
            <a:pPr algn="l" indent="0" marL="0">
              <a:buNone/>
            </a:pPr>
            <a:r>
              <a:rPr lang="ko-KR" altLang="en-US" sz="1200" b="1" dirty="0">
                <a:solidFill>
                  <a:schemeClr val="accent1"/>
                </a:solidFill>
              </a:rPr>
              <a:t>ASP: </a:t>
            </a:r>
            <a:pPr algn="l" indent="0" marL="0">
              <a:spcAft>
                <a:spcPts val="400"/>
              </a:spcAft>
              <a:buNone/>
            </a:pPr>
            <a:r>
              <a:rPr lang="ko-KR" altLang="en-US" sz="1200" dirty="0">
                <a:solidFill>
                  <a:schemeClr val="tx1"/>
                </a:solidFill>
              </a:rPr>
              <a:t>평균 판매가 (average selling price)</a:t>
            </a:r>
            <a:endParaRPr lang="ko-KR" altLang="en-US" sz="1200" dirty="0"/>
          </a:p>
          <a:p>
            <a:pPr algn="l" indent="0" marL="0">
              <a:buNone/>
            </a:pPr>
            <a:r>
              <a:rPr lang="ko-KR" altLang="en-US" sz="1200" b="1" dirty="0">
                <a:solidFill>
                  <a:schemeClr val="accent1"/>
                </a:solidFill>
              </a:rPr>
              <a:t>COGS: </a:t>
            </a:r>
            <a:pPr algn="l" indent="0" marL="0">
              <a:spcAft>
                <a:spcPts val="400"/>
              </a:spcAft>
              <a:buNone/>
            </a:pPr>
            <a:r>
              <a:rPr lang="ko-KR" altLang="en-US" sz="1200" dirty="0">
                <a:solidFill>
                  <a:schemeClr val="tx1"/>
                </a:solidFill>
              </a:rPr>
              <a:t>매출원가 (cost of goods sold)</a:t>
            </a:r>
            <a:endParaRPr lang="ko-KR" altLang="en-US" sz="1200" dirty="0"/>
          </a:p>
          <a:p>
            <a:pPr algn="l" indent="0" marL="0">
              <a:buNone/>
            </a:pPr>
            <a:r>
              <a:rPr lang="ko-KR" altLang="en-US" sz="1200" b="1" dirty="0">
                <a:solidFill>
                  <a:schemeClr val="accent1"/>
                </a:solidFill>
              </a:rPr>
              <a:t>FOB: </a:t>
            </a:r>
            <a:pPr algn="l" indent="0" marL="0">
              <a:spcAft>
                <a:spcPts val="400"/>
              </a:spcAft>
              <a:buNone/>
            </a:pPr>
            <a:r>
              <a:rPr lang="ko-KR" altLang="en-US" sz="1200" dirty="0">
                <a:solidFill>
                  <a:schemeClr val="tx1"/>
                </a:solidFill>
              </a:rPr>
              <a:t>본선 인도 가격 (공장 측 항구 기준 가격)</a:t>
            </a:r>
            <a:endParaRPr lang="ko-KR" altLang="en-US" sz="1200" dirty="0"/>
          </a:p>
          <a:p>
            <a:pPr algn="l" indent="0" marL="0">
              <a:buNone/>
            </a:pPr>
            <a:r>
              <a:rPr lang="ko-KR" altLang="en-US" sz="1200" b="1" dirty="0">
                <a:solidFill>
                  <a:schemeClr val="accent1"/>
                </a:solidFill>
              </a:rPr>
              <a:t>DDP: </a:t>
            </a:r>
            <a:pPr algn="l" indent="0" marL="0">
              <a:spcAft>
                <a:spcPts val="400"/>
              </a:spcAft>
              <a:buNone/>
            </a:pPr>
            <a:r>
              <a:rPr lang="ko-KR" altLang="en-US" sz="1200" dirty="0">
                <a:solidFill>
                  <a:schemeClr val="tx1"/>
                </a:solidFill>
              </a:rPr>
              <a:t>관세 포함 인도 (delivered duty paid)</a:t>
            </a:r>
            <a:endParaRPr lang="ko-KR" altLang="en-US" sz="1200" dirty="0"/>
          </a:p>
          <a:p>
            <a:pPr algn="l" indent="0" marL="0">
              <a:buNone/>
            </a:pPr>
            <a:r>
              <a:rPr lang="ko-KR" altLang="en-US" sz="1200" b="1" dirty="0">
                <a:solidFill>
                  <a:schemeClr val="accent1"/>
                </a:solidFill>
              </a:rPr>
              <a:t>FBA: </a:t>
            </a:r>
            <a:pPr algn="l" indent="0" marL="0">
              <a:spcAft>
                <a:spcPts val="400"/>
              </a:spcAft>
              <a:buNone/>
            </a:pPr>
            <a:r>
              <a:rPr lang="ko-KR" altLang="en-US" sz="1200" dirty="0">
                <a:solidFill>
                  <a:schemeClr val="tx1"/>
                </a:solidFill>
              </a:rPr>
              <a:t>Fulfillment by Amazon (아마존 물류 대행)</a:t>
            </a:r>
            <a:endParaRPr lang="ko-KR" altLang="en-US" sz="1200" dirty="0"/>
          </a:p>
          <a:p>
            <a:pPr algn="l" indent="0" marL="0">
              <a:buNone/>
            </a:pPr>
            <a:r>
              <a:rPr lang="ko-KR" altLang="en-US" sz="1200" b="1" dirty="0">
                <a:solidFill>
                  <a:schemeClr val="accent1"/>
                </a:solidFill>
              </a:rPr>
              <a:t>FNSKU: </a:t>
            </a:r>
            <a:pPr algn="l" indent="0" marL="0">
              <a:spcAft>
                <a:spcPts val="400"/>
              </a:spcAft>
              <a:buNone/>
            </a:pPr>
            <a:r>
              <a:rPr lang="ko-KR" altLang="en-US" sz="1200" dirty="0">
                <a:solidFill>
                  <a:schemeClr val="tx1"/>
                </a:solidFill>
              </a:rPr>
              <a:t>Fulfillment Network Stock Keeping Unit (아마존 바코드)</a:t>
            </a:r>
            <a:endParaRPr lang="ko-KR" altLang="en-US" sz="1200" dirty="0"/>
          </a:p>
          <a:p>
            <a:pPr algn="l" indent="0" marL="0">
              <a:buNone/>
            </a:pPr>
            <a:r>
              <a:rPr lang="ko-KR" altLang="en-US" sz="1200" b="1" dirty="0">
                <a:solidFill>
                  <a:schemeClr val="accent1"/>
                </a:solidFill>
              </a:rPr>
              <a:t>ASIN: </a:t>
            </a:r>
            <a:pPr algn="l" indent="0" marL="0">
              <a:spcAft>
                <a:spcPts val="400"/>
              </a:spcAft>
              <a:buNone/>
            </a:pPr>
            <a:r>
              <a:rPr lang="ko-KR" altLang="en-US" sz="1200" dirty="0">
                <a:solidFill>
                  <a:schemeClr val="tx1"/>
                </a:solidFill>
              </a:rPr>
              <a:t>Amazon Standard Identification Number (아마존 상품 식별번호)</a:t>
            </a:r>
            <a:endParaRPr lang="ko-KR" altLang="en-US" sz="1200" dirty="0"/>
          </a:p>
          <a:p>
            <a:pPr algn="l" indent="0" marL="0">
              <a:buNone/>
            </a:pPr>
            <a:r>
              <a:rPr lang="ko-KR" altLang="en-US" sz="1200" b="1" dirty="0">
                <a:solidFill>
                  <a:schemeClr val="accent1"/>
                </a:solidFill>
              </a:rPr>
              <a:t>ACOS: </a:t>
            </a:r>
            <a:pPr algn="l" indent="0" marL="0">
              <a:spcAft>
                <a:spcPts val="400"/>
              </a:spcAft>
              <a:buNone/>
            </a:pPr>
            <a:r>
              <a:rPr lang="ko-KR" altLang="en-US" sz="1200" dirty="0">
                <a:solidFill>
                  <a:schemeClr val="tx1"/>
                </a:solidFill>
              </a:rPr>
              <a:t>광고 매출 대비 광고비 (광고비 나누기 광고 귀속 매출)</a:t>
            </a:r>
            <a:endParaRPr lang="ko-KR" altLang="en-US" sz="1200" dirty="0"/>
          </a:p>
          <a:p>
            <a:pPr algn="l" indent="0" marL="0">
              <a:buNone/>
            </a:pPr>
            <a:r>
              <a:rPr lang="ko-KR" altLang="en-US" sz="1200" b="1" dirty="0">
                <a:solidFill>
                  <a:schemeClr val="accent1"/>
                </a:solidFill>
              </a:rPr>
              <a:t>TACOS: </a:t>
            </a:r>
            <a:pPr algn="l" indent="0" marL="0">
              <a:spcAft>
                <a:spcPts val="400"/>
              </a:spcAft>
              <a:buNone/>
            </a:pPr>
            <a:r>
              <a:rPr lang="ko-KR" altLang="en-US" sz="1200" dirty="0">
                <a:solidFill>
                  <a:schemeClr val="tx1"/>
                </a:solidFill>
              </a:rPr>
              <a:t>총매출 대비 광고비 (광고비 나누기 총매출)</a:t>
            </a:r>
            <a:endParaRPr lang="ko-KR" altLang="en-US" sz="1200" dirty="0"/>
          </a:p>
          <a:p>
            <a:pPr algn="l" indent="0" marL="0">
              <a:buNone/>
            </a:pPr>
            <a:r>
              <a:rPr lang="ko-KR" altLang="en-US" sz="1200" b="1" dirty="0">
                <a:solidFill>
                  <a:schemeClr val="accent1"/>
                </a:solidFill>
              </a:rPr>
              <a:t>PPC: </a:t>
            </a:r>
            <a:pPr algn="l" indent="0" marL="0">
              <a:spcAft>
                <a:spcPts val="400"/>
              </a:spcAft>
              <a:buNone/>
            </a:pPr>
            <a:r>
              <a:rPr lang="ko-KR" altLang="en-US" sz="1200" dirty="0">
                <a:solidFill>
                  <a:schemeClr val="tx1"/>
                </a:solidFill>
              </a:rPr>
              <a:t>클릭당 과금 광고 (pay per click)</a:t>
            </a:r>
            <a:endParaRPr lang="ko-KR" altLang="en-US" sz="1200" dirty="0"/>
          </a:p>
          <a:p>
            <a:pPr algn="l" indent="0" marL="0">
              <a:buNone/>
            </a:pPr>
            <a:r>
              <a:rPr lang="ko-KR" altLang="en-US" sz="1200" b="1" dirty="0">
                <a:solidFill>
                  <a:schemeClr val="accent1"/>
                </a:solidFill>
              </a:rPr>
              <a:t>3PL: </a:t>
            </a:r>
            <a:pPr algn="l" indent="0" marL="0">
              <a:spcAft>
                <a:spcPts val="400"/>
              </a:spcAft>
              <a:buNone/>
            </a:pPr>
            <a:r>
              <a:rPr lang="ko-KR" altLang="en-US" sz="1200" dirty="0">
                <a:solidFill>
                  <a:schemeClr val="tx1"/>
                </a:solidFill>
              </a:rPr>
              <a:t>제3자 물류 창고</a:t>
            </a:r>
            <a:endParaRPr lang="ko-KR" altLang="en-US" sz="1200" dirty="0"/>
          </a:p>
          <a:p>
            <a:pPr algn="l" indent="0" marL="0">
              <a:buNone/>
            </a:pPr>
            <a:r>
              <a:rPr lang="ko-KR" altLang="en-US" sz="1200" b="1" dirty="0">
                <a:solidFill>
                  <a:schemeClr val="accent1"/>
                </a:solidFill>
              </a:rPr>
              <a:t>HTS: </a:t>
            </a:r>
            <a:pPr algn="l" indent="0" marL="0">
              <a:spcAft>
                <a:spcPts val="400"/>
              </a:spcAft>
              <a:buNone/>
            </a:pPr>
            <a:r>
              <a:rPr lang="ko-KR" altLang="en-US" sz="1200" dirty="0">
                <a:solidFill>
                  <a:schemeClr val="tx1"/>
                </a:solidFill>
              </a:rPr>
              <a:t>미국 관세율표 (Harmonized Tariff Schedule)</a:t>
            </a:r>
            <a:endParaRPr lang="ko-KR" altLang="en-US" sz="1200" dirty="0"/>
          </a:p>
          <a:p>
            <a:pPr algn="l" indent="0" marL="0">
              <a:buNone/>
            </a:pPr>
            <a:r>
              <a:rPr lang="ko-KR" altLang="en-US" sz="1200" b="1" dirty="0">
                <a:solidFill>
                  <a:schemeClr val="accent1"/>
                </a:solidFill>
              </a:rPr>
              <a:t>CBP: </a:t>
            </a:r>
            <a:pPr algn="l" indent="0" marL="0">
              <a:spcAft>
                <a:spcPts val="400"/>
              </a:spcAft>
              <a:buNone/>
            </a:pPr>
            <a:r>
              <a:rPr lang="ko-KR" altLang="en-US" sz="1200" dirty="0">
                <a:solidFill>
                  <a:schemeClr val="tx1"/>
                </a:solidFill>
              </a:rPr>
              <a:t>미국 관세국경보호청</a:t>
            </a:r>
            <a:endParaRPr lang="ko-KR" altLang="en-US" sz="1200" dirty="0"/>
          </a:p>
          <a:p>
            <a:pPr algn="l" indent="0" marL="0">
              <a:buNone/>
            </a:pPr>
            <a:r>
              <a:rPr lang="ko-KR" altLang="en-US" sz="1200" b="1" dirty="0">
                <a:solidFill>
                  <a:schemeClr val="accent1"/>
                </a:solidFill>
              </a:rPr>
              <a:t>MFN: </a:t>
            </a:r>
            <a:pPr algn="l" indent="0" marL="0">
              <a:spcAft>
                <a:spcPts val="400"/>
              </a:spcAft>
              <a:buNone/>
            </a:pPr>
            <a:r>
              <a:rPr lang="ko-KR" altLang="en-US" sz="1200" dirty="0">
                <a:solidFill>
                  <a:schemeClr val="tx1"/>
                </a:solidFill>
              </a:rPr>
              <a:t>최혜국 관세율</a:t>
            </a:r>
            <a:endParaRPr lang="ko-KR" altLang="en-US" sz="1200" dirty="0"/>
          </a:p>
        </p:txBody>
      </p:sp>
      <p:sp>
        <p:nvSpPr>
          <p:cNvPr id="6" name="card"/>
          <p:cNvSpPr/>
          <p:nvPr/>
        </p:nvSpPr>
        <p:spPr>
          <a:xfrm>
            <a:off x="4307738" y="1143000"/>
            <a:ext cx="3576218" cy="5120640"/>
          </a:xfrm>
          <a:prstGeom prst="roundRect">
            <a:avLst>
              <a:gd name="adj" fmla="val 3068"/>
            </a:avLst>
          </a:prstGeom>
          <a:solidFill>
            <a:schemeClr val="bg2"/>
          </a:solidFill>
          <a:ln w="12700">
            <a:solidFill>
              <a:srgbClr val="141C36"/>
            </a:solidFill>
            <a:prstDash val="solid"/>
          </a:ln>
        </p:spPr>
      </p:sp>
      <p:sp>
        <p:nvSpPr>
          <p:cNvPr id="7" name="Text 4"/>
          <p:cNvSpPr txBox="1"/>
          <p:nvPr/>
        </p:nvSpPr>
        <p:spPr>
          <a:xfrm>
            <a:off x="4490618" y="1280160"/>
            <a:ext cx="3210458" cy="4846320"/>
          </a:xfrm>
          <a:prstGeom prst="rect">
            <a:avLst/>
          </a:prstGeom>
          <a:noFill/>
          <a:ln/>
        </p:spPr>
        <p:txBody>
          <a:bodyPr wrap="square" lIns="0" tIns="0" rIns="0" bIns="0" rtlCol="0" anchor="t"/>
          <a:lstStyle/>
          <a:p>
            <a:pPr algn="l" indent="0" marL="0">
              <a:buNone/>
            </a:pPr>
            <a:r>
              <a:rPr lang="ko-KR" altLang="en-US" sz="1200" b="1" dirty="0">
                <a:solidFill>
                  <a:schemeClr val="accent1"/>
                </a:solidFill>
              </a:rPr>
              <a:t>Section 301: </a:t>
            </a:r>
            <a:pPr algn="l" indent="0" marL="0">
              <a:spcAft>
                <a:spcPts val="400"/>
              </a:spcAft>
              <a:buNone/>
            </a:pPr>
            <a:r>
              <a:rPr lang="ko-KR" altLang="en-US" sz="1200" dirty="0">
                <a:solidFill>
                  <a:schemeClr val="tx1"/>
                </a:solidFill>
              </a:rPr>
              <a:t>301조, 중국산 제품에 대한 미국 통상법 관세</a:t>
            </a:r>
            <a:endParaRPr lang="ko-KR" altLang="en-US" sz="1200" dirty="0"/>
          </a:p>
          <a:p>
            <a:pPr algn="l" indent="0" marL="0">
              <a:buNone/>
            </a:pPr>
            <a:r>
              <a:rPr lang="ko-KR" altLang="en-US" sz="1200" b="1" dirty="0">
                <a:solidFill>
                  <a:schemeClr val="accent1"/>
                </a:solidFill>
              </a:rPr>
              <a:t>IEEPA: </a:t>
            </a:r>
            <a:pPr algn="l" indent="0" marL="0">
              <a:spcAft>
                <a:spcPts val="400"/>
              </a:spcAft>
              <a:buNone/>
            </a:pPr>
            <a:r>
              <a:rPr lang="ko-KR" altLang="en-US" sz="1200" dirty="0">
                <a:solidFill>
                  <a:schemeClr val="tx1"/>
                </a:solidFill>
              </a:rPr>
              <a:t>국제비상경제권한법</a:t>
            </a:r>
            <a:endParaRPr lang="ko-KR" altLang="en-US" sz="1200" dirty="0"/>
          </a:p>
          <a:p>
            <a:pPr algn="l" indent="0" marL="0">
              <a:buNone/>
            </a:pPr>
            <a:r>
              <a:rPr lang="ko-KR" altLang="en-US" sz="1200" b="1" dirty="0">
                <a:solidFill>
                  <a:schemeClr val="accent1"/>
                </a:solidFill>
              </a:rPr>
              <a:t>EIN: </a:t>
            </a:r>
            <a:pPr algn="l" indent="0" marL="0">
              <a:spcAft>
                <a:spcPts val="400"/>
              </a:spcAft>
              <a:buNone/>
            </a:pPr>
            <a:r>
              <a:rPr lang="ko-KR" altLang="en-US" sz="1200" dirty="0">
                <a:solidFill>
                  <a:schemeClr val="tx1"/>
                </a:solidFill>
              </a:rPr>
              <a:t>고용주 식별번호</a:t>
            </a:r>
            <a:endParaRPr lang="ko-KR" altLang="en-US" sz="1200" dirty="0"/>
          </a:p>
          <a:p>
            <a:pPr algn="l" indent="0" marL="0">
              <a:buNone/>
            </a:pPr>
            <a:r>
              <a:rPr lang="ko-KR" altLang="en-US" sz="1200" b="1" dirty="0">
                <a:solidFill>
                  <a:schemeClr val="accent1"/>
                </a:solidFill>
              </a:rPr>
              <a:t>LLC: </a:t>
            </a:r>
            <a:pPr algn="l" indent="0" marL="0">
              <a:spcAft>
                <a:spcPts val="400"/>
              </a:spcAft>
              <a:buNone/>
            </a:pPr>
            <a:r>
              <a:rPr lang="ko-KR" altLang="en-US" sz="1200" dirty="0">
                <a:solidFill>
                  <a:schemeClr val="tx1"/>
                </a:solidFill>
              </a:rPr>
              <a:t>유한책임회사</a:t>
            </a:r>
            <a:endParaRPr lang="ko-KR" altLang="en-US" sz="1200" dirty="0"/>
          </a:p>
          <a:p>
            <a:pPr algn="l" indent="0" marL="0">
              <a:buNone/>
            </a:pPr>
            <a:r>
              <a:rPr lang="ko-KR" altLang="en-US" sz="1200" b="1" dirty="0">
                <a:solidFill>
                  <a:schemeClr val="accent1"/>
                </a:solidFill>
              </a:rPr>
              <a:t>IRS: </a:t>
            </a:r>
            <a:pPr algn="l" indent="0" marL="0">
              <a:spcAft>
                <a:spcPts val="400"/>
              </a:spcAft>
              <a:buNone/>
            </a:pPr>
            <a:r>
              <a:rPr lang="ko-KR" altLang="en-US" sz="1200" dirty="0">
                <a:solidFill>
                  <a:schemeClr val="tx1"/>
                </a:solidFill>
              </a:rPr>
              <a:t>미국 국세청</a:t>
            </a:r>
            <a:endParaRPr lang="ko-KR" altLang="en-US" sz="1200" dirty="0"/>
          </a:p>
          <a:p>
            <a:pPr algn="l" indent="0" marL="0">
              <a:buNone/>
            </a:pPr>
            <a:r>
              <a:rPr lang="ko-KR" altLang="en-US" sz="1200" b="1" dirty="0">
                <a:solidFill>
                  <a:schemeClr val="accent1"/>
                </a:solidFill>
              </a:rPr>
              <a:t>PE: </a:t>
            </a:r>
            <a:pPr algn="l" indent="0" marL="0">
              <a:spcAft>
                <a:spcPts val="400"/>
              </a:spcAft>
              <a:buNone/>
            </a:pPr>
            <a:r>
              <a:rPr lang="ko-KR" altLang="en-US" sz="1200" dirty="0">
                <a:solidFill>
                  <a:schemeClr val="tx1"/>
                </a:solidFill>
              </a:rPr>
              <a:t>고정사업장 (permanent establishment)</a:t>
            </a:r>
            <a:endParaRPr lang="ko-KR" altLang="en-US" sz="1200" dirty="0"/>
          </a:p>
          <a:p>
            <a:pPr algn="l" indent="0" marL="0">
              <a:buNone/>
            </a:pPr>
            <a:r>
              <a:rPr lang="ko-KR" altLang="en-US" sz="1200" b="1" dirty="0">
                <a:solidFill>
                  <a:schemeClr val="accent1"/>
                </a:solidFill>
              </a:rPr>
              <a:t>ODI: </a:t>
            </a:r>
            <a:pPr algn="l" indent="0" marL="0">
              <a:spcAft>
                <a:spcPts val="400"/>
              </a:spcAft>
              <a:buNone/>
            </a:pPr>
            <a:r>
              <a:rPr lang="ko-KR" altLang="en-US" sz="1200" dirty="0">
                <a:solidFill>
                  <a:schemeClr val="tx1"/>
                </a:solidFill>
              </a:rPr>
              <a:t>해외직접투자 신고 (overseas direct investment report)</a:t>
            </a:r>
            <a:endParaRPr lang="ko-KR" altLang="en-US" sz="1200" dirty="0"/>
          </a:p>
          <a:p>
            <a:pPr algn="l" indent="0" marL="0">
              <a:buNone/>
            </a:pPr>
            <a:r>
              <a:rPr lang="ko-KR" altLang="en-US" sz="1200" b="1" dirty="0">
                <a:solidFill>
                  <a:schemeClr val="accent1"/>
                </a:solidFill>
                <a:latin typeface="Noto Sans KR" pitchFamily="34" charset="0"/>
                <a:ea typeface="Noto Sans KR" pitchFamily="34" charset="-122"/>
                <a:cs typeface="Noto Sans KR" pitchFamily="34" charset="-120"/>
              </a:rPr>
              <a:t>세무사：</a:t>
            </a:r>
            <a:pPr algn="l" indent="0" marL="0">
              <a:spcAft>
                <a:spcPts val="400"/>
              </a:spcAft>
              <a:buNone/>
            </a:pPr>
            <a:r>
              <a:rPr lang="ko-KR" altLang="en-US" sz="1200" dirty="0">
                <a:solidFill>
                  <a:schemeClr val="tx1"/>
                </a:solidFill>
              </a:rPr>
              <a:t>한국 공인 세무사 (Korean licensed tax accountant)</a:t>
            </a:r>
            <a:endParaRPr lang="ko-KR" altLang="en-US" sz="1200" dirty="0"/>
          </a:p>
          <a:p>
            <a:pPr algn="l" indent="0" marL="0">
              <a:buNone/>
            </a:pPr>
            <a:r>
              <a:rPr lang="ko-KR" altLang="en-US" sz="1200" b="1" dirty="0">
                <a:solidFill>
                  <a:schemeClr val="accent1"/>
                </a:solidFill>
              </a:rPr>
              <a:t>FTA: </a:t>
            </a:r>
            <a:pPr algn="l" indent="0" marL="0">
              <a:spcAft>
                <a:spcPts val="400"/>
              </a:spcAft>
              <a:buNone/>
            </a:pPr>
            <a:r>
              <a:rPr lang="ko-KR" altLang="en-US" sz="1200" dirty="0">
                <a:solidFill>
                  <a:schemeClr val="tx1"/>
                </a:solidFill>
              </a:rPr>
              <a:t>외국환거래법 (Foreign Exchange Transactions Act)</a:t>
            </a:r>
            <a:endParaRPr lang="ko-KR" altLang="en-US" sz="1200" dirty="0"/>
          </a:p>
          <a:p>
            <a:pPr algn="l" indent="0" marL="0">
              <a:buNone/>
            </a:pPr>
            <a:r>
              <a:rPr lang="ko-KR" altLang="en-US" sz="1200" b="1" dirty="0">
                <a:solidFill>
                  <a:schemeClr val="accent1"/>
                </a:solidFill>
              </a:rPr>
              <a:t>USPTO: </a:t>
            </a:r>
            <a:pPr algn="l" indent="0" marL="0">
              <a:spcAft>
                <a:spcPts val="400"/>
              </a:spcAft>
              <a:buNone/>
            </a:pPr>
            <a:r>
              <a:rPr lang="ko-KR" altLang="en-US" sz="1200" dirty="0">
                <a:solidFill>
                  <a:schemeClr val="tx1"/>
                </a:solidFill>
              </a:rPr>
              <a:t>미국 특허상표청</a:t>
            </a:r>
            <a:endParaRPr lang="ko-KR" altLang="en-US" sz="1200" dirty="0"/>
          </a:p>
          <a:p>
            <a:pPr algn="l" indent="0" marL="0">
              <a:buNone/>
            </a:pPr>
            <a:r>
              <a:rPr lang="ko-KR" altLang="en-US" sz="1200" b="1" dirty="0">
                <a:solidFill>
                  <a:schemeClr val="accent1"/>
                </a:solidFill>
              </a:rPr>
              <a:t>ATC: </a:t>
            </a:r>
            <a:pPr algn="l" indent="0" marL="0">
              <a:spcAft>
                <a:spcPts val="400"/>
              </a:spcAft>
              <a:buNone/>
            </a:pPr>
            <a:r>
              <a:rPr lang="ko-KR" altLang="en-US" sz="1200" dirty="0">
                <a:solidFill>
                  <a:schemeClr val="tx1"/>
                </a:solidFill>
              </a:rPr>
              <a:t>HDMI 공인 시험 센터 (Authorized Test Center)</a:t>
            </a:r>
            <a:endParaRPr lang="ko-KR" altLang="en-US" sz="1200" dirty="0"/>
          </a:p>
          <a:p>
            <a:pPr algn="l" indent="0" marL="0">
              <a:buNone/>
            </a:pPr>
            <a:r>
              <a:rPr lang="ko-KR" altLang="en-US" sz="1200" b="1" dirty="0">
                <a:solidFill>
                  <a:schemeClr val="accent1"/>
                </a:solidFill>
              </a:rPr>
              <a:t>HDMI LA: </a:t>
            </a:r>
            <a:pPr algn="l" indent="0" marL="0">
              <a:spcAft>
                <a:spcPts val="400"/>
              </a:spcAft>
              <a:buNone/>
            </a:pPr>
            <a:r>
              <a:rPr lang="ko-KR" altLang="en-US" sz="1200" dirty="0">
                <a:solidFill>
                  <a:schemeClr val="tx1"/>
                </a:solidFill>
              </a:rPr>
              <a:t>HDMI Licensing Administrator (HDMI 라이선스 관리 기관)</a:t>
            </a:r>
            <a:endParaRPr lang="ko-KR" altLang="en-US" sz="1200" dirty="0"/>
          </a:p>
          <a:p>
            <a:pPr algn="l" indent="0" marL="0">
              <a:buNone/>
            </a:pPr>
            <a:r>
              <a:rPr lang="ko-KR" altLang="en-US" sz="1200" b="1" dirty="0">
                <a:solidFill>
                  <a:schemeClr val="accent1"/>
                </a:solidFill>
              </a:rPr>
              <a:t>FCC: </a:t>
            </a:r>
            <a:pPr algn="l" indent="0" marL="0">
              <a:spcAft>
                <a:spcPts val="400"/>
              </a:spcAft>
              <a:buNone/>
            </a:pPr>
            <a:r>
              <a:rPr lang="ko-KR" altLang="en-US" sz="1200" dirty="0">
                <a:solidFill>
                  <a:schemeClr val="tx1"/>
                </a:solidFill>
              </a:rPr>
              <a:t>미국 연방통신위원회</a:t>
            </a:r>
            <a:endParaRPr lang="ko-KR" altLang="en-US" sz="1200" dirty="0"/>
          </a:p>
          <a:p>
            <a:pPr algn="l" indent="0" marL="0">
              <a:buNone/>
            </a:pPr>
            <a:r>
              <a:rPr lang="ko-KR" altLang="en-US" sz="1200" b="1" dirty="0">
                <a:solidFill>
                  <a:schemeClr val="accent1"/>
                </a:solidFill>
              </a:rPr>
              <a:t>Prop 65: </a:t>
            </a:r>
            <a:pPr algn="l" indent="0" marL="0">
              <a:spcAft>
                <a:spcPts val="400"/>
              </a:spcAft>
              <a:buNone/>
            </a:pPr>
            <a:r>
              <a:rPr lang="ko-KR" altLang="en-US" sz="1200" dirty="0">
                <a:solidFill>
                  <a:schemeClr val="tx1"/>
                </a:solidFill>
              </a:rPr>
              <a:t>캘리포니아 발의안 65 경고 라벨</a:t>
            </a:r>
            <a:endParaRPr lang="ko-KR" altLang="en-US" sz="1200" dirty="0"/>
          </a:p>
          <a:p>
            <a:pPr algn="l" indent="0" marL="0">
              <a:buNone/>
            </a:pPr>
            <a:r>
              <a:rPr lang="ko-KR" altLang="en-US" sz="1200" b="1" dirty="0">
                <a:solidFill>
                  <a:schemeClr val="accent1"/>
                </a:solidFill>
              </a:rPr>
              <a:t>CL3: </a:t>
            </a:r>
            <a:pPr algn="l" indent="0" marL="0">
              <a:spcAft>
                <a:spcPts val="400"/>
              </a:spcAft>
              <a:buNone/>
            </a:pPr>
            <a:r>
              <a:rPr lang="ko-KR" altLang="en-US" sz="1200" dirty="0">
                <a:solidFill>
                  <a:schemeClr val="tx1"/>
                </a:solidFill>
              </a:rPr>
              <a:t>벽내 매립 케이블 방화 등급 (Class 3)</a:t>
            </a:r>
            <a:endParaRPr lang="ko-KR" altLang="en-US" sz="1200" dirty="0"/>
          </a:p>
        </p:txBody>
      </p:sp>
      <p:sp>
        <p:nvSpPr>
          <p:cNvPr id="8" name="card"/>
          <p:cNvSpPr/>
          <p:nvPr/>
        </p:nvSpPr>
        <p:spPr>
          <a:xfrm>
            <a:off x="8158277" y="1143000"/>
            <a:ext cx="3576218" cy="5120640"/>
          </a:xfrm>
          <a:prstGeom prst="roundRect">
            <a:avLst>
              <a:gd name="adj" fmla="val 3068"/>
            </a:avLst>
          </a:prstGeom>
          <a:solidFill>
            <a:schemeClr val="bg2"/>
          </a:solidFill>
          <a:ln w="12700">
            <a:solidFill>
              <a:srgbClr val="141C36"/>
            </a:solidFill>
            <a:prstDash val="solid"/>
          </a:ln>
        </p:spPr>
      </p:sp>
      <p:sp>
        <p:nvSpPr>
          <p:cNvPr id="9" name="Text 6"/>
          <p:cNvSpPr txBox="1"/>
          <p:nvPr/>
        </p:nvSpPr>
        <p:spPr>
          <a:xfrm>
            <a:off x="8341157" y="1280160"/>
            <a:ext cx="3210458" cy="4846320"/>
          </a:xfrm>
          <a:prstGeom prst="rect">
            <a:avLst/>
          </a:prstGeom>
          <a:noFill/>
          <a:ln/>
        </p:spPr>
        <p:txBody>
          <a:bodyPr wrap="square" lIns="0" tIns="0" rIns="0" bIns="0" rtlCol="0" anchor="t"/>
          <a:lstStyle/>
          <a:p>
            <a:pPr algn="l" indent="0" marL="0">
              <a:buNone/>
            </a:pPr>
            <a:r>
              <a:rPr lang="ko-KR" altLang="en-US" sz="1200" b="1" dirty="0">
                <a:solidFill>
                  <a:schemeClr val="accent1"/>
                </a:solidFill>
              </a:rPr>
              <a:t>KVM: </a:t>
            </a:r>
            <a:pPr algn="l" indent="0" marL="0">
              <a:spcAft>
                <a:spcPts val="400"/>
              </a:spcAft>
              <a:buNone/>
            </a:pPr>
            <a:r>
              <a:rPr lang="ko-KR" altLang="en-US" sz="1200" dirty="0">
                <a:solidFill>
                  <a:schemeClr val="tx1"/>
                </a:solidFill>
              </a:rPr>
              <a:t>키보드, 영상, 마우스 연장</a:t>
            </a:r>
            <a:endParaRPr lang="ko-KR" altLang="en-US" sz="1200" dirty="0"/>
          </a:p>
          <a:p>
            <a:pPr algn="l" indent="0" marL="0">
              <a:buNone/>
            </a:pPr>
            <a:r>
              <a:rPr lang="ko-KR" altLang="en-US" sz="1200" b="1" dirty="0">
                <a:solidFill>
                  <a:schemeClr val="accent1"/>
                </a:solidFill>
              </a:rPr>
              <a:t>DTC: </a:t>
            </a:r>
            <a:pPr algn="l" indent="0" marL="0">
              <a:spcAft>
                <a:spcPts val="400"/>
              </a:spcAft>
              <a:buNone/>
            </a:pPr>
            <a:r>
              <a:rPr lang="ko-KR" altLang="en-US" sz="1200" dirty="0">
                <a:solidFill>
                  <a:schemeClr val="tx1"/>
                </a:solidFill>
              </a:rPr>
              <a:t>소비자 직접 판매 웹사이트</a:t>
            </a:r>
            <a:endParaRPr lang="ko-KR" altLang="en-US" sz="1200" dirty="0"/>
          </a:p>
          <a:p>
            <a:pPr algn="l" indent="0" marL="0">
              <a:buNone/>
            </a:pPr>
            <a:r>
              <a:rPr lang="ko-KR" altLang="en-US" sz="1200" b="1" dirty="0">
                <a:solidFill>
                  <a:schemeClr val="accent1"/>
                </a:solidFill>
              </a:rPr>
              <a:t>LOC: </a:t>
            </a:r>
            <a:pPr algn="l" indent="0" marL="0">
              <a:spcAft>
                <a:spcPts val="400"/>
              </a:spcAft>
              <a:buNone/>
            </a:pPr>
            <a:r>
              <a:rPr lang="ko-KR" altLang="en-US" sz="1200" dirty="0">
                <a:solidFill>
                  <a:schemeClr val="tx1"/>
                </a:solidFill>
              </a:rPr>
              <a:t>신용한도 대출 (line of credit)</a:t>
            </a:r>
            <a:endParaRPr lang="ko-KR" altLang="en-US" sz="1200" dirty="0"/>
          </a:p>
          <a:p>
            <a:pPr algn="l" indent="0" marL="0">
              <a:buNone/>
            </a:pPr>
            <a:r>
              <a:rPr lang="ko-KR" altLang="en-US" sz="1200" b="1" dirty="0">
                <a:solidFill>
                  <a:schemeClr val="accent1"/>
                </a:solidFill>
              </a:rPr>
              <a:t>QC: </a:t>
            </a:r>
            <a:pPr algn="l" indent="0" marL="0">
              <a:spcAft>
                <a:spcPts val="400"/>
              </a:spcAft>
              <a:buNone/>
            </a:pPr>
            <a:r>
              <a:rPr lang="ko-KR" altLang="en-US" sz="1200" dirty="0">
                <a:solidFill>
                  <a:schemeClr val="tx1"/>
                </a:solidFill>
              </a:rPr>
              <a:t>품질 관리</a:t>
            </a:r>
            <a:endParaRPr lang="ko-KR" altLang="en-US" sz="1200" dirty="0"/>
          </a:p>
          <a:p>
            <a:pPr algn="l" indent="0" marL="0">
              <a:buNone/>
            </a:pPr>
            <a:r>
              <a:rPr lang="ko-KR" altLang="en-US" sz="1200" b="1" dirty="0">
                <a:solidFill>
                  <a:schemeClr val="accent1"/>
                </a:solidFill>
              </a:rPr>
              <a:t>PO: </a:t>
            </a:r>
            <a:pPr algn="l" indent="0" marL="0">
              <a:spcAft>
                <a:spcPts val="400"/>
              </a:spcAft>
              <a:buNone/>
            </a:pPr>
            <a:r>
              <a:rPr lang="ko-KR" altLang="en-US" sz="1200" dirty="0">
                <a:solidFill>
                  <a:schemeClr val="tx1"/>
                </a:solidFill>
              </a:rPr>
              <a:t>발주서</a:t>
            </a:r>
            <a:endParaRPr lang="ko-KR" altLang="en-US" sz="1200" dirty="0"/>
          </a:p>
          <a:p>
            <a:pPr algn="l" indent="0" marL="0">
              <a:buNone/>
            </a:pPr>
            <a:r>
              <a:rPr lang="ko-KR" altLang="en-US" sz="1200" b="1" dirty="0">
                <a:solidFill>
                  <a:schemeClr val="accent1"/>
                </a:solidFill>
              </a:rPr>
              <a:t>SKU: </a:t>
            </a:r>
            <a:pPr algn="l" indent="0" marL="0">
              <a:spcAft>
                <a:spcPts val="400"/>
              </a:spcAft>
              <a:buNone/>
            </a:pPr>
            <a:r>
              <a:rPr lang="ko-KR" altLang="en-US" sz="1200" dirty="0">
                <a:solidFill>
                  <a:schemeClr val="tx1"/>
                </a:solidFill>
              </a:rPr>
              <a:t>재고 관리 단위</a:t>
            </a:r>
            <a:endParaRPr lang="ko-KR" altLang="en-US" sz="1200" dirty="0"/>
          </a:p>
          <a:p>
            <a:pPr algn="l" indent="0" marL="0">
              <a:buNone/>
            </a:pPr>
            <a:r>
              <a:rPr lang="ko-KR" altLang="en-US" sz="1200" b="1" dirty="0">
                <a:solidFill>
                  <a:schemeClr val="accent1"/>
                </a:solidFill>
              </a:rPr>
              <a:t>KPI: </a:t>
            </a:r>
            <a:pPr algn="l" indent="0" marL="0">
              <a:spcAft>
                <a:spcPts val="400"/>
              </a:spcAft>
              <a:buNone/>
            </a:pPr>
            <a:r>
              <a:rPr lang="ko-KR" altLang="en-US" sz="1200" dirty="0">
                <a:solidFill>
                  <a:schemeClr val="tx1"/>
                </a:solidFill>
              </a:rPr>
              <a:t>핵심 성과 지표</a:t>
            </a:r>
            <a:endParaRPr lang="ko-KR" altLang="en-US" sz="1200" dirty="0"/>
          </a:p>
          <a:p>
            <a:pPr algn="l" indent="0" marL="0">
              <a:buNone/>
            </a:pPr>
            <a:r>
              <a:rPr lang="ko-KR" altLang="en-US" sz="1200" b="1" dirty="0">
                <a:solidFill>
                  <a:schemeClr val="accent1"/>
                </a:solidFill>
              </a:rPr>
              <a:t>SOP: </a:t>
            </a:r>
            <a:pPr algn="l" indent="0" marL="0">
              <a:spcAft>
                <a:spcPts val="400"/>
              </a:spcAft>
              <a:buNone/>
            </a:pPr>
            <a:r>
              <a:rPr lang="ko-KR" altLang="en-US" sz="1200" dirty="0">
                <a:solidFill>
                  <a:schemeClr val="tx1"/>
                </a:solidFill>
              </a:rPr>
              <a:t>표준 운영 절차</a:t>
            </a:r>
            <a:endParaRPr lang="ko-KR" altLang="en-US" sz="1200" dirty="0"/>
          </a:p>
          <a:p>
            <a:pPr algn="l" indent="0" marL="0">
              <a:buNone/>
            </a:pPr>
            <a:r>
              <a:rPr lang="ko-KR" altLang="en-US" sz="1200" b="1" dirty="0">
                <a:solidFill>
                  <a:schemeClr val="accent1"/>
                </a:solidFill>
              </a:rPr>
              <a:t>VA: </a:t>
            </a:r>
            <a:pPr algn="l" indent="0" marL="0">
              <a:spcAft>
                <a:spcPts val="400"/>
              </a:spcAft>
              <a:buNone/>
            </a:pPr>
            <a:r>
              <a:rPr lang="ko-KR" altLang="en-US" sz="1200" dirty="0">
                <a:solidFill>
                  <a:schemeClr val="tx1"/>
                </a:solidFill>
              </a:rPr>
              <a:t>가상 비서 (virtual assistant)</a:t>
            </a:r>
            <a:endParaRPr lang="ko-KR" altLang="en-US" sz="1200" dirty="0"/>
          </a:p>
          <a:p>
            <a:pPr algn="l" indent="0" marL="0">
              <a:buNone/>
            </a:pPr>
            <a:r>
              <a:rPr lang="ko-KR" altLang="en-US" sz="1200" b="1" dirty="0">
                <a:solidFill>
                  <a:schemeClr val="accent1"/>
                </a:solidFill>
              </a:rPr>
              <a:t>eARC: </a:t>
            </a:r>
            <a:pPr algn="l" indent="0" marL="0">
              <a:spcAft>
                <a:spcPts val="400"/>
              </a:spcAft>
              <a:buNone/>
            </a:pPr>
            <a:r>
              <a:rPr lang="ko-KR" altLang="en-US" sz="1200" dirty="0">
                <a:solidFill>
                  <a:schemeClr val="tx1"/>
                </a:solidFill>
              </a:rPr>
              <a:t>향상된 오디오 리턴 채널</a:t>
            </a:r>
            <a:endParaRPr lang="ko-KR" altLang="en-US" sz="1200" dirty="0"/>
          </a:p>
          <a:p>
            <a:pPr algn="l" indent="0" marL="0">
              <a:buNone/>
            </a:pPr>
            <a:r>
              <a:rPr lang="ko-KR" altLang="en-US" sz="1200" b="1" dirty="0">
                <a:solidFill>
                  <a:schemeClr val="accent1"/>
                </a:solidFill>
              </a:rPr>
              <a:t>Gbps: </a:t>
            </a:r>
            <a:pPr algn="l" indent="0" marL="0">
              <a:spcAft>
                <a:spcPts val="400"/>
              </a:spcAft>
              <a:buNone/>
            </a:pPr>
            <a:r>
              <a:rPr lang="ko-KR" altLang="en-US" sz="1200" dirty="0">
                <a:solidFill>
                  <a:schemeClr val="tx1"/>
                </a:solidFill>
              </a:rPr>
              <a:t>초당 기가비트</a:t>
            </a:r>
            <a:endParaRPr lang="ko-KR" altLang="en-US" sz="1200" dirty="0"/>
          </a:p>
          <a:p>
            <a:pPr algn="l" indent="0" marL="0">
              <a:buNone/>
            </a:pPr>
            <a:r>
              <a:rPr lang="ko-KR" altLang="en-US" sz="1200" b="1" dirty="0">
                <a:solidFill>
                  <a:schemeClr val="accent1"/>
                </a:solidFill>
              </a:rPr>
              <a:t>B2B: </a:t>
            </a:r>
            <a:pPr algn="l" indent="0" marL="0">
              <a:spcAft>
                <a:spcPts val="400"/>
              </a:spcAft>
              <a:buNone/>
            </a:pPr>
            <a:r>
              <a:rPr lang="ko-KR" altLang="en-US" sz="1200" dirty="0">
                <a:solidFill>
                  <a:schemeClr val="tx1"/>
                </a:solidFill>
              </a:rPr>
              <a:t>기업 간 거래</a:t>
            </a:r>
            <a:endParaRPr lang="ko-KR" altLang="en-US" sz="1200" dirty="0"/>
          </a:p>
          <a:p>
            <a:pPr algn="l" indent="0" marL="0">
              <a:buNone/>
            </a:pPr>
            <a:r>
              <a:rPr lang="ko-KR" altLang="en-US" sz="1200" b="1" dirty="0">
                <a:solidFill>
                  <a:schemeClr val="accent1"/>
                </a:solidFill>
              </a:rPr>
              <a:t>IP: </a:t>
            </a:r>
            <a:pPr algn="l" indent="0" marL="0">
              <a:spcAft>
                <a:spcPts val="400"/>
              </a:spcAft>
              <a:buNone/>
            </a:pPr>
            <a:r>
              <a:rPr lang="ko-KR" altLang="en-US" sz="1200" dirty="0">
                <a:solidFill>
                  <a:schemeClr val="tx1"/>
                </a:solidFill>
              </a:rPr>
              <a:t>지식재산권</a:t>
            </a:r>
            <a:endParaRPr lang="ko-KR" altLang="en-US" sz="1200" dirty="0"/>
          </a:p>
          <a:p>
            <a:pPr algn="l" indent="0" marL="0">
              <a:buNone/>
            </a:pPr>
            <a:r>
              <a:rPr lang="ko-KR" altLang="en-US" sz="1200" b="1" dirty="0">
                <a:solidFill>
                  <a:schemeClr val="accent1"/>
                </a:solidFill>
              </a:rPr>
              <a:t>BOI: </a:t>
            </a:r>
            <a:pPr algn="l" indent="0" marL="0">
              <a:spcAft>
                <a:spcPts val="400"/>
              </a:spcAft>
              <a:buNone/>
            </a:pPr>
            <a:r>
              <a:rPr lang="ko-KR" altLang="en-US" sz="1200" dirty="0">
                <a:solidFill>
                  <a:schemeClr val="tx1"/>
                </a:solidFill>
              </a:rPr>
              <a:t>실소유자 정보 보고</a:t>
            </a:r>
            <a:endParaRPr lang="ko-KR" altLang="en-US" sz="1200" dirty="0"/>
          </a:p>
          <a:p>
            <a:pPr algn="l" indent="0" marL="0">
              <a:buNone/>
            </a:pPr>
            <a:r>
              <a:rPr lang="ko-KR" altLang="en-US" sz="1200" b="1" dirty="0">
                <a:solidFill>
                  <a:schemeClr val="accent1"/>
                </a:solidFill>
              </a:rPr>
              <a:t>AV: </a:t>
            </a:r>
            <a:pPr algn="l" indent="0" marL="0">
              <a:spcAft>
                <a:spcPts val="400"/>
              </a:spcAft>
              <a:buNone/>
            </a:pPr>
            <a:r>
              <a:rPr lang="ko-KR" altLang="en-US" sz="1200" dirty="0">
                <a:solidFill>
                  <a:schemeClr val="tx1"/>
                </a:solidFill>
              </a:rPr>
              <a:t>오디오 비디오</a:t>
            </a:r>
            <a:endParaRPr lang="ko-KR" altLang="en-US" sz="1200" dirty="0"/>
          </a:p>
          <a:p>
            <a:pPr algn="l" indent="0" marL="0">
              <a:buNone/>
            </a:pPr>
            <a:r>
              <a:rPr lang="ko-KR" altLang="en-US" sz="1200" b="1" dirty="0">
                <a:solidFill>
                  <a:schemeClr val="accent1"/>
                </a:solidFill>
              </a:rPr>
              <a:t>DP: </a:t>
            </a:r>
            <a:pPr algn="l" indent="0" marL="0">
              <a:spcAft>
                <a:spcPts val="400"/>
              </a:spcAft>
              <a:buNone/>
            </a:pPr>
            <a:r>
              <a:rPr lang="ko-KR" altLang="en-US" sz="1200" dirty="0">
                <a:solidFill>
                  <a:schemeClr val="tx1"/>
                </a:solidFill>
              </a:rPr>
              <a:t>DisplayPort</a:t>
            </a:r>
            <a:endParaRPr lang="ko-KR" altLang="en-US" sz="1200" dirty="0"/>
          </a:p>
          <a:p>
            <a:pPr algn="l" indent="0" marL="0">
              <a:buNone/>
            </a:pPr>
            <a:r>
              <a:rPr lang="ko-KR" altLang="en-US" sz="1200" b="1" dirty="0">
                <a:solidFill>
                  <a:schemeClr val="accent1"/>
                </a:solidFill>
              </a:rPr>
              <a:t>SSN: </a:t>
            </a:r>
            <a:pPr algn="l" indent="0" marL="0">
              <a:spcAft>
                <a:spcPts val="400"/>
              </a:spcAft>
              <a:buNone/>
            </a:pPr>
            <a:r>
              <a:rPr lang="ko-KR" altLang="en-US" sz="1200" dirty="0">
                <a:solidFill>
                  <a:schemeClr val="tx1"/>
                </a:solidFill>
              </a:rPr>
              <a:t>사회보장번호</a:t>
            </a:r>
            <a:endParaRPr lang="ko-KR" altLang="en-US" sz="1200" dirty="0"/>
          </a:p>
          <a:p>
            <a:pPr algn="l" indent="0" marL="0">
              <a:buNone/>
            </a:pPr>
            <a:r>
              <a:rPr lang="ko-KR" altLang="en-US" sz="1200" b="1" dirty="0">
                <a:solidFill>
                  <a:schemeClr val="accent1"/>
                </a:solidFill>
              </a:rPr>
              <a:t>CPA: </a:t>
            </a:r>
            <a:pPr algn="l" indent="0" marL="0">
              <a:spcAft>
                <a:spcPts val="400"/>
              </a:spcAft>
              <a:buNone/>
            </a:pPr>
            <a:r>
              <a:rPr lang="ko-KR" altLang="en-US" sz="1200" dirty="0">
                <a:solidFill>
                  <a:schemeClr val="tx1"/>
                </a:solidFill>
              </a:rPr>
              <a:t>미국 공인회계사 (미국 세무 신고 담당)</a:t>
            </a:r>
            <a:endParaRPr lang="ko-KR" altLang="en-US" sz="1200" dirty="0"/>
          </a:p>
          <a:p>
            <a:pPr algn="l" indent="0" marL="0">
              <a:buNone/>
            </a:pPr>
            <a:r>
              <a:rPr lang="ko-KR" altLang="en-US" sz="1200" b="1" dirty="0">
                <a:solidFill>
                  <a:schemeClr val="accent1"/>
                </a:solidFill>
              </a:rPr>
              <a:t>FX: </a:t>
            </a:r>
            <a:pPr algn="l" indent="0" marL="0">
              <a:spcAft>
                <a:spcPts val="400"/>
              </a:spcAft>
              <a:buNone/>
            </a:pPr>
            <a:r>
              <a:rPr lang="ko-KR" altLang="en-US" sz="1200" dirty="0">
                <a:solidFill>
                  <a:schemeClr val="tx1"/>
                </a:solidFill>
              </a:rPr>
              <a:t>환율</a:t>
            </a:r>
            <a:endParaRPr lang="ko-KR" alt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ko-KR" altLang="en-US"/>
              <a:t>37</a:t>
            </a:fld>
            <a:endParaRPr lang="ko-KR" altLang="en-US"/>
          </a:p>
        </p:txBody>
      </p:sp>
    </p:spTree>
  </p:cSld>
  <p:clrMapOvr>
    <a:masterClrMapping/>
  </p:clrMapOvr>
</p:sld>
</file>

<file path=ppt/theme/theme1.xml><?xml version="1.0" encoding="utf-8"?>
<a:theme xmlns:a="http://schemas.openxmlformats.org/drawingml/2006/main" name="BRAND Fiber">
  <a:themeElements>
    <a:clrScheme name="BRAND Fiber">
      <a:dk1>
        <a:srgbClr val="F3F6FF"/>
      </a:dk1>
      <a:lt1>
        <a:srgbClr val="0A0F1E"/>
      </a:lt1>
      <a:dk2>
        <a:srgbClr val="9AA5C4"/>
      </a:dk2>
      <a:lt2>
        <a:srgbClr val="141C36"/>
      </a:lt2>
      <a:accent1>
        <a:srgbClr val="2DE2FF"/>
      </a:accent1>
      <a:accent2>
        <a:srgbClr val="8B5CF6"/>
      </a:accent2>
      <a:accent3>
        <a:srgbClr val="FF4FD8"/>
      </a:accent3>
      <a:accent4>
        <a:srgbClr val="3DDC97"/>
      </a:accent4>
      <a:accent5>
        <a:srgbClr val="FFB547"/>
      </a:accent5>
      <a:accent6>
        <a:srgbClr val="4F7CFF"/>
      </a:accent6>
      <a:hlink>
        <a:srgbClr val="2DE2FF"/>
      </a:hlink>
      <a:folHlink>
        <a:srgbClr val="8B5CF6"/>
      </a:folHlink>
    </a:clrScheme>
    <a:fontScheme name="BRAND Fiber">
      <a:majorFont>
        <a:latin typeface="Noto Sans KR"/>
        <a:ea typeface="Noto Sans KR"/>
        <a:cs typeface=""/>
        <a:font script="Jpan" typeface="游ゴシック Light"/>
        <a:font script="Hang" typeface="Noto Sans KR"/>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Noto Sans KR"/>
        <a:cs typeface=""/>
        <a:font script="Jpan" typeface="游ゴシック"/>
        <a:font script="Hang" typeface="Noto Sans KR"/>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케이블이 아니라 신호를 팝니다</dc:title>
  <dc:subject>BRAND US launch proposal</dc:subject>
  <dc:creator>H2 Company and BRAND LLC</dc:creator>
  <cp:lastModifiedBy>H2 Company and BRAND LLC</cp:lastModifiedBy>
  <cp:revision>1</cp:revision>
  <dcterms:created xsi:type="dcterms:W3CDTF">2026-10-08T20:28:07Z</dcterms:created>
  <dcterms:modified xsi:type="dcterms:W3CDTF">2026-10-08T20:28:07Z</dcterms:modified>
</cp:coreProperties>
</file>