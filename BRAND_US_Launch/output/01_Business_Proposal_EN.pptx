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3.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4.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5.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6.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7.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25cd2ef-1efe-ab56-b4ba-885e1d61d25d}">
          <p14:sldIdLst>
            <p14:sldId id="256"/>
            <p14:sldId id="257"/>
            <p14:sldId id="258"/>
          </p14:sldIdLst>
        </p14:section>
        <p14:section name="Market and why fiber" id="{9768b839-f732-28db-a6e8-29099467b6b8}">
          <p14:sldIdLst>
            <p14:sldId id="259"/>
            <p14:sldId id="260"/>
            <p14:sldId id="261"/>
            <p14:sldId id="262"/>
          </p14:sldIdLst>
        </p14:section>
        <p14:section name="Product" id="{f6ad2a2d-356d-3705-a677-2a8601399f48}">
          <p14:sldIdLst>
            <p14:sldId id="263"/>
            <p14:sldId id="264"/>
            <p14:sldId id="265"/>
            <p14:sldId id="266"/>
          </p14:sldIdLst>
        </p14:section>
        <p14:section name="Structure and compliance" id="{1406f842-de56-6d80-ea10-3f618a490104}">
          <p14:sldIdLst>
            <p14:sldId id="267"/>
            <p14:sldId id="268"/>
            <p14:sldId id="269"/>
            <p14:sldId id="270"/>
            <p14:sldId id="271"/>
          </p14:sldIdLst>
        </p14:section>
        <p14:section name="Launch" id="{e6fcbb5b-4cde-5fad-84d2-d110462348b8}">
          <p14:sldIdLst>
            <p14:sldId id="272"/>
            <p14:sldId id="273"/>
            <p14:sldId id="274"/>
          </p14:sldIdLst>
        </p14:section>
        <p14:section name="Economics" id="{140c77ab-580e-d6f7-0ba0-7319bedc328a}">
          <p14:sldIdLst>
            <p14:sldId id="275"/>
            <p14:sldId id="276"/>
            <p14:sldId id="277"/>
            <p14:sldId id="278"/>
            <p14:sldId id="279"/>
            <p14:sldId id="280"/>
            <p14:sldId id="281"/>
            <p14:sldId id="282"/>
            <p14:sldId id="283"/>
            <p14:sldId id="284"/>
            <p14:sldId id="285"/>
            <p14:sldId id="286"/>
            <p14:sldId id="287"/>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base</c:v>
                </c:pt>
              </c:strCache>
            </c:strRef>
          </c:tx>
          <c:spPr>
            <a:noFill/>
            <a:effectLst/>
          </c:spPr>
          <c:invertIfNegative val="0"/>
          <c:dLbls>
            <c:delete val="1"/>
          </c:dLbls>
          <c:cat>
            <c:multiLvlStrRef>
              <c:f>Sheet1!$A$2:$A$6</c:f>
              <c:multiLvlStrCache>
                <c:ptCount val="5"/>
                <c:lvl>
                  <c:pt idx="0">
                    <c:v>Copper net</c:v>
                  </c:pt>
                  <c:pt idx="1">
                    <c:v>Fiber ruling uplift</c:v>
                  </c:pt>
                  <c:pt idx="2">
                    <c:v>Fiber net</c:v>
                  </c:pt>
                  <c:pt idx="3">
                    <c:v>Stress penalty</c:v>
                  </c:pt>
                  <c:pt idx="4">
                    <c:v>Stress net</c:v>
                  </c:pt>
                </c:lvl>
              </c:multiLvlStrCache>
            </c:multiLvlStrRef>
          </c:cat>
          <c:val>
            <c:numRef>
              <c:f>Sheet1!$B$2:$B$6</c:f>
              <c:numCache>
                <c:formatCode>General</c:formatCode>
                <c:ptCount val="5"/>
                <c:pt idx="0">
                  <c:v>0</c:v>
                </c:pt>
                <c:pt idx="1">
                  <c:v>7.997</c:v>
                </c:pt>
                <c:pt idx="2">
                  <c:v>0</c:v>
                </c:pt>
                <c:pt idx="3">
                  <c:v>7.25906993006993</c:v>
                </c:pt>
                <c:pt idx="4">
                  <c:v>0</c:v>
                </c:pt>
              </c:numCache>
            </c:numRef>
          </c:val>
        </c:ser>
        <c:ser>
          <c:idx val="1"/>
          <c:order val="1"/>
          <c:tx>
            <c:strRef>
              <c:f>Sheet1!$C$1</c:f>
              <c:strCache>
                <c:ptCount val="1"/>
                <c:pt idx="0">
                  <c:v>net</c:v>
                </c:pt>
              </c:strCache>
            </c:strRef>
          </c:tx>
          <c:spPr>
            <a:solidFill>
              <a:srgbClr val="2DE2FF"/>
            </a:solidFill>
            <a:effectLst/>
          </c:spPr>
          <c:invertIfNegative val="0"/>
          <c:dLbls>
            <c:numFmt formatCode="$0.00;($0.00);" sourceLinked="0"/>
            <c:txPr>
              <a:bodyPr/>
              <a:lstStyle/>
              <a:p>
                <a:pPr>
                  <a:defRPr b="1" i="0" strike="noStrike" sz="1000" u="none">
                    <a:solidFill>
                      <a:srgbClr val="0A0F1E"/>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Copper net</c:v>
                  </c:pt>
                  <c:pt idx="1">
                    <c:v>Fiber ruling uplift</c:v>
                  </c:pt>
                  <c:pt idx="2">
                    <c:v>Fiber net</c:v>
                  </c:pt>
                  <c:pt idx="3">
                    <c:v>Stress penalty</c:v>
                  </c:pt>
                  <c:pt idx="4">
                    <c:v>Stress net</c:v>
                  </c:pt>
                </c:lvl>
              </c:multiLvlStrCache>
            </c:multiLvlStrRef>
          </c:cat>
          <c:val>
            <c:numRef>
              <c:f>Sheet1!$C$2:$C$6</c:f>
              <c:numCache>
                <c:formatCode>General</c:formatCode>
                <c:ptCount val="5"/>
                <c:pt idx="0">
                  <c:v>7.997</c:v>
                </c:pt>
                <c:pt idx="1">
                  <c:v>0</c:v>
                </c:pt>
                <c:pt idx="2">
                  <c:v>10.033686993007</c:v>
                </c:pt>
                <c:pt idx="3">
                  <c:v>0</c:v>
                </c:pt>
                <c:pt idx="4">
                  <c:v>7.25906993006993</c:v>
                </c:pt>
              </c:numCache>
            </c:numRef>
          </c:val>
        </c:ser>
        <c:ser>
          <c:idx val="2"/>
          <c:order val="2"/>
          <c:tx>
            <c:strRef>
              <c:f>Sheet1!$D$1</c:f>
              <c:strCache>
                <c:ptCount val="1"/>
                <c:pt idx="0">
                  <c:v>uplift</c:v>
                </c:pt>
              </c:strCache>
            </c:strRef>
          </c:tx>
          <c:spPr>
            <a:solidFill>
              <a:srgbClr val="3DDC97"/>
            </a:solidFill>
            <a:effectLst/>
          </c:spPr>
          <c:invertIfNegative val="0"/>
          <c:dLbls>
            <c:numFmt formatCode="$0.00;($0.00);" sourceLinked="0"/>
            <c:txPr>
              <a:bodyPr/>
              <a:lstStyle/>
              <a:p>
                <a:pPr>
                  <a:defRPr b="1" i="0" strike="noStrike" sz="1000" u="none">
                    <a:solidFill>
                      <a:srgbClr val="0A0F1E"/>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Copper net</c:v>
                  </c:pt>
                  <c:pt idx="1">
                    <c:v>Fiber ruling uplift</c:v>
                  </c:pt>
                  <c:pt idx="2">
                    <c:v>Fiber net</c:v>
                  </c:pt>
                  <c:pt idx="3">
                    <c:v>Stress penalty</c:v>
                  </c:pt>
                  <c:pt idx="4">
                    <c:v>Stress net</c:v>
                  </c:pt>
                </c:lvl>
              </c:multiLvlStrCache>
            </c:multiLvlStrRef>
          </c:cat>
          <c:val>
            <c:numRef>
              <c:f>Sheet1!$D$2:$D$6</c:f>
              <c:numCache>
                <c:formatCode>General</c:formatCode>
                <c:ptCount val="5"/>
                <c:pt idx="0">
                  <c:v>0</c:v>
                </c:pt>
                <c:pt idx="1">
                  <c:v>2.036686993007</c:v>
                </c:pt>
                <c:pt idx="2">
                  <c:v>0</c:v>
                </c:pt>
                <c:pt idx="3">
                  <c:v>0</c:v>
                </c:pt>
                <c:pt idx="4">
                  <c:v>0</c:v>
                </c:pt>
              </c:numCache>
            </c:numRef>
          </c:val>
        </c:ser>
        <c:ser>
          <c:idx val="3"/>
          <c:order val="3"/>
          <c:tx>
            <c:strRef>
              <c:f>Sheet1!$E$1</c:f>
              <c:strCache>
                <c:ptCount val="1"/>
                <c:pt idx="0">
                  <c:v>penalty</c:v>
                </c:pt>
              </c:strCache>
            </c:strRef>
          </c:tx>
          <c:spPr>
            <a:solidFill>
              <a:srgbClr val="FFB547"/>
            </a:solidFill>
            <a:effectLst/>
          </c:spPr>
          <c:invertIfNegative val="0"/>
          <c:dLbls>
            <c:numFmt formatCode="$0.00;($0.00);" sourceLinked="0"/>
            <c:txPr>
              <a:bodyPr/>
              <a:lstStyle/>
              <a:p>
                <a:pPr>
                  <a:defRPr b="1" i="0" strike="noStrike" sz="1000" u="none">
                    <a:solidFill>
                      <a:srgbClr val="0A0F1E"/>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Copper net</c:v>
                  </c:pt>
                  <c:pt idx="1">
                    <c:v>Fiber ruling uplift</c:v>
                  </c:pt>
                  <c:pt idx="2">
                    <c:v>Fiber net</c:v>
                  </c:pt>
                  <c:pt idx="3">
                    <c:v>Stress penalty</c:v>
                  </c:pt>
                  <c:pt idx="4">
                    <c:v>Stress net</c:v>
                  </c:pt>
                </c:lvl>
              </c:multiLvlStrCache>
            </c:multiLvlStrRef>
          </c:cat>
          <c:val>
            <c:numRef>
              <c:f>Sheet1!$E$2:$E$6</c:f>
              <c:numCache>
                <c:formatCode>General</c:formatCode>
                <c:ptCount val="5"/>
                <c:pt idx="0">
                  <c:v>0</c:v>
                </c:pt>
                <c:pt idx="1">
                  <c:v>0</c:v>
                </c:pt>
                <c:pt idx="2">
                  <c:v>0</c:v>
                </c:pt>
                <c:pt idx="3">
                  <c:v>0.737930069930069</c:v>
                </c:pt>
                <c:pt idx="4">
                  <c:v>0</c:v>
                </c:pt>
              </c:numCache>
            </c:numRef>
          </c:val>
        </c:ser>
        <c:dLbls>
          <c:numFmt formatCode="$0.00;($0.00);" sourceLinked="0"/>
          <c:txPr>
            <a:bodyPr/>
            <a:lstStyle/>
            <a:p>
              <a:pPr>
                <a:defRPr b="1" i="0" strike="noStrike" sz="1000" u="none">
                  <a:solidFill>
                    <a:srgbClr val="0A0F1E"/>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A5C4"/>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6350" cap="flat">
              <a:solidFill>
                <a:srgbClr val="26304F"/>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AA5C4"/>
                </a:solidFill>
                <a:latin typeface="+mn-lt"/>
              </a:defRPr>
            </a:pPr>
            <a:endParaRPr lang="en-US"/>
          </a:p>
        </c:txPr>
        <c:crossAx val="2094734554"/>
        <c:crosses val="autoZero"/>
        <c:crossBetween val="between"/>
        <c:majorUnit val="2"/>
      </c:valAx>
      <c:spPr>
        <a:solidFill>
          <a:srgbClr val="141C36"/>
        </a:solidFill>
        <a:ln>
          <a:noFill/>
        </a:ln>
        <a:effectLst/>
      </c:spPr>
    </c:plotArea>
    <c:plotVisOnly val="1"/>
    <c:dispBlanksAs val="span"/>
  </c:chart>
  <c:spPr>
    <a:solidFill>
      <a:srgbClr val="141C3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base</c:v>
                </c:pt>
              </c:strCache>
            </c:strRef>
          </c:tx>
          <c:spPr>
            <a:noFill/>
            <a:effectLst/>
          </c:spPr>
          <c:invertIfNegative val="0"/>
          <c:dLbls>
            <c:delete val="1"/>
          </c:dLbls>
          <c:cat>
            <c:multiLvlStrRef>
              <c:f>Sheet1!$A$2:$A$8</c:f>
              <c:multiLvlStrCache>
                <c:ptCount val="7"/>
                <c:lvl>
                  <c:pt idx="0">
                    <c:v>Price</c:v>
                  </c:pt>
                  <c:pt idx="1">
                    <c:v>Landed cost</c:v>
                  </c:pt>
                  <c:pt idx="2">
                    <c:v>Referral 15%</c:v>
                  </c:pt>
                  <c:pt idx="3">
                    <c:v>FBA fee</c:v>
                  </c:pt>
                  <c:pt idx="4">
                    <c:v>Advertising</c:v>
                  </c:pt>
                  <c:pt idx="5">
                    <c:v>Returns and storage</c:v>
                  </c:pt>
                  <c:pt idx="6">
                    <c:v>Net</c:v>
                  </c:pt>
                </c:lvl>
              </c:multiLvlStrCache>
            </c:multiLvlStrRef>
          </c:cat>
          <c:val>
            <c:numRef>
              <c:f>Sheet1!$B$2:$B$8</c:f>
              <c:numCache>
                <c:formatCode>General</c:formatCode>
                <c:ptCount val="7"/>
                <c:pt idx="0">
                  <c:v>0</c:v>
                </c:pt>
                <c:pt idx="1">
                  <c:v>27.893800000000002</c:v>
                </c:pt>
                <c:pt idx="2">
                  <c:v>21.145300000000002</c:v>
                </c:pt>
                <c:pt idx="3">
                  <c:v>15.645300000000002</c:v>
                </c:pt>
                <c:pt idx="4">
                  <c:v>10.246500000000003</c:v>
                </c:pt>
                <c:pt idx="5">
                  <c:v>7.997000000000003</c:v>
                </c:pt>
                <c:pt idx="6">
                  <c:v>0</c:v>
                </c:pt>
              </c:numCache>
            </c:numRef>
          </c:val>
        </c:ser>
        <c:ser>
          <c:idx val="1"/>
          <c:order val="1"/>
          <c:tx>
            <c:strRef>
              <c:f>Sheet1!$C$1</c:f>
              <c:strCache>
                <c:ptCount val="1"/>
                <c:pt idx="0">
                  <c:v>price</c:v>
                </c:pt>
              </c:strCache>
            </c:strRef>
          </c:tx>
          <c:spPr>
            <a:solidFill>
              <a:srgbClr val="2DE2FF"/>
            </a:solidFill>
            <a:effectLst/>
          </c:spPr>
          <c:invertIfNegative val="0"/>
          <c:dLbls>
            <c:numFmt formatCode="$0.00;($0.00);" sourceLinked="0"/>
            <c:txPr>
              <a:bodyPr/>
              <a:lstStyle/>
              <a:p>
                <a:pPr>
                  <a:defRPr b="1" i="0" strike="noStrike" sz="1050" u="none">
                    <a:solidFill>
                      <a:srgbClr val="0A0F1E"/>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Price</c:v>
                  </c:pt>
                  <c:pt idx="1">
                    <c:v>Landed cost</c:v>
                  </c:pt>
                  <c:pt idx="2">
                    <c:v>Referral 15%</c:v>
                  </c:pt>
                  <c:pt idx="3">
                    <c:v>FBA fee</c:v>
                  </c:pt>
                  <c:pt idx="4">
                    <c:v>Advertising</c:v>
                  </c:pt>
                  <c:pt idx="5">
                    <c:v>Returns and storage</c:v>
                  </c:pt>
                  <c:pt idx="6">
                    <c:v>Net</c:v>
                  </c:pt>
                </c:lvl>
              </c:multiLvlStrCache>
            </c:multiLvlStrRef>
          </c:cat>
          <c:val>
            <c:numRef>
              <c:f>Sheet1!$C$2:$C$8</c:f>
              <c:numCache>
                <c:formatCode>General</c:formatCode>
                <c:ptCount val="7"/>
                <c:pt idx="0">
                  <c:v>44.99</c:v>
                </c:pt>
                <c:pt idx="1">
                  <c:v>0</c:v>
                </c:pt>
                <c:pt idx="2">
                  <c:v>0</c:v>
                </c:pt>
                <c:pt idx="3">
                  <c:v>0</c:v>
                </c:pt>
                <c:pt idx="4">
                  <c:v>0</c:v>
                </c:pt>
                <c:pt idx="5">
                  <c:v>0</c:v>
                </c:pt>
                <c:pt idx="6">
                  <c:v>0</c:v>
                </c:pt>
              </c:numCache>
            </c:numRef>
          </c:val>
        </c:ser>
        <c:ser>
          <c:idx val="2"/>
          <c:order val="2"/>
          <c:tx>
            <c:strRef>
              <c:f>Sheet1!$D$1</c:f>
              <c:strCache>
                <c:ptCount val="1"/>
                <c:pt idx="0">
                  <c:v>cost</c:v>
                </c:pt>
              </c:strCache>
            </c:strRef>
          </c:tx>
          <c:spPr>
            <a:solidFill>
              <a:srgbClr val="FFB547"/>
            </a:solidFill>
            <a:effectLst/>
          </c:spPr>
          <c:invertIfNegative val="0"/>
          <c:dLbls>
            <c:numFmt formatCode="$0.00;($0.00);" sourceLinked="0"/>
            <c:txPr>
              <a:bodyPr/>
              <a:lstStyle/>
              <a:p>
                <a:pPr>
                  <a:defRPr b="1" i="0" strike="noStrike" sz="1050" u="none">
                    <a:solidFill>
                      <a:srgbClr val="0A0F1E"/>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Price</c:v>
                  </c:pt>
                  <c:pt idx="1">
                    <c:v>Landed cost</c:v>
                  </c:pt>
                  <c:pt idx="2">
                    <c:v>Referral 15%</c:v>
                  </c:pt>
                  <c:pt idx="3">
                    <c:v>FBA fee</c:v>
                  </c:pt>
                  <c:pt idx="4">
                    <c:v>Advertising</c:v>
                  </c:pt>
                  <c:pt idx="5">
                    <c:v>Returns and storage</c:v>
                  </c:pt>
                  <c:pt idx="6">
                    <c:v>Net</c:v>
                  </c:pt>
                </c:lvl>
              </c:multiLvlStrCache>
            </c:multiLvlStrRef>
          </c:cat>
          <c:val>
            <c:numRef>
              <c:f>Sheet1!$D$2:$D$8</c:f>
              <c:numCache>
                <c:formatCode>General</c:formatCode>
                <c:ptCount val="7"/>
                <c:pt idx="0">
                  <c:v>0</c:v>
                </c:pt>
                <c:pt idx="1">
                  <c:v>17.0962</c:v>
                </c:pt>
                <c:pt idx="2">
                  <c:v>6.7485</c:v>
                </c:pt>
                <c:pt idx="3">
                  <c:v>5.5</c:v>
                </c:pt>
                <c:pt idx="4">
                  <c:v>5.3988</c:v>
                </c:pt>
                <c:pt idx="5">
                  <c:v>2.2495</c:v>
                </c:pt>
                <c:pt idx="6">
                  <c:v>0</c:v>
                </c:pt>
              </c:numCache>
            </c:numRef>
          </c:val>
        </c:ser>
        <c:ser>
          <c:idx val="3"/>
          <c:order val="3"/>
          <c:tx>
            <c:strRef>
              <c:f>Sheet1!$E$1</c:f>
              <c:strCache>
                <c:ptCount val="1"/>
                <c:pt idx="0">
                  <c:v>net</c:v>
                </c:pt>
              </c:strCache>
            </c:strRef>
          </c:tx>
          <c:spPr>
            <a:solidFill>
              <a:srgbClr val="3DDC97"/>
            </a:solidFill>
            <a:effectLst/>
          </c:spPr>
          <c:invertIfNegative val="0"/>
          <c:dLbls>
            <c:numFmt formatCode="$0.00;($0.00);" sourceLinked="0"/>
            <c:txPr>
              <a:bodyPr/>
              <a:lstStyle/>
              <a:p>
                <a:pPr>
                  <a:defRPr b="1" i="0" strike="noStrike" sz="1050" u="none">
                    <a:solidFill>
                      <a:srgbClr val="0A0F1E"/>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Price</c:v>
                  </c:pt>
                  <c:pt idx="1">
                    <c:v>Landed cost</c:v>
                  </c:pt>
                  <c:pt idx="2">
                    <c:v>Referral 15%</c:v>
                  </c:pt>
                  <c:pt idx="3">
                    <c:v>FBA fee</c:v>
                  </c:pt>
                  <c:pt idx="4">
                    <c:v>Advertising</c:v>
                  </c:pt>
                  <c:pt idx="5">
                    <c:v>Returns and storage</c:v>
                  </c:pt>
                  <c:pt idx="6">
                    <c:v>Net</c:v>
                  </c:pt>
                </c:lvl>
              </c:multiLvlStrCache>
            </c:multiLvlStrRef>
          </c:cat>
          <c:val>
            <c:numRef>
              <c:f>Sheet1!$E$2:$E$8</c:f>
              <c:numCache>
                <c:formatCode>General</c:formatCode>
                <c:ptCount val="7"/>
                <c:pt idx="0">
                  <c:v>0</c:v>
                </c:pt>
                <c:pt idx="1">
                  <c:v>0</c:v>
                </c:pt>
                <c:pt idx="2">
                  <c:v>0</c:v>
                </c:pt>
                <c:pt idx="3">
                  <c:v>0</c:v>
                </c:pt>
                <c:pt idx="4">
                  <c:v>0</c:v>
                </c:pt>
                <c:pt idx="5">
                  <c:v>0</c:v>
                </c:pt>
                <c:pt idx="6">
                  <c:v>7.997</c:v>
                </c:pt>
              </c:numCache>
            </c:numRef>
          </c:val>
        </c:ser>
        <c:dLbls>
          <c:numFmt formatCode="$0.00;($0.00);" sourceLinked="0"/>
          <c:txPr>
            <a:bodyPr/>
            <a:lstStyle/>
            <a:p>
              <a:pPr>
                <a:defRPr b="1" i="0" strike="noStrike" sz="1050" u="none">
                  <a:solidFill>
                    <a:srgbClr val="0A0F1E"/>
                  </a:solidFill>
                  <a:latin typeface="+mn-lt"/>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9AA5C4"/>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26304F"/>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AA5C4"/>
                </a:solidFill>
                <a:latin typeface="+mn-lt"/>
              </a:defRPr>
            </a:pPr>
            <a:endParaRPr lang="en-US"/>
          </a:p>
        </c:txPr>
        <c:crossAx val="2094734554"/>
        <c:crosses val="autoZero"/>
        <c:crossBetween val="between"/>
        <c:majorUnit val="10"/>
      </c:valAx>
      <c:spPr>
        <a:solidFill>
          <a:srgbClr val="141C36"/>
        </a:solidFill>
        <a:ln>
          <a:noFill/>
        </a:ln>
        <a:effectLst/>
      </c:spPr>
    </c:plotArea>
    <c:plotVisOnly val="1"/>
    <c:dispBlanksAs val="span"/>
  </c:chart>
  <c:spPr>
    <a:solidFill>
      <a:srgbClr val="141C36"/>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net</c:v>
                </c:pt>
              </c:strCache>
            </c:strRef>
          </c:tx>
          <c:spPr>
            <a:solidFill>
              <a:srgbClr val="3DDC97"/>
            </a:solidFill>
            <a:effectLst/>
          </c:spPr>
          <c:invertIfNegative val="0"/>
          <c:dLbls>
            <c:numFmt formatCode="$0.00;($0.00)" sourceLinked="0"/>
            <c:txPr>
              <a:bodyPr/>
              <a:lstStyle/>
              <a:p>
                <a:pPr>
                  <a:defRPr b="0" i="0" strike="noStrike" sz="1050" u="none">
                    <a:solidFill>
                      <a:srgbClr val="F3F6FF"/>
                    </a:solidFill>
                    <a:latin typeface="+mn-lt"/>
                  </a:defRPr>
                </a:pPr>
              </a:p>
            </c:txPr>
            <c:showLegendKey val="0"/>
            <c:showVal val="1"/>
            <c:showCatName val="0"/>
            <c:showSerName val="0"/>
            <c:showPercent val="0"/>
            <c:showBubbleSize val="0"/>
            <c:showLeaderLines val="0"/>
          </c:dLbls>
          <c:dPt>
            <c:idx val="0"/>
            <c:invertIfNegative val="0"/>
            <c:bubble3D val="0"/>
            <c:spPr>
              <a:solidFill>
                <a:srgbClr val="3DDC97"/>
              </a:solidFill>
              <a:effectLst/>
            </c:spPr>
          </c:dPt>
          <c:dPt>
            <c:idx val="1"/>
            <c:invertIfNegative val="0"/>
            <c:bubble3D val="0"/>
            <c:spPr>
              <a:solidFill>
                <a:srgbClr val="2DE2FF"/>
              </a:solidFill>
              <a:effectLst/>
            </c:spPr>
          </c:dPt>
          <c:dPt>
            <c:idx val="2"/>
            <c:invertIfNegative val="0"/>
            <c:bubble3D val="0"/>
            <c:spPr>
              <a:solidFill>
                <a:srgbClr val="FF4FD8"/>
              </a:solidFill>
              <a:effectLst/>
            </c:spPr>
          </c:dPt>
          <c:dPt>
            <c:idx val="3"/>
            <c:invertIfNegative val="0"/>
            <c:bubble3D val="0"/>
            <c:spPr>
              <a:solidFill>
                <a:srgbClr val="FF4FD8"/>
              </a:solidFill>
              <a:effectLst/>
            </c:spPr>
          </c:dPt>
          <c:cat>
            <c:multiLvlStrRef>
              <c:f>Sheet1!$A$2:$A$5</c:f>
              <c:multiLvlStrCache>
                <c:ptCount val="4"/>
                <c:lvl>
                  <c:pt idx="0">
                    <c:v>H2 base</c:v>
                  </c:pt>
                  <c:pt idx="1">
                    <c:v>August model</c:v>
                  </c:pt>
                  <c:pt idx="2">
                    <c:v>Alibaba low</c:v>
                  </c:pt>
                  <c:pt idx="3">
                    <c:v>Alibaba high</c:v>
                  </c:pt>
                </c:lvl>
              </c:multiLvlStrCache>
            </c:multiLvlStrRef>
          </c:cat>
          <c:val>
            <c:numRef>
              <c:f>Sheet1!$B$2:$B$5</c:f>
              <c:numCache>
                <c:formatCode>General</c:formatCode>
                <c:ptCount val="4"/>
                <c:pt idx="0">
                  <c:v>11.8697797202797</c:v>
                </c:pt>
                <c:pt idx="1">
                  <c:v>7.997</c:v>
                </c:pt>
                <c:pt idx="2">
                  <c:v>-1.60882</c:v>
                </c:pt>
                <c:pt idx="3">
                  <c:v>-8.61382</c:v>
                </c:pt>
              </c:numCache>
            </c:numRef>
          </c:val>
        </c:ser>
        <c:dLbls>
          <c:numFmt formatCode="$0.00;($0.00)" sourceLinked="0"/>
          <c:txPr>
            <a:bodyPr/>
            <a:lstStyle/>
            <a:p>
              <a:pPr>
                <a:defRPr b="0" i="0" strike="noStrike" sz="1050" u="none">
                  <a:solidFill>
                    <a:srgbClr val="F3F6F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9AA5C4"/>
                </a:solidFill>
                <a:latin typeface="+mn-lt"/>
              </a:defRPr>
            </a:pPr>
            <a:endParaRPr lang="en-US"/>
          </a:p>
        </c:txPr>
        <c:crossAx val="2094734552"/>
        <c:crosses val="autoZero"/>
        <c:auto val="1"/>
        <c:lblAlgn val="ctr"/>
        <c:noMultiLvlLbl val="1"/>
      </c:catAx>
      <c:valAx>
        <c:axId val="2094734552"/>
        <c:scaling>
          <c:orientation val="minMax"/>
          <c:max val="15"/>
          <c:min val="-10"/>
        </c:scaling>
        <c:delete val="0"/>
        <c:axPos val="l"/>
        <c:majorGridlines>
          <c:spPr>
            <a:ln w="6350" cap="flat">
              <a:solidFill>
                <a:srgbClr val="26304F"/>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9AA5C4"/>
                </a:solidFill>
                <a:latin typeface="+mn-lt"/>
              </a:defRPr>
            </a:pPr>
            <a:endParaRPr lang="en-US"/>
          </a:p>
        </c:txPr>
        <c:crossAx val="2094734554"/>
        <c:crosses val="autoZero"/>
        <c:crossBetween val="between"/>
        <c:majorUnit val="5"/>
      </c:valAx>
      <c:spPr>
        <a:solidFill>
          <a:srgbClr val="141C36"/>
        </a:solidFill>
        <a:ln>
          <a:noFill/>
        </a:ln>
        <a:effectLst/>
      </c:spPr>
    </c:plotArea>
    <c:plotVisOnly val="1"/>
    <c:dispBlanksAs val="span"/>
  </c:chart>
  <c:spPr>
    <a:solidFill>
      <a:srgbClr val="141C36"/>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Medium revenue</c:v>
                </c:pt>
              </c:strCache>
            </c:strRef>
          </c:tx>
          <c:spPr>
            <a:solidFill>
              <a:srgbClr val="2DE2FF"/>
            </a:solidFill>
            <a:ln w="38100" cap="flat">
              <a:solidFill>
                <a:srgbClr val="2DE2FF"/>
              </a:solidFill>
              <a:prstDash val="solid"/>
              <a:round/>
            </a:ln>
            <a:effectLst/>
          </c:spPr>
          <c:invertIfNegative val="0"/>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marker>
            <c:symbol val="none"/>
            <c:size val="6"/>
            <c:spPr>
              <a:solidFill>
                <a:srgbClr val="2DE2FF"/>
              </a:solidFill>
              <a:ln w="9525" cap="flat">
                <a:solidFill>
                  <a:srgbClr val="2DE2FF"/>
                </a:solidFill>
                <a:prstDash val="solid"/>
                <a:round/>
              </a:ln>
              <a:effectLst/>
            </c:spPr>
          </c:marker>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Sheet1!$B$2:$B$19</c:f>
              <c:numCache>
                <c:formatCode>General</c:formatCode>
                <c:ptCount val="18"/>
                <c:pt idx="0">
                  <c:v>6300</c:v>
                </c:pt>
                <c:pt idx="1">
                  <c:v>10080</c:v>
                </c:pt>
                <c:pt idx="2">
                  <c:v>15120</c:v>
                </c:pt>
                <c:pt idx="3">
                  <c:v>21000</c:v>
                </c:pt>
                <c:pt idx="4">
                  <c:v>27300</c:v>
                </c:pt>
                <c:pt idx="5">
                  <c:v>34440</c:v>
                </c:pt>
                <c:pt idx="6">
                  <c:v>42000</c:v>
                </c:pt>
                <c:pt idx="7">
                  <c:v>50400</c:v>
                </c:pt>
                <c:pt idx="8">
                  <c:v>58800</c:v>
                </c:pt>
                <c:pt idx="9">
                  <c:v>67200</c:v>
                </c:pt>
                <c:pt idx="10">
                  <c:v>75600</c:v>
                </c:pt>
                <c:pt idx="11">
                  <c:v>86100</c:v>
                </c:pt>
                <c:pt idx="12">
                  <c:v>94500</c:v>
                </c:pt>
                <c:pt idx="13">
                  <c:v>102900</c:v>
                </c:pt>
                <c:pt idx="14">
                  <c:v>109200</c:v>
                </c:pt>
                <c:pt idx="15">
                  <c:v>115500</c:v>
                </c:pt>
                <c:pt idx="16">
                  <c:v>121800</c:v>
                </c:pt>
                <c:pt idx="17">
                  <c:v>128100</c:v>
                </c:pt>
              </c:numCache>
            </c:numRef>
          </c:val>
          <c:smooth val="0"/>
        </c:ser>
        <c:ser>
          <c:idx val="1"/>
          <c:order val="1"/>
          <c:tx>
            <c:strRef>
              <c:f>Sheet1!$C$1</c:f>
              <c:strCache>
                <c:ptCount val="1"/>
                <c:pt idx="0">
                  <c:v>Medium net</c:v>
                </c:pt>
              </c:strCache>
            </c:strRef>
          </c:tx>
          <c:spPr>
            <a:solidFill>
              <a:srgbClr val="3DDC97"/>
            </a:solidFill>
            <a:ln w="38100" cap="flat">
              <a:solidFill>
                <a:srgbClr val="3DDC97"/>
              </a:solidFill>
              <a:prstDash val="solid"/>
              <a:round/>
            </a:ln>
            <a:effectLst/>
          </c:spPr>
          <c:invertIfNegative val="0"/>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marker>
            <c:symbol val="none"/>
            <c:size val="6"/>
            <c:spPr>
              <a:solidFill>
                <a:srgbClr val="3DDC97"/>
              </a:solidFill>
              <a:ln w="9525" cap="flat">
                <a:solidFill>
                  <a:srgbClr val="3DDC97"/>
                </a:solidFill>
                <a:prstDash val="solid"/>
                <a:round/>
              </a:ln>
              <a:effectLst/>
            </c:spPr>
          </c:marker>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Sheet1!$C$2:$C$19</c:f>
              <c:numCache>
                <c:formatCode>General</c:formatCode>
                <c:ptCount val="18"/>
                <c:pt idx="0">
                  <c:v>-10458.99</c:v>
                </c:pt>
                <c:pt idx="1">
                  <c:v>-1000.39</c:v>
                </c:pt>
                <c:pt idx="2">
                  <c:v>-1055.59</c:v>
                </c:pt>
                <c:pt idx="3">
                  <c:v>560.01</c:v>
                </c:pt>
                <c:pt idx="4">
                  <c:v>995.01</c:v>
                </c:pt>
                <c:pt idx="5">
                  <c:v>1488.01</c:v>
                </c:pt>
                <c:pt idx="6">
                  <c:v>4950.01</c:v>
                </c:pt>
                <c:pt idx="7">
                  <c:v>6118.01</c:v>
                </c:pt>
                <c:pt idx="8">
                  <c:v>7286.01</c:v>
                </c:pt>
                <c:pt idx="9">
                  <c:v>8454.01</c:v>
                </c:pt>
                <c:pt idx="10">
                  <c:v>9622.01</c:v>
                </c:pt>
                <c:pt idx="11">
                  <c:v>11082.01</c:v>
                </c:pt>
                <c:pt idx="12">
                  <c:v>16030.01</c:v>
                </c:pt>
                <c:pt idx="13">
                  <c:v>17534.01</c:v>
                </c:pt>
                <c:pt idx="14">
                  <c:v>18662.01</c:v>
                </c:pt>
                <c:pt idx="15">
                  <c:v>19790.01</c:v>
                </c:pt>
                <c:pt idx="16">
                  <c:v>20918.01</c:v>
                </c:pt>
                <c:pt idx="17">
                  <c:v>22046.01</c:v>
                </c:pt>
              </c:numCache>
            </c:numRef>
          </c:val>
          <c:smooth val="0"/>
        </c:ser>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Low revenue</c:v>
                </c:pt>
              </c:strCache>
            </c:strRef>
          </c:tx>
          <c:spPr>
            <a:solidFill>
              <a:srgbClr val="FFB547"/>
            </a:solidFill>
            <a:ln w="15875" cap="flat">
              <a:solidFill>
                <a:srgbClr val="FFB547"/>
              </a:solidFill>
              <a:prstDash val="solid"/>
              <a:round/>
            </a:ln>
            <a:effectLst/>
          </c:spPr>
          <c:invertIfNegative val="0"/>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marker>
            <c:symbol val="none"/>
            <c:size val="6"/>
            <c:spPr>
              <a:solidFill>
                <a:srgbClr val="8B5CF6"/>
              </a:solidFill>
              <a:ln w="9525" cap="flat">
                <a:solidFill>
                  <a:srgbClr val="FFB547"/>
                </a:solidFill>
                <a:prstDash val="solid"/>
                <a:round/>
              </a:ln>
              <a:effectLst/>
            </c:spPr>
          </c:marker>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Sheet1!$D$2:$D$19</c:f>
              <c:numCache>
                <c:formatCode>General</c:formatCode>
                <c:ptCount val="18"/>
                <c:pt idx="0">
                  <c:v>3420</c:v>
                </c:pt>
                <c:pt idx="1">
                  <c:v>5472</c:v>
                </c:pt>
                <c:pt idx="2">
                  <c:v>8208</c:v>
                </c:pt>
                <c:pt idx="3">
                  <c:v>11400</c:v>
                </c:pt>
                <c:pt idx="4">
                  <c:v>14820</c:v>
                </c:pt>
                <c:pt idx="5">
                  <c:v>18696</c:v>
                </c:pt>
                <c:pt idx="6">
                  <c:v>22800</c:v>
                </c:pt>
                <c:pt idx="7">
                  <c:v>27360</c:v>
                </c:pt>
                <c:pt idx="8">
                  <c:v>31920</c:v>
                </c:pt>
                <c:pt idx="9">
                  <c:v>36480</c:v>
                </c:pt>
                <c:pt idx="10">
                  <c:v>41040</c:v>
                </c:pt>
                <c:pt idx="11">
                  <c:v>46740</c:v>
                </c:pt>
                <c:pt idx="12">
                  <c:v>51300</c:v>
                </c:pt>
                <c:pt idx="13">
                  <c:v>55860</c:v>
                </c:pt>
                <c:pt idx="14">
                  <c:v>59280</c:v>
                </c:pt>
                <c:pt idx="15">
                  <c:v>62700</c:v>
                </c:pt>
                <c:pt idx="16">
                  <c:v>66120</c:v>
                </c:pt>
                <c:pt idx="17">
                  <c:v>69540</c:v>
                </c:pt>
              </c:numCache>
            </c:numRef>
          </c:val>
          <c:smooth val="0"/>
        </c:ser>
        <c:ser>
          <c:idx val="3"/>
          <c:order val="3"/>
          <c:tx>
            <c:strRef>
              <c:f>Sheet1!$E$1</c:f>
              <c:strCache>
                <c:ptCount val="1"/>
                <c:pt idx="0">
                  <c:v>High revenue</c:v>
                </c:pt>
              </c:strCache>
            </c:strRef>
          </c:tx>
          <c:spPr>
            <a:solidFill>
              <a:srgbClr val="8B5CF6"/>
            </a:solidFill>
            <a:ln w="15875" cap="flat">
              <a:solidFill>
                <a:srgbClr val="8B5CF6"/>
              </a:solidFill>
              <a:prstDash val="solid"/>
              <a:round/>
            </a:ln>
            <a:effectLst/>
          </c:spPr>
          <c:invertIfNegative val="0"/>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marker>
            <c:symbol val="none"/>
            <c:size val="6"/>
            <c:spPr>
              <a:solidFill>
                <a:srgbClr val="8B5CF6"/>
              </a:solidFill>
              <a:ln w="9525" cap="flat">
                <a:solidFill>
                  <a:srgbClr val="8B5CF6"/>
                </a:solidFill>
                <a:prstDash val="solid"/>
                <a:round/>
              </a:ln>
              <a:effectLst/>
            </c:spPr>
          </c:marker>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Sheet1!$E$2:$E$19</c:f>
              <c:numCache>
                <c:formatCode>General</c:formatCode>
                <c:ptCount val="18"/>
                <c:pt idx="0">
                  <c:v>10019</c:v>
                </c:pt>
                <c:pt idx="1">
                  <c:v>15996</c:v>
                </c:pt>
                <c:pt idx="2">
                  <c:v>23994</c:v>
                </c:pt>
                <c:pt idx="3">
                  <c:v>33325</c:v>
                </c:pt>
                <c:pt idx="4">
                  <c:v>43344</c:v>
                </c:pt>
                <c:pt idx="5">
                  <c:v>54653</c:v>
                </c:pt>
                <c:pt idx="6">
                  <c:v>66650</c:v>
                </c:pt>
                <c:pt idx="7">
                  <c:v>79980</c:v>
                </c:pt>
                <c:pt idx="8">
                  <c:v>93310</c:v>
                </c:pt>
                <c:pt idx="9">
                  <c:v>106640</c:v>
                </c:pt>
                <c:pt idx="10">
                  <c:v>119970</c:v>
                </c:pt>
                <c:pt idx="11">
                  <c:v>136654</c:v>
                </c:pt>
                <c:pt idx="12">
                  <c:v>149984</c:v>
                </c:pt>
                <c:pt idx="13">
                  <c:v>163314</c:v>
                </c:pt>
                <c:pt idx="14">
                  <c:v>173290</c:v>
                </c:pt>
                <c:pt idx="15">
                  <c:v>183309</c:v>
                </c:pt>
                <c:pt idx="16">
                  <c:v>193285</c:v>
                </c:pt>
                <c:pt idx="17">
                  <c:v>203304</c:v>
                </c:pt>
              </c:numCache>
            </c:numRef>
          </c:val>
          <c:smooth val="0"/>
        </c:ser>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4"/>
          <c:order val="4"/>
          <c:tx>
            <c:strRef>
              <c:f>Sheet1!$F$1</c:f>
              <c:strCache>
                <c:ptCount val="1"/>
                <c:pt idx="0">
                  <c:v>Low net</c:v>
                </c:pt>
              </c:strCache>
            </c:strRef>
          </c:tx>
          <c:spPr>
            <a:solidFill>
              <a:srgbClr val="FFB547"/>
            </a:solidFill>
            <a:ln w="15875" cap="flat">
              <a:solidFill>
                <a:srgbClr val="FFB547"/>
              </a:solidFill>
              <a:prstDash val="dash"/>
              <a:round/>
            </a:ln>
            <a:effectLst/>
          </c:spPr>
          <c:invertIfNegative val="0"/>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marker>
            <c:symbol val="none"/>
            <c:size val="6"/>
            <c:spPr>
              <a:solidFill>
                <a:srgbClr val="8B5CF6"/>
              </a:solidFill>
              <a:ln w="9525" cap="flat">
                <a:solidFill>
                  <a:srgbClr val="FFB547"/>
                </a:solidFill>
                <a:prstDash val="solid"/>
                <a:round/>
              </a:ln>
              <a:effectLst/>
            </c:spPr>
          </c:marker>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Sheet1!$F$2:$F$19</c:f>
              <c:numCache>
                <c:formatCode>General</c:formatCode>
                <c:ptCount val="18"/>
                <c:pt idx="0">
                  <c:v>-10919.19</c:v>
                </c:pt>
                <c:pt idx="1">
                  <c:v>-1736.71</c:v>
                </c:pt>
                <c:pt idx="2">
                  <c:v>-2160.07</c:v>
                </c:pt>
                <c:pt idx="3">
                  <c:v>-1741.99</c:v>
                </c:pt>
                <c:pt idx="4">
                  <c:v>-1997.59</c:v>
                </c:pt>
                <c:pt idx="5">
                  <c:v>-2287.27</c:v>
                </c:pt>
                <c:pt idx="6">
                  <c:v>-997.99</c:v>
                </c:pt>
                <c:pt idx="7">
                  <c:v>-1019.59</c:v>
                </c:pt>
                <c:pt idx="8">
                  <c:v>-1041.19</c:v>
                </c:pt>
                <c:pt idx="9">
                  <c:v>-1062.79</c:v>
                </c:pt>
                <c:pt idx="10">
                  <c:v>-1084.39</c:v>
                </c:pt>
                <c:pt idx="11">
                  <c:v>-1111.39</c:v>
                </c:pt>
                <c:pt idx="12">
                  <c:v>919.01</c:v>
                </c:pt>
                <c:pt idx="13">
                  <c:v>1079.81</c:v>
                </c:pt>
                <c:pt idx="14">
                  <c:v>1200.41000000001</c:v>
                </c:pt>
                <c:pt idx="15">
                  <c:v>1321.01</c:v>
                </c:pt>
                <c:pt idx="16">
                  <c:v>1441.61</c:v>
                </c:pt>
                <c:pt idx="17">
                  <c:v>1562.21</c:v>
                </c:pt>
              </c:numCache>
            </c:numRef>
          </c:val>
          <c:smooth val="0"/>
        </c:ser>
        <c:ser>
          <c:idx val="5"/>
          <c:order val="5"/>
          <c:tx>
            <c:strRef>
              <c:f>Sheet1!$G$1</c:f>
              <c:strCache>
                <c:ptCount val="1"/>
                <c:pt idx="0">
                  <c:v>High net</c:v>
                </c:pt>
              </c:strCache>
            </c:strRef>
          </c:tx>
          <c:spPr>
            <a:solidFill>
              <a:srgbClr val="8B5CF6"/>
            </a:solidFill>
            <a:ln w="15875" cap="flat">
              <a:solidFill>
                <a:srgbClr val="8B5CF6"/>
              </a:solidFill>
              <a:prstDash val="dash"/>
              <a:round/>
            </a:ln>
            <a:effectLst/>
          </c:spPr>
          <c:invertIfNegative val="0"/>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marker>
            <c:symbol val="none"/>
            <c:size val="6"/>
            <c:spPr>
              <a:solidFill>
                <a:srgbClr val="FFB547"/>
              </a:solidFill>
              <a:ln w="9525" cap="flat">
                <a:solidFill>
                  <a:srgbClr val="8B5CF6"/>
                </a:solidFill>
                <a:prstDash val="solid"/>
                <a:round/>
              </a:ln>
              <a:effectLst/>
            </c:spPr>
          </c:marker>
          <c:cat>
            <c:multiLvlStrRef>
              <c:f>Sheet1!$A$2:$A$19</c:f>
              <c:multiLvlStrCache>
                <c:ptCount val="18"/>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lvl>
              </c:multiLvlStrCache>
            </c:multiLvlStrRef>
          </c:cat>
          <c:val>
            <c:numRef>
              <c:f>Sheet1!$G$2:$G$19</c:f>
              <c:numCache>
                <c:formatCode>General</c:formatCode>
                <c:ptCount val="18"/>
                <c:pt idx="0">
                  <c:v>-9417.215</c:v>
                </c:pt>
                <c:pt idx="1">
                  <c:v>663.109999999999</c:v>
                </c:pt>
                <c:pt idx="2">
                  <c:v>1439.66</c:v>
                </c:pt>
                <c:pt idx="3">
                  <c:v>5011.635</c:v>
                </c:pt>
                <c:pt idx="4">
                  <c:v>6785.93</c:v>
                </c:pt>
                <c:pt idx="5">
                  <c:v>8788.675</c:v>
                </c:pt>
                <c:pt idx="6">
                  <c:v>15578.76</c:v>
                </c:pt>
                <c:pt idx="7">
                  <c:v>18872.51</c:v>
                </c:pt>
                <c:pt idx="8">
                  <c:v>22166.26</c:v>
                </c:pt>
                <c:pt idx="9">
                  <c:v>25460.01</c:v>
                </c:pt>
                <c:pt idx="10">
                  <c:v>28753.76</c:v>
                </c:pt>
                <c:pt idx="11">
                  <c:v>32876.26</c:v>
                </c:pt>
                <c:pt idx="12">
                  <c:v>40669.53</c:v>
                </c:pt>
                <c:pt idx="13">
                  <c:v>44363.18</c:v>
                </c:pt>
                <c:pt idx="14">
                  <c:v>47127.46</c:v>
                </c:pt>
                <c:pt idx="15">
                  <c:v>49903.655</c:v>
                </c:pt>
                <c:pt idx="16">
                  <c:v>52667.935</c:v>
                </c:pt>
                <c:pt idx="17">
                  <c:v>55444.13</c:v>
                </c:pt>
              </c:numCache>
            </c:numRef>
          </c:val>
          <c:smooth val="0"/>
        </c:ser>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9AA5C4"/>
                    </a:solidFill>
                    <a:latin typeface="+mn-lt"/>
                  </a:defRPr>
                </a:pPr>
                <a:r>
                  <a:rPr sz="1000" b="0" i="0" u="none" strike="noStrike">
                    <a:solidFill>
                      <a:srgbClr val="9AA5C4"/>
                    </a:solidFill>
                    <a:latin typeface="+mn-lt"/>
                  </a:rPr>
                  <a:t>Model month</a:t>
                </a:r>
              </a:p>
            </c:rich>
          </c:tx>
          <c:layout/>
          <c:overlay val="0"/>
        </c:title>
        <c:numFmt formatCode="General" sourceLinked="1"/>
        <c:majorTickMark val="out"/>
        <c:minorTickMark val="none"/>
        <c:tickLblPos val="low"/>
        <c:spPr>
          <a:ln w="12700" cap="flat">
            <a:noFill/>
            <a:prstDash val="solid"/>
            <a:round/>
          </a:ln>
        </c:spPr>
        <c:txPr>
          <a:bodyPr/>
          <a:lstStyle/>
          <a:p>
            <a:pPr>
              <a:defRPr sz="1100" b="0" i="0" u="none" strike="noStrike">
                <a:solidFill>
                  <a:srgbClr val="9AA5C4"/>
                </a:solidFill>
                <a:latin typeface="+mn-lt"/>
              </a:defRPr>
            </a:pPr>
            <a:endParaRPr lang="en-US"/>
          </a:p>
        </c:txPr>
        <c:crossAx val="2094734552"/>
        <c:crosses val="autoZero"/>
        <c:auto val="1"/>
        <c:lblAlgn val="ctr"/>
        <c:noMultiLvlLbl val="1"/>
      </c:catAx>
      <c:valAx>
        <c:axId val="2094734552"/>
        <c:scaling>
          <c:orientation val="minMax"/>
          <c:max val="240000"/>
          <c:min val="-20000"/>
        </c:scaling>
        <c:delete val="0"/>
        <c:axPos val="l"/>
        <c:majorGridlines>
          <c:spPr>
            <a:ln w="6350" cap="flat">
              <a:solidFill>
                <a:srgbClr val="26304F"/>
              </a:solidFill>
              <a:prstDash val="solid"/>
              <a:round/>
            </a:ln>
          </c:spPr>
        </c:majorGridlines>
        <c:numFmt formatCode="$#,##0,&quot;K&quot;;($#,##0,&quot;K&quot;)" sourceLinked="0"/>
        <c:majorTickMark val="out"/>
        <c:minorTickMark val="none"/>
        <c:tickLblPos val="nextTo"/>
        <c:spPr>
          <a:ln w="12700" cap="flat">
            <a:noFill/>
            <a:prstDash val="solid"/>
            <a:round/>
          </a:ln>
        </c:spPr>
        <c:txPr>
          <a:bodyPr/>
          <a:lstStyle/>
          <a:p>
            <a:pPr>
              <a:defRPr sz="1100" b="0" i="0" u="none" strike="noStrike">
                <a:solidFill>
                  <a:srgbClr val="9AA5C4"/>
                </a:solidFill>
                <a:latin typeface="+mn-lt"/>
              </a:defRPr>
            </a:pPr>
            <a:endParaRPr lang="en-US"/>
          </a:p>
        </c:txPr>
        <c:crossAx val="2094734554"/>
        <c:crosses val="autoZero"/>
        <c:crossBetween val="between"/>
        <c:majorUnit val="40000"/>
      </c:valAx>
      <c:spPr>
        <a:solidFill>
          <a:srgbClr val="141C36"/>
        </a:solidFill>
        <a:ln>
          <a:noFill/>
        </a:ln>
        <a:effectLst/>
      </c:spPr>
    </c:plotArea>
    <c:legend>
      <c:legendPos val="b"/>
      <c:overlay val="0"/>
      <c:txPr>
        <a:bodyPr/>
        <a:lstStyle/>
        <a:p>
          <a:pPr>
            <a:defRPr sz="1100">
              <a:solidFill>
                <a:srgbClr val="9AA5C4"/>
              </a:solidFill>
              <a:latin typeface="+mn-lt"/>
              <a:cs typeface="+mn-lt"/>
            </a:defRPr>
          </a:pPr>
          <a:endParaRPr lang="en-US"/>
        </a:p>
      </c:txPr>
    </c:legend>
    <c:plotVisOnly val="1"/>
    <c:dispBlanksAs val="span"/>
  </c:chart>
  <c:spPr>
    <a:solidFill>
      <a:srgbClr val="141C36"/>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stacked"/>
        <c:varyColors val="0"/>
        <c:ser>
          <c:idx val="0"/>
          <c:order val="0"/>
          <c:tx>
            <c:strRef>
              <c:f>Sheet1!$B$1</c:f>
              <c:strCache>
                <c:ptCount val="1"/>
                <c:pt idx="0">
                  <c:v>Amazon US</c:v>
                </c:pt>
              </c:strCache>
            </c:strRef>
          </c:tx>
          <c:spPr>
            <a:solidFill>
              <a:srgbClr val="2DE2FF"/>
            </a:solidFill>
            <a:effectLst/>
          </c:spPr>
          <c:invertIfNegative val="0"/>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Sheet1!$B$2:$B$6</c:f>
              <c:numCache>
                <c:formatCode>General</c:formatCode>
                <c:ptCount val="5"/>
                <c:pt idx="0">
                  <c:v>494340</c:v>
                </c:pt>
                <c:pt idx="1">
                  <c:v>1528800</c:v>
                </c:pt>
                <c:pt idx="2">
                  <c:v>1965181</c:v>
                </c:pt>
                <c:pt idx="3">
                  <c:v>2263888</c:v>
                </c:pt>
                <c:pt idx="4">
                  <c:v>2434133</c:v>
                </c:pt>
              </c:numCache>
            </c:numRef>
          </c:val>
        </c:ser>
        <c:ser>
          <c:idx val="1"/>
          <c:order val="1"/>
          <c:tx>
            <c:strRef>
              <c:f>Sheet1!$C$1</c:f>
              <c:strCache>
                <c:ptCount val="1"/>
                <c:pt idx="0">
                  <c:v>eBay and Walmart</c:v>
                </c:pt>
              </c:strCache>
            </c:strRef>
          </c:tx>
          <c:spPr>
            <a:solidFill>
              <a:srgbClr val="8B5CF6"/>
            </a:solidFill>
            <a:effectLst/>
          </c:spPr>
          <c:invertIfNegative val="0"/>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Sheet1!$C$2:$C$6</c:f>
              <c:numCache>
                <c:formatCode>General</c:formatCode>
                <c:ptCount val="5"/>
                <c:pt idx="0">
                  <c:v>0</c:v>
                </c:pt>
                <c:pt idx="1">
                  <c:v>122304</c:v>
                </c:pt>
                <c:pt idx="2">
                  <c:v>196518</c:v>
                </c:pt>
                <c:pt idx="3">
                  <c:v>271667</c:v>
                </c:pt>
                <c:pt idx="4">
                  <c:v>292096</c:v>
                </c:pt>
              </c:numCache>
            </c:numRef>
          </c:val>
        </c:ser>
        <c:ser>
          <c:idx val="2"/>
          <c:order val="2"/>
          <c:tx>
            <c:strRef>
              <c:f>Sheet1!$D$1</c:f>
              <c:strCache>
                <c:ptCount val="1"/>
                <c:pt idx="0">
                  <c:v>B2B installers</c:v>
                </c:pt>
              </c:strCache>
            </c:strRef>
          </c:tx>
          <c:spPr>
            <a:solidFill>
              <a:srgbClr val="3DDC97"/>
            </a:solidFill>
            <a:effectLst/>
          </c:spPr>
          <c:invertIfNegative val="0"/>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Sheet1!$D$2:$D$6</c:f>
              <c:numCache>
                <c:formatCode>General</c:formatCode>
                <c:ptCount val="5"/>
                <c:pt idx="0">
                  <c:v>0</c:v>
                </c:pt>
                <c:pt idx="1">
                  <c:v>120000</c:v>
                </c:pt>
                <c:pt idx="2">
                  <c:v>350000</c:v>
                </c:pt>
                <c:pt idx="3">
                  <c:v>600000</c:v>
                </c:pt>
                <c:pt idx="4">
                  <c:v>850000</c:v>
                </c:pt>
              </c:numCache>
            </c:numRef>
          </c:val>
        </c:ser>
        <c:ser>
          <c:idx val="3"/>
          <c:order val="3"/>
          <c:tx>
            <c:strRef>
              <c:f>Sheet1!$E$1</c:f>
              <c:strCache>
                <c:ptCount val="1"/>
                <c:pt idx="0">
                  <c:v>DTC site</c:v>
                </c:pt>
              </c:strCache>
            </c:strRef>
          </c:tx>
          <c:spPr>
            <a:solidFill>
              <a:srgbClr val="FFB547"/>
            </a:solidFill>
            <a:effectLst/>
          </c:spPr>
          <c:invertIfNegative val="0"/>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Sheet1!$E$2:$E$6</c:f>
              <c:numCache>
                <c:formatCode>General</c:formatCode>
                <c:ptCount val="5"/>
                <c:pt idx="0">
                  <c:v>0</c:v>
                </c:pt>
                <c:pt idx="1">
                  <c:v>0</c:v>
                </c:pt>
                <c:pt idx="2">
                  <c:v>100000</c:v>
                </c:pt>
                <c:pt idx="3">
                  <c:v>250000</c:v>
                </c:pt>
                <c:pt idx="4">
                  <c:v>400000</c:v>
                </c:pt>
              </c:numCache>
            </c:numRef>
          </c:val>
        </c:ser>
        <c:ser>
          <c:idx val="4"/>
          <c:order val="4"/>
          <c:tx>
            <c:strRef>
              <c:f>Sheet1!$F$1</c:f>
              <c:strCache>
                <c:ptCount val="1"/>
                <c:pt idx="0">
                  <c:v>Amazon Canada</c:v>
                </c:pt>
              </c:strCache>
            </c:strRef>
          </c:tx>
          <c:spPr>
            <a:solidFill>
              <a:srgbClr val="FF4FD8"/>
            </a:solidFill>
            <a:effectLst/>
          </c:spPr>
          <c:invertIfNegative val="0"/>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Sheet1!$F$2:$F$6</c:f>
              <c:numCache>
                <c:formatCode>General</c:formatCode>
                <c:ptCount val="5"/>
                <c:pt idx="0">
                  <c:v>0</c:v>
                </c:pt>
                <c:pt idx="1">
                  <c:v>0</c:v>
                </c:pt>
                <c:pt idx="2">
                  <c:v>0</c:v>
                </c:pt>
                <c:pt idx="3">
                  <c:v>120000</c:v>
                </c:pt>
                <c:pt idx="4">
                  <c:v>250000</c:v>
                </c:pt>
              </c:numCache>
            </c:numRef>
          </c:val>
        </c:ser>
        <c:ser>
          <c:idx val="5"/>
          <c:order val="5"/>
          <c:tx>
            <c:strRef>
              <c:f>Sheet1!$G$1</c:f>
              <c:strCache>
                <c:ptCount val="1"/>
                <c:pt idx="0">
                  <c:v>Pro line</c:v>
                </c:pt>
              </c:strCache>
            </c:strRef>
          </c:tx>
          <c:spPr>
            <a:solidFill>
              <a:srgbClr val="4F7CFF"/>
            </a:solidFill>
            <a:effectLst/>
          </c:spPr>
          <c:invertIfNegative val="0"/>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Sheet1!$G$2:$G$6</c:f>
              <c:numCache>
                <c:formatCode>General</c:formatCode>
                <c:ptCount val="5"/>
                <c:pt idx="0">
                  <c:v>0</c:v>
                </c:pt>
                <c:pt idx="1">
                  <c:v>0</c:v>
                </c:pt>
                <c:pt idx="2">
                  <c:v>0</c:v>
                </c:pt>
                <c:pt idx="3">
                  <c:v>150000</c:v>
                </c:pt>
                <c:pt idx="4">
                  <c:v>350000</c:v>
                </c:pt>
              </c:numCache>
            </c:numRef>
          </c:val>
        </c:ser>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9AA5C4"/>
                </a:solidFill>
                <a:latin typeface="+mn-lt"/>
              </a:defRPr>
            </a:pPr>
            <a:endParaRPr lang="en-US"/>
          </a:p>
        </c:txPr>
        <c:crossAx val="2094734552"/>
        <c:crosses val="autoZero"/>
        <c:auto val="1"/>
        <c:lblAlgn val="ctr"/>
        <c:noMultiLvlLbl val="1"/>
      </c:catAx>
      <c:valAx>
        <c:axId val="2094734552"/>
        <c:scaling>
          <c:orientation val="minMax"/>
          <c:max val="5000000"/>
          <c:min val="0"/>
        </c:scaling>
        <c:delete val="0"/>
        <c:axPos val="l"/>
        <c:majorGridlines>
          <c:spPr>
            <a:ln w="6350" cap="flat">
              <a:solidFill>
                <a:srgbClr val="26304F"/>
              </a:solidFill>
              <a:prstDash val="solid"/>
              <a:round/>
            </a:ln>
          </c:spPr>
        </c:majorGridlines>
        <c:numFmt formatCode="$#,##0.0,,&quot;M&quot;" sourceLinked="0"/>
        <c:majorTickMark val="out"/>
        <c:minorTickMark val="none"/>
        <c:tickLblPos val="nextTo"/>
        <c:spPr>
          <a:ln w="12700" cap="flat">
            <a:noFill/>
            <a:prstDash val="solid"/>
            <a:round/>
          </a:ln>
        </c:spPr>
        <c:txPr>
          <a:bodyPr/>
          <a:lstStyle/>
          <a:p>
            <a:pPr>
              <a:defRPr sz="1100" b="0" i="0" u="none" strike="noStrike">
                <a:solidFill>
                  <a:srgbClr val="9AA5C4"/>
                </a:solidFill>
                <a:latin typeface="+mn-lt"/>
              </a:defRPr>
            </a:pPr>
            <a:endParaRPr lang="en-US"/>
          </a:p>
        </c:txPr>
        <c:crossAx val="2094734554"/>
        <c:crosses val="autoZero"/>
        <c:crossBetween val="between"/>
        <c:majorUnit val="1000000"/>
      </c:valAx>
      <c:spPr>
        <a:solidFill>
          <a:srgbClr val="141C36"/>
        </a:solidFill>
        <a:ln>
          <a:noFill/>
        </a:ln>
        <a:effectLst/>
      </c:spPr>
    </c:plotArea>
    <c:legend>
      <c:legendPos val="b"/>
      <c:overlay val="0"/>
      <c:txPr>
        <a:bodyPr/>
        <a:lstStyle/>
        <a:p>
          <a:pPr>
            <a:defRPr sz="1100">
              <a:solidFill>
                <a:srgbClr val="9AA5C4"/>
              </a:solidFill>
              <a:latin typeface="+mn-lt"/>
              <a:cs typeface="+mn-lt"/>
            </a:defRPr>
          </a:pPr>
          <a:endParaRPr lang="en-US"/>
        </a:p>
      </c:txPr>
    </c:legend>
    <c:plotVisOnly val="1"/>
    <c:dispBlanksAs val="span"/>
  </c:chart>
  <c:spPr>
    <a:solidFill>
      <a:srgbClr val="141C36"/>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Medium</c:v>
                </c:pt>
              </c:strCache>
            </c:strRef>
          </c:tx>
          <c:spPr>
            <a:solidFill>
              <a:srgbClr val="2DE2FF"/>
            </a:solidFill>
            <a:ln w="38100" cap="flat">
              <a:solidFill>
                <a:srgbClr val="2DE2FF"/>
              </a:solidFill>
              <a:prstDash val="solid"/>
              <a:round/>
            </a:ln>
            <a:effectLst/>
          </c:spPr>
          <c:invertIfNegative val="0"/>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marker>
            <c:symbol val="none"/>
            <c:size val="6"/>
            <c:spPr>
              <a:solidFill>
                <a:srgbClr val="2DE2FF"/>
              </a:solidFill>
              <a:ln w="9525" cap="flat">
                <a:solidFill>
                  <a:srgbClr val="2DE2FF"/>
                </a:solidFill>
                <a:prstDash val="solid"/>
                <a:round/>
              </a:ln>
              <a:effectLst/>
            </c:spPr>
          </c:marker>
          <c:cat>
            <c:multiLvlStrRef>
              <c:f>Sheet1!$A$2:$A$27</c:f>
              <c:multiLvlStrCache>
                <c:ptCount val="26"/>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lvl>
              </c:multiLvlStrCache>
            </c:multiLvlStrRef>
          </c:cat>
          <c:val>
            <c:numRef>
              <c:f>Sheet1!$B$2:$B$27</c:f>
              <c:numCache>
                <c:formatCode>General</c:formatCode>
                <c:ptCount val="26"/>
                <c:pt idx="0">
                  <c:v>31129</c:v>
                </c:pt>
                <c:pt idx="1">
                  <c:v>8534</c:v>
                </c:pt>
                <c:pt idx="2">
                  <c:v>236</c:v>
                </c:pt>
                <c:pt idx="3">
                  <c:v>-9084</c:v>
                </c:pt>
                <c:pt idx="4">
                  <c:v>-18385</c:v>
                </c:pt>
                <c:pt idx="5">
                  <c:v>-30785</c:v>
                </c:pt>
                <c:pt idx="6">
                  <c:v>-40401</c:v>
                </c:pt>
                <c:pt idx="7">
                  <c:v>-48399</c:v>
                </c:pt>
                <c:pt idx="8">
                  <c:v>-55585</c:v>
                </c:pt>
                <c:pt idx="9">
                  <c:v>-64474</c:v>
                </c:pt>
                <c:pt idx="10">
                  <c:v>-76337</c:v>
                </c:pt>
                <c:pt idx="11">
                  <c:v>-87169</c:v>
                </c:pt>
                <c:pt idx="12">
                  <c:v>-96319</c:v>
                </c:pt>
                <c:pt idx="13">
                  <c:v>-95582</c:v>
                </c:pt>
                <c:pt idx="14">
                  <c:v>-85176</c:v>
                </c:pt>
                <c:pt idx="15">
                  <c:v>-72584</c:v>
                </c:pt>
                <c:pt idx="16">
                  <c:v>-58017</c:v>
                </c:pt>
                <c:pt idx="17">
                  <c:v>-41456</c:v>
                </c:pt>
                <c:pt idx="18">
                  <c:v>-22853</c:v>
                </c:pt>
                <c:pt idx="19">
                  <c:v>-1253</c:v>
                </c:pt>
                <c:pt idx="20">
                  <c:v>19120</c:v>
                </c:pt>
                <c:pt idx="21">
                  <c:v>35464</c:v>
                </c:pt>
                <c:pt idx="22">
                  <c:v>45474</c:v>
                </c:pt>
                <c:pt idx="23">
                  <c:v>57334</c:v>
                </c:pt>
                <c:pt idx="24">
                  <c:v>70496</c:v>
                </c:pt>
              </c:numCache>
            </c:numRef>
          </c:val>
          <c:smooth val="0"/>
        </c:ser>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Low</c:v>
                </c:pt>
              </c:strCache>
            </c:strRef>
          </c:tx>
          <c:spPr>
            <a:solidFill>
              <a:srgbClr val="FFB547"/>
            </a:solidFill>
            <a:ln w="15875" cap="flat">
              <a:solidFill>
                <a:srgbClr val="FFB547"/>
              </a:solidFill>
              <a:prstDash val="solid"/>
              <a:round/>
            </a:ln>
            <a:effectLst/>
          </c:spPr>
          <c:invertIfNegative val="0"/>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marker>
            <c:symbol val="none"/>
            <c:size val="6"/>
            <c:spPr>
              <a:solidFill>
                <a:srgbClr val="3DDC97"/>
              </a:solidFill>
              <a:ln w="9525" cap="flat">
                <a:solidFill>
                  <a:srgbClr val="FFB547"/>
                </a:solidFill>
                <a:prstDash val="solid"/>
                <a:round/>
              </a:ln>
              <a:effectLst/>
            </c:spPr>
          </c:marker>
          <c:cat>
            <c:multiLvlStrRef>
              <c:f>Sheet1!$A$2:$A$27</c:f>
              <c:multiLvlStrCache>
                <c:ptCount val="26"/>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lvl>
              </c:multiLvlStrCache>
            </c:multiLvlStrRef>
          </c:cat>
          <c:val>
            <c:numRef>
              <c:f>Sheet1!$C$2:$C$27</c:f>
              <c:numCache>
                <c:formatCode>General</c:formatCode>
                <c:ptCount val="26"/>
                <c:pt idx="0">
                  <c:v>33466</c:v>
                </c:pt>
                <c:pt idx="1">
                  <c:v>13979</c:v>
                </c:pt>
                <c:pt idx="2">
                  <c:v>7207</c:v>
                </c:pt>
                <c:pt idx="3">
                  <c:v>-612</c:v>
                </c:pt>
                <c:pt idx="4">
                  <c:v>-8977</c:v>
                </c:pt>
                <c:pt idx="5">
                  <c:v>-17819</c:v>
                </c:pt>
                <c:pt idx="6">
                  <c:v>-27321</c:v>
                </c:pt>
                <c:pt idx="7">
                  <c:v>-36512</c:v>
                </c:pt>
                <c:pt idx="8">
                  <c:v>-45426</c:v>
                </c:pt>
                <c:pt idx="9">
                  <c:v>-55427</c:v>
                </c:pt>
                <c:pt idx="10">
                  <c:v>-66489</c:v>
                </c:pt>
                <c:pt idx="11">
                  <c:v>-77489</c:v>
                </c:pt>
                <c:pt idx="12">
                  <c:v>-87881</c:v>
                </c:pt>
                <c:pt idx="13">
                  <c:v>-95246</c:v>
                </c:pt>
                <c:pt idx="14">
                  <c:v>-99899</c:v>
                </c:pt>
                <c:pt idx="15">
                  <c:v>-90263</c:v>
                </c:pt>
                <c:pt idx="16">
                  <c:v>-62927</c:v>
                </c:pt>
                <c:pt idx="17">
                  <c:v>-33831</c:v>
                </c:pt>
                <c:pt idx="18">
                  <c:v>-16100</c:v>
                </c:pt>
                <c:pt idx="19">
                  <c:v>-31463</c:v>
                </c:pt>
                <c:pt idx="20">
                  <c:v>-61874</c:v>
                </c:pt>
                <c:pt idx="21">
                  <c:v>-93744</c:v>
                </c:pt>
                <c:pt idx="22">
                  <c:v>-110347</c:v>
                </c:pt>
                <c:pt idx="23">
                  <c:v>-112042</c:v>
                </c:pt>
                <c:pt idx="24">
                  <c:v>-113736</c:v>
                </c:pt>
              </c:numCache>
            </c:numRef>
          </c:val>
          <c:smooth val="0"/>
        </c:ser>
        <c:ser>
          <c:idx val="2"/>
          <c:order val="2"/>
          <c:tx>
            <c:strRef>
              <c:f>Sheet1!$D$1</c:f>
              <c:strCache>
                <c:ptCount val="1"/>
                <c:pt idx="0">
                  <c:v>High</c:v>
                </c:pt>
              </c:strCache>
            </c:strRef>
          </c:tx>
          <c:spPr>
            <a:solidFill>
              <a:srgbClr val="3DDC97"/>
            </a:solidFill>
            <a:ln w="15875" cap="flat">
              <a:solidFill>
                <a:srgbClr val="3DDC97"/>
              </a:solidFill>
              <a:prstDash val="solid"/>
              <a:round/>
            </a:ln>
            <a:effectLst/>
          </c:spPr>
          <c:invertIfNegative val="0"/>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marker>
            <c:symbol val="none"/>
            <c:size val="6"/>
            <c:spPr>
              <a:solidFill>
                <a:srgbClr val="3DDC97"/>
              </a:solidFill>
              <a:ln w="9525" cap="flat">
                <a:solidFill>
                  <a:srgbClr val="3DDC97"/>
                </a:solidFill>
                <a:prstDash val="solid"/>
                <a:round/>
              </a:ln>
              <a:effectLst/>
            </c:spPr>
          </c:marker>
          <c:cat>
            <c:multiLvlStrRef>
              <c:f>Sheet1!$A$2:$A$27</c:f>
              <c:multiLvlStrCache>
                <c:ptCount val="26"/>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lvl>
              </c:multiLvlStrCache>
            </c:multiLvlStrRef>
          </c:cat>
          <c:val>
            <c:numRef>
              <c:f>Sheet1!$D$2:$D$27</c:f>
              <c:numCache>
                <c:formatCode>General</c:formatCode>
                <c:ptCount val="26"/>
                <c:pt idx="0">
                  <c:v>28893</c:v>
                </c:pt>
                <c:pt idx="1">
                  <c:v>6118</c:v>
                </c:pt>
                <c:pt idx="2">
                  <c:v>-1968</c:v>
                </c:pt>
                <c:pt idx="3">
                  <c:v>-10532</c:v>
                </c:pt>
                <c:pt idx="4">
                  <c:v>-17788</c:v>
                </c:pt>
                <c:pt idx="5">
                  <c:v>-28118</c:v>
                </c:pt>
                <c:pt idx="6">
                  <c:v>-33097</c:v>
                </c:pt>
                <c:pt idx="7">
                  <c:v>-34099</c:v>
                </c:pt>
                <c:pt idx="8">
                  <c:v>-32084</c:v>
                </c:pt>
                <c:pt idx="9">
                  <c:v>-30508</c:v>
                </c:pt>
                <c:pt idx="10">
                  <c:v>-29847</c:v>
                </c:pt>
                <c:pt idx="11">
                  <c:v>-26563</c:v>
                </c:pt>
                <c:pt idx="12">
                  <c:v>-20295</c:v>
                </c:pt>
                <c:pt idx="13">
                  <c:v>2256</c:v>
                </c:pt>
                <c:pt idx="14">
                  <c:v>41362</c:v>
                </c:pt>
                <c:pt idx="15">
                  <c:v>84877</c:v>
                </c:pt>
                <c:pt idx="16">
                  <c:v>132136</c:v>
                </c:pt>
                <c:pt idx="17">
                  <c:v>183195</c:v>
                </c:pt>
                <c:pt idx="18">
                  <c:v>238190</c:v>
                </c:pt>
                <c:pt idx="19">
                  <c:v>295858</c:v>
                </c:pt>
                <c:pt idx="20">
                  <c:v>350995</c:v>
                </c:pt>
                <c:pt idx="21">
                  <c:v>400798</c:v>
                </c:pt>
                <c:pt idx="22">
                  <c:v>444700</c:v>
                </c:pt>
                <c:pt idx="23">
                  <c:v>490559</c:v>
                </c:pt>
                <c:pt idx="24">
                  <c:v>536317</c:v>
                </c:pt>
              </c:numCache>
            </c:numRef>
          </c:val>
          <c:smooth val="0"/>
        </c:ser>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3"/>
          <c:order val="3"/>
          <c:tx>
            <c:strRef>
              <c:f>Sheet1!$E$1</c:f>
              <c:strCache>
                <c:ptCount val="1"/>
                <c:pt idx="0">
                  <c:v>Minimum</c:v>
                </c:pt>
              </c:strCache>
            </c:strRef>
          </c:tx>
          <c:spPr>
            <a:solidFill>
              <a:srgbClr val="FF4FD8"/>
            </a:solidFill>
            <a:ln w="12700" cap="flat">
              <a:solidFill>
                <a:srgbClr val="FF4FD8"/>
              </a:solidFill>
              <a:prstDash val="solid"/>
              <a:round/>
            </a:ln>
            <a:effectLst/>
          </c:spPr>
          <c:invertIfNegative val="0"/>
          <c:dLbls>
            <c:numFmt formatCode="$#,##0;($#,##0)" sourceLinked="0"/>
            <c:txPr>
              <a:bodyPr/>
              <a:lstStyle/>
              <a:p>
                <a:pPr>
                  <a:defRPr b="1" i="0" strike="noStrike" sz="1000" u="none">
                    <a:solidFill>
                      <a:srgbClr val="FF4FD8"/>
                    </a:solidFill>
                    <a:latin typeface="+mn-lt"/>
                  </a:defRPr>
                </a:pPr>
              </a:p>
            </c:txPr>
            <c:dLblPos val="b"/>
            <c:showLegendKey val="0"/>
            <c:showVal val="1"/>
            <c:showCatName val="0"/>
            <c:showSerName val="0"/>
            <c:showPercent val="0"/>
            <c:showBubbleSize val="0"/>
            <c:showLeaderLines val="0"/>
          </c:dLbls>
          <c:marker>
            <c:symbol val="circle"/>
            <c:size val="10"/>
            <c:spPr>
              <a:solidFill>
                <a:srgbClr val="FF4FD8"/>
              </a:solidFill>
              <a:ln w="9525" cap="flat">
                <a:solidFill>
                  <a:srgbClr val="FF4FD8"/>
                </a:solidFill>
                <a:prstDash val="solid"/>
                <a:round/>
              </a:ln>
              <a:effectLst/>
            </c:spPr>
          </c:marker>
          <c:cat>
            <c:multiLvlStrRef>
              <c:f>Sheet1!$A$2:$A$27</c:f>
              <c:multiLvlStrCache>
                <c:ptCount val="26"/>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lvl>
              </c:multiLvlStrCache>
            </c:multiLvlStrRef>
          </c:cat>
          <c:val>
            <c:numRef>
              <c:f>Sheet1!$E$2:$E$27</c:f>
              <c:numCache>
                <c:formatCode>General</c:formatCode>
                <c:ptCount val="26"/>
                <c:pt idx="7">
                  <c:v>-34099</c:v>
                </c:pt>
                <c:pt idx="12">
                  <c:v>-96319</c:v>
                </c:pt>
                <c:pt idx="24">
                  <c:v>-113736</c:v>
                </c:pt>
              </c:numCache>
            </c:numRef>
          </c:val>
          <c:smooth val="0"/>
        </c:ser>
        <c:dLbls>
          <c:numFmt formatCode="$#,##0;($#,##0)" sourceLinked="0"/>
          <c:txPr>
            <a:bodyPr/>
            <a:lstStyle/>
            <a:p>
              <a:pPr>
                <a:defRPr b="1" i="0" strike="noStrike" sz="1000" u="none">
                  <a:solidFill>
                    <a:srgbClr val="FF4FD8"/>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9AA5C4"/>
                    </a:solidFill>
                    <a:latin typeface="+mn-lt"/>
                  </a:defRPr>
                </a:pPr>
                <a:r>
                  <a:rPr sz="1000" b="0" i="0" u="none" strike="noStrike">
                    <a:solidFill>
                      <a:srgbClr val="9AA5C4"/>
                    </a:solidFill>
                    <a:latin typeface="+mn-lt"/>
                  </a:rPr>
                  <a:t>Model month</a:t>
                </a:r>
              </a:p>
            </c:rich>
          </c:tx>
          <c:layout/>
          <c:overlay val="0"/>
        </c:title>
        <c:numFmt formatCode="General" sourceLinked="1"/>
        <c:majorTickMark val="out"/>
        <c:minorTickMark val="none"/>
        <c:tickLblPos val="low"/>
        <c:spPr>
          <a:ln w="12700" cap="flat">
            <a:noFill/>
            <a:prstDash val="solid"/>
            <a:round/>
          </a:ln>
        </c:spPr>
        <c:txPr>
          <a:bodyPr/>
          <a:lstStyle/>
          <a:p>
            <a:pPr>
              <a:defRPr sz="1100" b="0" i="0" u="none" strike="noStrike">
                <a:solidFill>
                  <a:srgbClr val="9AA5C4"/>
                </a:solidFill>
                <a:latin typeface="+mn-lt"/>
              </a:defRPr>
            </a:pPr>
            <a:endParaRPr lang="en-US"/>
          </a:p>
        </c:txPr>
        <c:crossAx val="2094734552"/>
        <c:crosses val="autoZero"/>
        <c:auto val="1"/>
        <c:lblAlgn val="ctr"/>
        <c:noMultiLvlLbl val="1"/>
      </c:catAx>
      <c:valAx>
        <c:axId val="2094734552"/>
        <c:scaling>
          <c:orientation val="minMax"/>
          <c:max val="600000"/>
          <c:min val="-150000"/>
        </c:scaling>
        <c:delete val="0"/>
        <c:axPos val="l"/>
        <c:majorGridlines>
          <c:spPr>
            <a:ln w="6350" cap="flat">
              <a:solidFill>
                <a:srgbClr val="26304F"/>
              </a:solidFill>
              <a:prstDash val="solid"/>
              <a:round/>
            </a:ln>
          </c:spPr>
        </c:majorGridlines>
        <c:numFmt formatCode="$#,##0,&quot;K&quot;;($#,##0,&quot;K&quot;)" sourceLinked="0"/>
        <c:majorTickMark val="out"/>
        <c:minorTickMark val="none"/>
        <c:tickLblPos val="nextTo"/>
        <c:spPr>
          <a:ln w="12700" cap="flat">
            <a:noFill/>
            <a:prstDash val="solid"/>
            <a:round/>
          </a:ln>
        </c:spPr>
        <c:txPr>
          <a:bodyPr/>
          <a:lstStyle/>
          <a:p>
            <a:pPr>
              <a:defRPr sz="1100" b="0" i="0" u="none" strike="noStrike">
                <a:solidFill>
                  <a:srgbClr val="9AA5C4"/>
                </a:solidFill>
                <a:latin typeface="+mn-lt"/>
              </a:defRPr>
            </a:pPr>
            <a:endParaRPr lang="en-US"/>
          </a:p>
        </c:txPr>
        <c:crossAx val="2094734554"/>
        <c:crosses val="autoZero"/>
        <c:crossBetween val="between"/>
        <c:majorUnit val="150000"/>
      </c:valAx>
      <c:spPr>
        <a:solidFill>
          <a:srgbClr val="141C36"/>
        </a:solidFill>
        <a:ln>
          <a:noFill/>
        </a:ln>
        <a:effectLst/>
      </c:spPr>
    </c:plotArea>
    <c:legend>
      <c:legendPos val="b"/>
      <c:overlay val="0"/>
      <c:txPr>
        <a:bodyPr/>
        <a:lstStyle/>
        <a:p>
          <a:pPr>
            <a:defRPr sz="1100">
              <a:solidFill>
                <a:srgbClr val="9AA5C4"/>
              </a:solidFill>
              <a:latin typeface="+mn-lt"/>
              <a:cs typeface="+mn-lt"/>
            </a:defRPr>
          </a:pPr>
          <a:endParaRPr lang="en-US"/>
        </a:p>
      </c:txPr>
    </c:legend>
    <c:plotVisOnly val="1"/>
    <c:dispBlanksAs val="gap"/>
  </c:chart>
  <c:spPr>
    <a:solidFill>
      <a:srgbClr val="141C36"/>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stacked"/>
        <c:varyColors val="0"/>
        <c:ser>
          <c:idx val="0"/>
          <c:order val="0"/>
          <c:tx>
            <c:strRef>
              <c:f>Sheet1!$B$1</c:f>
              <c:strCache>
                <c:ptCount val="1"/>
                <c:pt idx="0">
                  <c:v>Downside</c:v>
                </c:pt>
              </c:strCache>
            </c:strRef>
          </c:tx>
          <c:spPr>
            <a:solidFill>
              <a:srgbClr val="FF4FD8"/>
            </a:solidFill>
            <a:effectLst/>
          </c:spPr>
          <c:invertIfNegative val="0"/>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cat>
            <c:multiLvlStrRef>
              <c:f>Sheet1!$A$2:$A$7</c:f>
              <c:multiLvlStrCache>
                <c:ptCount val="6"/>
                <c:lvl>
                  <c:pt idx="0">
                    <c:v>Return rate</c:v>
                  </c:pt>
                  <c:pt idx="1">
                    <c:v>FX (KRW per USD)</c:v>
                  </c:pt>
                  <c:pt idx="2">
                    <c:v>Ad spend</c:v>
                  </c:pt>
                  <c:pt idx="3">
                    <c:v>ASP</c:v>
                  </c:pt>
                  <c:pt idx="4">
                    <c:v>Duty rate</c:v>
                  </c:pt>
                  <c:pt idx="5">
                    <c:v>Factory cost (FOB)</c:v>
                  </c:pt>
                </c:lvl>
              </c:multiLvlStrCache>
            </c:multiLvlStrRef>
          </c:cat>
          <c:val>
            <c:numRef>
              <c:f>Sheet1!$B$2:$B$7</c:f>
              <c:numCache>
                <c:formatCode>General</c:formatCode>
                <c:ptCount val="6"/>
                <c:pt idx="0">
                  <c:v>-114406</c:v>
                </c:pt>
                <c:pt idx="1">
                  <c:v>-85094</c:v>
                </c:pt>
                <c:pt idx="2">
                  <c:v>-137287</c:v>
                </c:pt>
                <c:pt idx="3">
                  <c:v>-150502</c:v>
                </c:pt>
                <c:pt idx="4">
                  <c:v>-85094</c:v>
                </c:pt>
                <c:pt idx="5">
                  <c:v>-1958155</c:v>
                </c:pt>
              </c:numCache>
            </c:numRef>
          </c:val>
        </c:ser>
        <c:ser>
          <c:idx val="1"/>
          <c:order val="1"/>
          <c:tx>
            <c:strRef>
              <c:f>Sheet1!$C$1</c:f>
              <c:strCache>
                <c:ptCount val="1"/>
                <c:pt idx="0">
                  <c:v>Upside</c:v>
                </c:pt>
              </c:strCache>
            </c:strRef>
          </c:tx>
          <c:spPr>
            <a:solidFill>
              <a:srgbClr val="3DDC97"/>
            </a:solidFill>
            <a:effectLst/>
          </c:spPr>
          <c:invertIfNegative val="0"/>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cat>
            <c:multiLvlStrRef>
              <c:f>Sheet1!$A$2:$A$7</c:f>
              <c:multiLvlStrCache>
                <c:ptCount val="6"/>
                <c:lvl>
                  <c:pt idx="0">
                    <c:v>Return rate</c:v>
                  </c:pt>
                  <c:pt idx="1">
                    <c:v>FX (KRW per USD)</c:v>
                  </c:pt>
                  <c:pt idx="2">
                    <c:v>Ad spend</c:v>
                  </c:pt>
                  <c:pt idx="3">
                    <c:v>ASP</c:v>
                  </c:pt>
                  <c:pt idx="4">
                    <c:v>Duty rate</c:v>
                  </c:pt>
                  <c:pt idx="5">
                    <c:v>Factory cost (FOB)</c:v>
                  </c:pt>
                </c:lvl>
              </c:multiLvlStrCache>
            </c:multiLvlStrRef>
          </c:cat>
          <c:val>
            <c:numRef>
              <c:f>Sheet1!$C$2:$C$7</c:f>
              <c:numCache>
                <c:formatCode>General</c:formatCode>
                <c:ptCount val="6"/>
                <c:pt idx="0">
                  <c:v>22881</c:v>
                </c:pt>
                <c:pt idx="1">
                  <c:v>65879</c:v>
                </c:pt>
                <c:pt idx="2">
                  <c:v>137287</c:v>
                </c:pt>
                <c:pt idx="3">
                  <c:v>150502</c:v>
                </c:pt>
                <c:pt idx="4">
                  <c:v>234858</c:v>
                </c:pt>
                <c:pt idx="5">
                  <c:v>119216</c:v>
                </c:pt>
              </c:numCache>
            </c:numRef>
          </c:val>
        </c:ser>
        <c:dLbls>
          <c:numFmt formatCode="#,##0" sourceLinked="0"/>
          <c:txPr>
            <a:bodyPr/>
            <a:lstStyle/>
            <a:p>
              <a:pPr>
                <a:defRPr b="0" i="0" strike="noStrike" sz="1100" u="none">
                  <a:solidFill>
                    <a:srgbClr val="F3F6FF"/>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noFill/>
            <a:prstDash val="solid"/>
            <a:round/>
          </a:ln>
        </c:spPr>
        <c:txPr>
          <a:bodyPr/>
          <a:lstStyle/>
          <a:p>
            <a:pPr>
              <a:defRPr sz="1000" b="0" i="0" u="none" strike="noStrike">
                <a:solidFill>
                  <a:srgbClr val="9AA5C4"/>
                </a:solidFill>
                <a:latin typeface="+mn-lt"/>
              </a:defRPr>
            </a:pPr>
            <a:endParaRPr lang="en-US"/>
          </a:p>
        </c:txPr>
        <c:crossAx val="2094734552"/>
        <c:crosses val="autoZero"/>
        <c:auto val="1"/>
        <c:lblAlgn val="ctr"/>
        <c:noMultiLvlLbl val="1"/>
      </c:catAx>
      <c:valAx>
        <c:axId val="2094734552"/>
        <c:scaling>
          <c:orientation val="minMax"/>
          <c:max val="300000"/>
          <c:min val="-400000"/>
        </c:scaling>
        <c:delete val="0"/>
        <c:axPos val="b"/>
        <c:majorGridlines>
          <c:spPr>
            <a:ln w="6350" cap="flat">
              <a:solidFill>
                <a:srgbClr val="26304F"/>
              </a:solidFill>
              <a:prstDash val="solid"/>
              <a:round/>
            </a:ln>
          </c:spPr>
        </c:majorGridlines>
        <c:numFmt formatCode="$#,##0,&quot;K&quot;;($#,##0,&quot;K&quot;)" sourceLinked="0"/>
        <c:majorTickMark val="out"/>
        <c:minorTickMark val="none"/>
        <c:tickLblPos val="low"/>
        <c:spPr>
          <a:ln w="12700" cap="flat">
            <a:noFill/>
            <a:prstDash val="solid"/>
            <a:round/>
          </a:ln>
        </c:spPr>
        <c:txPr>
          <a:bodyPr/>
          <a:lstStyle/>
          <a:p>
            <a:pPr>
              <a:defRPr sz="1100" b="0" i="0" u="none" strike="noStrike">
                <a:solidFill>
                  <a:srgbClr val="9AA5C4"/>
                </a:solidFill>
                <a:latin typeface="+mn-lt"/>
              </a:defRPr>
            </a:pPr>
            <a:endParaRPr lang="en-US"/>
          </a:p>
        </c:txPr>
        <c:crossAx val="2094734554"/>
        <c:crosses val="autoZero"/>
        <c:crossBetween val="between"/>
        <c:majorUnit val="100000"/>
      </c:valAx>
      <c:spPr>
        <a:solidFill>
          <a:srgbClr val="141C36"/>
        </a:solidFill>
        <a:ln>
          <a:noFill/>
        </a:ln>
        <a:effectLst/>
      </c:spPr>
    </c:plotArea>
    <c:legend>
      <c:legendPos val="b"/>
      <c:overlay val="0"/>
      <c:txPr>
        <a:bodyPr/>
        <a:lstStyle/>
        <a:p>
          <a:pPr>
            <a:defRPr sz="1100">
              <a:solidFill>
                <a:srgbClr val="9AA5C4"/>
              </a:solidFill>
              <a:latin typeface="+mn-lt"/>
              <a:cs typeface="+mn-lt"/>
            </a:defRPr>
          </a:pPr>
          <a:endParaRPr lang="en-US"/>
        </a:p>
      </c:txPr>
    </c:legend>
    <c:plotVisOnly val="1"/>
    <c:dispBlanksAs val="span"/>
  </c:chart>
  <c:spPr>
    <a:solidFill>
      <a:srgbClr val="141C3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asks Lucy for three decisions: fund the launch, form the Wyoming LLC with her as sole owner, and run a 90 day test with written kill criteria. The numbers are the Medium case from the financial model unless a slide says otherwise. The brand name is still open, so BRAND stands in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numbers carry the story: $1.17M of revenue and $153K of net in 18 months, breakeven in Month 8, $4.58M in Year 5, and a $116K line of credit needed by Month 2. The Low case never breaks even in 18 months and trips the Month 12 kill criteria. The two assumptions that matter most are the factory cost and the duty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decisions are sequenced: funding first, because the ODI report and the LLC bank account depend on it; entity second; the test third. Each decision has a number attached so it can be checked later. Items not decided today are parked, not forgotten.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strategy rests on one physical fact: at 48Gbps passive copper stops working at about 3 m. Above that length the buyer needs active electronics or fiber, and that is where price competition with commodity copper disappears. The direction sensitivity of active cables is a real drawback that our direction proof design turns into a selling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segments buy long HDMI and every one of them is poorly served by copper. Segment sizes are placeholders until a source is found; we do not invent market sizes. The one hard data point is the Korea deal mix, which says the 8K short runs sell best and earn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ladder runs from the 7 m to the 20 m 8K cable plus the 30 m 4K cable, all under one parent ASIN. The hero is the 10 m 8K cable at $44.99. The per unit net figures use the bottom up H2 cost base, so they are better than the August model's 38% landed assumption; slide 22 shows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SKUs exist today; five launch. The 8K 25 m and 50 m and the three remaining 4K lengths follow once the parent ASIN has reviews. The roadmap products are real factory items but their US timing and the 3% ASP uplift are management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differentiator is tied to a number in the model or to a channel. The direction proof design moves the return rate, the guarantee and the registration build the email list that feeds the DTC channel in Year 3, and CL3 plus the detachable head open the installer channel in Year 2. None of them require new tooling beyond the factory's existing line, pending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brand sits above two consumer lines and a pro line, each with one parent ASIN. The naming rule is a licensing requirement, not a style choice: version numbers on the box invite a seizure. The trademark is separate from the entity and must be filed by a US licensed attorney; a pending application is enough for Brand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Wyoming is cheap, private and has no state income tax; Delaware only pays off if investors arrive. The two things that keep US tax to zero are the treaty PE rule and discipline about who signs contracts. Form 5472 is the filing people forget and the penalty is $25,000, so it goes on the compliance calendar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ODI report is the step that cannot be done late: it comes before the capital transfer, not after. The follow up reports are routine but must be diarised. The sole proprietorship question is for the Korean tax accountant; the deck assumes personal ownership and flags the alternative.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compliance items, three of them waiting on factory documents. Nothing ships until the HDMI Adopter proof and the FCC report are in the file, because a seizure at the port is the one failure that stops everything at once. The insurance trigger lands in Month 2 of the Medium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duty scenarios bracket the plan. The binding ruling request goes to CBP in week 1 and takes 30 to 90 days. The fiber classification is worth about $53K of 18 month net and cuts the funding gap; the stress case costs $19K. The 12.5% forced labor rate applies either way, so the plan never assumes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steps, each with an owner and a week: 1. Brand name and trademark. Lucy, attorney. Weeks 1 to 2 2. Wyoming LLC and EIN, exact legal name match. Lucy, attorney. Weeks 1 to 2 3. Korean ODI report before the capital transfer. Lucy, tax accountant. Week 2 4. USD bank account (Mercury or Relay). Lucy, Mark. Weeks 2 to 3 5. Customs broker, continuous bond, binding ruling filed. Mark, broker. Week 1 6. Amazon Professional account, tax interview, Brand Registry. Lucy, Mark. Weeks 3 to 4 7. Test inventory: 5 hero SKUs, 100 to 300 units each, air DDP, QC before departure. Lucy, factory. Weeks 4 to 8 8. Listings, images, A+ content, video, PPC. Mark, VA. Weeks 6 to 9 9. 90 day validation: conversion, TACOS, return rate, contribution per SKU. Mark, Lucy. Weeks 10 to 22 10. Scale winners on ocean freight, delist losers. Lucy, Mark, 3PL. Week 22 onward The three that gate everything else are the broker and ruling request in week 1, the ODI report before the capital transfer, and the Brand Registry application. Weeks 10 to 22 are the test itself; the gate decision is made at week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numbers are written down before the first purchase order so nobody argues with them later. Any single kill trigger kills; passing needs every threshold. The Low case reads REVIEW at Day 90 and KILL at Month 12, which is the point: the model itself says when to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unit of the hero cable earns $8.00 net on Amazon against $1.86 gross in Korea wholesale: more than four times the profit on the same physical product. The waterfall uses the August model's 38% landed cost assumption, which is conservative against the H2 cost base but optimistic against the Alibaba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built on the H2 purchase costs from the August deal, converted to an FOB value. An Alibaba quote for a comparable cable is two to three times higher. If the real US price is anywhere near that quote the hero SKU is a loss at $44.99, so the written factory quote is the first action, before any entity or account is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shows Medium revenue and net by month with Low and High as thinner lines. Medium breaks even on a cumulative basis in Month 8 and exits Month 18 at a $1.54M run rate with a 17.2% margin. Low never breaks even inside 18 months; High breaks even in Month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Medium case reaches $4.58M in Year 5 at 13.4% net, inside the $4M to $5M target band. High reaches $8.30M; Low stalls at $768K with ($2K) net, which is the kill case. Amazon US stays the largest channel in every year but falls to about half of revenue by Year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band is a set of conditions, not a forecast. Medium needs ocean freight after the gate, 30% then 20% then 12% unit growth, and the channel adds on schedule. High needs the fiber ruling plus volume pricing. Low is what happens with the copper rate, air freight, flat units and one lost quarter from a listing suppression.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Channels are added one at a time and only after the gate before them passes. eBay costs almost nothing extra; the B2B program is Mark's main Year 2 project; the DTC site waits until the email list exists. Amazon Canada and the pro line are Year 4 because they need the US line to be proven first. Channels added by year: Year 1 Amazon US only with 5 hero SKUs under one parent ASIN; Year 2 eBay and Walmart overflow ($122K) and the B2B installer program ($120K); Year 3 the DTC site ($100K) and roadmap SKUs; Year 4 Amazon Canada ($120K) and the pro line ($150K); Year 5 scale every channel, Temu optional and not in the base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capital is what kills cable businesses, not margin. Even the Medium case, profitable from Month 4, dips to $96K below zero in Month 12 because inventory is bought two and a half months ahead and Amazon pays 14 days late. The line of credit must be in place by Month 2, before the balance first goes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August ask was $39K; the model says that covers the launch but not the inventory ramp. The honest number is $39K of capital plus a $116K line in the Medium case, dated Month 2. The Low case needs more money and then fails the Month 12 gate, so the kill criteria protect the lender as much as the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Factory cost dominates every other driver, which is why the written FOB quote is the first action. After that the duty ruling, ASP and ad spend each move Year 5 net by roughly $299K. FX matters less than people expect because the only KRW exposure is the purchase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lever maps to one assumption cell in the workbook, so each can be tested on its own. The ruling, ocean freight and the FBA size tier are worth the most in 18 months. Levers 11 and 12 are channel levers whose effect shows up in Years 2 and 3, not in the 18 month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playbook is deliberately narrow: win the long length fiber searches, pool reviews on one parent, and spend heavily only in the first three months. Each card points at a lever on slide 30 so marketing activity and model assumptions stay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people run this for the first two years with four outside professionals. The treaty position shapes the org chart: no US office, no US employees, and Mark never signs a contract for the LLC. Fixed costs stay under $17K a year until Year 3, when the consulting retainer and a VA are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risks, two of which can end the plan before it starts: the factory cost gap and the licensing documents. The rest are managed by the gates, the funding line and the compliance calendar. The full register has 25 or more risks with scores and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tree makes the gate mechanical: five kill triggers, six pass tests, one retest allowed. Plan B is small, around $50K of net in its third year, but it keeps the factory relationship and the Korea business alive if Amazon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four items: the money, the structure, the factory facts and the discipline to stop if the numbers say so. In exchange the Medium case returns $1.93M of cumulative net over five years. If the factory quote fails, the ask is withdrawn before any entity is 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days of setup before any inventory moves. Week 1 is about facts and engagements, week 2 about filings, week 3 about money and accounts, week 4 about Amazon and the first order. The three Monday actions are the ones that unblock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acronym used in the deck, in the shared wording used across the whole package. The same definitions appear in 05_Operating_Processes and 09_Amazon_Listing_Kit so every document uses one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965960"/>
            <a:ext cx="8412480" cy="1463040"/>
          </a:xfrm>
          <a:prstGeom prst="rect">
            <a:avLst/>
          </a:prstGeom>
          <a:noFill/>
          <a:ln/>
        </p:spPr>
        <p:txBody>
          <a:bodyPr wrap="square" rtlCol="0"/>
          <a:lstStyle>
            <a:lvl1pPr algn="l" indent="0" marL="0">
              <a:buNone/>
              <a:defRPr lang="en-US" sz="4000" b="1" dirty="0">
                <a:solidFill>
                  <a:srgbClr val="F3F6FF"/>
                </a:solidFill>
              </a:defRPr>
            </a:lvl1pPr>
          </a:lstStyle>
          <a:p>
            <a:pPr algn="l" indent="0" marL="0">
              <a:buNone/>
            </a:pPr>
            <a:endParaRPr lang="en-US" sz="4000" dirty="0"/>
          </a:p>
        </p:txBody>
      </p:sp>
      <p:sp>
        <p:nvSpPr>
          <p:cNvPr id="3" name="Text 0"/>
          <p:cNvSpPr/>
          <p:nvPr>
            <p:ph idx="101" type="body" hasCustomPrompt="1"/>
          </p:nvPr>
        </p:nvSpPr>
        <p:spPr>
          <a:xfrm>
            <a:off x="685800" y="3520440"/>
            <a:ext cx="7863840" cy="1005840"/>
          </a:xfrm>
          <a:prstGeom prst="rect">
            <a:avLst/>
          </a:prstGeom>
          <a:noFill/>
          <a:ln/>
        </p:spPr>
        <p:txBody>
          <a:bodyPr wrap="square" rtlCol="0"/>
          <a:lstStyle>
            <a:lvl1pPr indent="0" marL="0">
              <a:buNone/>
              <a:defRPr lang="en-US" sz="1800" dirty="0">
                <a:solidFill>
                  <a:srgbClr val="9AA5C4"/>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3749040"/>
            <a:ext cx="9144000" cy="1005840"/>
          </a:xfrm>
          <a:prstGeom prst="rect">
            <a:avLst/>
          </a:prstGeom>
          <a:noFill/>
          <a:ln/>
        </p:spPr>
        <p:txBody>
          <a:bodyPr wrap="square" rtlCol="0"/>
          <a:lstStyle>
            <a:lvl1pPr algn="l" indent="0" marL="0">
              <a:buNone/>
              <a:defRPr lang="en-US" sz="3600" b="1" dirty="0">
                <a:solidFill>
                  <a:srgbClr val="F3F6FF"/>
                </a:solidFill>
              </a:defRPr>
            </a:lvl1pPr>
          </a:lstStyle>
          <a:p>
            <a:pPr algn="l" indent="0" marL="0">
              <a:buNone/>
            </a:pPr>
            <a:endParaRPr lang="en-US" sz="3600" dirty="0"/>
          </a:p>
        </p:txBody>
      </p:sp>
      <p:sp>
        <p:nvSpPr>
          <p:cNvPr id="3" name="Text 0"/>
          <p:cNvSpPr/>
          <p:nvPr>
            <p:ph idx="101" type="body" hasCustomPrompt="1"/>
          </p:nvPr>
        </p:nvSpPr>
        <p:spPr>
          <a:xfrm>
            <a:off x="685800" y="4800600"/>
            <a:ext cx="9144000" cy="457200"/>
          </a:xfrm>
          <a:prstGeom prst="rect">
            <a:avLst/>
          </a:prstGeom>
          <a:noFill/>
          <a:ln/>
        </p:spPr>
        <p:txBody>
          <a:bodyPr wrap="square" rtlCol="0"/>
          <a:lstStyle>
            <a:lvl1pPr indent="0" marL="0">
              <a:buNone/>
              <a:defRPr lang="en-US" sz="1600" dirty="0">
                <a:solidFill>
                  <a:srgbClr val="2DE2FF"/>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0A0F1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rtlCol="0"/>
          <a:lstStyle>
            <a:lvl1pPr indent="0" marL="0">
              <a:buNone/>
              <a:defRPr lang="en-US" sz="3200" b="1" dirty="0">
                <a:solidFill>
                  <a:srgbClr val="F3F6FF"/>
                </a:solidFill>
              </a:defRPr>
            </a:lvl1pPr>
          </a:lstStyle>
          <a:p>
            <a:pPr indent="0" marL="0">
              <a:buNone/>
            </a:pPr>
            <a:endParaRPr lang="en-US" sz="3200" dirty="0"/>
          </a:p>
        </p:txBody>
      </p:sp>
      <p:sp>
        <p:nvSpPr>
          <p:cNvPr id="3" name="Text 0"/>
          <p:cNvSpPr/>
          <p:nvPr/>
        </p:nvSpPr>
        <p:spPr>
          <a:xfrm>
            <a:off x="457200" y="6400800"/>
            <a:ext cx="10241280" cy="274320"/>
          </a:xfrm>
          <a:prstGeom prst="rect">
            <a:avLst/>
          </a:prstGeom>
          <a:noFill/>
          <a:ln/>
        </p:spPr>
        <p:txBody>
          <a:bodyPr wrap="square" lIns="0" tIns="0" rIns="0" bIns="0" rtlCol="0" anchor="ctr"/>
          <a:lstStyle/>
          <a:p>
            <a:pPr indent="0" marL="0">
              <a:buNone/>
            </a:pPr>
            <a:r>
              <a:rPr lang="en-US" sz="900" dirty="0">
                <a:solidFill>
                  <a:srgbClr val="9AA5C4"/>
                </a:solidFill>
              </a:rPr>
              <a:t>BRAND US launch proposal. Figures from 03_Financial_Model_5Y.xlsx, Medium case, FX 1,430 KRW per USD, Copper duty, unless stated</a:t>
            </a:r>
            <a:endParaRPr lang="en-US" sz="9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4.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4.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1325880"/>
            <a:ext cx="5486400" cy="548640"/>
          </a:xfrm>
          <a:prstGeom prst="rect">
            <a:avLst/>
          </a:prstGeom>
          <a:noFill/>
          <a:ln/>
        </p:spPr>
        <p:txBody>
          <a:bodyPr wrap="square" lIns="0" tIns="0" rIns="0" bIns="0" rtlCol="0" anchor="t"/>
          <a:lstStyle/>
          <a:p>
            <a:pPr algn="l" indent="0" marL="0">
              <a:buNone/>
            </a:pPr>
            <a:r>
              <a:rPr lang="en-US" sz="2400" b="1" spc="600" kern="0" dirty="0">
                <a:solidFill>
                  <a:schemeClr val="accent1"/>
                </a:solidFill>
              </a:rPr>
              <a:t>BRAND</a:t>
            </a:r>
            <a:endParaRPr lang="en-US" sz="2400" dirty="0"/>
          </a:p>
        </p:txBody>
      </p:sp>
      <p:sp>
        <p:nvSpPr>
          <p:cNvPr id="3" name="Text 0"/>
          <p:cNvSpPr/>
          <p:nvPr>
            <p:ph idx="100" type="title" hasCustomPrompt="1"/>
          </p:nvPr>
        </p:nvSpPr>
        <p:spPr>
          <a:xfrm>
            <a:off x="685800" y="1965960"/>
            <a:ext cx="8412480" cy="1463040"/>
          </a:xfrm>
          <a:prstGeom prst="rect">
            <a:avLst/>
          </a:prstGeom>
          <a:noFill/>
          <a:ln/>
        </p:spPr>
        <p:txBody>
          <a:bodyPr wrap="square" lIns="0" tIns="0" rIns="0" bIns="0" rtlCol="0" anchor="b"/>
          <a:lstStyle/>
          <a:p>
            <a:pPr algn="l" indent="0" marL="0">
              <a:buNone/>
            </a:pPr>
            <a:r>
              <a:rPr lang="en-US" sz="4000" b="1" dirty="0">
                <a:solidFill>
                  <a:srgbClr val="F3F6FF"/>
                </a:solidFill>
              </a:rPr>
              <a:t>Sell the signal, not the cable</a:t>
            </a:r>
            <a:endParaRPr lang="en-US" sz="4000" dirty="0"/>
          </a:p>
        </p:txBody>
      </p:sp>
      <p:sp>
        <p:nvSpPr>
          <p:cNvPr id="4" name="Text 0"/>
          <p:cNvSpPr/>
          <p:nvPr>
            <p:ph idx="101" type="body" hasCustomPrompt="1"/>
          </p:nvPr>
        </p:nvSpPr>
        <p:spPr>
          <a:xfrm>
            <a:off x="685800" y="3520440"/>
            <a:ext cx="7863840" cy="1005840"/>
          </a:xfrm>
          <a:prstGeom prst="rect">
            <a:avLst/>
          </a:prstGeom>
          <a:noFill/>
          <a:ln/>
        </p:spPr>
        <p:txBody>
          <a:bodyPr wrap="square" lIns="0" tIns="0" rIns="0" bIns="0" rtlCol="0" anchor="t"/>
          <a:lstStyle/>
          <a:p>
            <a:pPr indent="0" marL="0">
              <a:buNone/>
            </a:pPr>
            <a:r>
              <a:rPr lang="en-US" sz="1800" dirty="0">
                <a:solidFill>
                  <a:srgbClr val="9AA5C4"/>
                </a:solidFill>
              </a:rPr>
              <a:t>US launch proposal for hybrid active optical HDMI cables. Amazon US first, then four more channels over five years.</a:t>
            </a:r>
            <a:endParaRPr lang="en-US" sz="1800" dirty="0"/>
          </a:p>
        </p:txBody>
      </p:sp>
      <p:sp>
        <p:nvSpPr>
          <p:cNvPr id="5" name="Shape 3"/>
          <p:cNvSpPr/>
          <p:nvPr/>
        </p:nvSpPr>
        <p:spPr>
          <a:xfrm>
            <a:off x="548640" y="5532120"/>
            <a:ext cx="9052560" cy="914400"/>
          </a:xfrm>
          <a:prstGeom prst="roundRect">
            <a:avLst>
              <a:gd name="adj" fmla="val 8000"/>
            </a:avLst>
          </a:prstGeom>
          <a:solidFill>
            <a:srgbClr val="0A0F1E">
              <a:alpha val="70000"/>
            </a:srgbClr>
          </a:solidFill>
          <a:ln w="12700">
            <a:solidFill>
              <a:srgbClr val="0A0F1E">
                <a:alpha val="70000"/>
              </a:srgbClr>
            </a:solidFill>
            <a:prstDash val="solid"/>
          </a:ln>
        </p:spPr>
      </p:sp>
      <p:sp>
        <p:nvSpPr>
          <p:cNvPr id="6" name="Text 4"/>
          <p:cNvSpPr txBox="1"/>
          <p:nvPr/>
        </p:nvSpPr>
        <p:spPr>
          <a:xfrm>
            <a:off x="685800" y="5623560"/>
            <a:ext cx="8686800" cy="320040"/>
          </a:xfrm>
          <a:prstGeom prst="rect">
            <a:avLst/>
          </a:prstGeom>
          <a:noFill/>
          <a:ln/>
        </p:spPr>
        <p:txBody>
          <a:bodyPr wrap="square" lIns="0" tIns="0" rIns="0" bIns="0" rtlCol="0" anchor="t"/>
          <a:lstStyle/>
          <a:p>
            <a:pPr algn="l" indent="0" marL="0">
              <a:buNone/>
            </a:pPr>
            <a:r>
              <a:rPr lang="en-US" sz="1200" dirty="0">
                <a:solidFill>
                  <a:schemeClr val="tx2"/>
                </a:solidFill>
              </a:rPr>
              <a:t>H2 Company (Seoul) and BRAND LLC (Wyoming, to be formed). Owner: Lucy (Hyejin Yoo). US operations support: Mark Taylor.</a:t>
            </a:r>
            <a:endParaRPr lang="en-US" sz="1200" dirty="0"/>
          </a:p>
        </p:txBody>
      </p:sp>
      <p:sp>
        <p:nvSpPr>
          <p:cNvPr id="7" name="Text 5"/>
          <p:cNvSpPr txBox="1"/>
          <p:nvPr/>
        </p:nvSpPr>
        <p:spPr>
          <a:xfrm>
            <a:off x="685800" y="5943600"/>
            <a:ext cx="8686800" cy="457200"/>
          </a:xfrm>
          <a:prstGeom prst="rect">
            <a:avLst/>
          </a:prstGeom>
          <a:noFill/>
          <a:ln/>
        </p:spPr>
        <p:txBody>
          <a:bodyPr wrap="square" lIns="0" tIns="0" rIns="0" bIns="0" rtlCol="0" anchor="t"/>
          <a:lstStyle/>
          <a:p>
            <a:pPr algn="l" indent="0" marL="0">
              <a:buNone/>
            </a:pPr>
            <a:r>
              <a:rPr lang="en-US" sz="1200" dirty="0">
                <a:solidFill>
                  <a:schemeClr val="tx2"/>
                </a:solidFill>
              </a:rPr>
              <a:t>Prepared October 8, 2026. Every figure comes from 03_Financial_Model_5Y.xlsx. BRAND is a placeholder until the US brand name is chosen.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Executive summary in five numbers</a:t>
            </a:r>
            <a:endParaRPr lang="en-US" sz="3200" dirty="0"/>
          </a:p>
        </p:txBody>
      </p:sp>
      <p:sp>
        <p:nvSpPr>
          <p:cNvPr id="4" name="card"/>
          <p:cNvSpPr/>
          <p:nvPr/>
        </p:nvSpPr>
        <p:spPr>
          <a:xfrm>
            <a:off x="457200" y="1188720"/>
            <a:ext cx="2036003" cy="1920240"/>
          </a:xfrm>
          <a:prstGeom prst="roundRect">
            <a:avLst>
              <a:gd name="adj" fmla="val 5714"/>
            </a:avLst>
          </a:prstGeom>
          <a:solidFill>
            <a:schemeClr val="bg2"/>
          </a:solidFill>
          <a:ln w="12700">
            <a:solidFill>
              <a:srgbClr val="141C36"/>
            </a:solidFill>
            <a:prstDash val="solid"/>
          </a:ln>
        </p:spPr>
      </p:sp>
      <p:sp>
        <p:nvSpPr>
          <p:cNvPr id="5" name="Text 2"/>
          <p:cNvSpPr txBox="1"/>
          <p:nvPr/>
        </p:nvSpPr>
        <p:spPr>
          <a:xfrm>
            <a:off x="640080" y="1325880"/>
            <a:ext cx="1670243" cy="685800"/>
          </a:xfrm>
          <a:prstGeom prst="rect">
            <a:avLst/>
          </a:prstGeom>
          <a:noFill/>
          <a:ln/>
        </p:spPr>
        <p:txBody>
          <a:bodyPr wrap="square" lIns="0" tIns="0" rIns="0" bIns="0" rtlCol="0" anchor="ctr"/>
          <a:lstStyle/>
          <a:p>
            <a:pPr algn="l" indent="0" marL="0">
              <a:buNone/>
            </a:pPr>
            <a:r>
              <a:rPr lang="en-US" sz="3000" b="1" dirty="0">
                <a:solidFill>
                  <a:schemeClr val="accent1"/>
                </a:solidFill>
              </a:rPr>
              <a:t>$1.17M</a:t>
            </a:r>
            <a:endParaRPr lang="en-US" sz="3000" dirty="0"/>
          </a:p>
        </p:txBody>
      </p:sp>
      <p:sp>
        <p:nvSpPr>
          <p:cNvPr id="6" name="Text 3"/>
          <p:cNvSpPr txBox="1"/>
          <p:nvPr/>
        </p:nvSpPr>
        <p:spPr>
          <a:xfrm>
            <a:off x="640080" y="2057400"/>
            <a:ext cx="1670243" cy="548640"/>
          </a:xfrm>
          <a:prstGeom prst="rect">
            <a:avLst/>
          </a:prstGeom>
          <a:noFill/>
          <a:ln/>
        </p:spPr>
        <p:txBody>
          <a:bodyPr wrap="square" lIns="0" tIns="0" rIns="0" bIns="0" rtlCol="0" anchor="t"/>
          <a:lstStyle/>
          <a:p>
            <a:pPr algn="l" indent="0" marL="0">
              <a:buNone/>
            </a:pPr>
            <a:r>
              <a:rPr lang="en-US" sz="1300" dirty="0">
                <a:solidFill>
                  <a:schemeClr val="tx1"/>
                </a:solidFill>
              </a:rPr>
              <a:t>18 month Amazon US revenue, Medium case</a:t>
            </a:r>
            <a:endParaRPr lang="en-US" sz="1300" dirty="0"/>
          </a:p>
        </p:txBody>
      </p:sp>
      <p:sp>
        <p:nvSpPr>
          <p:cNvPr id="7" name="Text 4"/>
          <p:cNvSpPr txBox="1"/>
          <p:nvPr/>
        </p:nvSpPr>
        <p:spPr>
          <a:xfrm>
            <a:off x="640080" y="2560320"/>
            <a:ext cx="1670243" cy="457200"/>
          </a:xfrm>
          <a:prstGeom prst="rect">
            <a:avLst/>
          </a:prstGeom>
          <a:noFill/>
          <a:ln/>
        </p:spPr>
        <p:txBody>
          <a:bodyPr wrap="square" lIns="0" tIns="0" rIns="0" bIns="0" rtlCol="0" anchor="t"/>
          <a:lstStyle/>
          <a:p>
            <a:pPr algn="l" indent="0" marL="0">
              <a:buNone/>
            </a:pPr>
            <a:r>
              <a:rPr lang="en-US" sz="1100" dirty="0">
                <a:solidFill>
                  <a:schemeClr val="tx2"/>
                </a:solidFill>
              </a:rPr>
              <a:t>Low $633K, High $1.85M</a:t>
            </a:r>
            <a:endParaRPr lang="en-US" sz="1100" dirty="0"/>
          </a:p>
        </p:txBody>
      </p:sp>
      <p:sp>
        <p:nvSpPr>
          <p:cNvPr id="8" name="card"/>
          <p:cNvSpPr/>
          <p:nvPr/>
        </p:nvSpPr>
        <p:spPr>
          <a:xfrm>
            <a:off x="2767523" y="1188720"/>
            <a:ext cx="2036003" cy="1920240"/>
          </a:xfrm>
          <a:prstGeom prst="roundRect">
            <a:avLst>
              <a:gd name="adj" fmla="val 5714"/>
            </a:avLst>
          </a:prstGeom>
          <a:solidFill>
            <a:schemeClr val="bg2"/>
          </a:solidFill>
          <a:ln w="12700">
            <a:solidFill>
              <a:srgbClr val="141C36"/>
            </a:solidFill>
            <a:prstDash val="solid"/>
          </a:ln>
        </p:spPr>
      </p:sp>
      <p:sp>
        <p:nvSpPr>
          <p:cNvPr id="9" name="Text 6"/>
          <p:cNvSpPr txBox="1"/>
          <p:nvPr/>
        </p:nvSpPr>
        <p:spPr>
          <a:xfrm>
            <a:off x="2950403" y="1325880"/>
            <a:ext cx="1670243" cy="685800"/>
          </a:xfrm>
          <a:prstGeom prst="rect">
            <a:avLst/>
          </a:prstGeom>
          <a:noFill/>
          <a:ln/>
        </p:spPr>
        <p:txBody>
          <a:bodyPr wrap="square" lIns="0" tIns="0" rIns="0" bIns="0" rtlCol="0" anchor="ctr"/>
          <a:lstStyle/>
          <a:p>
            <a:pPr algn="l" indent="0" marL="0">
              <a:buNone/>
            </a:pPr>
            <a:r>
              <a:rPr lang="en-US" sz="3000" b="1" dirty="0">
                <a:solidFill>
                  <a:schemeClr val="accent4"/>
                </a:solidFill>
              </a:rPr>
              <a:t>$153K</a:t>
            </a:r>
            <a:endParaRPr lang="en-US" sz="3000" dirty="0"/>
          </a:p>
        </p:txBody>
      </p:sp>
      <p:sp>
        <p:nvSpPr>
          <p:cNvPr id="10" name="Text 7"/>
          <p:cNvSpPr txBox="1"/>
          <p:nvPr/>
        </p:nvSpPr>
        <p:spPr>
          <a:xfrm>
            <a:off x="2950403" y="2057400"/>
            <a:ext cx="1670243" cy="548640"/>
          </a:xfrm>
          <a:prstGeom prst="rect">
            <a:avLst/>
          </a:prstGeom>
          <a:noFill/>
          <a:ln/>
        </p:spPr>
        <p:txBody>
          <a:bodyPr wrap="square" lIns="0" tIns="0" rIns="0" bIns="0" rtlCol="0" anchor="t"/>
          <a:lstStyle/>
          <a:p>
            <a:pPr algn="l" indent="0" marL="0">
              <a:buNone/>
            </a:pPr>
            <a:r>
              <a:rPr lang="en-US" sz="1300" dirty="0">
                <a:solidFill>
                  <a:schemeClr val="tx1"/>
                </a:solidFill>
              </a:rPr>
              <a:t>18 month net, 13.1% margin</a:t>
            </a:r>
            <a:endParaRPr lang="en-US" sz="1300" dirty="0"/>
          </a:p>
        </p:txBody>
      </p:sp>
      <p:sp>
        <p:nvSpPr>
          <p:cNvPr id="11" name="Text 8"/>
          <p:cNvSpPr txBox="1"/>
          <p:nvPr/>
        </p:nvSpPr>
        <p:spPr>
          <a:xfrm>
            <a:off x="2950403" y="2560320"/>
            <a:ext cx="1670243" cy="457200"/>
          </a:xfrm>
          <a:prstGeom prst="rect">
            <a:avLst/>
          </a:prstGeom>
          <a:noFill/>
          <a:ln/>
        </p:spPr>
        <p:txBody>
          <a:bodyPr wrap="square" lIns="0" tIns="0" rIns="0" bIns="0" rtlCol="0" anchor="t"/>
          <a:lstStyle/>
          <a:p>
            <a:pPr algn="l" indent="0" marL="0">
              <a:buNone/>
            </a:pPr>
            <a:r>
              <a:rPr lang="en-US" sz="1100" dirty="0">
                <a:solidFill>
                  <a:schemeClr val="tx2"/>
                </a:solidFill>
              </a:rPr>
              <a:t>Low ($20K), High $447K</a:t>
            </a:r>
            <a:endParaRPr lang="en-US" sz="1100" dirty="0"/>
          </a:p>
        </p:txBody>
      </p:sp>
      <p:sp>
        <p:nvSpPr>
          <p:cNvPr id="12" name="card"/>
          <p:cNvSpPr/>
          <p:nvPr/>
        </p:nvSpPr>
        <p:spPr>
          <a:xfrm>
            <a:off x="5077846" y="1188720"/>
            <a:ext cx="2036003" cy="1920240"/>
          </a:xfrm>
          <a:prstGeom prst="roundRect">
            <a:avLst>
              <a:gd name="adj" fmla="val 5714"/>
            </a:avLst>
          </a:prstGeom>
          <a:solidFill>
            <a:schemeClr val="bg2"/>
          </a:solidFill>
          <a:ln w="12700">
            <a:solidFill>
              <a:srgbClr val="141C36"/>
            </a:solidFill>
            <a:prstDash val="solid"/>
          </a:ln>
        </p:spPr>
      </p:sp>
      <p:sp>
        <p:nvSpPr>
          <p:cNvPr id="13" name="Text 10"/>
          <p:cNvSpPr txBox="1"/>
          <p:nvPr/>
        </p:nvSpPr>
        <p:spPr>
          <a:xfrm>
            <a:off x="5260726" y="1325880"/>
            <a:ext cx="1670243" cy="685800"/>
          </a:xfrm>
          <a:prstGeom prst="rect">
            <a:avLst/>
          </a:prstGeom>
          <a:noFill/>
          <a:ln/>
        </p:spPr>
        <p:txBody>
          <a:bodyPr wrap="square" lIns="0" tIns="0" rIns="0" bIns="0" rtlCol="0" anchor="ctr"/>
          <a:lstStyle/>
          <a:p>
            <a:pPr algn="l" indent="0" marL="0">
              <a:buNone/>
            </a:pPr>
            <a:r>
              <a:rPr lang="en-US" sz="3000" b="1" dirty="0">
                <a:solidFill>
                  <a:schemeClr val="accent1"/>
                </a:solidFill>
              </a:rPr>
              <a:t>Month 8</a:t>
            </a:r>
            <a:endParaRPr lang="en-US" sz="3000" dirty="0"/>
          </a:p>
        </p:txBody>
      </p:sp>
      <p:sp>
        <p:nvSpPr>
          <p:cNvPr id="14" name="Text 11"/>
          <p:cNvSpPr txBox="1"/>
          <p:nvPr/>
        </p:nvSpPr>
        <p:spPr>
          <a:xfrm>
            <a:off x="5260726" y="2057400"/>
            <a:ext cx="1670243" cy="548640"/>
          </a:xfrm>
          <a:prstGeom prst="rect">
            <a:avLst/>
          </a:prstGeom>
          <a:noFill/>
          <a:ln/>
        </p:spPr>
        <p:txBody>
          <a:bodyPr wrap="square" lIns="0" tIns="0" rIns="0" bIns="0" rtlCol="0" anchor="t"/>
          <a:lstStyle/>
          <a:p>
            <a:pPr algn="l" indent="0" marL="0">
              <a:buNone/>
            </a:pPr>
            <a:r>
              <a:rPr lang="en-US" sz="1300" dirty="0">
                <a:solidFill>
                  <a:schemeClr val="tx1"/>
                </a:solidFill>
              </a:rPr>
              <a:t>cumulative breakeven</a:t>
            </a:r>
            <a:endParaRPr lang="en-US" sz="1300" dirty="0"/>
          </a:p>
        </p:txBody>
      </p:sp>
      <p:sp>
        <p:nvSpPr>
          <p:cNvPr id="15" name="Text 12"/>
          <p:cNvSpPr txBox="1"/>
          <p:nvPr/>
        </p:nvSpPr>
        <p:spPr>
          <a:xfrm>
            <a:off x="5260726" y="2560320"/>
            <a:ext cx="1670243" cy="457200"/>
          </a:xfrm>
          <a:prstGeom prst="rect">
            <a:avLst/>
          </a:prstGeom>
          <a:noFill/>
          <a:ln/>
        </p:spPr>
        <p:txBody>
          <a:bodyPr wrap="square" lIns="0" tIns="0" rIns="0" bIns="0" rtlCol="0" anchor="t"/>
          <a:lstStyle/>
          <a:p>
            <a:pPr algn="l" indent="0" marL="0">
              <a:buNone/>
            </a:pPr>
            <a:r>
              <a:rPr lang="en-US" sz="1100" dirty="0">
                <a:solidFill>
                  <a:schemeClr val="tx2"/>
                </a:solidFill>
              </a:rPr>
              <a:t>High Month 5; Low none within 18 months</a:t>
            </a:r>
            <a:endParaRPr lang="en-US" sz="1100" dirty="0"/>
          </a:p>
        </p:txBody>
      </p:sp>
      <p:sp>
        <p:nvSpPr>
          <p:cNvPr id="16" name="card"/>
          <p:cNvSpPr/>
          <p:nvPr/>
        </p:nvSpPr>
        <p:spPr>
          <a:xfrm>
            <a:off x="7388169" y="1188720"/>
            <a:ext cx="2036003" cy="1920240"/>
          </a:xfrm>
          <a:prstGeom prst="roundRect">
            <a:avLst>
              <a:gd name="adj" fmla="val 5714"/>
            </a:avLst>
          </a:prstGeom>
          <a:solidFill>
            <a:schemeClr val="bg2"/>
          </a:solidFill>
          <a:ln w="12700">
            <a:solidFill>
              <a:srgbClr val="141C36"/>
            </a:solidFill>
            <a:prstDash val="solid"/>
          </a:ln>
        </p:spPr>
      </p:sp>
      <p:sp>
        <p:nvSpPr>
          <p:cNvPr id="17" name="Text 14"/>
          <p:cNvSpPr txBox="1"/>
          <p:nvPr/>
        </p:nvSpPr>
        <p:spPr>
          <a:xfrm>
            <a:off x="7571049" y="1325880"/>
            <a:ext cx="1670243" cy="685800"/>
          </a:xfrm>
          <a:prstGeom prst="rect">
            <a:avLst/>
          </a:prstGeom>
          <a:noFill/>
          <a:ln/>
        </p:spPr>
        <p:txBody>
          <a:bodyPr wrap="square" lIns="0" tIns="0" rIns="0" bIns="0" rtlCol="0" anchor="ctr"/>
          <a:lstStyle/>
          <a:p>
            <a:pPr algn="l" indent="0" marL="0">
              <a:buNone/>
            </a:pPr>
            <a:r>
              <a:rPr lang="en-US" sz="3000" b="1" dirty="0">
                <a:solidFill>
                  <a:schemeClr val="accent4"/>
                </a:solidFill>
              </a:rPr>
              <a:t>$4.58M</a:t>
            </a:r>
            <a:endParaRPr lang="en-US" sz="3000" dirty="0"/>
          </a:p>
        </p:txBody>
      </p:sp>
      <p:sp>
        <p:nvSpPr>
          <p:cNvPr id="18" name="Text 15"/>
          <p:cNvSpPr txBox="1"/>
          <p:nvPr/>
        </p:nvSpPr>
        <p:spPr>
          <a:xfrm>
            <a:off x="7571049" y="2057400"/>
            <a:ext cx="1670243" cy="548640"/>
          </a:xfrm>
          <a:prstGeom prst="rect">
            <a:avLst/>
          </a:prstGeom>
          <a:noFill/>
          <a:ln/>
        </p:spPr>
        <p:txBody>
          <a:bodyPr wrap="square" lIns="0" tIns="0" rIns="0" bIns="0" rtlCol="0" anchor="t"/>
          <a:lstStyle/>
          <a:p>
            <a:pPr algn="l" indent="0" marL="0">
              <a:buNone/>
            </a:pPr>
            <a:r>
              <a:rPr lang="en-US" sz="1300" dirty="0">
                <a:solidFill>
                  <a:schemeClr val="tx1"/>
                </a:solidFill>
              </a:rPr>
              <a:t>Year 5 revenue at 13.4% net</a:t>
            </a:r>
            <a:endParaRPr lang="en-US" sz="1300" dirty="0"/>
          </a:p>
        </p:txBody>
      </p:sp>
      <p:sp>
        <p:nvSpPr>
          <p:cNvPr id="19" name="Text 16"/>
          <p:cNvSpPr txBox="1"/>
          <p:nvPr/>
        </p:nvSpPr>
        <p:spPr>
          <a:xfrm>
            <a:off x="7571049" y="2560320"/>
            <a:ext cx="1670243" cy="457200"/>
          </a:xfrm>
          <a:prstGeom prst="rect">
            <a:avLst/>
          </a:prstGeom>
          <a:noFill/>
          <a:ln/>
        </p:spPr>
        <p:txBody>
          <a:bodyPr wrap="square" lIns="0" tIns="0" rIns="0" bIns="0" rtlCol="0" anchor="t"/>
          <a:lstStyle/>
          <a:p>
            <a:pPr algn="l" indent="0" marL="0">
              <a:buNone/>
            </a:pPr>
            <a:r>
              <a:rPr lang="en-US" sz="1100" dirty="0">
                <a:solidFill>
                  <a:schemeClr val="tx2"/>
                </a:solidFill>
              </a:rPr>
              <a:t>High $8.30M, Low $768K</a:t>
            </a:r>
            <a:endParaRPr lang="en-US" sz="1100" dirty="0"/>
          </a:p>
        </p:txBody>
      </p:sp>
      <p:sp>
        <p:nvSpPr>
          <p:cNvPr id="20" name="card"/>
          <p:cNvSpPr/>
          <p:nvPr/>
        </p:nvSpPr>
        <p:spPr>
          <a:xfrm>
            <a:off x="9698492" y="1188720"/>
            <a:ext cx="2036003" cy="1920240"/>
          </a:xfrm>
          <a:prstGeom prst="roundRect">
            <a:avLst>
              <a:gd name="adj" fmla="val 5714"/>
            </a:avLst>
          </a:prstGeom>
          <a:solidFill>
            <a:schemeClr val="bg2"/>
          </a:solidFill>
          <a:ln w="12700">
            <a:solidFill>
              <a:srgbClr val="141C36"/>
            </a:solidFill>
            <a:prstDash val="solid"/>
          </a:ln>
        </p:spPr>
      </p:sp>
      <p:sp>
        <p:nvSpPr>
          <p:cNvPr id="21" name="Text 18"/>
          <p:cNvSpPr txBox="1"/>
          <p:nvPr/>
        </p:nvSpPr>
        <p:spPr>
          <a:xfrm>
            <a:off x="9881372" y="1325880"/>
            <a:ext cx="1670243" cy="685800"/>
          </a:xfrm>
          <a:prstGeom prst="rect">
            <a:avLst/>
          </a:prstGeom>
          <a:noFill/>
          <a:ln/>
        </p:spPr>
        <p:txBody>
          <a:bodyPr wrap="square" lIns="0" tIns="0" rIns="0" bIns="0" rtlCol="0" anchor="ctr"/>
          <a:lstStyle/>
          <a:p>
            <a:pPr algn="l" indent="0" marL="0">
              <a:buNone/>
            </a:pPr>
            <a:r>
              <a:rPr lang="en-US" sz="3000" b="1" dirty="0">
                <a:solidFill>
                  <a:schemeClr val="accent5"/>
                </a:solidFill>
              </a:rPr>
              <a:t>$116K</a:t>
            </a:r>
            <a:endParaRPr lang="en-US" sz="3000" dirty="0"/>
          </a:p>
        </p:txBody>
      </p:sp>
      <p:sp>
        <p:nvSpPr>
          <p:cNvPr id="22" name="Text 19"/>
          <p:cNvSpPr txBox="1"/>
          <p:nvPr/>
        </p:nvSpPr>
        <p:spPr>
          <a:xfrm>
            <a:off x="9881372" y="2057400"/>
            <a:ext cx="1670243" cy="548640"/>
          </a:xfrm>
          <a:prstGeom prst="rect">
            <a:avLst/>
          </a:prstGeom>
          <a:noFill/>
          <a:ln/>
        </p:spPr>
        <p:txBody>
          <a:bodyPr wrap="square" lIns="0" tIns="0" rIns="0" bIns="0" rtlCol="0" anchor="t"/>
          <a:lstStyle/>
          <a:p>
            <a:pPr algn="l" indent="0" marL="0">
              <a:buNone/>
            </a:pPr>
            <a:r>
              <a:rPr lang="en-US" sz="1300" dirty="0">
                <a:solidFill>
                  <a:schemeClr val="tx1"/>
                </a:solidFill>
              </a:rPr>
              <a:t>line of credit needed by Month 2</a:t>
            </a:r>
            <a:endParaRPr lang="en-US" sz="1300" dirty="0"/>
          </a:p>
        </p:txBody>
      </p:sp>
      <p:sp>
        <p:nvSpPr>
          <p:cNvPr id="23" name="Text 20"/>
          <p:cNvSpPr txBox="1"/>
          <p:nvPr/>
        </p:nvSpPr>
        <p:spPr>
          <a:xfrm>
            <a:off x="9881372" y="2560320"/>
            <a:ext cx="1670243" cy="457200"/>
          </a:xfrm>
          <a:prstGeom prst="rect">
            <a:avLst/>
          </a:prstGeom>
          <a:noFill/>
          <a:ln/>
        </p:spPr>
        <p:txBody>
          <a:bodyPr wrap="square" lIns="0" tIns="0" rIns="0" bIns="0" rtlCol="0" anchor="t"/>
          <a:lstStyle/>
          <a:p>
            <a:pPr algn="l" indent="0" marL="0">
              <a:buNone/>
            </a:pPr>
            <a:r>
              <a:rPr lang="en-US" sz="1100" dirty="0">
                <a:solidFill>
                  <a:schemeClr val="tx2"/>
                </a:solidFill>
              </a:rPr>
              <a:t>peak cash need $96K in Month 12</a:t>
            </a:r>
            <a:endParaRPr lang="en-US" sz="1100" dirty="0"/>
          </a:p>
        </p:txBody>
      </p:sp>
      <p:sp>
        <p:nvSpPr>
          <p:cNvPr id="24" name="card"/>
          <p:cNvSpPr/>
          <p:nvPr/>
        </p:nvSpPr>
        <p:spPr>
          <a:xfrm>
            <a:off x="457200" y="3383280"/>
            <a:ext cx="11277295" cy="2834640"/>
          </a:xfrm>
          <a:prstGeom prst="roundRect">
            <a:avLst>
              <a:gd name="adj" fmla="val 3871"/>
            </a:avLst>
          </a:prstGeom>
          <a:solidFill>
            <a:schemeClr val="bg2"/>
          </a:solidFill>
          <a:ln w="12700">
            <a:solidFill>
              <a:srgbClr val="141C36"/>
            </a:solidFill>
            <a:prstDash val="solid"/>
          </a:ln>
        </p:spPr>
      </p:sp>
      <p:sp>
        <p:nvSpPr>
          <p:cNvPr id="25" name="Shape 22"/>
          <p:cNvSpPr/>
          <p:nvPr/>
        </p:nvSpPr>
        <p:spPr>
          <a:xfrm>
            <a:off x="685800" y="3611880"/>
            <a:ext cx="548640" cy="548640"/>
          </a:xfrm>
          <a:prstGeom prst="ellipse">
            <a:avLst/>
          </a:prstGeom>
          <a:solidFill>
            <a:srgbClr val="1B2447"/>
          </a:solidFill>
          <a:ln w="12700">
            <a:solidFill>
              <a:srgbClr val="1B2447"/>
            </a:solidFill>
            <a:prstDash val="solid"/>
          </a:ln>
        </p:spPr>
      </p:sp>
      <p:pic>
        <p:nvPicPr>
          <p:cNvPr id="26" name="Image 0" descr="preencoded.png">    </p:cNvPr>
          <p:cNvPicPr>
            <a:picLocks noChangeAspect="1"/>
          </p:cNvPicPr>
          <p:nvPr/>
        </p:nvPicPr>
        <p:blipFill>
          <a:blip r:embed="rId1"/>
          <a:stretch>
            <a:fillRect/>
          </a:stretch>
        </p:blipFill>
        <p:spPr>
          <a:xfrm>
            <a:off x="806501" y="3732581"/>
            <a:ext cx="307238" cy="307238"/>
          </a:xfrm>
          <a:prstGeom prst="rect">
            <a:avLst/>
          </a:prstGeom>
        </p:spPr>
      </p:pic>
      <p:sp>
        <p:nvSpPr>
          <p:cNvPr id="27" name="Text 23"/>
          <p:cNvSpPr txBox="1"/>
          <p:nvPr/>
        </p:nvSpPr>
        <p:spPr>
          <a:xfrm>
            <a:off x="1463040" y="3566160"/>
            <a:ext cx="9997135" cy="777240"/>
          </a:xfrm>
          <a:prstGeom prst="rect">
            <a:avLst/>
          </a:prstGeom>
          <a:noFill/>
          <a:ln/>
        </p:spPr>
        <p:txBody>
          <a:bodyPr wrap="square" lIns="0" tIns="0" rIns="0" bIns="0" rtlCol="0" anchor="ctr"/>
          <a:lstStyle/>
          <a:p>
            <a:pPr algn="l" indent="0" marL="0">
              <a:buNone/>
            </a:pPr>
            <a:r>
              <a:rPr lang="en-US" sz="1400" dirty="0">
                <a:solidFill>
                  <a:schemeClr val="tx1"/>
                </a:solidFill>
              </a:rPr>
              <a:t>What we sell: long length fiber HDMI where copper physically fails past 3 m at 48Gbps. We do not compete with $8 copper.</a:t>
            </a:r>
            <a:endParaRPr lang="en-US" sz="1400" dirty="0"/>
          </a:p>
        </p:txBody>
      </p:sp>
      <p:sp>
        <p:nvSpPr>
          <p:cNvPr id="28" name="Shape 24"/>
          <p:cNvSpPr/>
          <p:nvPr/>
        </p:nvSpPr>
        <p:spPr>
          <a:xfrm>
            <a:off x="685800" y="4480560"/>
            <a:ext cx="548640" cy="548640"/>
          </a:xfrm>
          <a:prstGeom prst="ellipse">
            <a:avLst/>
          </a:prstGeom>
          <a:solidFill>
            <a:srgbClr val="1B2447"/>
          </a:solidFill>
          <a:ln w="12700">
            <a:solidFill>
              <a:srgbClr val="1B2447"/>
            </a:solidFill>
            <a:prstDash val="solid"/>
          </a:ln>
        </p:spPr>
      </p:sp>
      <p:pic>
        <p:nvPicPr>
          <p:cNvPr id="29" name="Image 1" descr="preencoded.png">    </p:cNvPr>
          <p:cNvPicPr>
            <a:picLocks noChangeAspect="1"/>
          </p:cNvPicPr>
          <p:nvPr/>
        </p:nvPicPr>
        <p:blipFill>
          <a:blip r:embed="rId2"/>
          <a:stretch>
            <a:fillRect/>
          </a:stretch>
        </p:blipFill>
        <p:spPr>
          <a:xfrm>
            <a:off x="806501" y="4601261"/>
            <a:ext cx="307238" cy="307238"/>
          </a:xfrm>
          <a:prstGeom prst="rect">
            <a:avLst/>
          </a:prstGeom>
        </p:spPr>
      </p:pic>
      <p:sp>
        <p:nvSpPr>
          <p:cNvPr id="30" name="Text 25"/>
          <p:cNvSpPr txBox="1"/>
          <p:nvPr/>
        </p:nvSpPr>
        <p:spPr>
          <a:xfrm>
            <a:off x="1463040" y="4434840"/>
            <a:ext cx="9997135" cy="777240"/>
          </a:xfrm>
          <a:prstGeom prst="rect">
            <a:avLst/>
          </a:prstGeom>
          <a:noFill/>
          <a:ln/>
        </p:spPr>
        <p:txBody>
          <a:bodyPr wrap="square" lIns="0" tIns="0" rIns="0" bIns="0" rtlCol="0" anchor="ctr"/>
          <a:lstStyle/>
          <a:p>
            <a:pPr algn="l" indent="0" marL="0">
              <a:buNone/>
            </a:pPr>
            <a:r>
              <a:rPr lang="en-US" sz="1400" dirty="0">
                <a:solidFill>
                  <a:schemeClr val="tx1"/>
                </a:solidFill>
              </a:rPr>
              <a:t>Where: Amazon US with 5 hero SKUs (stock keeping units) under one parent ASIN (Amazon Standard Identification Number), then eBay and Walmart overflow, B2B (business to business) installers, a DTC (direct to consumer) site, Amazon Canada and a pro line.</a:t>
            </a:r>
            <a:endParaRPr lang="en-US" sz="1400" dirty="0"/>
          </a:p>
        </p:txBody>
      </p:sp>
      <p:sp>
        <p:nvSpPr>
          <p:cNvPr id="31" name="Shape 26"/>
          <p:cNvSpPr/>
          <p:nvPr/>
        </p:nvSpPr>
        <p:spPr>
          <a:xfrm>
            <a:off x="685800" y="5349240"/>
            <a:ext cx="548640" cy="548640"/>
          </a:xfrm>
          <a:prstGeom prst="ellipse">
            <a:avLst/>
          </a:prstGeom>
          <a:solidFill>
            <a:srgbClr val="1B2447"/>
          </a:solidFill>
          <a:ln w="12700">
            <a:solidFill>
              <a:srgbClr val="1B2447"/>
            </a:solidFill>
            <a:prstDash val="solid"/>
          </a:ln>
        </p:spPr>
      </p:sp>
      <p:pic>
        <p:nvPicPr>
          <p:cNvPr id="32" name="Image 2" descr="preencoded.png">    </p:cNvPr>
          <p:cNvPicPr>
            <a:picLocks noChangeAspect="1"/>
          </p:cNvPicPr>
          <p:nvPr/>
        </p:nvPicPr>
        <p:blipFill>
          <a:blip r:embed="rId3"/>
          <a:stretch>
            <a:fillRect/>
          </a:stretch>
        </p:blipFill>
        <p:spPr>
          <a:xfrm>
            <a:off x="806501" y="5469941"/>
            <a:ext cx="307238" cy="307238"/>
          </a:xfrm>
          <a:prstGeom prst="rect">
            <a:avLst/>
          </a:prstGeom>
        </p:spPr>
      </p:pic>
      <p:sp>
        <p:nvSpPr>
          <p:cNvPr id="33" name="Text 27"/>
          <p:cNvSpPr txBox="1"/>
          <p:nvPr/>
        </p:nvSpPr>
        <p:spPr>
          <a:xfrm>
            <a:off x="1463040" y="5303520"/>
            <a:ext cx="9997135" cy="777240"/>
          </a:xfrm>
          <a:prstGeom prst="rect">
            <a:avLst/>
          </a:prstGeom>
          <a:noFill/>
          <a:ln/>
        </p:spPr>
        <p:txBody>
          <a:bodyPr wrap="square" lIns="0" tIns="0" rIns="0" bIns="0" rtlCol="0" anchor="ctr"/>
          <a:lstStyle/>
          <a:p>
            <a:pPr algn="l" indent="0" marL="0">
              <a:buNone/>
            </a:pPr>
            <a:r>
              <a:rPr lang="en-US" sz="1400" dirty="0">
                <a:solidFill>
                  <a:schemeClr val="tx1"/>
                </a:solidFill>
              </a:rPr>
              <a:t>What must be true: the factory cost holds near the H2 base (at the Alibaba benchmark the hero SKU loses money), the CBP duty ruling lands at copper or better, and the Day 90 gate passes.</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What we are deciding</a:t>
            </a:r>
            <a:endParaRPr lang="en-US" sz="3200" dirty="0"/>
          </a:p>
        </p:txBody>
      </p:sp>
      <p:sp>
        <p:nvSpPr>
          <p:cNvPr id="4" name="card"/>
          <p:cNvSpPr/>
          <p:nvPr/>
        </p:nvSpPr>
        <p:spPr>
          <a:xfrm>
            <a:off x="457200" y="1188720"/>
            <a:ext cx="3576218" cy="2926080"/>
          </a:xfrm>
          <a:prstGeom prst="roundRect">
            <a:avLst>
              <a:gd name="adj" fmla="val 3750"/>
            </a:avLst>
          </a:prstGeom>
          <a:solidFill>
            <a:schemeClr val="bg2"/>
          </a:solidFill>
          <a:ln w="12700">
            <a:solidFill>
              <a:srgbClr val="141C36"/>
            </a:solidFill>
            <a:prstDash val="solid"/>
          </a:ln>
        </p:spPr>
      </p:sp>
      <p:sp>
        <p:nvSpPr>
          <p:cNvPr id="5" name="Text 2"/>
          <p:cNvSpPr txBox="1"/>
          <p:nvPr/>
        </p:nvSpPr>
        <p:spPr>
          <a:xfrm>
            <a:off x="685800" y="1325880"/>
            <a:ext cx="731520" cy="731520"/>
          </a:xfrm>
          <a:prstGeom prst="rect">
            <a:avLst/>
          </a:prstGeom>
          <a:noFill/>
          <a:ln/>
        </p:spPr>
        <p:txBody>
          <a:bodyPr wrap="square" lIns="0" tIns="0" rIns="0" bIns="0" rtlCol="0" anchor="t"/>
          <a:lstStyle/>
          <a:p>
            <a:pPr algn="l" indent="0" marL="0">
              <a:buNone/>
            </a:pPr>
            <a:r>
              <a:rPr lang="en-US" sz="4000" b="1" dirty="0">
                <a:solidFill>
                  <a:schemeClr val="accent1"/>
                </a:solidFill>
              </a:rPr>
              <a:t>1</a:t>
            </a:r>
            <a:endParaRPr lang="en-US" sz="4000" dirty="0"/>
          </a:p>
        </p:txBody>
      </p:sp>
      <p:sp>
        <p:nvSpPr>
          <p:cNvPr id="6" name="Text 3"/>
          <p:cNvSpPr txBox="1"/>
          <p:nvPr/>
        </p:nvSpPr>
        <p:spPr>
          <a:xfrm>
            <a:off x="1417320" y="1417320"/>
            <a:ext cx="2387498" cy="548640"/>
          </a:xfrm>
          <a:prstGeom prst="rect">
            <a:avLst/>
          </a:prstGeom>
          <a:noFill/>
          <a:ln/>
        </p:spPr>
        <p:txBody>
          <a:bodyPr wrap="square" lIns="0" tIns="0" rIns="0" bIns="0" rtlCol="0" anchor="ctr"/>
          <a:lstStyle/>
          <a:p>
            <a:pPr algn="l" indent="0" marL="0">
              <a:buNone/>
            </a:pPr>
            <a:r>
              <a:rPr lang="en-US" sz="1800" b="1" dirty="0">
                <a:solidFill>
                  <a:schemeClr val="tx1"/>
                </a:solidFill>
              </a:rPr>
              <a:t>Fund the launch</a:t>
            </a:r>
            <a:endParaRPr lang="en-US" sz="1800" dirty="0"/>
          </a:p>
        </p:txBody>
      </p:sp>
      <p:sp>
        <p:nvSpPr>
          <p:cNvPr id="7" name="Text 4"/>
          <p:cNvSpPr txBox="1"/>
          <p:nvPr/>
        </p:nvSpPr>
        <p:spPr>
          <a:xfrm>
            <a:off x="685800" y="2148840"/>
            <a:ext cx="3119018" cy="1874520"/>
          </a:xfrm>
          <a:prstGeom prst="rect">
            <a:avLst/>
          </a:prstGeom>
          <a:noFill/>
          <a:ln/>
        </p:spPr>
        <p:txBody>
          <a:bodyPr wrap="square" lIns="0" tIns="0" rIns="0" bIns="0" rtlCol="0" anchor="t"/>
          <a:lstStyle/>
          <a:p>
            <a:pPr algn="l" indent="0" marL="0">
              <a:buNone/>
            </a:pPr>
            <a:r>
              <a:rPr lang="en-US" sz="1500" dirty="0">
                <a:solidFill>
                  <a:schemeClr val="tx1"/>
                </a:solidFill>
              </a:rPr>
              <a:t>Commit $39K of self funded opening capital (the August ask) and arrange a dated line of credit of $116K by Month 2 in the Medium case. The Low case needs $136K; the High case $41K.</a:t>
            </a:r>
            <a:endParaRPr lang="en-US" sz="1500" dirty="0"/>
          </a:p>
        </p:txBody>
      </p:sp>
      <p:sp>
        <p:nvSpPr>
          <p:cNvPr id="8" name="card"/>
          <p:cNvSpPr/>
          <p:nvPr/>
        </p:nvSpPr>
        <p:spPr>
          <a:xfrm>
            <a:off x="4307738" y="1188720"/>
            <a:ext cx="3576218" cy="2926080"/>
          </a:xfrm>
          <a:prstGeom prst="roundRect">
            <a:avLst>
              <a:gd name="adj" fmla="val 3750"/>
            </a:avLst>
          </a:prstGeom>
          <a:solidFill>
            <a:schemeClr val="bg2"/>
          </a:solidFill>
          <a:ln w="12700">
            <a:solidFill>
              <a:srgbClr val="141C36"/>
            </a:solidFill>
            <a:prstDash val="solid"/>
          </a:ln>
        </p:spPr>
      </p:sp>
      <p:sp>
        <p:nvSpPr>
          <p:cNvPr id="9" name="Text 6"/>
          <p:cNvSpPr txBox="1"/>
          <p:nvPr/>
        </p:nvSpPr>
        <p:spPr>
          <a:xfrm>
            <a:off x="4536338" y="1325880"/>
            <a:ext cx="731520" cy="731520"/>
          </a:xfrm>
          <a:prstGeom prst="rect">
            <a:avLst/>
          </a:prstGeom>
          <a:noFill/>
          <a:ln/>
        </p:spPr>
        <p:txBody>
          <a:bodyPr wrap="square" lIns="0" tIns="0" rIns="0" bIns="0" rtlCol="0" anchor="t"/>
          <a:lstStyle/>
          <a:p>
            <a:pPr algn="l" indent="0" marL="0">
              <a:buNone/>
            </a:pPr>
            <a:r>
              <a:rPr lang="en-US" sz="4000" b="1" dirty="0">
                <a:solidFill>
                  <a:schemeClr val="accent1"/>
                </a:solidFill>
              </a:rPr>
              <a:t>2</a:t>
            </a:r>
            <a:endParaRPr lang="en-US" sz="4000" dirty="0"/>
          </a:p>
        </p:txBody>
      </p:sp>
      <p:sp>
        <p:nvSpPr>
          <p:cNvPr id="10" name="Text 7"/>
          <p:cNvSpPr txBox="1"/>
          <p:nvPr/>
        </p:nvSpPr>
        <p:spPr>
          <a:xfrm>
            <a:off x="5267858" y="1417320"/>
            <a:ext cx="2387498" cy="548640"/>
          </a:xfrm>
          <a:prstGeom prst="rect">
            <a:avLst/>
          </a:prstGeom>
          <a:noFill/>
          <a:ln/>
        </p:spPr>
        <p:txBody>
          <a:bodyPr wrap="square" lIns="0" tIns="0" rIns="0" bIns="0" rtlCol="0" anchor="ctr"/>
          <a:lstStyle/>
          <a:p>
            <a:pPr algn="l" indent="0" marL="0">
              <a:buNone/>
            </a:pPr>
            <a:r>
              <a:rPr lang="en-US" sz="1800" b="1" dirty="0">
                <a:solidFill>
                  <a:schemeClr val="tx1"/>
                </a:solidFill>
              </a:rPr>
              <a:t>Form the US entity</a:t>
            </a:r>
            <a:endParaRPr lang="en-US" sz="1800" dirty="0"/>
          </a:p>
        </p:txBody>
      </p:sp>
      <p:sp>
        <p:nvSpPr>
          <p:cNvPr id="11" name="Text 8"/>
          <p:cNvSpPr txBox="1"/>
          <p:nvPr/>
        </p:nvSpPr>
        <p:spPr>
          <a:xfrm>
            <a:off x="4536338" y="2148840"/>
            <a:ext cx="3119018" cy="1874520"/>
          </a:xfrm>
          <a:prstGeom prst="rect">
            <a:avLst/>
          </a:prstGeom>
          <a:noFill/>
          <a:ln/>
        </p:spPr>
        <p:txBody>
          <a:bodyPr wrap="square" lIns="0" tIns="0" rIns="0" bIns="0" rtlCol="0" anchor="t"/>
          <a:lstStyle/>
          <a:p>
            <a:pPr algn="l" indent="0" marL="0">
              <a:buNone/>
            </a:pPr>
            <a:r>
              <a:rPr lang="en-US" sz="1500" dirty="0">
                <a:solidFill>
                  <a:schemeClr val="tx1"/>
                </a:solidFill>
              </a:rPr>
              <a:t>BRAND LLC, a Wyoming single member LLC owned 100% by Lucy. Mark works under a written consulting or commission agreement with no equity, so the LLC stays a disregarded entity and the treaty position stays clean.</a:t>
            </a:r>
            <a:endParaRPr lang="en-US" sz="1500" dirty="0"/>
          </a:p>
        </p:txBody>
      </p:sp>
      <p:sp>
        <p:nvSpPr>
          <p:cNvPr id="12" name="card"/>
          <p:cNvSpPr/>
          <p:nvPr/>
        </p:nvSpPr>
        <p:spPr>
          <a:xfrm>
            <a:off x="8158277" y="1188720"/>
            <a:ext cx="3576218" cy="2926080"/>
          </a:xfrm>
          <a:prstGeom prst="roundRect">
            <a:avLst>
              <a:gd name="adj" fmla="val 3750"/>
            </a:avLst>
          </a:prstGeom>
          <a:solidFill>
            <a:schemeClr val="bg2"/>
          </a:solidFill>
          <a:ln w="12700">
            <a:solidFill>
              <a:srgbClr val="141C36"/>
            </a:solidFill>
            <a:prstDash val="solid"/>
          </a:ln>
        </p:spPr>
      </p:sp>
      <p:sp>
        <p:nvSpPr>
          <p:cNvPr id="13" name="Text 10"/>
          <p:cNvSpPr txBox="1"/>
          <p:nvPr/>
        </p:nvSpPr>
        <p:spPr>
          <a:xfrm>
            <a:off x="8386877" y="1325880"/>
            <a:ext cx="731520" cy="731520"/>
          </a:xfrm>
          <a:prstGeom prst="rect">
            <a:avLst/>
          </a:prstGeom>
          <a:noFill/>
          <a:ln/>
        </p:spPr>
        <p:txBody>
          <a:bodyPr wrap="square" lIns="0" tIns="0" rIns="0" bIns="0" rtlCol="0" anchor="t"/>
          <a:lstStyle/>
          <a:p>
            <a:pPr algn="l" indent="0" marL="0">
              <a:buNone/>
            </a:pPr>
            <a:r>
              <a:rPr lang="en-US" sz="4000" b="1" dirty="0">
                <a:solidFill>
                  <a:schemeClr val="accent1"/>
                </a:solidFill>
              </a:rPr>
              <a:t>3</a:t>
            </a:r>
            <a:endParaRPr lang="en-US" sz="4000" dirty="0"/>
          </a:p>
        </p:txBody>
      </p:sp>
      <p:sp>
        <p:nvSpPr>
          <p:cNvPr id="14" name="Text 11"/>
          <p:cNvSpPr txBox="1"/>
          <p:nvPr/>
        </p:nvSpPr>
        <p:spPr>
          <a:xfrm>
            <a:off x="9118397" y="1417320"/>
            <a:ext cx="2387498" cy="548640"/>
          </a:xfrm>
          <a:prstGeom prst="rect">
            <a:avLst/>
          </a:prstGeom>
          <a:noFill/>
          <a:ln/>
        </p:spPr>
        <p:txBody>
          <a:bodyPr wrap="square" lIns="0" tIns="0" rIns="0" bIns="0" rtlCol="0" anchor="ctr"/>
          <a:lstStyle/>
          <a:p>
            <a:pPr algn="l" indent="0" marL="0">
              <a:buNone/>
            </a:pPr>
            <a:r>
              <a:rPr lang="en-US" sz="1800" b="1" dirty="0">
                <a:solidFill>
                  <a:schemeClr val="tx1"/>
                </a:solidFill>
              </a:rPr>
              <a:t>Run the 90 day test</a:t>
            </a:r>
            <a:endParaRPr lang="en-US" sz="1800" dirty="0"/>
          </a:p>
        </p:txBody>
      </p:sp>
      <p:sp>
        <p:nvSpPr>
          <p:cNvPr id="15" name="Text 12"/>
          <p:cNvSpPr txBox="1"/>
          <p:nvPr/>
        </p:nvSpPr>
        <p:spPr>
          <a:xfrm>
            <a:off x="8386877" y="2148840"/>
            <a:ext cx="3119018" cy="1874520"/>
          </a:xfrm>
          <a:prstGeom prst="rect">
            <a:avLst/>
          </a:prstGeom>
          <a:noFill/>
          <a:ln/>
        </p:spPr>
        <p:txBody>
          <a:bodyPr wrap="square" lIns="0" tIns="0" rIns="0" bIns="0" rtlCol="0" anchor="t"/>
          <a:lstStyle/>
          <a:p>
            <a:pPr algn="l" indent="0" marL="0">
              <a:buNone/>
            </a:pPr>
            <a:r>
              <a:rPr lang="en-US" sz="1500" dirty="0">
                <a:solidFill>
                  <a:schemeClr val="tx1"/>
                </a:solidFill>
              </a:rPr>
              <a:t>5 hero SKUs, 100 to 300 units each by air, one parent ASIN. The Day 90 gate on slide 19 decides scale, review or kill with numbers written down before the first order.</a:t>
            </a:r>
            <a:endParaRPr lang="en-US" sz="1500" dirty="0"/>
          </a:p>
        </p:txBody>
      </p:sp>
      <p:sp>
        <p:nvSpPr>
          <p:cNvPr id="16" name="card"/>
          <p:cNvSpPr/>
          <p:nvPr/>
        </p:nvSpPr>
        <p:spPr>
          <a:xfrm>
            <a:off x="457200" y="4389120"/>
            <a:ext cx="11277295" cy="1828800"/>
          </a:xfrm>
          <a:prstGeom prst="roundRect">
            <a:avLst>
              <a:gd name="adj" fmla="val 6000"/>
            </a:avLst>
          </a:prstGeom>
          <a:solidFill>
            <a:srgbClr val="10172D"/>
          </a:solidFill>
          <a:ln w="12700">
            <a:solidFill>
              <a:srgbClr val="10172D"/>
            </a:solidFill>
            <a:prstDash val="solid"/>
          </a:ln>
        </p:spPr>
      </p:sp>
      <p:sp>
        <p:nvSpPr>
          <p:cNvPr id="17" name="Text 14"/>
          <p:cNvSpPr txBox="1"/>
          <p:nvPr/>
        </p:nvSpPr>
        <p:spPr>
          <a:xfrm>
            <a:off x="731520" y="4498848"/>
            <a:ext cx="3657600" cy="365760"/>
          </a:xfrm>
          <a:prstGeom prst="rect">
            <a:avLst/>
          </a:prstGeom>
          <a:noFill/>
          <a:ln/>
        </p:spPr>
        <p:txBody>
          <a:bodyPr wrap="square" lIns="0" tIns="0" rIns="0" bIns="0" rtlCol="0" anchor="t"/>
          <a:lstStyle/>
          <a:p>
            <a:pPr algn="l" indent="0" marL="0">
              <a:buNone/>
            </a:pPr>
            <a:r>
              <a:rPr lang="en-US" sz="1500" b="1" dirty="0">
                <a:solidFill>
                  <a:schemeClr val="accent5"/>
                </a:solidFill>
              </a:rPr>
              <a:t>Not decided today</a:t>
            </a:r>
            <a:endParaRPr lang="en-US" sz="1500" dirty="0"/>
          </a:p>
        </p:txBody>
      </p:sp>
      <p:sp>
        <p:nvSpPr>
          <p:cNvPr id="18" name="Text 15"/>
          <p:cNvSpPr txBox="1"/>
          <p:nvPr/>
        </p:nvSpPr>
        <p:spPr>
          <a:xfrm>
            <a:off x="731520" y="4937760"/>
            <a:ext cx="10728655" cy="1188720"/>
          </a:xfrm>
          <a:prstGeom prst="rect">
            <a:avLst/>
          </a:prstGeom>
          <a:noFill/>
          <a:ln/>
        </p:spPr>
        <p:txBody>
          <a:bodyPr wrap="square" lIns="0" tIns="0" rIns="0" bIns="0" rtlCol="0" anchor="t"/>
          <a:lstStyle/>
          <a:p>
            <a:pPr algn="l" marL="165100" indent="-165100">
              <a:spcAft>
                <a:spcPts val="500"/>
              </a:spcAft>
              <a:buSzPct val="100000"/>
              <a:buChar char="•"/>
            </a:pPr>
            <a:r>
              <a:rPr lang="en-US" sz="1400" dirty="0">
                <a:solidFill>
                  <a:schemeClr val="tx1"/>
                </a:solidFill>
              </a:rPr>
              <a:t>US brand name (BRAND placeholder; MBF was the Korean deck name and is not final)</a:t>
            </a:r>
            <a:endParaRPr lang="en-US" sz="1400" dirty="0"/>
          </a:p>
          <a:p>
            <a:pPr algn="l" marL="165100" indent="-165100">
              <a:spcAft>
                <a:spcPts val="500"/>
              </a:spcAft>
              <a:buSzPct val="100000"/>
              <a:buChar char="•"/>
            </a:pPr>
            <a:r>
              <a:rPr lang="en-US" sz="1400" dirty="0">
                <a:solidFill>
                  <a:schemeClr val="tx1"/>
                </a:solidFill>
              </a:rPr>
              <a:t>Temu local seller program (optional, not in the base case)</a:t>
            </a:r>
            <a:endParaRPr lang="en-US" sz="1400" dirty="0"/>
          </a:p>
          <a:p>
            <a:pPr algn="l" marL="165100" indent="-165100">
              <a:spcAft>
                <a:spcPts val="500"/>
              </a:spcAft>
              <a:buSzPct val="100000"/>
              <a:buChar char="•"/>
            </a:pPr>
            <a:r>
              <a:rPr lang="en-US" sz="1400" dirty="0">
                <a:solidFill>
                  <a:schemeClr val="tx1"/>
                </a:solidFill>
              </a:rPr>
              <a:t>Whether H2 Company incorporates first (question for the Korean tax accountant)</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85800" y="3749040"/>
            <a:ext cx="9144000" cy="1005840"/>
          </a:xfrm>
          <a:prstGeom prst="rect">
            <a:avLst/>
          </a:prstGeom>
          <a:noFill/>
          <a:ln/>
        </p:spPr>
        <p:txBody>
          <a:bodyPr wrap="square" lIns="0" tIns="0" rIns="0" bIns="0" rtlCol="0" anchor="b"/>
          <a:lstStyle/>
          <a:p>
            <a:pPr algn="l" indent="0" marL="0">
              <a:buNone/>
            </a:pPr>
            <a:r>
              <a:rPr lang="en-US" sz="3600" b="1" dirty="0">
                <a:solidFill>
                  <a:srgbClr val="F3F6FF"/>
                </a:solidFill>
              </a:rPr>
              <a:t>Market and why fiber</a:t>
            </a:r>
            <a:endParaRPr lang="en-US" sz="3600" dirty="0"/>
          </a:p>
        </p:txBody>
      </p:sp>
      <p:sp>
        <p:nvSpPr>
          <p:cNvPr id="3" name="Text 0"/>
          <p:cNvSpPr/>
          <p:nvPr>
            <p:ph idx="101" type="body" hasCustomPrompt="1"/>
          </p:nvPr>
        </p:nvSpPr>
        <p:spPr>
          <a:xfrm>
            <a:off x="685800" y="4800600"/>
            <a:ext cx="9144000" cy="457200"/>
          </a:xfrm>
          <a:prstGeom prst="rect">
            <a:avLst/>
          </a:prstGeom>
          <a:noFill/>
          <a:ln/>
        </p:spPr>
        <p:txBody>
          <a:bodyPr wrap="square" lIns="0" tIns="0" rIns="0" bIns="0" rtlCol="0" anchor="t"/>
          <a:lstStyle/>
          <a:p>
            <a:pPr indent="0" marL="0">
              <a:buNone/>
            </a:pPr>
            <a:r>
              <a:rPr lang="en-US" sz="1600" dirty="0">
                <a:solidFill>
                  <a:srgbClr val="2DE2FF"/>
                </a:solidFill>
              </a:rPr>
              <a:t>Section 1 of 5</a:t>
            </a:r>
            <a:endParaRPr lang="en-US" sz="16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Why copper fails past 3 m at 48Gbps</a:t>
            </a:r>
            <a:endParaRPr lang="en-US" sz="3200" dirty="0"/>
          </a:p>
        </p:txBody>
      </p:sp>
      <p:sp>
        <p:nvSpPr>
          <p:cNvPr id="4" name="card"/>
          <p:cNvSpPr/>
          <p:nvPr/>
        </p:nvSpPr>
        <p:spPr>
          <a:xfrm>
            <a:off x="457200" y="1188720"/>
            <a:ext cx="5120640" cy="5029200"/>
          </a:xfrm>
          <a:prstGeom prst="roundRect">
            <a:avLst>
              <a:gd name="adj" fmla="val 2182"/>
            </a:avLst>
          </a:prstGeom>
          <a:solidFill>
            <a:schemeClr val="bg2"/>
          </a:solidFill>
          <a:ln w="12700">
            <a:solidFill>
              <a:srgbClr val="141C36"/>
            </a:solidFill>
            <a:prstDash val="solid"/>
          </a:ln>
        </p:spPr>
      </p:sp>
      <p:sp>
        <p:nvSpPr>
          <p:cNvPr id="5" name="Text 2"/>
          <p:cNvSpPr txBox="1"/>
          <p:nvPr/>
        </p:nvSpPr>
        <p:spPr>
          <a:xfrm>
            <a:off x="731520" y="1325880"/>
            <a:ext cx="4572000" cy="457200"/>
          </a:xfrm>
          <a:prstGeom prst="rect">
            <a:avLst/>
          </a:prstGeom>
          <a:noFill/>
          <a:ln/>
        </p:spPr>
        <p:txBody>
          <a:bodyPr wrap="square" lIns="0" tIns="0" rIns="0" bIns="0" rtlCol="0" anchor="t"/>
          <a:lstStyle/>
          <a:p>
            <a:pPr algn="l" indent="0" marL="0">
              <a:buNone/>
            </a:pPr>
            <a:r>
              <a:rPr lang="en-US" sz="1800" b="1" dirty="0">
                <a:solidFill>
                  <a:schemeClr val="accent1"/>
                </a:solidFill>
              </a:rPr>
              <a:t>The physics in one paragraph</a:t>
            </a:r>
            <a:endParaRPr lang="en-US" sz="1800" dirty="0"/>
          </a:p>
        </p:txBody>
      </p:sp>
      <p:sp>
        <p:nvSpPr>
          <p:cNvPr id="6" name="Text 3"/>
          <p:cNvSpPr txBox="1"/>
          <p:nvPr/>
        </p:nvSpPr>
        <p:spPr>
          <a:xfrm>
            <a:off x="731520" y="1874520"/>
            <a:ext cx="4572000" cy="3017520"/>
          </a:xfrm>
          <a:prstGeom prst="rect">
            <a:avLst/>
          </a:prstGeom>
          <a:noFill/>
          <a:ln/>
        </p:spPr>
        <p:txBody>
          <a:bodyPr wrap="square" lIns="0" tIns="0" rIns="0" bIns="0" rtlCol="0" anchor="t"/>
          <a:lstStyle/>
          <a:p>
            <a:pPr algn="l" indent="0" marL="0">
              <a:lnSpc>
                <a:spcPct val="110000"/>
              </a:lnSpc>
              <a:buNone/>
            </a:pPr>
            <a:r>
              <a:rPr lang="en-US" sz="1550" dirty="0">
                <a:solidFill>
                  <a:schemeClr val="tx1"/>
                </a:solidFill>
              </a:rPr>
              <a:t>Ultra High Speed HDMI carries 48Gbps. Signal loss in copper grows with frequency and with length, so a passive copper cable past about 3 m cannot carry 8K at 60Hz or 4K at 120Hz cleanly. The fix is either active electronics at each end or fiber. A hybrid active optical cable puts the video on fiber cores and keeps thin copper conductors for power and control signals.</a:t>
            </a:r>
            <a:endParaRPr lang="en-US" sz="1550" dirty="0"/>
          </a:p>
        </p:txBody>
      </p:sp>
      <p:sp>
        <p:nvSpPr>
          <p:cNvPr id="7" name="Text 4"/>
          <p:cNvSpPr txBox="1"/>
          <p:nvPr/>
        </p:nvSpPr>
        <p:spPr>
          <a:xfrm>
            <a:off x="731520" y="5029200"/>
            <a:ext cx="4572000" cy="1005840"/>
          </a:xfrm>
          <a:prstGeom prst="rect">
            <a:avLst/>
          </a:prstGeom>
          <a:noFill/>
          <a:ln/>
        </p:spPr>
        <p:txBody>
          <a:bodyPr wrap="square" lIns="0" tIns="0" rIns="0" bIns="0" rtlCol="0" anchor="t"/>
          <a:lstStyle/>
          <a:p>
            <a:pPr algn="l" indent="0" marL="0">
              <a:buNone/>
            </a:pPr>
            <a:r>
              <a:rPr lang="en-US" sz="1400" i="1" dirty="0">
                <a:solidFill>
                  <a:schemeClr val="accent5"/>
                </a:solidFill>
              </a:rPr>
              <a:t>Accurate wording: fiber optic HDMI, hybrid active optical. Never pure fiber or all glass.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852160" y="1188720"/>
          <a:ext cx="5879592" cy="914400"/>
        </p:xfrm>
        <a:graphic>
          <a:graphicData uri="http://schemas.openxmlformats.org/drawingml/2006/table">
            <a:tbl>
              <a:tblPr/>
              <a:tblGrid>
                <a:gridCol w="1600200"/>
                <a:gridCol w="1828800"/>
                <a:gridCol w="2450592"/>
              </a:tblGrid>
              <a:tr h="566928">
                <a:tc>
                  <a:txBody>
                    <a:bodyPr/>
                    <a:lstStyle/>
                    <a:p>
                      <a:pPr algn="l" indent="0" marL="0">
                        <a:buNone/>
                      </a:pPr>
                      <a:endParaRPr lang="en-US" sz="12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200" b="1" dirty="0">
                          <a:solidFill>
                            <a:srgbClr val="2DE2FF"/>
                          </a:solidFill>
                          <a:latin typeface="Calibri" pitchFamily="34" charset="0"/>
                          <a:ea typeface="Calibri" pitchFamily="34" charset="-122"/>
                          <a:cs typeface="Calibri" pitchFamily="34" charset="-120"/>
                        </a:rPr>
                        <a:t>Passive copper</a:t>
                      </a:r>
                      <a:endParaRPr lang="en-US" sz="12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200" b="1" dirty="0">
                          <a:solidFill>
                            <a:srgbClr val="2DE2FF"/>
                          </a:solidFill>
                          <a:latin typeface="Calibri" pitchFamily="34" charset="0"/>
                          <a:ea typeface="Calibri" pitchFamily="34" charset="-122"/>
                          <a:cs typeface="Calibri" pitchFamily="34" charset="-120"/>
                        </a:rPr>
                        <a:t>Hybrid active optical (ours)</a:t>
                      </a:r>
                      <a:endParaRPr lang="en-US" sz="12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566928">
                <a:tc>
                  <a:txBody>
                    <a:bodyPr/>
                    <a:lstStyle/>
                    <a:p>
                      <a:pPr algn="l" indent="0" marL="0">
                        <a:buNone/>
                      </a:pPr>
                      <a:r>
                        <a:rPr lang="en-US" sz="1200" dirty="0">
                          <a:solidFill>
                            <a:srgbClr val="F3F6FF"/>
                          </a:solidFill>
                          <a:latin typeface="Calibri" pitchFamily="34" charset="0"/>
                          <a:ea typeface="Calibri" pitchFamily="34" charset="-122"/>
                          <a:cs typeface="Calibri" pitchFamily="34" charset="-120"/>
                        </a:rPr>
                        <a:t>Reliable length at 48Gbps</a:t>
                      </a:r>
                      <a:endParaRPr lang="en-US" sz="12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200" dirty="0">
                          <a:solidFill>
                            <a:srgbClr val="F3F6FF"/>
                          </a:solidFill>
                          <a:latin typeface="Calibri" pitchFamily="34" charset="0"/>
                          <a:ea typeface="Calibri" pitchFamily="34" charset="-122"/>
                          <a:cs typeface="Calibri" pitchFamily="34" charset="-120"/>
                        </a:rPr>
                        <a:t>About 3 m</a:t>
                      </a:r>
                      <a:endParaRPr lang="en-US" sz="12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200" dirty="0">
                          <a:solidFill>
                            <a:srgbClr val="F3F6FF"/>
                          </a:solidFill>
                          <a:latin typeface="Calibri" pitchFamily="34" charset="0"/>
                          <a:ea typeface="Calibri" pitchFamily="34" charset="-122"/>
                          <a:cs typeface="Calibri" pitchFamily="34" charset="-120"/>
                        </a:rPr>
                        <a:t>7 m to 50 m in the current line</a:t>
                      </a:r>
                      <a:endParaRPr lang="en-US" sz="12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566928">
                <a:tc>
                  <a:txBody>
                    <a:bodyPr/>
                    <a:lstStyle/>
                    <a:p>
                      <a:pPr algn="l" indent="0" marL="0">
                        <a:buNone/>
                      </a:pPr>
                      <a:r>
                        <a:rPr lang="en-US" sz="1200" dirty="0">
                          <a:solidFill>
                            <a:srgbClr val="F3F6FF"/>
                          </a:solidFill>
                          <a:latin typeface="Calibri" pitchFamily="34" charset="0"/>
                          <a:ea typeface="Calibri" pitchFamily="34" charset="-122"/>
                          <a:cs typeface="Calibri" pitchFamily="34" charset="-120"/>
                        </a:rPr>
                        <a:t>Weight and bend</a:t>
                      </a:r>
                      <a:endParaRPr lang="en-US" sz="12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200" dirty="0">
                          <a:solidFill>
                            <a:srgbClr val="F3F6FF"/>
                          </a:solidFill>
                          <a:latin typeface="Calibri" pitchFamily="34" charset="0"/>
                          <a:ea typeface="Calibri" pitchFamily="34" charset="-122"/>
                          <a:cs typeface="Calibri" pitchFamily="34" charset="-120"/>
                        </a:rPr>
                        <a:t>Thick and stiff at length</a:t>
                      </a:r>
                      <a:endParaRPr lang="en-US" sz="12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200" dirty="0">
                          <a:solidFill>
                            <a:srgbClr val="F3F6FF"/>
                          </a:solidFill>
                          <a:latin typeface="Calibri" pitchFamily="34" charset="0"/>
                          <a:ea typeface="Calibri" pitchFamily="34" charset="-122"/>
                          <a:cs typeface="Calibri" pitchFamily="34" charset="-120"/>
                        </a:rPr>
                        <a:t>Thin and light, pulls through conduit</a:t>
                      </a:r>
                      <a:endParaRPr lang="en-US" sz="12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566928">
                <a:tc>
                  <a:txBody>
                    <a:bodyPr/>
                    <a:lstStyle/>
                    <a:p>
                      <a:pPr algn="l" indent="0" marL="0">
                        <a:buNone/>
                      </a:pPr>
                      <a:r>
                        <a:rPr lang="en-US" sz="1200" dirty="0">
                          <a:solidFill>
                            <a:srgbClr val="F3F6FF"/>
                          </a:solidFill>
                          <a:latin typeface="Calibri" pitchFamily="34" charset="0"/>
                          <a:ea typeface="Calibri" pitchFamily="34" charset="-122"/>
                          <a:cs typeface="Calibri" pitchFamily="34" charset="-120"/>
                        </a:rPr>
                        <a:t>Interference</a:t>
                      </a:r>
                      <a:endParaRPr lang="en-US" sz="12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200" dirty="0">
                          <a:solidFill>
                            <a:srgbClr val="F3F6FF"/>
                          </a:solidFill>
                          <a:latin typeface="Calibri" pitchFamily="34" charset="0"/>
                          <a:ea typeface="Calibri" pitchFamily="34" charset="-122"/>
                          <a:cs typeface="Calibri" pitchFamily="34" charset="-120"/>
                        </a:rPr>
                        <a:t>Picks up electrical noise</a:t>
                      </a:r>
                      <a:endParaRPr lang="en-US" sz="12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200" dirty="0">
                          <a:solidFill>
                            <a:srgbClr val="F3F6FF"/>
                          </a:solidFill>
                          <a:latin typeface="Calibri" pitchFamily="34" charset="0"/>
                          <a:ea typeface="Calibri" pitchFamily="34" charset="-122"/>
                          <a:cs typeface="Calibri" pitchFamily="34" charset="-120"/>
                        </a:rPr>
                        <a:t>Fiber is immune to it</a:t>
                      </a:r>
                      <a:endParaRPr lang="en-US" sz="12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566928">
                <a:tc>
                  <a:txBody>
                    <a:bodyPr/>
                    <a:lstStyle/>
                    <a:p>
                      <a:pPr algn="l" indent="0" marL="0">
                        <a:buNone/>
                      </a:pPr>
                      <a:r>
                        <a:rPr lang="en-US" sz="1200" dirty="0">
                          <a:solidFill>
                            <a:srgbClr val="F3F6FF"/>
                          </a:solidFill>
                          <a:latin typeface="Calibri" pitchFamily="34" charset="0"/>
                          <a:ea typeface="Calibri" pitchFamily="34" charset="-122"/>
                          <a:cs typeface="Calibri" pitchFamily="34" charset="-120"/>
                        </a:rPr>
                        <a:t>Direction</a:t>
                      </a:r>
                      <a:endParaRPr lang="en-US" sz="12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200" dirty="0">
                          <a:solidFill>
                            <a:srgbClr val="F3F6FF"/>
                          </a:solidFill>
                          <a:latin typeface="Calibri" pitchFamily="34" charset="0"/>
                          <a:ea typeface="Calibri" pitchFamily="34" charset="-122"/>
                          <a:cs typeface="Calibri" pitchFamily="34" charset="-120"/>
                        </a:rPr>
                        <a:t>Either way</a:t>
                      </a:r>
                      <a:endParaRPr lang="en-US" sz="12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200" dirty="0">
                          <a:solidFill>
                            <a:srgbClr val="F3F6FF"/>
                          </a:solidFill>
                          <a:latin typeface="Calibri" pitchFamily="34" charset="0"/>
                          <a:ea typeface="Calibri" pitchFamily="34" charset="-122"/>
                          <a:cs typeface="Calibri" pitchFamily="34" charset="-120"/>
                        </a:rPr>
                        <a:t>Directional: SOURCE and DISPLAY ends (our direction proof design)</a:t>
                      </a:r>
                      <a:endParaRPr lang="en-US" sz="12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566928">
                <a:tc>
                  <a:txBody>
                    <a:bodyPr/>
                    <a:lstStyle/>
                    <a:p>
                      <a:pPr algn="l" indent="0" marL="0">
                        <a:buNone/>
                      </a:pPr>
                      <a:r>
                        <a:rPr lang="en-US" sz="1200" dirty="0">
                          <a:solidFill>
                            <a:srgbClr val="F3F6FF"/>
                          </a:solidFill>
                          <a:latin typeface="Calibri" pitchFamily="34" charset="0"/>
                          <a:ea typeface="Calibri" pitchFamily="34" charset="-122"/>
                          <a:cs typeface="Calibri" pitchFamily="34" charset="-120"/>
                        </a:rPr>
                        <a:t>Price point</a:t>
                      </a:r>
                      <a:endParaRPr lang="en-US" sz="12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200" dirty="0">
                          <a:solidFill>
                            <a:srgbClr val="F3F6FF"/>
                          </a:solidFill>
                          <a:latin typeface="Calibri" pitchFamily="34" charset="0"/>
                          <a:ea typeface="Calibri" pitchFamily="34" charset="-122"/>
                          <a:cs typeface="Calibri" pitchFamily="34" charset="-120"/>
                        </a:rPr>
                        <a:t>Around $8 for short runs</a:t>
                      </a:r>
                      <a:endParaRPr lang="en-US" sz="12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200" dirty="0">
                          <a:solidFill>
                            <a:srgbClr val="F3F6FF"/>
                          </a:solidFill>
                          <a:latin typeface="Calibri" pitchFamily="34" charset="0"/>
                          <a:ea typeface="Calibri" pitchFamily="34" charset="-122"/>
                          <a:cs typeface="Calibri" pitchFamily="34" charset="-120"/>
                        </a:rPr>
                        <a:t>$44.99 for the hero 10 m SKU</a:t>
                      </a:r>
                      <a:endParaRPr lang="en-US" sz="12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bl>
          </a:graphicData>
        </a:graphic>
      </p:graphicFrame>
      <p:sp>
        <p:nvSpPr>
          <p:cNvPr id="9" name="Text 5"/>
          <p:cNvSpPr txBox="1"/>
          <p:nvPr/>
        </p:nvSpPr>
        <p:spPr>
          <a:xfrm>
            <a:off x="5852160" y="5120640"/>
            <a:ext cx="5879592" cy="822960"/>
          </a:xfrm>
          <a:prstGeom prst="rect">
            <a:avLst/>
          </a:prstGeom>
          <a:noFill/>
          <a:ln/>
        </p:spPr>
        <p:txBody>
          <a:bodyPr wrap="square" lIns="0" tIns="0" rIns="0" bIns="0" rtlCol="0" anchor="t"/>
          <a:lstStyle/>
          <a:p>
            <a:pPr algn="l" indent="0" marL="0">
              <a:buNone/>
            </a:pPr>
            <a:r>
              <a:rPr lang="en-US" sz="1100" dirty="0">
                <a:solidFill>
                  <a:schemeClr val="tx2"/>
                </a:solidFill>
              </a:rPr>
              <a:t>Length limits are a management summary of the HDMI specification; the brief's statement is that copper physically fails past 3 meters at 48Gbps.</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Who buys long HDMI</a:t>
            </a:r>
            <a:endParaRPr lang="en-US" sz="3200" dirty="0"/>
          </a:p>
        </p:txBody>
      </p:sp>
      <p:sp>
        <p:nvSpPr>
          <p:cNvPr id="4" name="card"/>
          <p:cNvSpPr/>
          <p:nvPr/>
        </p:nvSpPr>
        <p:spPr>
          <a:xfrm>
            <a:off x="457200" y="1188720"/>
            <a:ext cx="3566160" cy="2331720"/>
          </a:xfrm>
          <a:prstGeom prst="roundRect">
            <a:avLst>
              <a:gd name="adj" fmla="val 4706"/>
            </a:avLst>
          </a:prstGeom>
          <a:solidFill>
            <a:schemeClr val="bg2"/>
          </a:solidFill>
          <a:ln w="12700">
            <a:solidFill>
              <a:srgbClr val="141C36"/>
            </a:solidFill>
            <a:prstDash val="solid"/>
          </a:ln>
        </p:spPr>
      </p:sp>
      <p:sp>
        <p:nvSpPr>
          <p:cNvPr id="5" name="Shape 2"/>
          <p:cNvSpPr/>
          <p:nvPr/>
        </p:nvSpPr>
        <p:spPr>
          <a:xfrm>
            <a:off x="640080" y="1371600"/>
            <a:ext cx="502920" cy="502920"/>
          </a:xfrm>
          <a:prstGeom prst="ellipse">
            <a:avLst/>
          </a:prstGeom>
          <a:solidFill>
            <a:srgbClr val="1B2447"/>
          </a:solidFill>
          <a:ln w="12700">
            <a:solidFill>
              <a:srgbClr val="1B2447"/>
            </a:solidFill>
            <a:prstDash val="solid"/>
          </a:ln>
        </p:spPr>
      </p:sp>
      <p:pic>
        <p:nvPicPr>
          <p:cNvPr id="6" name="Image 0" descr="preencoded.png">    </p:cNvPr>
          <p:cNvPicPr>
            <a:picLocks noChangeAspect="1"/>
          </p:cNvPicPr>
          <p:nvPr/>
        </p:nvPicPr>
        <p:blipFill>
          <a:blip r:embed="rId1"/>
          <a:stretch>
            <a:fillRect/>
          </a:stretch>
        </p:blipFill>
        <p:spPr>
          <a:xfrm>
            <a:off x="750722" y="1482242"/>
            <a:ext cx="281635" cy="281635"/>
          </a:xfrm>
          <a:prstGeom prst="rect">
            <a:avLst/>
          </a:prstGeom>
        </p:spPr>
      </p:pic>
      <p:sp>
        <p:nvSpPr>
          <p:cNvPr id="7" name="Text 3"/>
          <p:cNvSpPr txBox="1"/>
          <p:nvPr/>
        </p:nvSpPr>
        <p:spPr>
          <a:xfrm>
            <a:off x="1280160" y="1371600"/>
            <a:ext cx="2560320" cy="502920"/>
          </a:xfrm>
          <a:prstGeom prst="rect">
            <a:avLst/>
          </a:prstGeom>
          <a:noFill/>
          <a:ln/>
        </p:spPr>
        <p:txBody>
          <a:bodyPr wrap="square" lIns="0" tIns="0" rIns="0" bIns="0" rtlCol="0" anchor="ctr"/>
          <a:lstStyle/>
          <a:p>
            <a:pPr algn="l" indent="0" marL="0">
              <a:buNone/>
            </a:pPr>
            <a:r>
              <a:rPr lang="en-US" sz="1500" b="1" dirty="0">
                <a:solidFill>
                  <a:schemeClr val="tx1"/>
                </a:solidFill>
              </a:rPr>
              <a:t>Home theater and projector owners</a:t>
            </a:r>
            <a:endParaRPr lang="en-US" sz="1500" dirty="0"/>
          </a:p>
        </p:txBody>
      </p:sp>
      <p:sp>
        <p:nvSpPr>
          <p:cNvPr id="8" name="Text 4"/>
          <p:cNvSpPr txBox="1"/>
          <p:nvPr/>
        </p:nvSpPr>
        <p:spPr>
          <a:xfrm>
            <a:off x="640080" y="2011680"/>
            <a:ext cx="3200400" cy="1005840"/>
          </a:xfrm>
          <a:prstGeom prst="rect">
            <a:avLst/>
          </a:prstGeom>
          <a:noFill/>
          <a:ln/>
        </p:spPr>
        <p:txBody>
          <a:bodyPr wrap="square" lIns="0" tIns="0" rIns="0" bIns="0" rtlCol="0" anchor="t"/>
          <a:lstStyle/>
          <a:p>
            <a:pPr algn="l" indent="0" marL="0">
              <a:buNone/>
            </a:pPr>
            <a:r>
              <a:rPr lang="en-US" sz="1300" dirty="0">
                <a:solidFill>
                  <a:schemeClr val="tx1"/>
                </a:solidFill>
              </a:rPr>
              <a:t>Projector 10 m to 20 m from the AV receiver. Wants 4K 120Hz or 8K and eARC. Buys on Amazon.</a:t>
            </a:r>
            <a:endParaRPr lang="en-US" sz="1300" dirty="0"/>
          </a:p>
        </p:txBody>
      </p:sp>
      <p:sp>
        <p:nvSpPr>
          <p:cNvPr id="9" name="Text 5"/>
          <p:cNvSpPr txBox="1"/>
          <p:nvPr/>
        </p:nvSpPr>
        <p:spPr>
          <a:xfrm>
            <a:off x="640080" y="2971800"/>
            <a:ext cx="3200400" cy="457200"/>
          </a:xfrm>
          <a:prstGeom prst="rect">
            <a:avLst/>
          </a:prstGeom>
          <a:noFill/>
          <a:ln/>
        </p:spPr>
        <p:txBody>
          <a:bodyPr wrap="square" lIns="0" tIns="0" rIns="0" bIns="0" rtlCol="0" anchor="t"/>
          <a:lstStyle/>
          <a:p>
            <a:pPr algn="l" indent="0" marL="0">
              <a:buNone/>
            </a:pPr>
            <a:r>
              <a:rPr lang="en-US" sz="1100" dirty="0">
                <a:solidFill>
                  <a:schemeClr val="accent5"/>
                </a:solidFill>
              </a:rPr>
              <a:t>[PLACEHOLDER: segment size, source still to be found]</a:t>
            </a:r>
            <a:endParaRPr lang="en-US" sz="1100" dirty="0"/>
          </a:p>
        </p:txBody>
      </p:sp>
      <p:sp>
        <p:nvSpPr>
          <p:cNvPr id="10" name="card"/>
          <p:cNvSpPr/>
          <p:nvPr/>
        </p:nvSpPr>
        <p:spPr>
          <a:xfrm>
            <a:off x="4297680" y="1188720"/>
            <a:ext cx="3566160" cy="2331720"/>
          </a:xfrm>
          <a:prstGeom prst="roundRect">
            <a:avLst>
              <a:gd name="adj" fmla="val 4706"/>
            </a:avLst>
          </a:prstGeom>
          <a:solidFill>
            <a:schemeClr val="bg2"/>
          </a:solidFill>
          <a:ln w="12700">
            <a:solidFill>
              <a:srgbClr val="141C36"/>
            </a:solidFill>
            <a:prstDash val="solid"/>
          </a:ln>
        </p:spPr>
      </p:sp>
      <p:sp>
        <p:nvSpPr>
          <p:cNvPr id="11" name="Shape 7"/>
          <p:cNvSpPr/>
          <p:nvPr/>
        </p:nvSpPr>
        <p:spPr>
          <a:xfrm>
            <a:off x="4480560" y="1371600"/>
            <a:ext cx="502920" cy="502920"/>
          </a:xfrm>
          <a:prstGeom prst="ellipse">
            <a:avLst/>
          </a:prstGeom>
          <a:solidFill>
            <a:srgbClr val="1B2447"/>
          </a:solidFill>
          <a:ln w="12700">
            <a:solidFill>
              <a:srgbClr val="1B2447"/>
            </a:solidFill>
            <a:prstDash val="solid"/>
          </a:ln>
        </p:spPr>
      </p:sp>
      <p:pic>
        <p:nvPicPr>
          <p:cNvPr id="12" name="Image 1" descr="preencoded.png">    </p:cNvPr>
          <p:cNvPicPr>
            <a:picLocks noChangeAspect="1"/>
          </p:cNvPicPr>
          <p:nvPr/>
        </p:nvPicPr>
        <p:blipFill>
          <a:blip r:embed="rId2"/>
          <a:stretch>
            <a:fillRect/>
          </a:stretch>
        </p:blipFill>
        <p:spPr>
          <a:xfrm>
            <a:off x="4591202" y="1482242"/>
            <a:ext cx="281635" cy="281635"/>
          </a:xfrm>
          <a:prstGeom prst="rect">
            <a:avLst/>
          </a:prstGeom>
        </p:spPr>
      </p:pic>
      <p:sp>
        <p:nvSpPr>
          <p:cNvPr id="13" name="Text 8"/>
          <p:cNvSpPr txBox="1"/>
          <p:nvPr/>
        </p:nvSpPr>
        <p:spPr>
          <a:xfrm>
            <a:off x="5120640" y="1371600"/>
            <a:ext cx="2560320" cy="502920"/>
          </a:xfrm>
          <a:prstGeom prst="rect">
            <a:avLst/>
          </a:prstGeom>
          <a:noFill/>
          <a:ln/>
        </p:spPr>
        <p:txBody>
          <a:bodyPr wrap="square" lIns="0" tIns="0" rIns="0" bIns="0" rtlCol="0" anchor="ctr"/>
          <a:lstStyle/>
          <a:p>
            <a:pPr algn="l" indent="0" marL="0">
              <a:buNone/>
            </a:pPr>
            <a:r>
              <a:rPr lang="en-US" sz="1500" b="1" dirty="0">
                <a:solidFill>
                  <a:schemeClr val="tx1"/>
                </a:solidFill>
              </a:rPr>
              <a:t>Gamers with PS5 and Xbox</a:t>
            </a:r>
            <a:endParaRPr lang="en-US" sz="1500" dirty="0"/>
          </a:p>
        </p:txBody>
      </p:sp>
      <p:sp>
        <p:nvSpPr>
          <p:cNvPr id="14" name="Text 9"/>
          <p:cNvSpPr txBox="1"/>
          <p:nvPr/>
        </p:nvSpPr>
        <p:spPr>
          <a:xfrm>
            <a:off x="4480560" y="2011680"/>
            <a:ext cx="3200400" cy="1005840"/>
          </a:xfrm>
          <a:prstGeom prst="rect">
            <a:avLst/>
          </a:prstGeom>
          <a:noFill/>
          <a:ln/>
        </p:spPr>
        <p:txBody>
          <a:bodyPr wrap="square" lIns="0" tIns="0" rIns="0" bIns="0" rtlCol="0" anchor="t"/>
          <a:lstStyle/>
          <a:p>
            <a:pPr algn="l" indent="0" marL="0">
              <a:buNone/>
            </a:pPr>
            <a:r>
              <a:rPr lang="en-US" sz="1300" dirty="0">
                <a:solidFill>
                  <a:schemeClr val="tx1"/>
                </a:solidFill>
              </a:rPr>
              <a:t>4K at 120Hz needs 48Gbps. Shorter runs, but the 7 m and 10 m lengths fit desks and living rooms.</a:t>
            </a:r>
            <a:endParaRPr lang="en-US" sz="1300" dirty="0"/>
          </a:p>
        </p:txBody>
      </p:sp>
      <p:sp>
        <p:nvSpPr>
          <p:cNvPr id="15" name="Text 10"/>
          <p:cNvSpPr txBox="1"/>
          <p:nvPr/>
        </p:nvSpPr>
        <p:spPr>
          <a:xfrm>
            <a:off x="4480560" y="2971800"/>
            <a:ext cx="3200400" cy="457200"/>
          </a:xfrm>
          <a:prstGeom prst="rect">
            <a:avLst/>
          </a:prstGeom>
          <a:noFill/>
          <a:ln/>
        </p:spPr>
        <p:txBody>
          <a:bodyPr wrap="square" lIns="0" tIns="0" rIns="0" bIns="0" rtlCol="0" anchor="t"/>
          <a:lstStyle/>
          <a:p>
            <a:pPr algn="l" indent="0" marL="0">
              <a:buNone/>
            </a:pPr>
            <a:r>
              <a:rPr lang="en-US" sz="1100" dirty="0">
                <a:solidFill>
                  <a:schemeClr val="accent5"/>
                </a:solidFill>
              </a:rPr>
              <a:t>[PLACEHOLDER: segment size, source still to be found]</a:t>
            </a:r>
            <a:endParaRPr lang="en-US" sz="1100" dirty="0"/>
          </a:p>
        </p:txBody>
      </p:sp>
      <p:sp>
        <p:nvSpPr>
          <p:cNvPr id="16" name="card"/>
          <p:cNvSpPr/>
          <p:nvPr/>
        </p:nvSpPr>
        <p:spPr>
          <a:xfrm>
            <a:off x="457200" y="3794760"/>
            <a:ext cx="3566160" cy="2331720"/>
          </a:xfrm>
          <a:prstGeom prst="roundRect">
            <a:avLst>
              <a:gd name="adj" fmla="val 4706"/>
            </a:avLst>
          </a:prstGeom>
          <a:solidFill>
            <a:schemeClr val="bg2"/>
          </a:solidFill>
          <a:ln w="12700">
            <a:solidFill>
              <a:srgbClr val="141C36"/>
            </a:solidFill>
            <a:prstDash val="solid"/>
          </a:ln>
        </p:spPr>
      </p:sp>
      <p:sp>
        <p:nvSpPr>
          <p:cNvPr id="17" name="Shape 12"/>
          <p:cNvSpPr/>
          <p:nvPr/>
        </p:nvSpPr>
        <p:spPr>
          <a:xfrm>
            <a:off x="640080" y="3977640"/>
            <a:ext cx="502920" cy="502920"/>
          </a:xfrm>
          <a:prstGeom prst="ellipse">
            <a:avLst/>
          </a:prstGeom>
          <a:solidFill>
            <a:srgbClr val="1B2447"/>
          </a:solidFill>
          <a:ln w="12700">
            <a:solidFill>
              <a:srgbClr val="1B2447"/>
            </a:solidFill>
            <a:prstDash val="solid"/>
          </a:ln>
        </p:spPr>
      </p:sp>
      <p:pic>
        <p:nvPicPr>
          <p:cNvPr id="18" name="Image 2" descr="preencoded.png">    </p:cNvPr>
          <p:cNvPicPr>
            <a:picLocks noChangeAspect="1"/>
          </p:cNvPicPr>
          <p:nvPr/>
        </p:nvPicPr>
        <p:blipFill>
          <a:blip r:embed="rId3"/>
          <a:stretch>
            <a:fillRect/>
          </a:stretch>
        </p:blipFill>
        <p:spPr>
          <a:xfrm>
            <a:off x="750722" y="4088282"/>
            <a:ext cx="281635" cy="281635"/>
          </a:xfrm>
          <a:prstGeom prst="rect">
            <a:avLst/>
          </a:prstGeom>
        </p:spPr>
      </p:pic>
      <p:sp>
        <p:nvSpPr>
          <p:cNvPr id="19" name="Text 13"/>
          <p:cNvSpPr txBox="1"/>
          <p:nvPr/>
        </p:nvSpPr>
        <p:spPr>
          <a:xfrm>
            <a:off x="1280160" y="3977640"/>
            <a:ext cx="2560320" cy="502920"/>
          </a:xfrm>
          <a:prstGeom prst="rect">
            <a:avLst/>
          </a:prstGeom>
          <a:noFill/>
          <a:ln/>
        </p:spPr>
        <p:txBody>
          <a:bodyPr wrap="square" lIns="0" tIns="0" rIns="0" bIns="0" rtlCol="0" anchor="ctr"/>
          <a:lstStyle/>
          <a:p>
            <a:pPr algn="l" indent="0" marL="0">
              <a:buNone/>
            </a:pPr>
            <a:r>
              <a:rPr lang="en-US" sz="1500" b="1" dirty="0">
                <a:solidFill>
                  <a:schemeClr val="tx1"/>
                </a:solidFill>
              </a:rPr>
              <a:t>Custom installers and AV integrators</a:t>
            </a:r>
            <a:endParaRPr lang="en-US" sz="1500" dirty="0"/>
          </a:p>
        </p:txBody>
      </p:sp>
      <p:sp>
        <p:nvSpPr>
          <p:cNvPr id="20" name="Text 14"/>
          <p:cNvSpPr txBox="1"/>
          <p:nvPr/>
        </p:nvSpPr>
        <p:spPr>
          <a:xfrm>
            <a:off x="640080" y="4617720"/>
            <a:ext cx="3200400" cy="1005840"/>
          </a:xfrm>
          <a:prstGeom prst="rect">
            <a:avLst/>
          </a:prstGeom>
          <a:noFill/>
          <a:ln/>
        </p:spPr>
        <p:txBody>
          <a:bodyPr wrap="square" lIns="0" tIns="0" rIns="0" bIns="0" rtlCol="0" anchor="t"/>
          <a:lstStyle/>
          <a:p>
            <a:pPr algn="l" indent="0" marL="0">
              <a:buNone/>
            </a:pPr>
            <a:r>
              <a:rPr lang="en-US" sz="1300" dirty="0">
                <a:solidFill>
                  <a:schemeClr val="tx1"/>
                </a:solidFill>
              </a:rPr>
              <a:t>In wall runs need CL3, conduit pulls need the detachable head. Buys B2B at 60% of retail from Year 2.</a:t>
            </a:r>
            <a:endParaRPr lang="en-US" sz="1300" dirty="0"/>
          </a:p>
        </p:txBody>
      </p:sp>
      <p:sp>
        <p:nvSpPr>
          <p:cNvPr id="21" name="Text 15"/>
          <p:cNvSpPr txBox="1"/>
          <p:nvPr/>
        </p:nvSpPr>
        <p:spPr>
          <a:xfrm>
            <a:off x="640080" y="5577840"/>
            <a:ext cx="3200400" cy="457200"/>
          </a:xfrm>
          <a:prstGeom prst="rect">
            <a:avLst/>
          </a:prstGeom>
          <a:noFill/>
          <a:ln/>
        </p:spPr>
        <p:txBody>
          <a:bodyPr wrap="square" lIns="0" tIns="0" rIns="0" bIns="0" rtlCol="0" anchor="t"/>
          <a:lstStyle/>
          <a:p>
            <a:pPr algn="l" indent="0" marL="0">
              <a:buNone/>
            </a:pPr>
            <a:r>
              <a:rPr lang="en-US" sz="1100" dirty="0">
                <a:solidFill>
                  <a:schemeClr val="accent5"/>
                </a:solidFill>
              </a:rPr>
              <a:t>[PLACEHOLDER: installer count, source still to be found]</a:t>
            </a:r>
            <a:endParaRPr lang="en-US" sz="1100" dirty="0"/>
          </a:p>
        </p:txBody>
      </p:sp>
      <p:sp>
        <p:nvSpPr>
          <p:cNvPr id="22" name="card"/>
          <p:cNvSpPr/>
          <p:nvPr/>
        </p:nvSpPr>
        <p:spPr>
          <a:xfrm>
            <a:off x="4297680" y="3794760"/>
            <a:ext cx="3566160" cy="2331720"/>
          </a:xfrm>
          <a:prstGeom prst="roundRect">
            <a:avLst>
              <a:gd name="adj" fmla="val 4706"/>
            </a:avLst>
          </a:prstGeom>
          <a:solidFill>
            <a:schemeClr val="bg2"/>
          </a:solidFill>
          <a:ln w="12700">
            <a:solidFill>
              <a:srgbClr val="141C36"/>
            </a:solidFill>
            <a:prstDash val="solid"/>
          </a:ln>
        </p:spPr>
      </p:sp>
      <p:sp>
        <p:nvSpPr>
          <p:cNvPr id="23" name="Shape 17"/>
          <p:cNvSpPr/>
          <p:nvPr/>
        </p:nvSpPr>
        <p:spPr>
          <a:xfrm>
            <a:off x="4480560" y="3977640"/>
            <a:ext cx="502920" cy="502920"/>
          </a:xfrm>
          <a:prstGeom prst="ellipse">
            <a:avLst/>
          </a:prstGeom>
          <a:solidFill>
            <a:srgbClr val="1B2447"/>
          </a:solidFill>
          <a:ln w="12700">
            <a:solidFill>
              <a:srgbClr val="1B2447"/>
            </a:solidFill>
            <a:prstDash val="solid"/>
          </a:ln>
        </p:spPr>
      </p:sp>
      <p:pic>
        <p:nvPicPr>
          <p:cNvPr id="24" name="Image 3" descr="preencoded.png">    </p:cNvPr>
          <p:cNvPicPr>
            <a:picLocks noChangeAspect="1"/>
          </p:cNvPicPr>
          <p:nvPr/>
        </p:nvPicPr>
        <p:blipFill>
          <a:blip r:embed="rId4"/>
          <a:stretch>
            <a:fillRect/>
          </a:stretch>
        </p:blipFill>
        <p:spPr>
          <a:xfrm>
            <a:off x="4591202" y="4088282"/>
            <a:ext cx="281635" cy="281635"/>
          </a:xfrm>
          <a:prstGeom prst="rect">
            <a:avLst/>
          </a:prstGeom>
        </p:spPr>
      </p:pic>
      <p:sp>
        <p:nvSpPr>
          <p:cNvPr id="25" name="Text 18"/>
          <p:cNvSpPr txBox="1"/>
          <p:nvPr/>
        </p:nvSpPr>
        <p:spPr>
          <a:xfrm>
            <a:off x="5120640" y="3977640"/>
            <a:ext cx="2560320" cy="502920"/>
          </a:xfrm>
          <a:prstGeom prst="rect">
            <a:avLst/>
          </a:prstGeom>
          <a:noFill/>
          <a:ln/>
        </p:spPr>
        <p:txBody>
          <a:bodyPr wrap="square" lIns="0" tIns="0" rIns="0" bIns="0" rtlCol="0" anchor="ctr"/>
          <a:lstStyle/>
          <a:p>
            <a:pPr algn="l" indent="0" marL="0">
              <a:buNone/>
            </a:pPr>
            <a:r>
              <a:rPr lang="en-US" sz="1500" b="1" dirty="0">
                <a:solidFill>
                  <a:schemeClr val="tx1"/>
                </a:solidFill>
              </a:rPr>
              <a:t>Conference rooms, classrooms, churches, signage</a:t>
            </a:r>
            <a:endParaRPr lang="en-US" sz="1500" dirty="0"/>
          </a:p>
        </p:txBody>
      </p:sp>
      <p:sp>
        <p:nvSpPr>
          <p:cNvPr id="26" name="Text 19"/>
          <p:cNvSpPr txBox="1"/>
          <p:nvPr/>
        </p:nvSpPr>
        <p:spPr>
          <a:xfrm>
            <a:off x="4480560" y="4617720"/>
            <a:ext cx="3200400" cy="1005840"/>
          </a:xfrm>
          <a:prstGeom prst="rect">
            <a:avLst/>
          </a:prstGeom>
          <a:noFill/>
          <a:ln/>
        </p:spPr>
        <p:txBody>
          <a:bodyPr wrap="square" lIns="0" tIns="0" rIns="0" bIns="0" rtlCol="0" anchor="t"/>
          <a:lstStyle/>
          <a:p>
            <a:pPr algn="l" indent="0" marL="0">
              <a:buNone/>
            </a:pPr>
            <a:r>
              <a:rPr lang="en-US" sz="1300" dirty="0">
                <a:solidFill>
                  <a:schemeClr val="tx1"/>
                </a:solidFill>
              </a:rPr>
              <a:t>Long runs from a rack to a display or projector. Repeat buyers with multiple rooms.</a:t>
            </a:r>
            <a:endParaRPr lang="en-US" sz="1300" dirty="0"/>
          </a:p>
        </p:txBody>
      </p:sp>
      <p:sp>
        <p:nvSpPr>
          <p:cNvPr id="27" name="Text 20"/>
          <p:cNvSpPr txBox="1"/>
          <p:nvPr/>
        </p:nvSpPr>
        <p:spPr>
          <a:xfrm>
            <a:off x="4480560" y="5577840"/>
            <a:ext cx="3200400" cy="457200"/>
          </a:xfrm>
          <a:prstGeom prst="rect">
            <a:avLst/>
          </a:prstGeom>
          <a:noFill/>
          <a:ln/>
        </p:spPr>
        <p:txBody>
          <a:bodyPr wrap="square" lIns="0" tIns="0" rIns="0" bIns="0" rtlCol="0" anchor="t"/>
          <a:lstStyle/>
          <a:p>
            <a:pPr algn="l" indent="0" marL="0">
              <a:buNone/>
            </a:pPr>
            <a:r>
              <a:rPr lang="en-US" sz="1100" dirty="0">
                <a:solidFill>
                  <a:schemeClr val="accent5"/>
                </a:solidFill>
              </a:rPr>
              <a:t>[PLACEHOLDER: segment size, source still to be found]</a:t>
            </a:r>
            <a:endParaRPr lang="en-US" sz="1100" dirty="0"/>
          </a:p>
        </p:txBody>
      </p:sp>
      <p:sp>
        <p:nvSpPr>
          <p:cNvPr id="28" name="card"/>
          <p:cNvSpPr/>
          <p:nvPr/>
        </p:nvSpPr>
        <p:spPr>
          <a:xfrm>
            <a:off x="8138160" y="1188720"/>
            <a:ext cx="3596335" cy="4937760"/>
          </a:xfrm>
          <a:prstGeom prst="roundRect">
            <a:avLst>
              <a:gd name="adj" fmla="val 3051"/>
            </a:avLst>
          </a:prstGeom>
          <a:solidFill>
            <a:srgbClr val="10172D"/>
          </a:solidFill>
          <a:ln w="12700">
            <a:solidFill>
              <a:srgbClr val="10172D"/>
            </a:solidFill>
            <a:prstDash val="solid"/>
          </a:ln>
        </p:spPr>
      </p:sp>
      <p:sp>
        <p:nvSpPr>
          <p:cNvPr id="29" name="Text 22"/>
          <p:cNvSpPr txBox="1"/>
          <p:nvPr/>
        </p:nvSpPr>
        <p:spPr>
          <a:xfrm>
            <a:off x="8366760" y="1325880"/>
            <a:ext cx="3200400" cy="731520"/>
          </a:xfrm>
          <a:prstGeom prst="rect">
            <a:avLst/>
          </a:prstGeom>
          <a:noFill/>
          <a:ln/>
        </p:spPr>
        <p:txBody>
          <a:bodyPr wrap="square" lIns="0" tIns="0" rIns="0" bIns="0" rtlCol="0" anchor="t"/>
          <a:lstStyle/>
          <a:p>
            <a:pPr algn="l" indent="0" marL="0">
              <a:buNone/>
            </a:pPr>
            <a:r>
              <a:rPr lang="en-US" sz="1500" b="1" dirty="0">
                <a:solidFill>
                  <a:schemeClr val="accent4"/>
                </a:solidFill>
              </a:rPr>
              <a:t>What the Korea sales already show (evidence based)</a:t>
            </a:r>
            <a:endParaRPr lang="en-US" sz="1500" dirty="0"/>
          </a:p>
        </p:txBody>
      </p:sp>
      <p:sp>
        <p:nvSpPr>
          <p:cNvPr id="30" name="Text 23"/>
          <p:cNvSpPr txBox="1"/>
          <p:nvPr/>
        </p:nvSpPr>
        <p:spPr>
          <a:xfrm>
            <a:off x="8366760" y="2148840"/>
            <a:ext cx="3200400" cy="914400"/>
          </a:xfrm>
          <a:prstGeom prst="rect">
            <a:avLst/>
          </a:prstGeom>
          <a:noFill/>
          <a:ln/>
        </p:spPr>
        <p:txBody>
          <a:bodyPr wrap="square" lIns="0" tIns="0" rIns="0" bIns="0" rtlCol="0" anchor="t"/>
          <a:lstStyle/>
          <a:p>
            <a:pPr algn="l" indent="0" marL="0">
              <a:buNone/>
            </a:pPr>
            <a:r>
              <a:rPr lang="en-US" sz="4400" b="1" dirty="0">
                <a:solidFill>
                  <a:schemeClr val="accent1"/>
                </a:solidFill>
              </a:rPr>
              <a:t>54%</a:t>
            </a:r>
            <a:endParaRPr lang="en-US" sz="4400" dirty="0"/>
          </a:p>
        </p:txBody>
      </p:sp>
      <p:sp>
        <p:nvSpPr>
          <p:cNvPr id="31" name="Text 24"/>
          <p:cNvSpPr txBox="1"/>
          <p:nvPr/>
        </p:nvSpPr>
        <p:spPr>
          <a:xfrm>
            <a:off x="8366760" y="3154680"/>
            <a:ext cx="3200400" cy="2743200"/>
          </a:xfrm>
          <a:prstGeom prst="rect">
            <a:avLst/>
          </a:prstGeom>
          <a:noFill/>
          <a:ln/>
        </p:spPr>
        <p:txBody>
          <a:bodyPr wrap="square" lIns="0" tIns="0" rIns="0" bIns="0" rtlCol="0" anchor="t"/>
          <a:lstStyle/>
          <a:p>
            <a:pPr algn="l" indent="0" marL="0">
              <a:buNone/>
            </a:pPr>
            <a:r>
              <a:rPr lang="en-US" sz="1300" dirty="0">
                <a:solidFill>
                  <a:schemeClr val="tx1"/>
                </a:solidFill>
              </a:rPr>
              <a:t>In the August 2026 deal of 1,400 units, the 8K short runs (7 m, 10 m, 20 m) were 53% of units and 54% of gross profit. The US launch leads with the same lengths.</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Price ladder and positioning</a:t>
            </a:r>
            <a:endParaRPr lang="en-US" sz="3200" dirty="0"/>
          </a:p>
        </p:txBody>
      </p:sp>
      <p:sp>
        <p:nvSpPr>
          <p:cNvPr id="4" name="Text 1"/>
          <p:cNvSpPr txBox="1"/>
          <p:nvPr/>
        </p:nvSpPr>
        <p:spPr>
          <a:xfrm>
            <a:off x="457200" y="1097280"/>
            <a:ext cx="7589520" cy="548640"/>
          </a:xfrm>
          <a:prstGeom prst="rect">
            <a:avLst/>
          </a:prstGeom>
          <a:noFill/>
          <a:ln/>
        </p:spPr>
        <p:txBody>
          <a:bodyPr wrap="square" lIns="0" tIns="0" rIns="0" bIns="0" rtlCol="0" anchor="t"/>
          <a:lstStyle/>
          <a:p>
            <a:pPr algn="l" indent="0" marL="0">
              <a:buNone/>
            </a:pPr>
            <a:r>
              <a:rPr lang="en-US" sz="2600" b="1" i="1" dirty="0">
                <a:solidFill>
                  <a:schemeClr val="accent1"/>
                </a:solidFill>
              </a:rPr>
              <a:t>Sell the signal, not the cable.</a:t>
            </a:r>
            <a:endParaRPr lang="en-US" sz="2600" dirty="0"/>
          </a:p>
        </p:txBody>
      </p:sp>
      <p:sp>
        <p:nvSpPr>
          <p:cNvPr id="5" name="Text 2"/>
          <p:cNvSpPr txBox="1"/>
          <p:nvPr/>
        </p:nvSpPr>
        <p:spPr>
          <a:xfrm>
            <a:off x="457200" y="1645920"/>
            <a:ext cx="7589520" cy="365760"/>
          </a:xfrm>
          <a:prstGeom prst="rect">
            <a:avLst/>
          </a:prstGeom>
          <a:noFill/>
          <a:ln/>
        </p:spPr>
        <p:txBody>
          <a:bodyPr wrap="square" lIns="0" tIns="0" rIns="0" bIns="0" rtlCol="0" anchor="t"/>
          <a:lstStyle/>
          <a:p>
            <a:pPr algn="l" indent="0" marL="0">
              <a:buNone/>
            </a:pPr>
            <a:r>
              <a:rPr lang="en-US" sz="1300" dirty="0">
                <a:solidFill>
                  <a:schemeClr val="tx2"/>
                </a:solidFill>
              </a:rPr>
              <a:t>Enter narrow. Own long length, high spec fiber. Do not compete with $8 copper.</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7589520" cy="914400"/>
        </p:xfrm>
        <a:graphic>
          <a:graphicData uri="http://schemas.openxmlformats.org/drawingml/2006/table">
            <a:tbl>
              <a:tblPr/>
              <a:tblGrid>
                <a:gridCol w="822960"/>
                <a:gridCol w="2286000"/>
                <a:gridCol w="731520"/>
                <a:gridCol w="914400"/>
                <a:gridCol w="1143000"/>
                <a:gridCol w="914400"/>
                <a:gridCol w="777240"/>
              </a:tblGrid>
              <a:tr h="411480">
                <a:tc>
                  <a:txBody>
                    <a:bodyPr/>
                    <a:lstStyle/>
                    <a:p>
                      <a:pPr algn="l" indent="0" marL="0">
                        <a:buNone/>
                      </a:pPr>
                      <a:r>
                        <a:rPr lang="en-US" sz="1100" b="1" dirty="0">
                          <a:solidFill>
                            <a:srgbClr val="2DE2FF"/>
                          </a:solidFill>
                          <a:latin typeface="Calibri" pitchFamily="34" charset="0"/>
                          <a:ea typeface="Calibri" pitchFamily="34" charset="-122"/>
                          <a:cs typeface="Calibri" pitchFamily="34" charset="-120"/>
                        </a:rPr>
                        <a:t>Launch SKU</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100" b="1" dirty="0">
                          <a:solidFill>
                            <a:srgbClr val="2DE2FF"/>
                          </a:solidFill>
                          <a:latin typeface="Calibri" pitchFamily="34" charset="0"/>
                          <a:ea typeface="Calibri" pitchFamily="34" charset="-122"/>
                          <a:cs typeface="Calibri" pitchFamily="34" charset="-120"/>
                        </a:rPr>
                        <a:t>Category name on the listing</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100" b="1" dirty="0">
                          <a:solidFill>
                            <a:srgbClr val="2DE2FF"/>
                          </a:solidFill>
                          <a:latin typeface="Calibri" pitchFamily="34" charset="0"/>
                          <a:ea typeface="Calibri" pitchFamily="34" charset="-122"/>
                          <a:cs typeface="Calibri" pitchFamily="34" charset="-120"/>
                        </a:rPr>
                        <a:t>Length</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100" b="1" dirty="0">
                          <a:solidFill>
                            <a:srgbClr val="2DE2FF"/>
                          </a:solidFill>
                          <a:latin typeface="Calibri" pitchFamily="34" charset="0"/>
                          <a:ea typeface="Calibri" pitchFamily="34" charset="-122"/>
                          <a:cs typeface="Calibri" pitchFamily="34" charset="-120"/>
                        </a:rPr>
                        <a:t>List price</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100" b="1" dirty="0">
                          <a:solidFill>
                            <a:srgbClr val="2DE2FF"/>
                          </a:solidFill>
                          <a:latin typeface="Calibri" pitchFamily="34" charset="0"/>
                          <a:ea typeface="Calibri" pitchFamily="34" charset="-122"/>
                          <a:cs typeface="Calibri" pitchFamily="34" charset="-120"/>
                        </a:rPr>
                        <a:t>Sale price (ASP input)</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100" b="1" dirty="0">
                          <a:solidFill>
                            <a:srgbClr val="2DE2FF"/>
                          </a:solidFill>
                          <a:latin typeface="Calibri" pitchFamily="34" charset="0"/>
                          <a:ea typeface="Calibri" pitchFamily="34" charset="-122"/>
                          <a:cs typeface="Calibri" pitchFamily="34" charset="-120"/>
                        </a:rPr>
                        <a:t>Net per unit by air</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100" b="1" dirty="0">
                          <a:solidFill>
                            <a:srgbClr val="2DE2FF"/>
                          </a:solidFill>
                          <a:latin typeface="Calibri" pitchFamily="34" charset="0"/>
                          <a:ea typeface="Calibri" pitchFamily="34" charset="-122"/>
                          <a:cs typeface="Calibri" pitchFamily="34" charset="-120"/>
                        </a:rPr>
                        <a:t>Net %</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411480">
                <a:tc>
                  <a:txBody>
                    <a:bodyPr/>
                    <a:lstStyle/>
                    <a:p>
                      <a:pPr algn="l" indent="0" marL="0">
                        <a:buNone/>
                      </a:pPr>
                      <a:r>
                        <a:rPr lang="en-US" sz="1100" dirty="0">
                          <a:solidFill>
                            <a:srgbClr val="F3F6FF"/>
                          </a:solidFill>
                          <a:latin typeface="Calibri" pitchFamily="34" charset="0"/>
                          <a:ea typeface="Calibri" pitchFamily="34" charset="-122"/>
                          <a:cs typeface="Calibri" pitchFamily="34" charset="-120"/>
                        </a:rPr>
                        <a:t>8K 7M</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100" dirty="0">
                          <a:solidFill>
                            <a:srgbClr val="F3F6FF"/>
                          </a:solidFill>
                          <a:latin typeface="Calibri" pitchFamily="34" charset="0"/>
                          <a:ea typeface="Calibri" pitchFamily="34" charset="-122"/>
                          <a:cs typeface="Calibri" pitchFamily="34" charset="-120"/>
                        </a:rPr>
                        <a:t>Ultra High Speed HDMI Cable</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7 m</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$49.99</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$39.99</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$10.31</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25.8%</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11480">
                <a:tc>
                  <a:txBody>
                    <a:bodyPr/>
                    <a:lstStyle/>
                    <a:p>
                      <a:pPr algn="l" indent="0" marL="0">
                        <a:buNone/>
                      </a:pPr>
                      <a:r>
                        <a:rPr lang="en-US" sz="1100" dirty="0">
                          <a:solidFill>
                            <a:srgbClr val="F3F6FF"/>
                          </a:solidFill>
                          <a:latin typeface="Calibri" pitchFamily="34" charset="0"/>
                          <a:ea typeface="Calibri" pitchFamily="34" charset="-122"/>
                          <a:cs typeface="Calibri" pitchFamily="34" charset="-120"/>
                        </a:rPr>
                        <a:t>8K 10M</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100" dirty="0">
                          <a:solidFill>
                            <a:srgbClr val="F3F6FF"/>
                          </a:solidFill>
                          <a:latin typeface="Calibri" pitchFamily="34" charset="0"/>
                          <a:ea typeface="Calibri" pitchFamily="34" charset="-122"/>
                          <a:cs typeface="Calibri" pitchFamily="34" charset="-120"/>
                        </a:rPr>
                        <a:t>Ultra High Speed HDMI Cable</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10 m</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$59.99</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$44.99</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$12.47</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27.7%</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11480">
                <a:tc>
                  <a:txBody>
                    <a:bodyPr/>
                    <a:lstStyle/>
                    <a:p>
                      <a:pPr algn="l" indent="0" marL="0">
                        <a:buNone/>
                      </a:pPr>
                      <a:r>
                        <a:rPr lang="en-US" sz="1100" dirty="0">
                          <a:solidFill>
                            <a:srgbClr val="F3F6FF"/>
                          </a:solidFill>
                          <a:latin typeface="Calibri" pitchFamily="34" charset="0"/>
                          <a:ea typeface="Calibri" pitchFamily="34" charset="-122"/>
                          <a:cs typeface="Calibri" pitchFamily="34" charset="-120"/>
                        </a:rPr>
                        <a:t>8K 15M</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100" dirty="0">
                          <a:solidFill>
                            <a:srgbClr val="F3F6FF"/>
                          </a:solidFill>
                          <a:latin typeface="Calibri" pitchFamily="34" charset="0"/>
                          <a:ea typeface="Calibri" pitchFamily="34" charset="-122"/>
                          <a:cs typeface="Calibri" pitchFamily="34" charset="-120"/>
                        </a:rPr>
                        <a:t>Ultra High Speed HDMI Cable</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15 m</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$69.99</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$54.99</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$16.37</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29.8%</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11480">
                <a:tc>
                  <a:txBody>
                    <a:bodyPr/>
                    <a:lstStyle/>
                    <a:p>
                      <a:pPr algn="l" indent="0" marL="0">
                        <a:buNone/>
                      </a:pPr>
                      <a:r>
                        <a:rPr lang="en-US" sz="1100" dirty="0">
                          <a:solidFill>
                            <a:srgbClr val="F3F6FF"/>
                          </a:solidFill>
                          <a:latin typeface="Calibri" pitchFamily="34" charset="0"/>
                          <a:ea typeface="Calibri" pitchFamily="34" charset="-122"/>
                          <a:cs typeface="Calibri" pitchFamily="34" charset="-120"/>
                        </a:rPr>
                        <a:t>8K 20M</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100" dirty="0">
                          <a:solidFill>
                            <a:srgbClr val="F3F6FF"/>
                          </a:solidFill>
                          <a:latin typeface="Calibri" pitchFamily="34" charset="0"/>
                          <a:ea typeface="Calibri" pitchFamily="34" charset="-122"/>
                          <a:cs typeface="Calibri" pitchFamily="34" charset="-120"/>
                        </a:rPr>
                        <a:t>Ultra High Speed HDMI Cable</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20 m</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$79.99</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$64.99</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$20.89</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32.1%</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11480">
                <a:tc>
                  <a:txBody>
                    <a:bodyPr/>
                    <a:lstStyle/>
                    <a:p>
                      <a:pPr algn="l" indent="0" marL="0">
                        <a:buNone/>
                      </a:pPr>
                      <a:r>
                        <a:rPr lang="en-US" sz="1100" dirty="0">
                          <a:solidFill>
                            <a:srgbClr val="F3F6FF"/>
                          </a:solidFill>
                          <a:latin typeface="Calibri" pitchFamily="34" charset="0"/>
                          <a:ea typeface="Calibri" pitchFamily="34" charset="-122"/>
                          <a:cs typeface="Calibri" pitchFamily="34" charset="-120"/>
                        </a:rPr>
                        <a:t>4K 30M</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100" dirty="0">
                          <a:solidFill>
                            <a:srgbClr val="F3F6FF"/>
                          </a:solidFill>
                          <a:latin typeface="Calibri" pitchFamily="34" charset="0"/>
                          <a:ea typeface="Calibri" pitchFamily="34" charset="-122"/>
                          <a:cs typeface="Calibri" pitchFamily="34" charset="-120"/>
                        </a:rPr>
                        <a:t>Premium High Speed HDMI Cable (placeholder)</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30 m</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$64.99</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$49.99</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$4.39</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8.8%</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bl>
          </a:graphicData>
        </a:graphic>
      </p:graphicFrame>
      <p:sp>
        <p:nvSpPr>
          <p:cNvPr id="7" name="Text 3"/>
          <p:cNvSpPr txBox="1"/>
          <p:nvPr/>
        </p:nvSpPr>
        <p:spPr>
          <a:xfrm>
            <a:off x="457200" y="4846320"/>
            <a:ext cx="7589520" cy="1188720"/>
          </a:xfrm>
          <a:prstGeom prst="rect">
            <a:avLst/>
          </a:prstGeom>
          <a:noFill/>
          <a:ln/>
        </p:spPr>
        <p:txBody>
          <a:bodyPr wrap="square" lIns="0" tIns="0" rIns="0" bIns="0" rtlCol="0" anchor="t"/>
          <a:lstStyle/>
          <a:p>
            <a:pPr algn="l" indent="0" marL="0">
              <a:buNone/>
            </a:pPr>
            <a:r>
              <a:rPr lang="en-US" sz="1100" dirty="0">
                <a:solidFill>
                  <a:schemeClr val="tx2"/>
                </a:solidFill>
              </a:rPr>
              <a:t>Prices and FBA fees are management estimates pending the Amazon rate card check. Net per unit uses the H2 cost base, Copper duty and air freight for launch lots.</a:t>
            </a:r>
            <a:endParaRPr lang="en-US" sz="1100" dirty="0"/>
          </a:p>
        </p:txBody>
      </p:sp>
      <p:sp>
        <p:nvSpPr>
          <p:cNvPr id="8" name="card"/>
          <p:cNvSpPr/>
          <p:nvPr/>
        </p:nvSpPr>
        <p:spPr>
          <a:xfrm>
            <a:off x="8321040" y="1097280"/>
            <a:ext cx="3410712" cy="5029200"/>
          </a:xfrm>
          <a:prstGeom prst="roundRect">
            <a:avLst>
              <a:gd name="adj" fmla="val 3217"/>
            </a:avLst>
          </a:prstGeom>
          <a:solidFill>
            <a:schemeClr val="bg2"/>
          </a:solidFill>
          <a:ln w="12700">
            <a:solidFill>
              <a:srgbClr val="141C36"/>
            </a:solidFill>
            <a:prstDash val="solid"/>
          </a:ln>
        </p:spPr>
      </p:sp>
      <p:sp>
        <p:nvSpPr>
          <p:cNvPr id="9" name="Text 5"/>
          <p:cNvSpPr txBox="1"/>
          <p:nvPr/>
        </p:nvSpPr>
        <p:spPr>
          <a:xfrm>
            <a:off x="8549640" y="1234440"/>
            <a:ext cx="3017520" cy="411480"/>
          </a:xfrm>
          <a:prstGeom prst="rect">
            <a:avLst/>
          </a:prstGeom>
          <a:noFill/>
          <a:ln/>
        </p:spPr>
        <p:txBody>
          <a:bodyPr wrap="square" lIns="0" tIns="0" rIns="0" bIns="0" rtlCol="0" anchor="t"/>
          <a:lstStyle/>
          <a:p>
            <a:pPr algn="l" indent="0" marL="0">
              <a:buNone/>
            </a:pPr>
            <a:r>
              <a:rPr lang="en-US" sz="1600" b="1" dirty="0">
                <a:solidFill>
                  <a:schemeClr val="accent1"/>
                </a:solidFill>
              </a:rPr>
              <a:t>How the ladder works</a:t>
            </a:r>
            <a:endParaRPr lang="en-US" sz="1600" dirty="0"/>
          </a:p>
        </p:txBody>
      </p:sp>
      <p:sp>
        <p:nvSpPr>
          <p:cNvPr id="10" name="Text 6"/>
          <p:cNvSpPr txBox="1"/>
          <p:nvPr/>
        </p:nvSpPr>
        <p:spPr>
          <a:xfrm>
            <a:off x="8549640" y="1737360"/>
            <a:ext cx="3017520" cy="4206240"/>
          </a:xfrm>
          <a:prstGeom prst="rect">
            <a:avLst/>
          </a:prstGeom>
          <a:noFill/>
          <a:ln/>
        </p:spPr>
        <p:txBody>
          <a:bodyPr wrap="square" lIns="0" tIns="0" rIns="0" bIns="0" rtlCol="0" anchor="t"/>
          <a:lstStyle/>
          <a:p>
            <a:pPr algn="l" marL="152400" indent="-152400">
              <a:spcAft>
                <a:spcPts val="800"/>
              </a:spcAft>
              <a:buSzPct val="100000"/>
              <a:buChar char="•"/>
            </a:pPr>
            <a:r>
              <a:rPr lang="en-US" sz="1300" dirty="0">
                <a:solidFill>
                  <a:schemeClr val="tx1"/>
                </a:solidFill>
              </a:rPr>
              <a:t>List price anchors value; the sale price is what the model uses as ASP.</a:t>
            </a:r>
            <a:endParaRPr lang="en-US" sz="1300" dirty="0"/>
          </a:p>
          <a:p>
            <a:pPr algn="l" marL="152400" indent="-152400">
              <a:spcAft>
                <a:spcPts val="800"/>
              </a:spcAft>
              <a:buSzPct val="100000"/>
              <a:buChar char="•"/>
            </a:pPr>
            <a:r>
              <a:rPr lang="en-US" sz="1300" dirty="0">
                <a:solidFill>
                  <a:schemeClr val="tx1"/>
                </a:solidFill>
              </a:rPr>
              <a:t>Hero SKU: the 10 m 8K cable at $44.99 (list $59.99).</a:t>
            </a:r>
            <a:endParaRPr lang="en-US" sz="1300" dirty="0"/>
          </a:p>
          <a:p>
            <a:pPr algn="l" marL="152400" indent="-152400">
              <a:spcAft>
                <a:spcPts val="800"/>
              </a:spcAft>
              <a:buSzPct val="100000"/>
              <a:buChar char="•"/>
            </a:pPr>
            <a:r>
              <a:rPr lang="en-US" sz="1300" dirty="0">
                <a:solidFill>
                  <a:schemeClr val="tx1"/>
                </a:solidFill>
              </a:rPr>
              <a:t>One parent ASIN per line, children by length, so reviews and ads pool (lever 6).</a:t>
            </a:r>
            <a:endParaRPr lang="en-US" sz="1300" dirty="0"/>
          </a:p>
          <a:p>
            <a:pPr algn="l" marL="152400" indent="-152400">
              <a:spcAft>
                <a:spcPts val="800"/>
              </a:spcAft>
              <a:buSzPct val="100000"/>
              <a:buChar char="•"/>
            </a:pPr>
            <a:r>
              <a:rPr lang="en-US" sz="1300" dirty="0">
                <a:solidFill>
                  <a:schemeClr val="tx1"/>
                </a:solidFill>
              </a:rPr>
              <a:t>Blended ASP in the 18 month model: $42 (evidence based, August model).</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85800" y="3749040"/>
            <a:ext cx="9144000" cy="1005840"/>
          </a:xfrm>
          <a:prstGeom prst="rect">
            <a:avLst/>
          </a:prstGeom>
          <a:noFill/>
          <a:ln/>
        </p:spPr>
        <p:txBody>
          <a:bodyPr wrap="square" lIns="0" tIns="0" rIns="0" bIns="0" rtlCol="0" anchor="b"/>
          <a:lstStyle/>
          <a:p>
            <a:pPr algn="l" indent="0" marL="0">
              <a:buNone/>
            </a:pPr>
            <a:r>
              <a:rPr lang="en-US" sz="3600" b="1" dirty="0">
                <a:solidFill>
                  <a:srgbClr val="F3F6FF"/>
                </a:solidFill>
              </a:rPr>
              <a:t>Product</a:t>
            </a:r>
            <a:endParaRPr lang="en-US" sz="3600" dirty="0"/>
          </a:p>
        </p:txBody>
      </p:sp>
      <p:sp>
        <p:nvSpPr>
          <p:cNvPr id="3" name="Text 0"/>
          <p:cNvSpPr/>
          <p:nvPr>
            <p:ph idx="101" type="body" hasCustomPrompt="1"/>
          </p:nvPr>
        </p:nvSpPr>
        <p:spPr>
          <a:xfrm>
            <a:off x="685800" y="4800600"/>
            <a:ext cx="9144000" cy="457200"/>
          </a:xfrm>
          <a:prstGeom prst="rect">
            <a:avLst/>
          </a:prstGeom>
          <a:noFill/>
          <a:ln/>
        </p:spPr>
        <p:txBody>
          <a:bodyPr wrap="square" lIns="0" tIns="0" rIns="0" bIns="0" rtlCol="0" anchor="t"/>
          <a:lstStyle/>
          <a:p>
            <a:pPr indent="0" marL="0">
              <a:buNone/>
            </a:pPr>
            <a:r>
              <a:rPr lang="en-US" sz="1600" dirty="0">
                <a:solidFill>
                  <a:srgbClr val="2DE2FF"/>
                </a:solidFill>
              </a:rPr>
              <a:t>Section 2 of 5</a:t>
            </a:r>
            <a:endParaRPr lang="en-US" sz="16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Line today and the roadmap</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7040880" cy="914400"/>
        </p:xfrm>
        <a:graphic>
          <a:graphicData uri="http://schemas.openxmlformats.org/drawingml/2006/table">
            <a:tbl>
              <a:tblPr/>
              <a:tblGrid>
                <a:gridCol w="777240"/>
                <a:gridCol w="2788920"/>
                <a:gridCol w="640080"/>
                <a:gridCol w="731520"/>
                <a:gridCol w="731520"/>
                <a:gridCol w="731520"/>
                <a:gridCol w="640080"/>
              </a:tblGrid>
              <a:tr h="329184">
                <a:tc>
                  <a:txBody>
                    <a:bodyPr/>
                    <a:lstStyle/>
                    <a:p>
                      <a:pPr algn="l" indent="0" marL="0">
                        <a:buNone/>
                      </a:pPr>
                      <a:r>
                        <a:rPr lang="en-US" sz="1050" b="1" dirty="0">
                          <a:solidFill>
                            <a:srgbClr val="2DE2FF"/>
                          </a:solidFill>
                          <a:latin typeface="Calibri" pitchFamily="34" charset="0"/>
                          <a:ea typeface="Calibri" pitchFamily="34" charset="-122"/>
                          <a:cs typeface="Calibri" pitchFamily="34" charset="-120"/>
                        </a:rPr>
                        <a:t>SKU</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050" b="1" dirty="0">
                          <a:solidFill>
                            <a:srgbClr val="2DE2FF"/>
                          </a:solidFill>
                          <a:latin typeface="Calibri" pitchFamily="34" charset="0"/>
                          <a:ea typeface="Calibri" pitchFamily="34" charset="-122"/>
                          <a:cs typeface="Calibri" pitchFamily="34" charset="-120"/>
                        </a:rPr>
                        <a:t>Line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Length</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List</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Sale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H2 cost (KRW)</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ctr" indent="0" marL="0">
                        <a:buNone/>
                      </a:pPr>
                      <a:r>
                        <a:rPr lang="en-US" sz="1050" b="1" dirty="0">
                          <a:solidFill>
                            <a:srgbClr val="2DE2FF"/>
                          </a:solidFill>
                          <a:latin typeface="Calibri" pitchFamily="34" charset="0"/>
                          <a:ea typeface="Calibri" pitchFamily="34" charset="-122"/>
                          <a:cs typeface="Calibri" pitchFamily="34" charset="-120"/>
                        </a:rPr>
                        <a:t>Launch</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329184">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8K 7M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Ultra High Speed HDMI Cable (8K line)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7 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$49.99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$39.99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10,525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ctr" indent="0" marL="0">
                        <a:buNone/>
                      </a:pPr>
                      <a:r>
                        <a:rPr lang="en-US" sz="1050" dirty="0">
                          <a:solidFill>
                            <a:srgbClr val="F3F6FF"/>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29184">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8K 10M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Ultra High Speed HDMI Cable (8K line)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10 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$59.99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$44.99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11,470</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ctr" indent="0" marL="0">
                        <a:buNone/>
                      </a:pPr>
                      <a:r>
                        <a:rPr lang="en-US" sz="1050" dirty="0">
                          <a:solidFill>
                            <a:srgbClr val="F3F6FF"/>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29184">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8K 15M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Ultra High Speed HDMI Cable (8K line)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15 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$69.99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$54.99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13,376</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ctr" indent="0" marL="0">
                        <a:buNone/>
                      </a:pPr>
                      <a:r>
                        <a:rPr lang="en-US" sz="1050" dirty="0">
                          <a:solidFill>
                            <a:srgbClr val="F3F6FF"/>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29184">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8K 20M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Ultra High Speed HDMI Cable (8K line)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20 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$79.99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$64.99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15,266</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ctr" indent="0" marL="0">
                        <a:buNone/>
                      </a:pPr>
                      <a:r>
                        <a:rPr lang="en-US" sz="1050" dirty="0">
                          <a:solidFill>
                            <a:srgbClr val="F3F6FF"/>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29184">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8K 25M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Ultra High Speed HDMI Cable (8K line)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25 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$89.99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$74.99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17,172</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ctr" indent="0" marL="0">
                        <a:buNone/>
                      </a:pPr>
                      <a:r>
                        <a:rPr lang="en-US" sz="1050" dirty="0">
                          <a:solidFill>
                            <a:srgbClr val="F3F6FF"/>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29184">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8K 50M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Ultra High Speed HDMI Cable (8K line)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50 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$149.99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$119.99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27,349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ctr" indent="0" marL="0">
                        <a:buNone/>
                      </a:pPr>
                      <a:r>
                        <a:rPr lang="en-US" sz="1050" dirty="0">
                          <a:solidFill>
                            <a:srgbClr val="F3F6FF"/>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29184">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4K 15M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Premium High Speed HDMI Cable (4K line, placeholder)</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15 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$44.99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$34.99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12,680</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ctr" indent="0" marL="0">
                        <a:buNone/>
                      </a:pPr>
                      <a:r>
                        <a:rPr lang="en-US" sz="1050" dirty="0">
                          <a:solidFill>
                            <a:srgbClr val="F3F6FF"/>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29184">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4K 20M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Premium High Speed HDMI Cable (4K line, placeholder)</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20 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$49.99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$39.99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14,122</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ctr" indent="0" marL="0">
                        <a:buNone/>
                      </a:pPr>
                      <a:r>
                        <a:rPr lang="en-US" sz="1050" dirty="0">
                          <a:solidFill>
                            <a:srgbClr val="F3F6FF"/>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29184">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4K 30M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Premium High Speed HDMI Cable (4K line, placeholder)</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30 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$64.99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$49.99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19,542</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ctr" indent="0" marL="0">
                        <a:buNone/>
                      </a:pPr>
                      <a:r>
                        <a:rPr lang="en-US" sz="1050" dirty="0">
                          <a:solidFill>
                            <a:srgbClr val="F3F6FF"/>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29184">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4K 40M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Premium High Speed HDMI Cable (4K line, placeholder)</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40 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$74.99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$59.99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22,609</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ctr" indent="0" marL="0">
                        <a:buNone/>
                      </a:pPr>
                      <a:r>
                        <a:rPr lang="en-US" sz="1050" dirty="0">
                          <a:solidFill>
                            <a:srgbClr val="F3F6FF"/>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bl>
          </a:graphicData>
        </a:graphic>
      </p:graphicFrame>
      <p:sp>
        <p:nvSpPr>
          <p:cNvPr id="5" name="Text 1"/>
          <p:cNvSpPr txBox="1"/>
          <p:nvPr/>
        </p:nvSpPr>
        <p:spPr>
          <a:xfrm>
            <a:off x="457200" y="5257800"/>
            <a:ext cx="7040880" cy="1005840"/>
          </a:xfrm>
          <a:prstGeom prst="rect">
            <a:avLst/>
          </a:prstGeom>
          <a:noFill/>
          <a:ln/>
        </p:spPr>
        <p:txBody>
          <a:bodyPr wrap="square" lIns="0" tIns="0" rIns="0" bIns="0" rtlCol="0" anchor="t"/>
          <a:lstStyle/>
          <a:p>
            <a:pPr algn="l" indent="0" marL="0">
              <a:buNone/>
            </a:pPr>
            <a:r>
              <a:rPr lang="en-US" sz="1100" dirty="0">
                <a:solidFill>
                  <a:schemeClr val="tx2"/>
                </a:solidFill>
              </a:rPr>
              <a:t>H2 cost is the landed Korea purchase cost per unit from the August 2026 deal (evidence based). Spec names such as HDMI 2.1 are internal only and never appear on packaging or listings.</a:t>
            </a:r>
            <a:endParaRPr lang="en-US" sz="1100" dirty="0"/>
          </a:p>
        </p:txBody>
      </p:sp>
      <p:sp>
        <p:nvSpPr>
          <p:cNvPr id="6" name="card"/>
          <p:cNvSpPr/>
          <p:nvPr/>
        </p:nvSpPr>
        <p:spPr>
          <a:xfrm>
            <a:off x="7772400" y="1188720"/>
            <a:ext cx="3959352" cy="5029200"/>
          </a:xfrm>
          <a:prstGeom prst="roundRect">
            <a:avLst>
              <a:gd name="adj" fmla="val 2771"/>
            </a:avLst>
          </a:prstGeom>
          <a:solidFill>
            <a:schemeClr val="bg2"/>
          </a:solidFill>
          <a:ln w="12700">
            <a:solidFill>
              <a:srgbClr val="141C36"/>
            </a:solidFill>
            <a:prstDash val="solid"/>
          </a:ln>
        </p:spPr>
      </p:sp>
      <p:sp>
        <p:nvSpPr>
          <p:cNvPr id="7" name="Text 3"/>
          <p:cNvSpPr txBox="1"/>
          <p:nvPr/>
        </p:nvSpPr>
        <p:spPr>
          <a:xfrm>
            <a:off x="8001000" y="1325880"/>
            <a:ext cx="3474720" cy="411480"/>
          </a:xfrm>
          <a:prstGeom prst="rect">
            <a:avLst/>
          </a:prstGeom>
          <a:noFill/>
          <a:ln/>
        </p:spPr>
        <p:txBody>
          <a:bodyPr wrap="square" lIns="0" tIns="0" rIns="0" bIns="0" rtlCol="0" anchor="t"/>
          <a:lstStyle/>
          <a:p>
            <a:pPr algn="l" indent="0" marL="0">
              <a:buNone/>
            </a:pPr>
            <a:r>
              <a:rPr lang="en-US" sz="1600" b="1" dirty="0">
                <a:solidFill>
                  <a:schemeClr val="accent1"/>
                </a:solidFill>
              </a:rPr>
              <a:t>Roadmap</a:t>
            </a:r>
            <a:endParaRPr lang="en-US" sz="1600" dirty="0"/>
          </a:p>
        </p:txBody>
      </p:sp>
      <p:sp>
        <p:nvSpPr>
          <p:cNvPr id="8" name="Text 4"/>
          <p:cNvSpPr txBox="1"/>
          <p:nvPr/>
        </p:nvSpPr>
        <p:spPr>
          <a:xfrm>
            <a:off x="8001000" y="1828800"/>
            <a:ext cx="3474720" cy="320040"/>
          </a:xfrm>
          <a:prstGeom prst="rect">
            <a:avLst/>
          </a:prstGeom>
          <a:noFill/>
          <a:ln/>
        </p:spPr>
        <p:txBody>
          <a:bodyPr wrap="square" lIns="0" tIns="0" rIns="0" bIns="0" rtlCol="0" anchor="t"/>
          <a:lstStyle/>
          <a:p>
            <a:pPr algn="l" indent="0" marL="0">
              <a:buNone/>
            </a:pPr>
            <a:r>
              <a:rPr lang="en-US" sz="1300" b="1" dirty="0">
                <a:solidFill>
                  <a:schemeClr val="accent5"/>
                </a:solidFill>
              </a:rPr>
              <a:t>Year 3</a:t>
            </a:r>
            <a:endParaRPr lang="en-US" sz="1300" dirty="0"/>
          </a:p>
        </p:txBody>
      </p:sp>
      <p:sp>
        <p:nvSpPr>
          <p:cNvPr id="9" name="Text 5"/>
          <p:cNvSpPr txBox="1"/>
          <p:nvPr/>
        </p:nvSpPr>
        <p:spPr>
          <a:xfrm>
            <a:off x="8001000" y="2176272"/>
            <a:ext cx="3474720" cy="1005840"/>
          </a:xfrm>
          <a:prstGeom prst="rect">
            <a:avLst/>
          </a:prstGeom>
          <a:noFill/>
          <a:ln/>
        </p:spPr>
        <p:txBody>
          <a:bodyPr wrap="square" lIns="0" tIns="0" rIns="0" bIns="0" rtlCol="0" anchor="t"/>
          <a:lstStyle/>
          <a:p>
            <a:pPr algn="l" indent="0" marL="0">
              <a:buNone/>
            </a:pPr>
            <a:r>
              <a:rPr lang="en-US" sz="1250" dirty="0">
                <a:solidFill>
                  <a:schemeClr val="tx1"/>
                </a:solidFill>
              </a:rPr>
              <a:t>HDMI 2.2 16K, DP 2.1 and USB4 active optical cables. Modeled as a 3% mix uplift to ASP (management estimate).</a:t>
            </a:r>
            <a:endParaRPr lang="en-US" sz="1250" dirty="0"/>
          </a:p>
        </p:txBody>
      </p:sp>
      <p:sp>
        <p:nvSpPr>
          <p:cNvPr id="10" name="Text 6"/>
          <p:cNvSpPr txBox="1"/>
          <p:nvPr/>
        </p:nvSpPr>
        <p:spPr>
          <a:xfrm>
            <a:off x="8001000" y="3246120"/>
            <a:ext cx="3474720" cy="320040"/>
          </a:xfrm>
          <a:prstGeom prst="rect">
            <a:avLst/>
          </a:prstGeom>
          <a:noFill/>
          <a:ln/>
        </p:spPr>
        <p:txBody>
          <a:bodyPr wrap="square" lIns="0" tIns="0" rIns="0" bIns="0" rtlCol="0" anchor="t"/>
          <a:lstStyle/>
          <a:p>
            <a:pPr algn="l" indent="0" marL="0">
              <a:buNone/>
            </a:pPr>
            <a:r>
              <a:rPr lang="en-US" sz="1300" b="1" dirty="0">
                <a:solidFill>
                  <a:schemeClr val="accent5"/>
                </a:solidFill>
              </a:rPr>
              <a:t>Year 4</a:t>
            </a:r>
            <a:endParaRPr lang="en-US" sz="1300" dirty="0"/>
          </a:p>
        </p:txBody>
      </p:sp>
      <p:sp>
        <p:nvSpPr>
          <p:cNvPr id="11" name="Text 7"/>
          <p:cNvSpPr txBox="1"/>
          <p:nvPr/>
        </p:nvSpPr>
        <p:spPr>
          <a:xfrm>
            <a:off x="8001000" y="3593592"/>
            <a:ext cx="3474720" cy="1005840"/>
          </a:xfrm>
          <a:prstGeom prst="rect">
            <a:avLst/>
          </a:prstGeom>
          <a:noFill/>
          <a:ln/>
        </p:spPr>
        <p:txBody>
          <a:bodyPr wrap="square" lIns="0" tIns="0" rIns="0" bIns="0" rtlCol="0" anchor="t"/>
          <a:lstStyle/>
          <a:p>
            <a:pPr algn="l" indent="0" marL="0">
              <a:buNone/>
            </a:pPr>
            <a:r>
              <a:rPr lang="en-US" sz="1250" dirty="0">
                <a:solidFill>
                  <a:schemeClr val="tx1"/>
                </a:solidFill>
              </a:rPr>
              <a:t>Pro line: CL3, plenum, conduit pull, long run fiber KVM. ASP $120, sold 60% B2B and 40% Amazon (management estimate).</a:t>
            </a:r>
            <a:endParaRPr lang="en-US" sz="1250" dirty="0"/>
          </a:p>
        </p:txBody>
      </p:sp>
      <p:sp>
        <p:nvSpPr>
          <p:cNvPr id="12" name="Text 8"/>
          <p:cNvSpPr txBox="1"/>
          <p:nvPr/>
        </p:nvSpPr>
        <p:spPr>
          <a:xfrm>
            <a:off x="8001000" y="4663440"/>
            <a:ext cx="3474720" cy="320040"/>
          </a:xfrm>
          <a:prstGeom prst="rect">
            <a:avLst/>
          </a:prstGeom>
          <a:noFill/>
          <a:ln/>
        </p:spPr>
        <p:txBody>
          <a:bodyPr wrap="square" lIns="0" tIns="0" rIns="0" bIns="0" rtlCol="0" anchor="t"/>
          <a:lstStyle/>
          <a:p>
            <a:pPr algn="l" indent="0" marL="0">
              <a:buNone/>
            </a:pPr>
            <a:r>
              <a:rPr lang="en-US" sz="1300" b="1" dirty="0">
                <a:solidFill>
                  <a:schemeClr val="accent5"/>
                </a:solidFill>
              </a:rPr>
              <a:t>Years 4 to 5</a:t>
            </a:r>
            <a:endParaRPr lang="en-US" sz="1300" dirty="0"/>
          </a:p>
        </p:txBody>
      </p:sp>
      <p:sp>
        <p:nvSpPr>
          <p:cNvPr id="13" name="Text 9"/>
          <p:cNvSpPr txBox="1"/>
          <p:nvPr/>
        </p:nvSpPr>
        <p:spPr>
          <a:xfrm>
            <a:off x="8001000" y="5010912"/>
            <a:ext cx="3474720" cy="1005840"/>
          </a:xfrm>
          <a:prstGeom prst="rect">
            <a:avLst/>
          </a:prstGeom>
          <a:noFill/>
          <a:ln/>
        </p:spPr>
        <p:txBody>
          <a:bodyPr wrap="square" lIns="0" tIns="0" rIns="0" bIns="0" rtlCol="0" anchor="t"/>
          <a:lstStyle/>
          <a:p>
            <a:pPr algn="l" indent="0" marL="0">
              <a:buNone/>
            </a:pPr>
            <a:r>
              <a:rPr lang="en-US" sz="1250" dirty="0">
                <a:solidFill>
                  <a:schemeClr val="tx1"/>
                </a:solidFill>
              </a:rPr>
              <a:t>Amazon Canada with stock transferred from the US.</a:t>
            </a:r>
            <a:endParaRPr lang="en-US" sz="12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Five differentiators</a:t>
            </a:r>
            <a:endParaRPr lang="en-US" sz="3200" dirty="0"/>
          </a:p>
        </p:txBody>
      </p:sp>
      <p:sp>
        <p:nvSpPr>
          <p:cNvPr id="4" name="card"/>
          <p:cNvSpPr/>
          <p:nvPr/>
        </p:nvSpPr>
        <p:spPr>
          <a:xfrm>
            <a:off x="457200" y="1371600"/>
            <a:ext cx="2036003" cy="3657600"/>
          </a:xfrm>
          <a:prstGeom prst="roundRect">
            <a:avLst>
              <a:gd name="adj" fmla="val 5389"/>
            </a:avLst>
          </a:prstGeom>
          <a:solidFill>
            <a:schemeClr val="bg2"/>
          </a:solidFill>
          <a:ln w="12700">
            <a:solidFill>
              <a:srgbClr val="141C36"/>
            </a:solidFill>
            <a:prstDash val="solid"/>
          </a:ln>
        </p:spPr>
      </p:sp>
      <p:sp>
        <p:nvSpPr>
          <p:cNvPr id="5" name="Shape 2"/>
          <p:cNvSpPr/>
          <p:nvPr/>
        </p:nvSpPr>
        <p:spPr>
          <a:xfrm>
            <a:off x="1063722" y="1600200"/>
            <a:ext cx="822960" cy="822960"/>
          </a:xfrm>
          <a:prstGeom prst="ellipse">
            <a:avLst/>
          </a:prstGeom>
          <a:solidFill>
            <a:srgbClr val="1B2447"/>
          </a:solidFill>
          <a:ln w="12700">
            <a:solidFill>
              <a:srgbClr val="1B2447"/>
            </a:solidFill>
            <a:prstDash val="solid"/>
          </a:ln>
        </p:spPr>
      </p:sp>
      <p:pic>
        <p:nvPicPr>
          <p:cNvPr id="6" name="Image 0" descr="preencoded.png">    </p:cNvPr>
          <p:cNvPicPr>
            <a:picLocks noChangeAspect="1"/>
          </p:cNvPicPr>
          <p:nvPr/>
        </p:nvPicPr>
        <p:blipFill>
          <a:blip r:embed="rId1"/>
          <a:stretch>
            <a:fillRect/>
          </a:stretch>
        </p:blipFill>
        <p:spPr>
          <a:xfrm>
            <a:off x="1244773" y="1781251"/>
            <a:ext cx="460858" cy="460858"/>
          </a:xfrm>
          <a:prstGeom prst="rect">
            <a:avLst/>
          </a:prstGeom>
        </p:spPr>
      </p:pic>
      <p:sp>
        <p:nvSpPr>
          <p:cNvPr id="7" name="Text 3"/>
          <p:cNvSpPr txBox="1"/>
          <p:nvPr/>
        </p:nvSpPr>
        <p:spPr>
          <a:xfrm>
            <a:off x="594360" y="2560320"/>
            <a:ext cx="1761683" cy="822960"/>
          </a:xfrm>
          <a:prstGeom prst="rect">
            <a:avLst/>
          </a:prstGeom>
          <a:noFill/>
          <a:ln/>
        </p:spPr>
        <p:txBody>
          <a:bodyPr wrap="square" lIns="0" tIns="0" rIns="0" bIns="0" rtlCol="0" anchor="ctr"/>
          <a:lstStyle/>
          <a:p>
            <a:pPr algn="ctr" indent="0" marL="0">
              <a:buNone/>
            </a:pPr>
            <a:r>
              <a:rPr lang="en-US" sz="1500" b="1" dirty="0">
                <a:solidFill>
                  <a:schemeClr val="tx1"/>
                </a:solidFill>
              </a:rPr>
              <a:t>Direction proof design</a:t>
            </a:r>
            <a:endParaRPr lang="en-US" sz="1500" dirty="0"/>
          </a:p>
        </p:txBody>
      </p:sp>
      <p:sp>
        <p:nvSpPr>
          <p:cNvPr id="8" name="Text 4"/>
          <p:cNvSpPr txBox="1"/>
          <p:nvPr/>
        </p:nvSpPr>
        <p:spPr>
          <a:xfrm>
            <a:off x="640080" y="3429000"/>
            <a:ext cx="1670243" cy="1508760"/>
          </a:xfrm>
          <a:prstGeom prst="rect">
            <a:avLst/>
          </a:prstGeom>
          <a:noFill/>
          <a:ln/>
        </p:spPr>
        <p:txBody>
          <a:bodyPr wrap="square" lIns="0" tIns="0" rIns="0" bIns="0" rtlCol="0" anchor="t"/>
          <a:lstStyle/>
          <a:p>
            <a:pPr algn="l" indent="0" marL="0">
              <a:buNone/>
            </a:pPr>
            <a:r>
              <a:rPr lang="en-US" sz="1400" dirty="0">
                <a:solidFill>
                  <a:schemeClr val="tx1"/>
                </a:solidFill>
              </a:rPr>
              <a:t>Color coded SOURCE and DISPLAY ends, printed arrows, QR code to a setup video. Lever 3: returns from 3% toward 2%.</a:t>
            </a:r>
            <a:endParaRPr lang="en-US" sz="1400" dirty="0"/>
          </a:p>
        </p:txBody>
      </p:sp>
      <p:sp>
        <p:nvSpPr>
          <p:cNvPr id="9" name="card"/>
          <p:cNvSpPr/>
          <p:nvPr/>
        </p:nvSpPr>
        <p:spPr>
          <a:xfrm>
            <a:off x="2767523" y="1371600"/>
            <a:ext cx="2036003" cy="3657600"/>
          </a:xfrm>
          <a:prstGeom prst="roundRect">
            <a:avLst>
              <a:gd name="adj" fmla="val 5389"/>
            </a:avLst>
          </a:prstGeom>
          <a:solidFill>
            <a:schemeClr val="bg2"/>
          </a:solidFill>
          <a:ln w="12700">
            <a:solidFill>
              <a:srgbClr val="141C36"/>
            </a:solidFill>
            <a:prstDash val="solid"/>
          </a:ln>
        </p:spPr>
      </p:sp>
      <p:sp>
        <p:nvSpPr>
          <p:cNvPr id="10" name="Shape 6"/>
          <p:cNvSpPr/>
          <p:nvPr/>
        </p:nvSpPr>
        <p:spPr>
          <a:xfrm>
            <a:off x="3374045" y="1600200"/>
            <a:ext cx="822960" cy="822960"/>
          </a:xfrm>
          <a:prstGeom prst="ellipse">
            <a:avLst/>
          </a:prstGeom>
          <a:solidFill>
            <a:srgbClr val="1B2447"/>
          </a:solidFill>
          <a:ln w="12700">
            <a:solidFill>
              <a:srgbClr val="1B2447"/>
            </a:solidFill>
            <a:prstDash val="solid"/>
          </a:ln>
        </p:spPr>
      </p:sp>
      <p:pic>
        <p:nvPicPr>
          <p:cNvPr id="11" name="Image 1" descr="preencoded.png">    </p:cNvPr>
          <p:cNvPicPr>
            <a:picLocks noChangeAspect="1"/>
          </p:cNvPicPr>
          <p:nvPr/>
        </p:nvPicPr>
        <p:blipFill>
          <a:blip r:embed="rId2"/>
          <a:stretch>
            <a:fillRect/>
          </a:stretch>
        </p:blipFill>
        <p:spPr>
          <a:xfrm>
            <a:off x="3555096" y="1781251"/>
            <a:ext cx="460858" cy="460858"/>
          </a:xfrm>
          <a:prstGeom prst="rect">
            <a:avLst/>
          </a:prstGeom>
        </p:spPr>
      </p:pic>
      <p:sp>
        <p:nvSpPr>
          <p:cNvPr id="12" name="Text 7"/>
          <p:cNvSpPr txBox="1"/>
          <p:nvPr/>
        </p:nvSpPr>
        <p:spPr>
          <a:xfrm>
            <a:off x="2904683" y="2560320"/>
            <a:ext cx="1761683" cy="822960"/>
          </a:xfrm>
          <a:prstGeom prst="rect">
            <a:avLst/>
          </a:prstGeom>
          <a:noFill/>
          <a:ln/>
        </p:spPr>
        <p:txBody>
          <a:bodyPr wrap="square" lIns="0" tIns="0" rIns="0" bIns="0" rtlCol="0" anchor="ctr"/>
          <a:lstStyle/>
          <a:p>
            <a:pPr algn="ctr" indent="0" marL="0">
              <a:buNone/>
            </a:pPr>
            <a:r>
              <a:rPr lang="en-US" sz="1500" b="1" dirty="0">
                <a:solidFill>
                  <a:schemeClr val="tx1"/>
                </a:solidFill>
              </a:rPr>
              <a:t>5 Year Signal Guarantee</a:t>
            </a:r>
            <a:endParaRPr lang="en-US" sz="1500" dirty="0"/>
          </a:p>
        </p:txBody>
      </p:sp>
      <p:sp>
        <p:nvSpPr>
          <p:cNvPr id="13" name="Text 8"/>
          <p:cNvSpPr txBox="1"/>
          <p:nvPr/>
        </p:nvSpPr>
        <p:spPr>
          <a:xfrm>
            <a:off x="2950403" y="3429000"/>
            <a:ext cx="1670243" cy="1508760"/>
          </a:xfrm>
          <a:prstGeom prst="rect">
            <a:avLst/>
          </a:prstGeom>
          <a:noFill/>
          <a:ln/>
        </p:spPr>
        <p:txBody>
          <a:bodyPr wrap="square" lIns="0" tIns="0" rIns="0" bIns="0" rtlCol="0" anchor="t"/>
          <a:lstStyle/>
          <a:p>
            <a:pPr algn="l" indent="0" marL="0">
              <a:buNone/>
            </a:pPr>
            <a:r>
              <a:rPr lang="en-US" sz="1400" dirty="0">
                <a:solidFill>
                  <a:schemeClr val="tx1"/>
                </a:solidFill>
              </a:rPr>
              <a:t>The replacement ships before the return arrives. Simple promise, simple process (flowchart 04).</a:t>
            </a:r>
            <a:endParaRPr lang="en-US" sz="1400" dirty="0"/>
          </a:p>
        </p:txBody>
      </p:sp>
      <p:sp>
        <p:nvSpPr>
          <p:cNvPr id="14" name="card"/>
          <p:cNvSpPr/>
          <p:nvPr/>
        </p:nvSpPr>
        <p:spPr>
          <a:xfrm>
            <a:off x="5077846" y="1371600"/>
            <a:ext cx="2036003" cy="3657600"/>
          </a:xfrm>
          <a:prstGeom prst="roundRect">
            <a:avLst>
              <a:gd name="adj" fmla="val 5389"/>
            </a:avLst>
          </a:prstGeom>
          <a:solidFill>
            <a:schemeClr val="bg2"/>
          </a:solidFill>
          <a:ln w="12700">
            <a:solidFill>
              <a:srgbClr val="141C36"/>
            </a:solidFill>
            <a:prstDash val="solid"/>
          </a:ln>
        </p:spPr>
      </p:sp>
      <p:sp>
        <p:nvSpPr>
          <p:cNvPr id="15" name="Shape 10"/>
          <p:cNvSpPr/>
          <p:nvPr/>
        </p:nvSpPr>
        <p:spPr>
          <a:xfrm>
            <a:off x="5684368" y="1600200"/>
            <a:ext cx="822960" cy="822960"/>
          </a:xfrm>
          <a:prstGeom prst="ellipse">
            <a:avLst/>
          </a:prstGeom>
          <a:solidFill>
            <a:srgbClr val="1B2447"/>
          </a:solidFill>
          <a:ln w="12700">
            <a:solidFill>
              <a:srgbClr val="1B2447"/>
            </a:solidFill>
            <a:prstDash val="solid"/>
          </a:ln>
        </p:spPr>
      </p:sp>
      <p:pic>
        <p:nvPicPr>
          <p:cNvPr id="16" name="Image 2" descr="preencoded.png">    </p:cNvPr>
          <p:cNvPicPr>
            <a:picLocks noChangeAspect="1"/>
          </p:cNvPicPr>
          <p:nvPr/>
        </p:nvPicPr>
        <p:blipFill>
          <a:blip r:embed="rId3"/>
          <a:stretch>
            <a:fillRect/>
          </a:stretch>
        </p:blipFill>
        <p:spPr>
          <a:xfrm>
            <a:off x="5865419" y="1781251"/>
            <a:ext cx="460858" cy="460858"/>
          </a:xfrm>
          <a:prstGeom prst="rect">
            <a:avLst/>
          </a:prstGeom>
        </p:spPr>
      </p:pic>
      <p:sp>
        <p:nvSpPr>
          <p:cNvPr id="17" name="Text 11"/>
          <p:cNvSpPr txBox="1"/>
          <p:nvPr/>
        </p:nvSpPr>
        <p:spPr>
          <a:xfrm>
            <a:off x="5215006" y="2560320"/>
            <a:ext cx="1761683" cy="822960"/>
          </a:xfrm>
          <a:prstGeom prst="rect">
            <a:avLst/>
          </a:prstGeom>
          <a:noFill/>
          <a:ln/>
        </p:spPr>
        <p:txBody>
          <a:bodyPr wrap="square" lIns="0" tIns="0" rIns="0" bIns="0" rtlCol="0" anchor="ctr"/>
          <a:lstStyle/>
          <a:p>
            <a:pPr algn="ctr" indent="0" marL="0">
              <a:buNone/>
            </a:pPr>
            <a:r>
              <a:rPr lang="en-US" sz="1500" b="1" dirty="0">
                <a:solidFill>
                  <a:schemeClr val="tx1"/>
                </a:solidFill>
              </a:rPr>
              <a:t>CL3 in wall rating</a:t>
            </a:r>
            <a:endParaRPr lang="en-US" sz="1500" dirty="0"/>
          </a:p>
        </p:txBody>
      </p:sp>
      <p:sp>
        <p:nvSpPr>
          <p:cNvPr id="18" name="Text 12"/>
          <p:cNvSpPr txBox="1"/>
          <p:nvPr/>
        </p:nvSpPr>
        <p:spPr>
          <a:xfrm>
            <a:off x="5260726" y="3429000"/>
            <a:ext cx="1670243" cy="1508760"/>
          </a:xfrm>
          <a:prstGeom prst="rect">
            <a:avLst/>
          </a:prstGeom>
          <a:noFill/>
          <a:ln/>
        </p:spPr>
        <p:txBody>
          <a:bodyPr wrap="square" lIns="0" tIns="0" rIns="0" bIns="0" rtlCol="0" anchor="t"/>
          <a:lstStyle/>
          <a:p>
            <a:pPr algn="l" indent="0" marL="0">
              <a:buNone/>
            </a:pPr>
            <a:r>
              <a:rPr lang="en-US" sz="1400" dirty="0">
                <a:solidFill>
                  <a:schemeClr val="tx1"/>
                </a:solidFill>
              </a:rPr>
              <a:t>Claimed only after the factory's CL3 documentation is in hand. Opens the installer segment.</a:t>
            </a:r>
            <a:endParaRPr lang="en-US" sz="1400" dirty="0"/>
          </a:p>
        </p:txBody>
      </p:sp>
      <p:sp>
        <p:nvSpPr>
          <p:cNvPr id="19" name="card"/>
          <p:cNvSpPr/>
          <p:nvPr/>
        </p:nvSpPr>
        <p:spPr>
          <a:xfrm>
            <a:off x="7388169" y="1371600"/>
            <a:ext cx="2036003" cy="3657600"/>
          </a:xfrm>
          <a:prstGeom prst="roundRect">
            <a:avLst>
              <a:gd name="adj" fmla="val 5389"/>
            </a:avLst>
          </a:prstGeom>
          <a:solidFill>
            <a:schemeClr val="bg2"/>
          </a:solidFill>
          <a:ln w="12700">
            <a:solidFill>
              <a:srgbClr val="141C36"/>
            </a:solidFill>
            <a:prstDash val="solid"/>
          </a:ln>
        </p:spPr>
      </p:sp>
      <p:sp>
        <p:nvSpPr>
          <p:cNvPr id="20" name="Shape 14"/>
          <p:cNvSpPr/>
          <p:nvPr/>
        </p:nvSpPr>
        <p:spPr>
          <a:xfrm>
            <a:off x="7994691" y="1600200"/>
            <a:ext cx="822960" cy="822960"/>
          </a:xfrm>
          <a:prstGeom prst="ellipse">
            <a:avLst/>
          </a:prstGeom>
          <a:solidFill>
            <a:srgbClr val="1B2447"/>
          </a:solidFill>
          <a:ln w="12700">
            <a:solidFill>
              <a:srgbClr val="1B2447"/>
            </a:solidFill>
            <a:prstDash val="solid"/>
          </a:ln>
        </p:spPr>
      </p:sp>
      <p:pic>
        <p:nvPicPr>
          <p:cNvPr id="21" name="Image 3" descr="preencoded.png">    </p:cNvPr>
          <p:cNvPicPr>
            <a:picLocks noChangeAspect="1"/>
          </p:cNvPicPr>
          <p:nvPr/>
        </p:nvPicPr>
        <p:blipFill>
          <a:blip r:embed="rId4"/>
          <a:stretch>
            <a:fillRect/>
          </a:stretch>
        </p:blipFill>
        <p:spPr>
          <a:xfrm>
            <a:off x="8175742" y="1781251"/>
            <a:ext cx="460858" cy="460858"/>
          </a:xfrm>
          <a:prstGeom prst="rect">
            <a:avLst/>
          </a:prstGeom>
        </p:spPr>
      </p:pic>
      <p:sp>
        <p:nvSpPr>
          <p:cNvPr id="22" name="Text 15"/>
          <p:cNvSpPr txBox="1"/>
          <p:nvPr/>
        </p:nvSpPr>
        <p:spPr>
          <a:xfrm>
            <a:off x="7525329" y="2560320"/>
            <a:ext cx="1761683" cy="822960"/>
          </a:xfrm>
          <a:prstGeom prst="rect">
            <a:avLst/>
          </a:prstGeom>
          <a:noFill/>
          <a:ln/>
        </p:spPr>
        <p:txBody>
          <a:bodyPr wrap="square" lIns="0" tIns="0" rIns="0" bIns="0" rtlCol="0" anchor="ctr"/>
          <a:lstStyle/>
          <a:p>
            <a:pPr algn="ctr" indent="0" marL="0">
              <a:buNone/>
            </a:pPr>
            <a:r>
              <a:rPr lang="en-US" sz="1500" b="1" dirty="0">
                <a:solidFill>
                  <a:schemeClr val="tx1"/>
                </a:solidFill>
              </a:rPr>
              <a:t>Detachable head for conduit pulls</a:t>
            </a:r>
            <a:endParaRPr lang="en-US" sz="1500" dirty="0"/>
          </a:p>
        </p:txBody>
      </p:sp>
      <p:sp>
        <p:nvSpPr>
          <p:cNvPr id="23" name="Text 16"/>
          <p:cNvSpPr txBox="1"/>
          <p:nvPr/>
        </p:nvSpPr>
        <p:spPr>
          <a:xfrm>
            <a:off x="7571049" y="3429000"/>
            <a:ext cx="1670243" cy="1508760"/>
          </a:xfrm>
          <a:prstGeom prst="rect">
            <a:avLst/>
          </a:prstGeom>
          <a:noFill/>
          <a:ln/>
        </p:spPr>
        <p:txBody>
          <a:bodyPr wrap="square" lIns="0" tIns="0" rIns="0" bIns="0" rtlCol="0" anchor="t"/>
          <a:lstStyle/>
          <a:p>
            <a:pPr algn="l" indent="0" marL="0">
              <a:buNone/>
            </a:pPr>
            <a:r>
              <a:rPr lang="en-US" sz="1400" dirty="0">
                <a:solidFill>
                  <a:schemeClr val="tx1"/>
                </a:solidFill>
              </a:rPr>
              <a:t>The small head passes through conduit, then the connector clicks on. Installers ask for this first.</a:t>
            </a:r>
            <a:endParaRPr lang="en-US" sz="1400" dirty="0"/>
          </a:p>
        </p:txBody>
      </p:sp>
      <p:sp>
        <p:nvSpPr>
          <p:cNvPr id="24" name="card"/>
          <p:cNvSpPr/>
          <p:nvPr/>
        </p:nvSpPr>
        <p:spPr>
          <a:xfrm>
            <a:off x="9698492" y="1371600"/>
            <a:ext cx="2036003" cy="3657600"/>
          </a:xfrm>
          <a:prstGeom prst="roundRect">
            <a:avLst>
              <a:gd name="adj" fmla="val 5389"/>
            </a:avLst>
          </a:prstGeom>
          <a:solidFill>
            <a:schemeClr val="bg2"/>
          </a:solidFill>
          <a:ln w="12700">
            <a:solidFill>
              <a:srgbClr val="141C36"/>
            </a:solidFill>
            <a:prstDash val="solid"/>
          </a:ln>
        </p:spPr>
      </p:sp>
      <p:sp>
        <p:nvSpPr>
          <p:cNvPr id="25" name="Shape 18"/>
          <p:cNvSpPr/>
          <p:nvPr/>
        </p:nvSpPr>
        <p:spPr>
          <a:xfrm>
            <a:off x="10305014" y="1600200"/>
            <a:ext cx="822960" cy="822960"/>
          </a:xfrm>
          <a:prstGeom prst="ellipse">
            <a:avLst/>
          </a:prstGeom>
          <a:solidFill>
            <a:srgbClr val="1B2447"/>
          </a:solidFill>
          <a:ln w="12700">
            <a:solidFill>
              <a:srgbClr val="1B2447"/>
            </a:solidFill>
            <a:prstDash val="solid"/>
          </a:ln>
        </p:spPr>
      </p:sp>
      <p:pic>
        <p:nvPicPr>
          <p:cNvPr id="26" name="Image 4" descr="preencoded.png">    </p:cNvPr>
          <p:cNvPicPr>
            <a:picLocks noChangeAspect="1"/>
          </p:cNvPicPr>
          <p:nvPr/>
        </p:nvPicPr>
        <p:blipFill>
          <a:blip r:embed="rId5"/>
          <a:stretch>
            <a:fillRect/>
          </a:stretch>
        </p:blipFill>
        <p:spPr>
          <a:xfrm>
            <a:off x="10486065" y="1781251"/>
            <a:ext cx="460858" cy="460858"/>
          </a:xfrm>
          <a:prstGeom prst="rect">
            <a:avLst/>
          </a:prstGeom>
        </p:spPr>
      </p:pic>
      <p:sp>
        <p:nvSpPr>
          <p:cNvPr id="27" name="Text 19"/>
          <p:cNvSpPr txBox="1"/>
          <p:nvPr/>
        </p:nvSpPr>
        <p:spPr>
          <a:xfrm>
            <a:off x="9835652" y="2560320"/>
            <a:ext cx="1761683" cy="822960"/>
          </a:xfrm>
          <a:prstGeom prst="rect">
            <a:avLst/>
          </a:prstGeom>
          <a:noFill/>
          <a:ln/>
        </p:spPr>
        <p:txBody>
          <a:bodyPr wrap="square" lIns="0" tIns="0" rIns="0" bIns="0" rtlCol="0" anchor="ctr"/>
          <a:lstStyle/>
          <a:p>
            <a:pPr algn="ctr" indent="0" marL="0">
              <a:buNone/>
            </a:pPr>
            <a:r>
              <a:rPr lang="en-US" sz="1500" b="1" dirty="0">
                <a:solidFill>
                  <a:schemeClr val="tx1"/>
                </a:solidFill>
              </a:rPr>
              <a:t>Spec Match finder and trade up registration</a:t>
            </a:r>
            <a:endParaRPr lang="en-US" sz="1500" dirty="0"/>
          </a:p>
        </p:txBody>
      </p:sp>
      <p:sp>
        <p:nvSpPr>
          <p:cNvPr id="28" name="Text 20"/>
          <p:cNvSpPr txBox="1"/>
          <p:nvPr/>
        </p:nvSpPr>
        <p:spPr>
          <a:xfrm>
            <a:off x="9881372" y="3429000"/>
            <a:ext cx="1670243" cy="1508760"/>
          </a:xfrm>
          <a:prstGeom prst="rect">
            <a:avLst/>
          </a:prstGeom>
          <a:noFill/>
          <a:ln/>
        </p:spPr>
        <p:txBody>
          <a:bodyPr wrap="square" lIns="0" tIns="0" rIns="0" bIns="0" rtlCol="0" anchor="t"/>
          <a:lstStyle/>
          <a:p>
            <a:pPr algn="l" indent="0" marL="0">
              <a:buNone/>
            </a:pPr>
            <a:r>
              <a:rPr lang="en-US" sz="1400" dirty="0">
                <a:solidFill>
                  <a:schemeClr val="tx1"/>
                </a:solidFill>
              </a:rPr>
              <a:t>Buyers register for the guarantee and get a length and spec check. Builds the off Amazon email list (lever 11).</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Brand architecture and the HDMI naming rule</a:t>
            </a:r>
            <a:endParaRPr lang="en-US" sz="3200" dirty="0"/>
          </a:p>
        </p:txBody>
      </p:sp>
      <p:sp>
        <p:nvSpPr>
          <p:cNvPr id="4" name="Shape 1"/>
          <p:cNvSpPr/>
          <p:nvPr/>
        </p:nvSpPr>
        <p:spPr>
          <a:xfrm>
            <a:off x="457200" y="1188720"/>
            <a:ext cx="5303520" cy="640080"/>
          </a:xfrm>
          <a:prstGeom prst="roundRect">
            <a:avLst>
              <a:gd name="adj" fmla="val 14286"/>
            </a:avLst>
          </a:prstGeom>
          <a:solidFill>
            <a:srgbClr val="1B2447"/>
          </a:solidFill>
          <a:ln w="12700">
            <a:solidFill>
              <a:srgbClr val="2DE2FF"/>
            </a:solidFill>
            <a:prstDash val="solid"/>
          </a:ln>
        </p:spPr>
      </p:sp>
      <p:sp>
        <p:nvSpPr>
          <p:cNvPr id="5" name="Text 2"/>
          <p:cNvSpPr txBox="1"/>
          <p:nvPr/>
        </p:nvSpPr>
        <p:spPr>
          <a:xfrm>
            <a:off x="640080" y="1188720"/>
            <a:ext cx="4937760" cy="640080"/>
          </a:xfrm>
          <a:prstGeom prst="rect">
            <a:avLst/>
          </a:prstGeom>
          <a:noFill/>
          <a:ln/>
        </p:spPr>
        <p:txBody>
          <a:bodyPr wrap="square" lIns="0" tIns="0" rIns="0" bIns="0" rtlCol="0" anchor="ctr"/>
          <a:lstStyle/>
          <a:p>
            <a:pPr algn="ctr" indent="0" marL="0">
              <a:buNone/>
            </a:pPr>
            <a:r>
              <a:rPr lang="en-US" sz="1500" b="1" dirty="0">
                <a:solidFill>
                  <a:schemeClr val="accent1"/>
                </a:solidFill>
              </a:rPr>
              <a:t>BRAND (US brand, name to be chosen)</a:t>
            </a:r>
            <a:endParaRPr lang="en-US" sz="1500" dirty="0"/>
          </a:p>
        </p:txBody>
      </p:sp>
      <p:sp>
        <p:nvSpPr>
          <p:cNvPr id="6" name="Shape 3"/>
          <p:cNvSpPr/>
          <p:nvPr/>
        </p:nvSpPr>
        <p:spPr>
          <a:xfrm>
            <a:off x="914400" y="1828800"/>
            <a:ext cx="0" cy="228600"/>
          </a:xfrm>
          <a:prstGeom prst="line">
            <a:avLst/>
          </a:prstGeom>
          <a:noFill/>
          <a:ln w="12700">
            <a:solidFill>
              <a:srgbClr val="2DE2FF"/>
            </a:solidFill>
            <a:prstDash val="solid"/>
          </a:ln>
        </p:spPr>
      </p:sp>
      <p:sp>
        <p:nvSpPr>
          <p:cNvPr id="7" name="card"/>
          <p:cNvSpPr/>
          <p:nvPr/>
        </p:nvSpPr>
        <p:spPr>
          <a:xfrm>
            <a:off x="457200" y="2057400"/>
            <a:ext cx="5303520" cy="1234440"/>
          </a:xfrm>
          <a:prstGeom prst="roundRect">
            <a:avLst>
              <a:gd name="adj" fmla="val 8889"/>
            </a:avLst>
          </a:prstGeom>
          <a:solidFill>
            <a:schemeClr val="bg2"/>
          </a:solidFill>
          <a:ln w="12700">
            <a:solidFill>
              <a:srgbClr val="141C36"/>
            </a:solidFill>
            <a:prstDash val="solid"/>
          </a:ln>
        </p:spPr>
      </p:sp>
      <p:sp>
        <p:nvSpPr>
          <p:cNvPr id="8" name="Text 5"/>
          <p:cNvSpPr txBox="1"/>
          <p:nvPr/>
        </p:nvSpPr>
        <p:spPr>
          <a:xfrm>
            <a:off x="685800" y="2167128"/>
            <a:ext cx="4846320" cy="365760"/>
          </a:xfrm>
          <a:prstGeom prst="rect">
            <a:avLst/>
          </a:prstGeom>
          <a:noFill/>
          <a:ln/>
        </p:spPr>
        <p:txBody>
          <a:bodyPr wrap="square" lIns="0" tIns="0" rIns="0" bIns="0" rtlCol="0" anchor="t"/>
          <a:lstStyle/>
          <a:p>
            <a:pPr algn="l" indent="0" marL="0">
              <a:buNone/>
            </a:pPr>
            <a:r>
              <a:rPr lang="en-US" sz="1500" b="1" dirty="0">
                <a:solidFill>
                  <a:schemeClr val="tx1"/>
                </a:solidFill>
              </a:rPr>
              <a:t>Ultra High Speed HDMI Cable</a:t>
            </a:r>
            <a:endParaRPr lang="en-US" sz="1500" dirty="0"/>
          </a:p>
        </p:txBody>
      </p:sp>
      <p:sp>
        <p:nvSpPr>
          <p:cNvPr id="9" name="Text 6"/>
          <p:cNvSpPr txBox="1"/>
          <p:nvPr/>
        </p:nvSpPr>
        <p:spPr>
          <a:xfrm>
            <a:off x="685800" y="2560320"/>
            <a:ext cx="4846320" cy="685800"/>
          </a:xfrm>
          <a:prstGeom prst="rect">
            <a:avLst/>
          </a:prstGeom>
          <a:noFill/>
          <a:ln/>
        </p:spPr>
        <p:txBody>
          <a:bodyPr wrap="square" lIns="0" tIns="0" rIns="0" bIns="0" rtlCol="0" anchor="t"/>
          <a:lstStyle/>
          <a:p>
            <a:pPr algn="l" indent="0" marL="0">
              <a:buNone/>
            </a:pPr>
            <a:r>
              <a:rPr lang="en-US" sz="1250" dirty="0">
                <a:solidFill>
                  <a:schemeClr val="tx2"/>
                </a:solidFill>
              </a:rPr>
              <a:t>The 8K line. One parent ASIN, children 7 m, 10 m, 15 m, 20 m, 25 m, 50 m.</a:t>
            </a:r>
            <a:endParaRPr lang="en-US" sz="1250" dirty="0"/>
          </a:p>
        </p:txBody>
      </p:sp>
      <p:sp>
        <p:nvSpPr>
          <p:cNvPr id="10" name="Shape 7"/>
          <p:cNvSpPr/>
          <p:nvPr/>
        </p:nvSpPr>
        <p:spPr>
          <a:xfrm>
            <a:off x="914400" y="3246120"/>
            <a:ext cx="0" cy="228600"/>
          </a:xfrm>
          <a:prstGeom prst="line">
            <a:avLst/>
          </a:prstGeom>
          <a:noFill/>
          <a:ln w="12700">
            <a:solidFill>
              <a:srgbClr val="2DE2FF"/>
            </a:solidFill>
            <a:prstDash val="solid"/>
          </a:ln>
        </p:spPr>
      </p:sp>
      <p:sp>
        <p:nvSpPr>
          <p:cNvPr id="11" name="card"/>
          <p:cNvSpPr/>
          <p:nvPr/>
        </p:nvSpPr>
        <p:spPr>
          <a:xfrm>
            <a:off x="457200" y="3474720"/>
            <a:ext cx="5303520" cy="1234440"/>
          </a:xfrm>
          <a:prstGeom prst="roundRect">
            <a:avLst>
              <a:gd name="adj" fmla="val 8889"/>
            </a:avLst>
          </a:prstGeom>
          <a:solidFill>
            <a:schemeClr val="bg2"/>
          </a:solidFill>
          <a:ln w="12700">
            <a:solidFill>
              <a:srgbClr val="141C36"/>
            </a:solidFill>
            <a:prstDash val="solid"/>
          </a:ln>
        </p:spPr>
      </p:sp>
      <p:sp>
        <p:nvSpPr>
          <p:cNvPr id="12" name="Text 9"/>
          <p:cNvSpPr txBox="1"/>
          <p:nvPr/>
        </p:nvSpPr>
        <p:spPr>
          <a:xfrm>
            <a:off x="685800" y="3584448"/>
            <a:ext cx="4846320" cy="365760"/>
          </a:xfrm>
          <a:prstGeom prst="rect">
            <a:avLst/>
          </a:prstGeom>
          <a:noFill/>
          <a:ln/>
        </p:spPr>
        <p:txBody>
          <a:bodyPr wrap="square" lIns="0" tIns="0" rIns="0" bIns="0" rtlCol="0" anchor="t"/>
          <a:lstStyle/>
          <a:p>
            <a:pPr algn="l" indent="0" marL="0">
              <a:buNone/>
            </a:pPr>
            <a:r>
              <a:rPr lang="en-US" sz="1500" b="1" dirty="0">
                <a:solidFill>
                  <a:schemeClr val="tx1"/>
                </a:solidFill>
              </a:rPr>
              <a:t>Premium High Speed HDMI Cable</a:t>
            </a:r>
            <a:endParaRPr lang="en-US" sz="1500" dirty="0"/>
          </a:p>
        </p:txBody>
      </p:sp>
      <p:sp>
        <p:nvSpPr>
          <p:cNvPr id="13" name="Text 10"/>
          <p:cNvSpPr txBox="1"/>
          <p:nvPr/>
        </p:nvSpPr>
        <p:spPr>
          <a:xfrm>
            <a:off x="685800" y="3977640"/>
            <a:ext cx="4846320" cy="685800"/>
          </a:xfrm>
          <a:prstGeom prst="rect">
            <a:avLst/>
          </a:prstGeom>
          <a:noFill/>
          <a:ln/>
        </p:spPr>
        <p:txBody>
          <a:bodyPr wrap="square" lIns="0" tIns="0" rIns="0" bIns="0" rtlCol="0" anchor="t"/>
          <a:lstStyle/>
          <a:p>
            <a:pPr algn="l" indent="0" marL="0">
              <a:buNone/>
            </a:pPr>
            <a:r>
              <a:rPr lang="en-US" sz="1250" dirty="0">
                <a:solidFill>
                  <a:schemeClr val="tx2"/>
                </a:solidFill>
              </a:rPr>
              <a:t>The 4K line, pending certification (placeholder). One parent ASIN, children 15 m, 20 m, 30 m, 40 m.</a:t>
            </a:r>
            <a:endParaRPr lang="en-US" sz="1250" dirty="0"/>
          </a:p>
        </p:txBody>
      </p:sp>
      <p:sp>
        <p:nvSpPr>
          <p:cNvPr id="14" name="Shape 11"/>
          <p:cNvSpPr/>
          <p:nvPr/>
        </p:nvSpPr>
        <p:spPr>
          <a:xfrm>
            <a:off x="914400" y="4663440"/>
            <a:ext cx="0" cy="228600"/>
          </a:xfrm>
          <a:prstGeom prst="line">
            <a:avLst/>
          </a:prstGeom>
          <a:noFill/>
          <a:ln w="12700">
            <a:solidFill>
              <a:srgbClr val="2DE2FF"/>
            </a:solidFill>
            <a:prstDash val="solid"/>
          </a:ln>
        </p:spPr>
      </p:sp>
      <p:sp>
        <p:nvSpPr>
          <p:cNvPr id="15" name="card"/>
          <p:cNvSpPr/>
          <p:nvPr/>
        </p:nvSpPr>
        <p:spPr>
          <a:xfrm>
            <a:off x="457200" y="4892040"/>
            <a:ext cx="5303520" cy="1234440"/>
          </a:xfrm>
          <a:prstGeom prst="roundRect">
            <a:avLst>
              <a:gd name="adj" fmla="val 8889"/>
            </a:avLst>
          </a:prstGeom>
          <a:solidFill>
            <a:schemeClr val="bg2"/>
          </a:solidFill>
          <a:ln w="12700">
            <a:solidFill>
              <a:srgbClr val="141C36"/>
            </a:solidFill>
            <a:prstDash val="solid"/>
          </a:ln>
        </p:spPr>
      </p:sp>
      <p:sp>
        <p:nvSpPr>
          <p:cNvPr id="16" name="Text 13"/>
          <p:cNvSpPr txBox="1"/>
          <p:nvPr/>
        </p:nvSpPr>
        <p:spPr>
          <a:xfrm>
            <a:off x="685800" y="5001768"/>
            <a:ext cx="4846320" cy="365760"/>
          </a:xfrm>
          <a:prstGeom prst="rect">
            <a:avLst/>
          </a:prstGeom>
          <a:noFill/>
          <a:ln/>
        </p:spPr>
        <p:txBody>
          <a:bodyPr wrap="square" lIns="0" tIns="0" rIns="0" bIns="0" rtlCol="0" anchor="t"/>
          <a:lstStyle/>
          <a:p>
            <a:pPr algn="l" indent="0" marL="0">
              <a:buNone/>
            </a:pPr>
            <a:r>
              <a:rPr lang="en-US" sz="1500" b="1" dirty="0">
                <a:solidFill>
                  <a:schemeClr val="tx1"/>
                </a:solidFill>
              </a:rPr>
              <a:t>Pro line (Year 4)</a:t>
            </a:r>
            <a:endParaRPr lang="en-US" sz="1500" dirty="0"/>
          </a:p>
        </p:txBody>
      </p:sp>
      <p:sp>
        <p:nvSpPr>
          <p:cNvPr id="17" name="Text 14"/>
          <p:cNvSpPr txBox="1"/>
          <p:nvPr/>
        </p:nvSpPr>
        <p:spPr>
          <a:xfrm>
            <a:off x="685800" y="5394960"/>
            <a:ext cx="4846320" cy="685800"/>
          </a:xfrm>
          <a:prstGeom prst="rect">
            <a:avLst/>
          </a:prstGeom>
          <a:noFill/>
          <a:ln/>
        </p:spPr>
        <p:txBody>
          <a:bodyPr wrap="square" lIns="0" tIns="0" rIns="0" bIns="0" rtlCol="0" anchor="t"/>
          <a:lstStyle/>
          <a:p>
            <a:pPr algn="l" indent="0" marL="0">
              <a:buNone/>
            </a:pPr>
            <a:r>
              <a:rPr lang="en-US" sz="1250" dirty="0">
                <a:solidFill>
                  <a:schemeClr val="tx2"/>
                </a:solidFill>
              </a:rPr>
              <a:t>CL3, plenum, conduit pull, long run fiber KVM. Sold 60% B2B, 40% Amazon.</a:t>
            </a:r>
            <a:endParaRPr lang="en-US" sz="1250" dirty="0"/>
          </a:p>
        </p:txBody>
      </p:sp>
      <p:sp>
        <p:nvSpPr>
          <p:cNvPr id="18" name="card"/>
          <p:cNvSpPr/>
          <p:nvPr/>
        </p:nvSpPr>
        <p:spPr>
          <a:xfrm>
            <a:off x="6035040" y="1188720"/>
            <a:ext cx="5696712" cy="2697480"/>
          </a:xfrm>
          <a:prstGeom prst="roundRect">
            <a:avLst>
              <a:gd name="adj" fmla="val 4068"/>
            </a:avLst>
          </a:prstGeom>
          <a:solidFill>
            <a:schemeClr val="bg2"/>
          </a:solidFill>
          <a:ln w="12700">
            <a:solidFill>
              <a:srgbClr val="141C36"/>
            </a:solidFill>
            <a:prstDash val="solid"/>
          </a:ln>
        </p:spPr>
      </p:sp>
      <p:sp>
        <p:nvSpPr>
          <p:cNvPr id="19" name="Text 16"/>
          <p:cNvSpPr txBox="1"/>
          <p:nvPr/>
        </p:nvSpPr>
        <p:spPr>
          <a:xfrm>
            <a:off x="6263640" y="1298448"/>
            <a:ext cx="5303520" cy="365760"/>
          </a:xfrm>
          <a:prstGeom prst="rect">
            <a:avLst/>
          </a:prstGeom>
          <a:noFill/>
          <a:ln/>
        </p:spPr>
        <p:txBody>
          <a:bodyPr wrap="square" lIns="0" tIns="0" rIns="0" bIns="0" rtlCol="0" anchor="t"/>
          <a:lstStyle/>
          <a:p>
            <a:pPr algn="l" indent="0" marL="0">
              <a:buNone/>
            </a:pPr>
            <a:r>
              <a:rPr lang="en-US" sz="1600" b="1" dirty="0">
                <a:solidFill>
                  <a:schemeClr val="accent5"/>
                </a:solidFill>
              </a:rPr>
              <a:t>The naming rule</a:t>
            </a:r>
            <a:endParaRPr lang="en-US" sz="1600" dirty="0"/>
          </a:p>
        </p:txBody>
      </p:sp>
      <p:sp>
        <p:nvSpPr>
          <p:cNvPr id="20" name="Text 17"/>
          <p:cNvSpPr txBox="1"/>
          <p:nvPr/>
        </p:nvSpPr>
        <p:spPr>
          <a:xfrm>
            <a:off x="6263640" y="1737360"/>
            <a:ext cx="5257800" cy="2103120"/>
          </a:xfrm>
          <a:prstGeom prst="rect">
            <a:avLst/>
          </a:prstGeom>
          <a:noFill/>
          <a:ln/>
        </p:spPr>
        <p:txBody>
          <a:bodyPr wrap="square" lIns="0" tIns="0" rIns="0" bIns="0" rtlCol="0" anchor="t"/>
          <a:lstStyle/>
          <a:p>
            <a:pPr algn="l" marL="139700" indent="-139700">
              <a:spcAft>
                <a:spcPts val="500"/>
              </a:spcAft>
              <a:buSzPct val="100000"/>
              <a:buChar char="•"/>
            </a:pPr>
            <a:r>
              <a:rPr lang="en-US" sz="1250" dirty="0">
                <a:solidFill>
                  <a:schemeClr val="tx1"/>
                </a:solidFill>
              </a:rPr>
              <a:t>Packaging and promotion never use HDMI version numbers. Use the cable category name: Ultra High Speed HDMI Cable.</a:t>
            </a:r>
            <a:endParaRPr lang="en-US" sz="1250" dirty="0"/>
          </a:p>
          <a:p>
            <a:pPr algn="l" marL="139700" indent="-139700">
              <a:spcAft>
                <a:spcPts val="500"/>
              </a:spcAft>
              <a:buSzPct val="100000"/>
              <a:buChar char="•"/>
            </a:pPr>
            <a:r>
              <a:rPr lang="en-US" sz="1250" dirty="0">
                <a:solidFill>
                  <a:schemeClr val="tx1"/>
                </a:solidFill>
              </a:rPr>
              <a:t>Listing titles may state 48Gbps and 8K.</a:t>
            </a:r>
            <a:endParaRPr lang="en-US" sz="1250" dirty="0"/>
          </a:p>
          <a:p>
            <a:pPr algn="l" marL="139700" indent="-139700">
              <a:spcAft>
                <a:spcPts val="500"/>
              </a:spcAft>
              <a:buSzPct val="100000"/>
              <a:buChar char="•"/>
            </a:pPr>
            <a:r>
              <a:rPr lang="en-US" sz="1250" dirty="0">
                <a:solidFill>
                  <a:schemeClr val="tx1"/>
                </a:solidFill>
              </a:rPr>
              <a:t>Say fiber optic HDMI or hybrid active optical. Never pure fiber or all glass.</a:t>
            </a:r>
            <a:endParaRPr lang="en-US" sz="1250" dirty="0"/>
          </a:p>
          <a:p>
            <a:pPr algn="l" marL="139700" indent="-139700">
              <a:spcAft>
                <a:spcPts val="500"/>
              </a:spcAft>
              <a:buSzPct val="100000"/>
              <a:buChar char="•"/>
            </a:pPr>
            <a:r>
              <a:rPr lang="en-US" sz="1250" dirty="0">
                <a:solidFill>
                  <a:schemeClr val="tx1"/>
                </a:solidFill>
              </a:rPr>
              <a:t>The factory must be an HDMI Adopter with ATC test reports. HDMI LA runs seizures.</a:t>
            </a:r>
            <a:endParaRPr lang="en-US" sz="1250" dirty="0"/>
          </a:p>
        </p:txBody>
      </p:sp>
      <p:sp>
        <p:nvSpPr>
          <p:cNvPr id="21" name="card"/>
          <p:cNvSpPr/>
          <p:nvPr/>
        </p:nvSpPr>
        <p:spPr>
          <a:xfrm>
            <a:off x="6035040" y="4069080"/>
            <a:ext cx="5696712" cy="2148840"/>
          </a:xfrm>
          <a:prstGeom prst="roundRect">
            <a:avLst>
              <a:gd name="adj" fmla="val 5106"/>
            </a:avLst>
          </a:prstGeom>
          <a:solidFill>
            <a:schemeClr val="bg2"/>
          </a:solidFill>
          <a:ln w="12700">
            <a:solidFill>
              <a:srgbClr val="141C36"/>
            </a:solidFill>
            <a:prstDash val="solid"/>
          </a:ln>
        </p:spPr>
      </p:sp>
      <p:sp>
        <p:nvSpPr>
          <p:cNvPr id="22" name="Text 19"/>
          <p:cNvSpPr txBox="1"/>
          <p:nvPr/>
        </p:nvSpPr>
        <p:spPr>
          <a:xfrm>
            <a:off x="6263640" y="4178808"/>
            <a:ext cx="5303520" cy="365760"/>
          </a:xfrm>
          <a:prstGeom prst="rect">
            <a:avLst/>
          </a:prstGeom>
          <a:noFill/>
          <a:ln/>
        </p:spPr>
        <p:txBody>
          <a:bodyPr wrap="square" lIns="0" tIns="0" rIns="0" bIns="0" rtlCol="0" anchor="t"/>
          <a:lstStyle/>
          <a:p>
            <a:pPr algn="l" indent="0" marL="0">
              <a:buNone/>
            </a:pPr>
            <a:r>
              <a:rPr lang="en-US" sz="1600" b="1" dirty="0">
                <a:solidFill>
                  <a:schemeClr val="accent1"/>
                </a:solidFill>
              </a:rPr>
              <a:t>Trademark and Brand Registry</a:t>
            </a:r>
            <a:endParaRPr lang="en-US" sz="1600" dirty="0"/>
          </a:p>
        </p:txBody>
      </p:sp>
      <p:sp>
        <p:nvSpPr>
          <p:cNvPr id="23" name="Text 20"/>
          <p:cNvSpPr txBox="1"/>
          <p:nvPr/>
        </p:nvSpPr>
        <p:spPr>
          <a:xfrm>
            <a:off x="6263640" y="4617720"/>
            <a:ext cx="5257800" cy="1554480"/>
          </a:xfrm>
          <a:prstGeom prst="rect">
            <a:avLst/>
          </a:prstGeom>
          <a:noFill/>
          <a:ln/>
        </p:spPr>
        <p:txBody>
          <a:bodyPr wrap="square" lIns="0" tIns="0" rIns="0" bIns="0" rtlCol="0" anchor="t"/>
          <a:lstStyle/>
          <a:p>
            <a:pPr algn="l" marL="139700" indent="-139700">
              <a:spcAft>
                <a:spcPts val="500"/>
              </a:spcAft>
              <a:buSzPct val="100000"/>
              <a:buChar char="•"/>
            </a:pPr>
            <a:r>
              <a:rPr lang="en-US" sz="1250" dirty="0">
                <a:solidFill>
                  <a:schemeClr val="tx1"/>
                </a:solidFill>
              </a:rPr>
              <a:t>Foreign applicants file through a US licensed attorney: about $350 per class plus attorney fees [PLACEHOLDER: attorney quote].</a:t>
            </a:r>
            <a:endParaRPr lang="en-US" sz="1250" dirty="0"/>
          </a:p>
          <a:p>
            <a:pPr algn="l" marL="139700" indent="-139700">
              <a:spcAft>
                <a:spcPts val="500"/>
              </a:spcAft>
              <a:buSzPct val="100000"/>
              <a:buChar char="•"/>
            </a:pPr>
            <a:r>
              <a:rPr lang="en-US" sz="1250" dirty="0">
                <a:solidFill>
                  <a:schemeClr val="tx1"/>
                </a:solidFill>
              </a:rPr>
              <a:t>Amazon Brand Registry accepts a pending application.</a:t>
            </a:r>
            <a:endParaRPr lang="en-US" sz="1250" dirty="0"/>
          </a:p>
          <a:p>
            <a:pPr algn="l" marL="139700" indent="-139700">
              <a:spcAft>
                <a:spcPts val="500"/>
              </a:spcAft>
              <a:buSzPct val="100000"/>
              <a:buChar char="•"/>
            </a:pPr>
            <a:r>
              <a:rPr lang="en-US" sz="1250" dirty="0">
                <a:solidFill>
                  <a:schemeClr val="tx1"/>
                </a:solidFill>
              </a:rPr>
              <a:t>Brand Registry gates A+ content, Brand Store, video ads and hijacker protection.</a:t>
            </a:r>
            <a:endParaRPr lang="en-US" sz="12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85800" y="3749040"/>
            <a:ext cx="9144000" cy="1005840"/>
          </a:xfrm>
          <a:prstGeom prst="rect">
            <a:avLst/>
          </a:prstGeom>
          <a:noFill/>
          <a:ln/>
        </p:spPr>
        <p:txBody>
          <a:bodyPr wrap="square" lIns="0" tIns="0" rIns="0" bIns="0" rtlCol="0" anchor="b"/>
          <a:lstStyle/>
          <a:p>
            <a:pPr algn="l" indent="0" marL="0">
              <a:buNone/>
            </a:pPr>
            <a:r>
              <a:rPr lang="en-US" sz="3600" b="1" dirty="0">
                <a:solidFill>
                  <a:srgbClr val="F3F6FF"/>
                </a:solidFill>
              </a:rPr>
              <a:t>Structure and compliance</a:t>
            </a:r>
            <a:endParaRPr lang="en-US" sz="3600" dirty="0"/>
          </a:p>
        </p:txBody>
      </p:sp>
      <p:sp>
        <p:nvSpPr>
          <p:cNvPr id="3" name="Text 0"/>
          <p:cNvSpPr/>
          <p:nvPr>
            <p:ph idx="101" type="body" hasCustomPrompt="1"/>
          </p:nvPr>
        </p:nvSpPr>
        <p:spPr>
          <a:xfrm>
            <a:off x="685800" y="4800600"/>
            <a:ext cx="9144000" cy="457200"/>
          </a:xfrm>
          <a:prstGeom prst="rect">
            <a:avLst/>
          </a:prstGeom>
          <a:noFill/>
          <a:ln/>
        </p:spPr>
        <p:txBody>
          <a:bodyPr wrap="square" lIns="0" tIns="0" rIns="0" bIns="0" rtlCol="0" anchor="t"/>
          <a:lstStyle/>
          <a:p>
            <a:pPr indent="0" marL="0">
              <a:buNone/>
            </a:pPr>
            <a:r>
              <a:rPr lang="en-US" sz="1600" dirty="0">
                <a:solidFill>
                  <a:srgbClr val="2DE2FF"/>
                </a:solidFill>
              </a:rPr>
              <a:t>Section 3 of 5</a:t>
            </a:r>
            <a:endParaRPr lang="en-US" sz="16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US entity and tax</a:t>
            </a:r>
            <a:endParaRPr lang="en-US" sz="3200" dirty="0"/>
          </a:p>
        </p:txBody>
      </p:sp>
      <p:sp>
        <p:nvSpPr>
          <p:cNvPr id="4" name="card"/>
          <p:cNvSpPr/>
          <p:nvPr/>
        </p:nvSpPr>
        <p:spPr>
          <a:xfrm>
            <a:off x="457200" y="1188720"/>
            <a:ext cx="5501488" cy="2377440"/>
          </a:xfrm>
          <a:prstGeom prst="roundRect">
            <a:avLst>
              <a:gd name="adj" fmla="val 4615"/>
            </a:avLst>
          </a:prstGeom>
          <a:solidFill>
            <a:schemeClr val="bg2"/>
          </a:solidFill>
          <a:ln w="12700">
            <a:solidFill>
              <a:srgbClr val="141C36"/>
            </a:solidFill>
            <a:prstDash val="solid"/>
          </a:ln>
        </p:spPr>
      </p:sp>
      <p:sp>
        <p:nvSpPr>
          <p:cNvPr id="5" name="Text 2"/>
          <p:cNvSpPr txBox="1"/>
          <p:nvPr/>
        </p:nvSpPr>
        <p:spPr>
          <a:xfrm>
            <a:off x="685800" y="1298448"/>
            <a:ext cx="5044288" cy="365760"/>
          </a:xfrm>
          <a:prstGeom prst="rect">
            <a:avLst/>
          </a:prstGeom>
          <a:noFill/>
          <a:ln/>
        </p:spPr>
        <p:txBody>
          <a:bodyPr wrap="square" lIns="0" tIns="0" rIns="0" bIns="0" rtlCol="0" anchor="t"/>
          <a:lstStyle/>
          <a:p>
            <a:pPr algn="l" indent="0" marL="0">
              <a:buNone/>
            </a:pPr>
            <a:r>
              <a:rPr lang="en-US" sz="1500" b="1" dirty="0">
                <a:solidFill>
                  <a:schemeClr val="accent1"/>
                </a:solidFill>
              </a:rPr>
              <a:t>Wyoming single member LLC</a:t>
            </a:r>
            <a:endParaRPr lang="en-US" sz="1500" dirty="0"/>
          </a:p>
        </p:txBody>
      </p:sp>
      <p:sp>
        <p:nvSpPr>
          <p:cNvPr id="6" name="Text 3"/>
          <p:cNvSpPr txBox="1"/>
          <p:nvPr/>
        </p:nvSpPr>
        <p:spPr>
          <a:xfrm>
            <a:off x="685800" y="1719072"/>
            <a:ext cx="5044288" cy="1737360"/>
          </a:xfrm>
          <a:prstGeom prst="rect">
            <a:avLst/>
          </a:prstGeom>
          <a:noFill/>
          <a:ln/>
        </p:spPr>
        <p:txBody>
          <a:bodyPr wrap="square" lIns="0" tIns="0" rIns="0" bIns="0" rtlCol="0" anchor="t"/>
          <a:lstStyle/>
          <a:p>
            <a:pPr algn="l" marL="139700" indent="-139700">
              <a:spcAft>
                <a:spcPts val="300"/>
              </a:spcAft>
              <a:buSzPct val="100000"/>
              <a:buChar char="•"/>
            </a:pPr>
            <a:r>
              <a:rPr lang="en-US" sz="1200" dirty="0">
                <a:solidFill>
                  <a:schemeClr val="tx1"/>
                </a:solidFill>
              </a:rPr>
              <a:t>$100 to form, about $60 per year, no state income tax, strong privacy.</a:t>
            </a:r>
            <a:endParaRPr lang="en-US" sz="1200" dirty="0"/>
          </a:p>
          <a:p>
            <a:pPr algn="l" marL="139700" indent="-139700">
              <a:spcAft>
                <a:spcPts val="300"/>
              </a:spcAft>
              <a:buSzPct val="100000"/>
              <a:buChar char="•"/>
            </a:pPr>
            <a:r>
              <a:rPr lang="en-US" sz="1200" dirty="0">
                <a:solidFill>
                  <a:schemeClr val="tx1"/>
                </a:solidFill>
              </a:rPr>
              <a:t>Delaware costs about $300 per year and is only worth it for raising investment.</a:t>
            </a:r>
            <a:endParaRPr lang="en-US" sz="1200" dirty="0"/>
          </a:p>
          <a:p>
            <a:pPr algn="l" marL="139700" indent="-139700">
              <a:spcAft>
                <a:spcPts val="300"/>
              </a:spcAft>
              <a:buSzPct val="100000"/>
              <a:buChar char="•"/>
            </a:pPr>
            <a:r>
              <a:rPr lang="en-US" sz="1200" dirty="0">
                <a:solidFill>
                  <a:schemeClr val="tx1"/>
                </a:solidFill>
              </a:rPr>
              <a:t>BOI reporting is not required for US formed companies (FinCEN exemption finalized August 11, 2026).</a:t>
            </a:r>
            <a:endParaRPr lang="en-US" sz="1200" dirty="0"/>
          </a:p>
          <a:p>
            <a:pPr algn="l" marL="139700" indent="-139700">
              <a:spcAft>
                <a:spcPts val="300"/>
              </a:spcAft>
              <a:buSzPct val="100000"/>
              <a:buChar char="•"/>
            </a:pPr>
            <a:r>
              <a:rPr lang="en-US" sz="1200" dirty="0">
                <a:solidFill>
                  <a:schemeClr val="tx1"/>
                </a:solidFill>
              </a:rPr>
              <a:t>EIN by phone or fax with Form SS-4, no SSN needed. Exact legal name match across state, IRS, bank and Amazon.</a:t>
            </a:r>
            <a:endParaRPr lang="en-US" sz="1200" dirty="0"/>
          </a:p>
        </p:txBody>
      </p:sp>
      <p:sp>
        <p:nvSpPr>
          <p:cNvPr id="7" name="card"/>
          <p:cNvSpPr/>
          <p:nvPr/>
        </p:nvSpPr>
        <p:spPr>
          <a:xfrm>
            <a:off x="6233008" y="1188720"/>
            <a:ext cx="5501488" cy="2377440"/>
          </a:xfrm>
          <a:prstGeom prst="roundRect">
            <a:avLst>
              <a:gd name="adj" fmla="val 4615"/>
            </a:avLst>
          </a:prstGeom>
          <a:solidFill>
            <a:schemeClr val="bg2"/>
          </a:solidFill>
          <a:ln w="12700">
            <a:solidFill>
              <a:srgbClr val="141C36"/>
            </a:solidFill>
            <a:prstDash val="solid"/>
          </a:ln>
        </p:spPr>
      </p:sp>
      <p:sp>
        <p:nvSpPr>
          <p:cNvPr id="8" name="Text 5"/>
          <p:cNvSpPr txBox="1"/>
          <p:nvPr/>
        </p:nvSpPr>
        <p:spPr>
          <a:xfrm>
            <a:off x="6461608" y="1298448"/>
            <a:ext cx="5044288" cy="365760"/>
          </a:xfrm>
          <a:prstGeom prst="rect">
            <a:avLst/>
          </a:prstGeom>
          <a:noFill/>
          <a:ln/>
        </p:spPr>
        <p:txBody>
          <a:bodyPr wrap="square" lIns="0" tIns="0" rIns="0" bIns="0" rtlCol="0" anchor="t"/>
          <a:lstStyle/>
          <a:p>
            <a:pPr algn="l" indent="0" marL="0">
              <a:buNone/>
            </a:pPr>
            <a:r>
              <a:rPr lang="en-US" sz="1500" b="1" dirty="0">
                <a:solidFill>
                  <a:schemeClr val="accent1"/>
                </a:solidFill>
              </a:rPr>
              <a:t>Annual filing</a:t>
            </a:r>
            <a:endParaRPr lang="en-US" sz="1500" dirty="0"/>
          </a:p>
        </p:txBody>
      </p:sp>
      <p:sp>
        <p:nvSpPr>
          <p:cNvPr id="9" name="Text 6"/>
          <p:cNvSpPr txBox="1"/>
          <p:nvPr/>
        </p:nvSpPr>
        <p:spPr>
          <a:xfrm>
            <a:off x="6461608" y="1719072"/>
            <a:ext cx="5044288" cy="1737360"/>
          </a:xfrm>
          <a:prstGeom prst="rect">
            <a:avLst/>
          </a:prstGeom>
          <a:noFill/>
          <a:ln/>
        </p:spPr>
        <p:txBody>
          <a:bodyPr wrap="square" lIns="0" tIns="0" rIns="0" bIns="0" rtlCol="0" anchor="t"/>
          <a:lstStyle/>
          <a:p>
            <a:pPr algn="l" marL="139700" indent="-139700">
              <a:spcAft>
                <a:spcPts val="300"/>
              </a:spcAft>
              <a:buSzPct val="100000"/>
              <a:buChar char="•"/>
            </a:pPr>
            <a:r>
              <a:rPr lang="en-US" sz="1200" dirty="0">
                <a:solidFill>
                  <a:schemeClr val="tx1"/>
                </a:solidFill>
              </a:rPr>
              <a:t>A foreign owned single member LLC files Form 5472 with a pro forma Form 1120 every year.</a:t>
            </a:r>
            <a:endParaRPr lang="en-US" sz="1200" dirty="0"/>
          </a:p>
          <a:p>
            <a:pPr algn="l" marL="139700" indent="-139700">
              <a:spcAft>
                <a:spcPts val="300"/>
              </a:spcAft>
              <a:buSzPct val="100000"/>
              <a:buChar char="•"/>
            </a:pPr>
            <a:r>
              <a:rPr lang="en-US" sz="1200" dirty="0">
                <a:solidFill>
                  <a:schemeClr val="tx1"/>
                </a:solidFill>
              </a:rPr>
              <a:t>Penalty for missing it: $25,000.</a:t>
            </a:r>
            <a:endParaRPr lang="en-US" sz="1200" dirty="0"/>
          </a:p>
          <a:p>
            <a:pPr algn="l" marL="139700" indent="-139700">
              <a:spcAft>
                <a:spcPts val="300"/>
              </a:spcAft>
              <a:buSzPct val="100000"/>
              <a:buChar char="•"/>
            </a:pPr>
            <a:r>
              <a:rPr lang="en-US" sz="1200" dirty="0">
                <a:solidFill>
                  <a:schemeClr val="tx1"/>
                </a:solidFill>
              </a:rPr>
              <a:t>Wyoming annual report about $60.</a:t>
            </a:r>
            <a:endParaRPr lang="en-US" sz="1200" dirty="0"/>
          </a:p>
          <a:p>
            <a:pPr algn="l" marL="139700" indent="-139700">
              <a:spcAft>
                <a:spcPts val="300"/>
              </a:spcAft>
              <a:buSzPct val="100000"/>
              <a:buChar char="•"/>
            </a:pPr>
            <a:r>
              <a:rPr lang="en-US" sz="1200" dirty="0">
                <a:solidFill>
                  <a:schemeClr val="tx1"/>
                </a:solidFill>
              </a:rPr>
              <a:t>California may assert income tax nexus from FBA inventory: on the CPA list.</a:t>
            </a:r>
            <a:endParaRPr lang="en-US" sz="1200" dirty="0"/>
          </a:p>
        </p:txBody>
      </p:sp>
      <p:sp>
        <p:nvSpPr>
          <p:cNvPr id="10" name="card"/>
          <p:cNvSpPr/>
          <p:nvPr/>
        </p:nvSpPr>
        <p:spPr>
          <a:xfrm>
            <a:off x="457200" y="3840480"/>
            <a:ext cx="5501488" cy="2377440"/>
          </a:xfrm>
          <a:prstGeom prst="roundRect">
            <a:avLst>
              <a:gd name="adj" fmla="val 4615"/>
            </a:avLst>
          </a:prstGeom>
          <a:solidFill>
            <a:schemeClr val="bg2"/>
          </a:solidFill>
          <a:ln w="12700">
            <a:solidFill>
              <a:srgbClr val="141C36"/>
            </a:solidFill>
            <a:prstDash val="solid"/>
          </a:ln>
        </p:spPr>
      </p:sp>
      <p:sp>
        <p:nvSpPr>
          <p:cNvPr id="11" name="Text 8"/>
          <p:cNvSpPr txBox="1"/>
          <p:nvPr/>
        </p:nvSpPr>
        <p:spPr>
          <a:xfrm>
            <a:off x="685800" y="3950208"/>
            <a:ext cx="5044288" cy="365760"/>
          </a:xfrm>
          <a:prstGeom prst="rect">
            <a:avLst/>
          </a:prstGeom>
          <a:noFill/>
          <a:ln/>
        </p:spPr>
        <p:txBody>
          <a:bodyPr wrap="square" lIns="0" tIns="0" rIns="0" bIns="0" rtlCol="0" anchor="t"/>
          <a:lstStyle/>
          <a:p>
            <a:pPr algn="l" indent="0" marL="0">
              <a:buNone/>
            </a:pPr>
            <a:r>
              <a:rPr lang="en-US" sz="1500" b="1" dirty="0">
                <a:solidFill>
                  <a:schemeClr val="accent1"/>
                </a:solidFill>
              </a:rPr>
              <a:t>Treaty position</a:t>
            </a:r>
            <a:endParaRPr lang="en-US" sz="1500" dirty="0"/>
          </a:p>
        </p:txBody>
      </p:sp>
      <p:sp>
        <p:nvSpPr>
          <p:cNvPr id="12" name="Text 9"/>
          <p:cNvSpPr txBox="1"/>
          <p:nvPr/>
        </p:nvSpPr>
        <p:spPr>
          <a:xfrm>
            <a:off x="685800" y="4370832"/>
            <a:ext cx="5044288" cy="1737360"/>
          </a:xfrm>
          <a:prstGeom prst="rect">
            <a:avLst/>
          </a:prstGeom>
          <a:noFill/>
          <a:ln/>
        </p:spPr>
        <p:txBody>
          <a:bodyPr wrap="square" lIns="0" tIns="0" rIns="0" bIns="0" rtlCol="0" anchor="t"/>
          <a:lstStyle/>
          <a:p>
            <a:pPr algn="l" marL="139700" indent="-139700">
              <a:spcAft>
                <a:spcPts val="300"/>
              </a:spcAft>
              <a:buSzPct val="100000"/>
              <a:buChar char="•"/>
            </a:pPr>
            <a:r>
              <a:rPr lang="en-US" sz="1200" dirty="0">
                <a:solidFill>
                  <a:schemeClr val="tx1"/>
                </a:solidFill>
              </a:rPr>
              <a:t>1976 US Korea tax treaty: business profits are taxed only where the permanent establishment (PE) sits.</a:t>
            </a:r>
            <a:endParaRPr lang="en-US" sz="1200" dirty="0"/>
          </a:p>
          <a:p>
            <a:pPr algn="l" marL="139700" indent="-139700">
              <a:spcAft>
                <a:spcPts val="300"/>
              </a:spcAft>
              <a:buSzPct val="100000"/>
              <a:buChar char="•"/>
            </a:pPr>
            <a:r>
              <a:rPr lang="en-US" sz="1200" dirty="0">
                <a:solidFill>
                  <a:schemeClr val="tx1"/>
                </a:solidFill>
              </a:rPr>
              <a:t>Goods stored and shipped from FBA warehouses do not create a PE under Article 9, paragraph 3(b).</a:t>
            </a:r>
            <a:endParaRPr lang="en-US" sz="1200" dirty="0"/>
          </a:p>
          <a:p>
            <a:pPr algn="l" marL="139700" indent="-139700">
              <a:spcAft>
                <a:spcPts val="300"/>
              </a:spcAft>
              <a:buSzPct val="100000"/>
              <a:buChar char="•"/>
            </a:pPr>
            <a:r>
              <a:rPr lang="en-US" sz="1200" dirty="0">
                <a:solidFill>
                  <a:schemeClr val="tx1"/>
                </a:solidFill>
              </a:rPr>
              <a:t>Keep no US office, no US employees and no agent in the US who negotiates or signs contracts.</a:t>
            </a:r>
            <a:endParaRPr lang="en-US" sz="1200" dirty="0"/>
          </a:p>
          <a:p>
            <a:pPr algn="l" marL="139700" indent="-139700">
              <a:spcAft>
                <a:spcPts val="300"/>
              </a:spcAft>
              <a:buSzPct val="100000"/>
              <a:buChar char="•"/>
            </a:pPr>
            <a:r>
              <a:rPr lang="en-US" sz="1200" dirty="0">
                <a:solidFill>
                  <a:schemeClr val="tx1"/>
                </a:solidFill>
              </a:rPr>
              <a:t>Amazon collects marketplace sales tax.</a:t>
            </a:r>
            <a:endParaRPr lang="en-US" sz="1200" dirty="0"/>
          </a:p>
        </p:txBody>
      </p:sp>
      <p:sp>
        <p:nvSpPr>
          <p:cNvPr id="13" name="card"/>
          <p:cNvSpPr/>
          <p:nvPr/>
        </p:nvSpPr>
        <p:spPr>
          <a:xfrm>
            <a:off x="6233008" y="3840480"/>
            <a:ext cx="5501488" cy="2377440"/>
          </a:xfrm>
          <a:prstGeom prst="roundRect">
            <a:avLst>
              <a:gd name="adj" fmla="val 4615"/>
            </a:avLst>
          </a:prstGeom>
          <a:solidFill>
            <a:schemeClr val="bg2"/>
          </a:solidFill>
          <a:ln w="12700">
            <a:solidFill>
              <a:srgbClr val="141C36"/>
            </a:solidFill>
            <a:prstDash val="solid"/>
          </a:ln>
        </p:spPr>
      </p:sp>
      <p:sp>
        <p:nvSpPr>
          <p:cNvPr id="14" name="Text 11"/>
          <p:cNvSpPr txBox="1"/>
          <p:nvPr/>
        </p:nvSpPr>
        <p:spPr>
          <a:xfrm>
            <a:off x="6461608" y="3950208"/>
            <a:ext cx="5044288" cy="365760"/>
          </a:xfrm>
          <a:prstGeom prst="rect">
            <a:avLst/>
          </a:prstGeom>
          <a:noFill/>
          <a:ln/>
        </p:spPr>
        <p:txBody>
          <a:bodyPr wrap="square" lIns="0" tIns="0" rIns="0" bIns="0" rtlCol="0" anchor="t"/>
          <a:lstStyle/>
          <a:p>
            <a:pPr algn="l" indent="0" marL="0">
              <a:buNone/>
            </a:pPr>
            <a:r>
              <a:rPr lang="en-US" sz="1500" b="1" dirty="0">
                <a:solidFill>
                  <a:schemeClr val="accent1"/>
                </a:solidFill>
              </a:rPr>
              <a:t>Ownership</a:t>
            </a:r>
            <a:endParaRPr lang="en-US" sz="1500" dirty="0"/>
          </a:p>
        </p:txBody>
      </p:sp>
      <p:sp>
        <p:nvSpPr>
          <p:cNvPr id="15" name="Text 12"/>
          <p:cNvSpPr txBox="1"/>
          <p:nvPr/>
        </p:nvSpPr>
        <p:spPr>
          <a:xfrm>
            <a:off x="6461608" y="4370832"/>
            <a:ext cx="5044288" cy="1737360"/>
          </a:xfrm>
          <a:prstGeom prst="rect">
            <a:avLst/>
          </a:prstGeom>
          <a:noFill/>
          <a:ln/>
        </p:spPr>
        <p:txBody>
          <a:bodyPr wrap="square" lIns="0" tIns="0" rIns="0" bIns="0" rtlCol="0" anchor="t"/>
          <a:lstStyle/>
          <a:p>
            <a:pPr algn="l" marL="139700" indent="-139700">
              <a:spcAft>
                <a:spcPts val="300"/>
              </a:spcAft>
              <a:buSzPct val="100000"/>
              <a:buChar char="•"/>
            </a:pPr>
            <a:r>
              <a:rPr lang="en-US" sz="1200" dirty="0">
                <a:solidFill>
                  <a:schemeClr val="tx1"/>
                </a:solidFill>
              </a:rPr>
              <a:t>Lucy owns 100%. Mark is paid under a written consulting or commission agreement.</a:t>
            </a:r>
            <a:endParaRPr lang="en-US" sz="1200" dirty="0"/>
          </a:p>
          <a:p>
            <a:pPr algn="l" marL="139700" indent="-139700">
              <a:spcAft>
                <a:spcPts val="300"/>
              </a:spcAft>
              <a:buSzPct val="100000"/>
              <a:buChar char="•"/>
            </a:pPr>
            <a:r>
              <a:rPr lang="en-US" sz="1200" dirty="0">
                <a:solidFill>
                  <a:schemeClr val="tx1"/>
                </a:solidFill>
              </a:rPr>
              <a:t>If Mark became an owner the LLC would be a partnership: Form 1065 and 37% withholding on her share of profit.</a:t>
            </a:r>
            <a:endParaRPr lang="en-US" sz="1200" dirty="0"/>
          </a:p>
          <a:p>
            <a:pPr algn="l" marL="139700" indent="-139700">
              <a:spcAft>
                <a:spcPts val="300"/>
              </a:spcAft>
              <a:buSzPct val="100000"/>
              <a:buChar char="•"/>
            </a:pPr>
            <a:r>
              <a:rPr lang="en-US" sz="1200" dirty="0">
                <a:solidFill>
                  <a:schemeClr val="tx1"/>
                </a:solidFill>
              </a:rPr>
              <a:t>Alternative kept open: Mark's own US company as distributor and importer of record, with Lucy at the wholesale layer.</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Korea filings around the capital transfer</a:t>
            </a:r>
            <a:endParaRPr lang="en-US" sz="3200" dirty="0"/>
          </a:p>
        </p:txBody>
      </p:sp>
      <p:sp>
        <p:nvSpPr>
          <p:cNvPr id="4" name="card"/>
          <p:cNvSpPr/>
          <p:nvPr/>
        </p:nvSpPr>
        <p:spPr>
          <a:xfrm>
            <a:off x="457200" y="1188720"/>
            <a:ext cx="7498080" cy="1152144"/>
          </a:xfrm>
          <a:prstGeom prst="roundRect">
            <a:avLst>
              <a:gd name="adj" fmla="val 9524"/>
            </a:avLst>
          </a:prstGeom>
          <a:solidFill>
            <a:schemeClr val="bg2"/>
          </a:solidFill>
          <a:ln w="12700">
            <a:solidFill>
              <a:srgbClr val="141C36"/>
            </a:solidFill>
            <a:prstDash val="solid"/>
          </a:ln>
        </p:spPr>
      </p:sp>
      <p:sp>
        <p:nvSpPr>
          <p:cNvPr id="5" name="Shape 2"/>
          <p:cNvSpPr/>
          <p:nvPr/>
        </p:nvSpPr>
        <p:spPr>
          <a:xfrm>
            <a:off x="594360" y="1325880"/>
            <a:ext cx="1554480" cy="877824"/>
          </a:xfrm>
          <a:prstGeom prst="roundRect">
            <a:avLst>
              <a:gd name="adj" fmla="val 8333"/>
            </a:avLst>
          </a:prstGeom>
          <a:solidFill>
            <a:srgbClr val="1B2447"/>
          </a:solidFill>
          <a:ln w="12700">
            <a:solidFill>
              <a:srgbClr val="1B2447"/>
            </a:solidFill>
            <a:prstDash val="solid"/>
          </a:ln>
        </p:spPr>
      </p:sp>
      <p:sp>
        <p:nvSpPr>
          <p:cNvPr id="6" name="Text 3"/>
          <p:cNvSpPr txBox="1"/>
          <p:nvPr/>
        </p:nvSpPr>
        <p:spPr>
          <a:xfrm>
            <a:off x="640080" y="1325880"/>
            <a:ext cx="1463040" cy="877824"/>
          </a:xfrm>
          <a:prstGeom prst="rect">
            <a:avLst/>
          </a:prstGeom>
          <a:noFill/>
          <a:ln/>
        </p:spPr>
        <p:txBody>
          <a:bodyPr wrap="square" lIns="0" tIns="0" rIns="0" bIns="0" rtlCol="0" anchor="ctr"/>
          <a:lstStyle/>
          <a:p>
            <a:pPr algn="ctr" indent="0" marL="0">
              <a:buNone/>
            </a:pPr>
            <a:r>
              <a:rPr lang="en-US" sz="1150" b="1" dirty="0">
                <a:solidFill>
                  <a:schemeClr val="accent1"/>
                </a:solidFill>
              </a:rPr>
              <a:t>Before any capital moves</a:t>
            </a:r>
            <a:endParaRPr lang="en-US" sz="1150" dirty="0"/>
          </a:p>
        </p:txBody>
      </p:sp>
      <p:sp>
        <p:nvSpPr>
          <p:cNvPr id="7" name="Text 4"/>
          <p:cNvSpPr txBox="1"/>
          <p:nvPr/>
        </p:nvSpPr>
        <p:spPr>
          <a:xfrm>
            <a:off x="2331720" y="1280160"/>
            <a:ext cx="5486400" cy="320040"/>
          </a:xfrm>
          <a:prstGeom prst="rect">
            <a:avLst/>
          </a:prstGeom>
          <a:noFill/>
          <a:ln/>
        </p:spPr>
        <p:txBody>
          <a:bodyPr wrap="square" lIns="0" tIns="0" rIns="0" bIns="0" rtlCol="0" anchor="t"/>
          <a:lstStyle/>
          <a:p>
            <a:pPr algn="l" indent="0" marL="0">
              <a:buNone/>
            </a:pPr>
            <a:r>
              <a:rPr lang="en-US" sz="1400" b="1" dirty="0">
                <a:solidFill>
                  <a:schemeClr val="tx1"/>
                </a:solidFill>
              </a:rPr>
              <a:t>Overseas direct investment (ODI) report</a:t>
            </a:r>
            <a:endParaRPr lang="en-US" sz="1400" dirty="0"/>
          </a:p>
        </p:txBody>
      </p:sp>
      <p:sp>
        <p:nvSpPr>
          <p:cNvPr id="8" name="Text 5"/>
          <p:cNvSpPr txBox="1"/>
          <p:nvPr/>
        </p:nvSpPr>
        <p:spPr>
          <a:xfrm>
            <a:off x="2331720" y="1600200"/>
            <a:ext cx="5486400" cy="694944"/>
          </a:xfrm>
          <a:prstGeom prst="rect">
            <a:avLst/>
          </a:prstGeom>
          <a:noFill/>
          <a:ln/>
        </p:spPr>
        <p:txBody>
          <a:bodyPr wrap="square" lIns="0" tIns="0" rIns="0" bIns="0" rtlCol="0" anchor="t"/>
          <a:lstStyle/>
          <a:p>
            <a:pPr algn="l" indent="0" marL="0">
              <a:buNone/>
            </a:pPr>
            <a:r>
              <a:rPr lang="en-US" sz="1150" dirty="0">
                <a:solidFill>
                  <a:schemeClr val="tx2"/>
                </a:solidFill>
              </a:rPr>
              <a:t>Under the Foreign Exchange Transactions Act Lucy reports the investment to her foreign exchange bank before capital moves. Any stake of 10% or more, any amount. Enforcement against individual online sellers is rising.</a:t>
            </a:r>
            <a:endParaRPr lang="en-US" sz="1150" dirty="0"/>
          </a:p>
        </p:txBody>
      </p:sp>
      <p:sp>
        <p:nvSpPr>
          <p:cNvPr id="9" name="card"/>
          <p:cNvSpPr/>
          <p:nvPr/>
        </p:nvSpPr>
        <p:spPr>
          <a:xfrm>
            <a:off x="457200" y="2450592"/>
            <a:ext cx="7498080" cy="1152144"/>
          </a:xfrm>
          <a:prstGeom prst="roundRect">
            <a:avLst>
              <a:gd name="adj" fmla="val 9524"/>
            </a:avLst>
          </a:prstGeom>
          <a:solidFill>
            <a:schemeClr val="bg2"/>
          </a:solidFill>
          <a:ln w="12700">
            <a:solidFill>
              <a:srgbClr val="141C36"/>
            </a:solidFill>
            <a:prstDash val="solid"/>
          </a:ln>
        </p:spPr>
      </p:sp>
      <p:sp>
        <p:nvSpPr>
          <p:cNvPr id="10" name="Shape 7"/>
          <p:cNvSpPr/>
          <p:nvPr/>
        </p:nvSpPr>
        <p:spPr>
          <a:xfrm>
            <a:off x="594360" y="2587752"/>
            <a:ext cx="1554480" cy="877824"/>
          </a:xfrm>
          <a:prstGeom prst="roundRect">
            <a:avLst>
              <a:gd name="adj" fmla="val 8333"/>
            </a:avLst>
          </a:prstGeom>
          <a:solidFill>
            <a:srgbClr val="1B2447"/>
          </a:solidFill>
          <a:ln w="12700">
            <a:solidFill>
              <a:srgbClr val="1B2447"/>
            </a:solidFill>
            <a:prstDash val="solid"/>
          </a:ln>
        </p:spPr>
      </p:sp>
      <p:sp>
        <p:nvSpPr>
          <p:cNvPr id="11" name="Text 8"/>
          <p:cNvSpPr txBox="1"/>
          <p:nvPr/>
        </p:nvSpPr>
        <p:spPr>
          <a:xfrm>
            <a:off x="640080" y="2587752"/>
            <a:ext cx="1463040" cy="877824"/>
          </a:xfrm>
          <a:prstGeom prst="rect">
            <a:avLst/>
          </a:prstGeom>
          <a:noFill/>
          <a:ln/>
        </p:spPr>
        <p:txBody>
          <a:bodyPr wrap="square" lIns="0" tIns="0" rIns="0" bIns="0" rtlCol="0" anchor="ctr"/>
          <a:lstStyle/>
          <a:p>
            <a:pPr algn="ctr" indent="0" marL="0">
              <a:buNone/>
            </a:pPr>
            <a:r>
              <a:rPr lang="en-US" sz="1150" b="1" dirty="0">
                <a:solidFill>
                  <a:schemeClr val="accent1"/>
                </a:solidFill>
              </a:rPr>
              <a:t>After the transfer</a:t>
            </a:r>
            <a:endParaRPr lang="en-US" sz="1150" dirty="0"/>
          </a:p>
        </p:txBody>
      </p:sp>
      <p:sp>
        <p:nvSpPr>
          <p:cNvPr id="12" name="Text 9"/>
          <p:cNvSpPr txBox="1"/>
          <p:nvPr/>
        </p:nvSpPr>
        <p:spPr>
          <a:xfrm>
            <a:off x="2331720" y="2542032"/>
            <a:ext cx="5486400" cy="320040"/>
          </a:xfrm>
          <a:prstGeom prst="rect">
            <a:avLst/>
          </a:prstGeom>
          <a:noFill/>
          <a:ln/>
        </p:spPr>
        <p:txBody>
          <a:bodyPr wrap="square" lIns="0" tIns="0" rIns="0" bIns="0" rtlCol="0" anchor="t"/>
          <a:lstStyle/>
          <a:p>
            <a:pPr algn="l" indent="0" marL="0">
              <a:buNone/>
            </a:pPr>
            <a:r>
              <a:rPr lang="en-US" sz="1400" b="1" dirty="0">
                <a:solidFill>
                  <a:schemeClr val="tx1"/>
                </a:solidFill>
              </a:rPr>
              <a:t>Follow up reports</a:t>
            </a:r>
            <a:endParaRPr lang="en-US" sz="1400" dirty="0"/>
          </a:p>
        </p:txBody>
      </p:sp>
      <p:sp>
        <p:nvSpPr>
          <p:cNvPr id="13" name="Text 10"/>
          <p:cNvSpPr txBox="1"/>
          <p:nvPr/>
        </p:nvSpPr>
        <p:spPr>
          <a:xfrm>
            <a:off x="2331720" y="2862072"/>
            <a:ext cx="5486400" cy="694944"/>
          </a:xfrm>
          <a:prstGeom prst="rect">
            <a:avLst/>
          </a:prstGeom>
          <a:noFill/>
          <a:ln/>
        </p:spPr>
        <p:txBody>
          <a:bodyPr wrap="square" lIns="0" tIns="0" rIns="0" bIns="0" rtlCol="0" anchor="t"/>
          <a:lstStyle/>
          <a:p>
            <a:pPr algn="l" indent="0" marL="0">
              <a:buNone/>
            </a:pPr>
            <a:r>
              <a:rPr lang="en-US" sz="1150" dirty="0">
                <a:solidFill>
                  <a:schemeClr val="tx2"/>
                </a:solidFill>
              </a:rPr>
              <a:t>Remittance report, securities acquisition report, then the annual business performance report.</a:t>
            </a:r>
            <a:endParaRPr lang="en-US" sz="1150" dirty="0"/>
          </a:p>
        </p:txBody>
      </p:sp>
      <p:sp>
        <p:nvSpPr>
          <p:cNvPr id="14" name="card"/>
          <p:cNvSpPr/>
          <p:nvPr/>
        </p:nvSpPr>
        <p:spPr>
          <a:xfrm>
            <a:off x="457200" y="3712464"/>
            <a:ext cx="7498080" cy="1152144"/>
          </a:xfrm>
          <a:prstGeom prst="roundRect">
            <a:avLst>
              <a:gd name="adj" fmla="val 9524"/>
            </a:avLst>
          </a:prstGeom>
          <a:solidFill>
            <a:schemeClr val="bg2"/>
          </a:solidFill>
          <a:ln w="12700">
            <a:solidFill>
              <a:srgbClr val="141C36"/>
            </a:solidFill>
            <a:prstDash val="solid"/>
          </a:ln>
        </p:spPr>
      </p:sp>
      <p:sp>
        <p:nvSpPr>
          <p:cNvPr id="15" name="Shape 12"/>
          <p:cNvSpPr/>
          <p:nvPr/>
        </p:nvSpPr>
        <p:spPr>
          <a:xfrm>
            <a:off x="594360" y="3849624"/>
            <a:ext cx="1554480" cy="877824"/>
          </a:xfrm>
          <a:prstGeom prst="roundRect">
            <a:avLst>
              <a:gd name="adj" fmla="val 8333"/>
            </a:avLst>
          </a:prstGeom>
          <a:solidFill>
            <a:srgbClr val="1B2447"/>
          </a:solidFill>
          <a:ln w="12700">
            <a:solidFill>
              <a:srgbClr val="1B2447"/>
            </a:solidFill>
            <a:prstDash val="solid"/>
          </a:ln>
        </p:spPr>
      </p:sp>
      <p:sp>
        <p:nvSpPr>
          <p:cNvPr id="16" name="Text 13"/>
          <p:cNvSpPr txBox="1"/>
          <p:nvPr/>
        </p:nvSpPr>
        <p:spPr>
          <a:xfrm>
            <a:off x="640080" y="3849624"/>
            <a:ext cx="1463040" cy="877824"/>
          </a:xfrm>
          <a:prstGeom prst="rect">
            <a:avLst/>
          </a:prstGeom>
          <a:noFill/>
          <a:ln/>
        </p:spPr>
        <p:txBody>
          <a:bodyPr wrap="square" lIns="0" tIns="0" rIns="0" bIns="0" rtlCol="0" anchor="ctr"/>
          <a:lstStyle/>
          <a:p>
            <a:pPr algn="ctr" indent="0" marL="0">
              <a:buNone/>
            </a:pPr>
            <a:r>
              <a:rPr lang="en-US" sz="1150" b="1" dirty="0">
                <a:solidFill>
                  <a:schemeClr val="accent1"/>
                </a:solidFill>
              </a:rPr>
              <a:t>Every year</a:t>
            </a:r>
            <a:endParaRPr lang="en-US" sz="1150" dirty="0"/>
          </a:p>
        </p:txBody>
      </p:sp>
      <p:sp>
        <p:nvSpPr>
          <p:cNvPr id="17" name="Text 14"/>
          <p:cNvSpPr txBox="1"/>
          <p:nvPr/>
        </p:nvSpPr>
        <p:spPr>
          <a:xfrm>
            <a:off x="2331720" y="3803904"/>
            <a:ext cx="5486400" cy="320040"/>
          </a:xfrm>
          <a:prstGeom prst="rect">
            <a:avLst/>
          </a:prstGeom>
          <a:noFill/>
          <a:ln/>
        </p:spPr>
        <p:txBody>
          <a:bodyPr wrap="square" lIns="0" tIns="0" rIns="0" bIns="0" rtlCol="0" anchor="t"/>
          <a:lstStyle/>
          <a:p>
            <a:pPr algn="l" indent="0" marL="0">
              <a:buNone/>
            </a:pPr>
            <a:r>
              <a:rPr lang="en-US" sz="1400" b="1" dirty="0">
                <a:solidFill>
                  <a:schemeClr val="tx1"/>
                </a:solidFill>
              </a:rPr>
              <a:t>Overseas financial account report</a:t>
            </a:r>
            <a:endParaRPr lang="en-US" sz="1400" dirty="0"/>
          </a:p>
        </p:txBody>
      </p:sp>
      <p:sp>
        <p:nvSpPr>
          <p:cNvPr id="18" name="Text 15"/>
          <p:cNvSpPr txBox="1"/>
          <p:nvPr/>
        </p:nvSpPr>
        <p:spPr>
          <a:xfrm>
            <a:off x="2331720" y="4123944"/>
            <a:ext cx="5486400" cy="694944"/>
          </a:xfrm>
          <a:prstGeom prst="rect">
            <a:avLst/>
          </a:prstGeom>
          <a:noFill/>
          <a:ln/>
        </p:spPr>
        <p:txBody>
          <a:bodyPr wrap="square" lIns="0" tIns="0" rIns="0" bIns="0" rtlCol="0" anchor="t"/>
          <a:lstStyle/>
          <a:p>
            <a:pPr algn="l" indent="0" marL="0">
              <a:buNone/>
            </a:pPr>
            <a:r>
              <a:rPr lang="en-US" sz="1150" dirty="0">
                <a:solidFill>
                  <a:schemeClr val="tx2"/>
                </a:solidFill>
              </a:rPr>
              <a:t>Required once overseas accounts reach KRW 500M on a month end aggregate basis. Flag for the Korean tax accountant.</a:t>
            </a:r>
            <a:endParaRPr lang="en-US" sz="1150" dirty="0"/>
          </a:p>
        </p:txBody>
      </p:sp>
      <p:sp>
        <p:nvSpPr>
          <p:cNvPr id="19" name="card"/>
          <p:cNvSpPr/>
          <p:nvPr/>
        </p:nvSpPr>
        <p:spPr>
          <a:xfrm>
            <a:off x="457200" y="4974336"/>
            <a:ext cx="7498080" cy="1152144"/>
          </a:xfrm>
          <a:prstGeom prst="roundRect">
            <a:avLst>
              <a:gd name="adj" fmla="val 9524"/>
            </a:avLst>
          </a:prstGeom>
          <a:solidFill>
            <a:schemeClr val="bg2"/>
          </a:solidFill>
          <a:ln w="12700">
            <a:solidFill>
              <a:srgbClr val="141C36"/>
            </a:solidFill>
            <a:prstDash val="solid"/>
          </a:ln>
        </p:spPr>
      </p:sp>
      <p:sp>
        <p:nvSpPr>
          <p:cNvPr id="20" name="Shape 17"/>
          <p:cNvSpPr/>
          <p:nvPr/>
        </p:nvSpPr>
        <p:spPr>
          <a:xfrm>
            <a:off x="594360" y="5111496"/>
            <a:ext cx="1554480" cy="877824"/>
          </a:xfrm>
          <a:prstGeom prst="roundRect">
            <a:avLst>
              <a:gd name="adj" fmla="val 8333"/>
            </a:avLst>
          </a:prstGeom>
          <a:solidFill>
            <a:srgbClr val="1B2447"/>
          </a:solidFill>
          <a:ln w="12700">
            <a:solidFill>
              <a:srgbClr val="1B2447"/>
            </a:solidFill>
            <a:prstDash val="solid"/>
          </a:ln>
        </p:spPr>
      </p:sp>
      <p:sp>
        <p:nvSpPr>
          <p:cNvPr id="21" name="Text 18"/>
          <p:cNvSpPr txBox="1"/>
          <p:nvPr/>
        </p:nvSpPr>
        <p:spPr>
          <a:xfrm>
            <a:off x="640080" y="5111496"/>
            <a:ext cx="1463040" cy="877824"/>
          </a:xfrm>
          <a:prstGeom prst="rect">
            <a:avLst/>
          </a:prstGeom>
          <a:noFill/>
          <a:ln/>
        </p:spPr>
        <p:txBody>
          <a:bodyPr wrap="square" lIns="0" tIns="0" rIns="0" bIns="0" rtlCol="0" anchor="ctr"/>
          <a:lstStyle/>
          <a:p>
            <a:pPr algn="ctr" indent="0" marL="0">
              <a:buNone/>
            </a:pPr>
            <a:r>
              <a:rPr lang="en-US" sz="1150" b="1" dirty="0">
                <a:solidFill>
                  <a:schemeClr val="accent1"/>
                </a:solidFill>
              </a:rPr>
              <a:t>Week 2</a:t>
            </a:r>
            <a:endParaRPr lang="en-US" sz="1150" dirty="0"/>
          </a:p>
        </p:txBody>
      </p:sp>
      <p:sp>
        <p:nvSpPr>
          <p:cNvPr id="22" name="Text 19"/>
          <p:cNvSpPr txBox="1"/>
          <p:nvPr/>
        </p:nvSpPr>
        <p:spPr>
          <a:xfrm>
            <a:off x="2331720" y="5065776"/>
            <a:ext cx="5486400" cy="320040"/>
          </a:xfrm>
          <a:prstGeom prst="rect">
            <a:avLst/>
          </a:prstGeom>
          <a:noFill/>
          <a:ln/>
        </p:spPr>
        <p:txBody>
          <a:bodyPr wrap="square" lIns="0" tIns="0" rIns="0" bIns="0" rtlCol="0" anchor="t"/>
          <a:lstStyle/>
          <a:p>
            <a:pPr algn="l" indent="0" marL="0">
              <a:buNone/>
            </a:pPr>
            <a:r>
              <a:rPr lang="en-US" sz="1400" b="1" dirty="0">
                <a:solidFill>
                  <a:schemeClr val="tx1"/>
                </a:solidFill>
              </a:rPr>
              <a:t>Question for the Korean tax accountant</a:t>
            </a:r>
            <a:endParaRPr lang="en-US" sz="1400" dirty="0"/>
          </a:p>
        </p:txBody>
      </p:sp>
      <p:sp>
        <p:nvSpPr>
          <p:cNvPr id="23" name="Text 20"/>
          <p:cNvSpPr txBox="1"/>
          <p:nvPr/>
        </p:nvSpPr>
        <p:spPr>
          <a:xfrm>
            <a:off x="2331720" y="5385816"/>
            <a:ext cx="5486400" cy="694944"/>
          </a:xfrm>
          <a:prstGeom prst="rect">
            <a:avLst/>
          </a:prstGeom>
          <a:noFill/>
          <a:ln/>
        </p:spPr>
        <p:txBody>
          <a:bodyPr wrap="square" lIns="0" tIns="0" rIns="0" bIns="0" rtlCol="0" anchor="t"/>
          <a:lstStyle/>
          <a:p>
            <a:pPr algn="l" indent="0" marL="0">
              <a:buNone/>
            </a:pPr>
            <a:r>
              <a:rPr lang="en-US" sz="1150" dirty="0">
                <a:solidFill>
                  <a:schemeClr val="tx2"/>
                </a:solidFill>
              </a:rPr>
              <a:t>H2 Company's registration number 599-64-00496 (middle digits 64) indicates a sole proprietorship. Should H2 incorporate before it owns a US LLC? The plan assumes Lucy owns BRAND LLC personally until told otherwise.</a:t>
            </a:r>
            <a:endParaRPr lang="en-US" sz="1150" dirty="0"/>
          </a:p>
        </p:txBody>
      </p:sp>
      <p:sp>
        <p:nvSpPr>
          <p:cNvPr id="24" name="card"/>
          <p:cNvSpPr/>
          <p:nvPr/>
        </p:nvSpPr>
        <p:spPr>
          <a:xfrm>
            <a:off x="8229600" y="1188720"/>
            <a:ext cx="3502152" cy="4937760"/>
          </a:xfrm>
          <a:prstGeom prst="roundRect">
            <a:avLst>
              <a:gd name="adj" fmla="val 3133"/>
            </a:avLst>
          </a:prstGeom>
          <a:solidFill>
            <a:srgbClr val="10172D"/>
          </a:solidFill>
          <a:ln w="12700">
            <a:solidFill>
              <a:srgbClr val="10172D"/>
            </a:solidFill>
            <a:prstDash val="solid"/>
          </a:ln>
        </p:spPr>
      </p:sp>
      <p:sp>
        <p:nvSpPr>
          <p:cNvPr id="25" name="Text 22"/>
          <p:cNvSpPr txBox="1"/>
          <p:nvPr/>
        </p:nvSpPr>
        <p:spPr>
          <a:xfrm>
            <a:off x="8412480" y="1325880"/>
            <a:ext cx="3108960" cy="365760"/>
          </a:xfrm>
          <a:prstGeom prst="rect">
            <a:avLst/>
          </a:prstGeom>
          <a:noFill/>
          <a:ln/>
        </p:spPr>
        <p:txBody>
          <a:bodyPr wrap="square" lIns="0" tIns="0" rIns="0" bIns="0" rtlCol="0" anchor="t"/>
          <a:lstStyle/>
          <a:p>
            <a:pPr algn="l" indent="0" marL="0">
              <a:buNone/>
            </a:pPr>
            <a:r>
              <a:rPr lang="en-US" sz="1600" b="1" dirty="0">
                <a:solidFill>
                  <a:schemeClr val="accent1"/>
                </a:solidFill>
              </a:rPr>
              <a:t>Order of events</a:t>
            </a:r>
            <a:endParaRPr lang="en-US" sz="1600" dirty="0"/>
          </a:p>
        </p:txBody>
      </p:sp>
      <p:sp>
        <p:nvSpPr>
          <p:cNvPr id="26" name="Text 23"/>
          <p:cNvSpPr txBox="1"/>
          <p:nvPr/>
        </p:nvSpPr>
        <p:spPr>
          <a:xfrm>
            <a:off x="8412480" y="1828800"/>
            <a:ext cx="3108960" cy="960120"/>
          </a:xfrm>
          <a:prstGeom prst="rect">
            <a:avLst/>
          </a:prstGeom>
          <a:noFill/>
          <a:ln/>
        </p:spPr>
        <p:txBody>
          <a:bodyPr wrap="square" lIns="0" tIns="0" rIns="0" bIns="0" rtlCol="0" anchor="t"/>
          <a:lstStyle/>
          <a:p>
            <a:pPr algn="l" indent="0" marL="0">
              <a:buNone/>
            </a:pPr>
            <a:r>
              <a:rPr lang="en-US" sz="1300" dirty="0">
                <a:solidFill>
                  <a:schemeClr val="tx1"/>
                </a:solidFill>
              </a:rPr>
              <a:t>1. ODI report at the foreign exchange bank (week 2).</a:t>
            </a:r>
            <a:endParaRPr lang="en-US" sz="1300" dirty="0"/>
          </a:p>
        </p:txBody>
      </p:sp>
      <p:sp>
        <p:nvSpPr>
          <p:cNvPr id="27" name="Text 24"/>
          <p:cNvSpPr txBox="1"/>
          <p:nvPr/>
        </p:nvSpPr>
        <p:spPr>
          <a:xfrm>
            <a:off x="8412480" y="2834640"/>
            <a:ext cx="3108960" cy="960120"/>
          </a:xfrm>
          <a:prstGeom prst="rect">
            <a:avLst/>
          </a:prstGeom>
          <a:noFill/>
          <a:ln/>
        </p:spPr>
        <p:txBody>
          <a:bodyPr wrap="square" lIns="0" tIns="0" rIns="0" bIns="0" rtlCol="0" anchor="t"/>
          <a:lstStyle/>
          <a:p>
            <a:pPr algn="l" indent="0" marL="0">
              <a:buNone/>
            </a:pPr>
            <a:r>
              <a:rPr lang="en-US" sz="1300" dirty="0">
                <a:solidFill>
                  <a:schemeClr val="tx1"/>
                </a:solidFill>
              </a:rPr>
              <a:t>2. Capital transfer to the LLC account (week 3, only after the report).</a:t>
            </a:r>
            <a:endParaRPr lang="en-US" sz="1300" dirty="0"/>
          </a:p>
        </p:txBody>
      </p:sp>
      <p:sp>
        <p:nvSpPr>
          <p:cNvPr id="28" name="Text 25"/>
          <p:cNvSpPr txBox="1"/>
          <p:nvPr/>
        </p:nvSpPr>
        <p:spPr>
          <a:xfrm>
            <a:off x="8412480" y="3840480"/>
            <a:ext cx="3108960" cy="960120"/>
          </a:xfrm>
          <a:prstGeom prst="rect">
            <a:avLst/>
          </a:prstGeom>
          <a:noFill/>
          <a:ln/>
        </p:spPr>
        <p:txBody>
          <a:bodyPr wrap="square" lIns="0" tIns="0" rIns="0" bIns="0" rtlCol="0" anchor="t"/>
          <a:lstStyle/>
          <a:p>
            <a:pPr algn="l" indent="0" marL="0">
              <a:buNone/>
            </a:pPr>
            <a:r>
              <a:rPr lang="en-US" sz="1300" dirty="0">
                <a:solidFill>
                  <a:schemeClr val="tx1"/>
                </a:solidFill>
              </a:rPr>
              <a:t>3. Remittance and securities acquisition reports.</a:t>
            </a:r>
            <a:endParaRPr lang="en-US" sz="1300" dirty="0"/>
          </a:p>
        </p:txBody>
      </p:sp>
      <p:sp>
        <p:nvSpPr>
          <p:cNvPr id="29" name="Text 26"/>
          <p:cNvSpPr txBox="1"/>
          <p:nvPr/>
        </p:nvSpPr>
        <p:spPr>
          <a:xfrm>
            <a:off x="8412480" y="4846320"/>
            <a:ext cx="3108960" cy="960120"/>
          </a:xfrm>
          <a:prstGeom prst="rect">
            <a:avLst/>
          </a:prstGeom>
          <a:noFill/>
          <a:ln/>
        </p:spPr>
        <p:txBody>
          <a:bodyPr wrap="square" lIns="0" tIns="0" rIns="0" bIns="0" rtlCol="0" anchor="t"/>
          <a:lstStyle/>
          <a:p>
            <a:pPr algn="l" indent="0" marL="0">
              <a:buNone/>
            </a:pPr>
            <a:r>
              <a:rPr lang="en-US" sz="1300" dirty="0">
                <a:solidFill>
                  <a:schemeClr val="tx1"/>
                </a:solidFill>
              </a:rPr>
              <a:t>4. Annual business performance report and the overseas account report if the threshold is reached.</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Product compliance</a:t>
            </a:r>
            <a:endParaRPr lang="en-US" sz="3200" dirty="0"/>
          </a:p>
        </p:txBody>
      </p:sp>
      <p:sp>
        <p:nvSpPr>
          <p:cNvPr id="4" name="card"/>
          <p:cNvSpPr/>
          <p:nvPr/>
        </p:nvSpPr>
        <p:spPr>
          <a:xfrm>
            <a:off x="457200" y="1188720"/>
            <a:ext cx="3576218" cy="2377440"/>
          </a:xfrm>
          <a:prstGeom prst="roundRect">
            <a:avLst>
              <a:gd name="adj" fmla="val 4615"/>
            </a:avLst>
          </a:prstGeom>
          <a:solidFill>
            <a:schemeClr val="bg2"/>
          </a:solidFill>
          <a:ln w="12700">
            <a:solidFill>
              <a:srgbClr val="141C36"/>
            </a:solidFill>
            <a:prstDash val="solid"/>
          </a:ln>
        </p:spPr>
      </p:sp>
      <p:sp>
        <p:nvSpPr>
          <p:cNvPr id="5" name="Shape 2"/>
          <p:cNvSpPr/>
          <p:nvPr/>
        </p:nvSpPr>
        <p:spPr>
          <a:xfrm>
            <a:off x="640080" y="1353312"/>
            <a:ext cx="502920" cy="502920"/>
          </a:xfrm>
          <a:prstGeom prst="ellipse">
            <a:avLst/>
          </a:prstGeom>
          <a:solidFill>
            <a:srgbClr val="1B2447"/>
          </a:solidFill>
          <a:ln w="12700">
            <a:solidFill>
              <a:srgbClr val="1B2447"/>
            </a:solidFill>
            <a:prstDash val="solid"/>
          </a:ln>
        </p:spPr>
      </p:sp>
      <p:pic>
        <p:nvPicPr>
          <p:cNvPr id="6" name="Image 0" descr="preencoded.png">    </p:cNvPr>
          <p:cNvPicPr>
            <a:picLocks noChangeAspect="1"/>
          </p:cNvPicPr>
          <p:nvPr/>
        </p:nvPicPr>
        <p:blipFill>
          <a:blip r:embed="rId1"/>
          <a:stretch>
            <a:fillRect/>
          </a:stretch>
        </p:blipFill>
        <p:spPr>
          <a:xfrm>
            <a:off x="750722" y="1463954"/>
            <a:ext cx="281635" cy="281635"/>
          </a:xfrm>
          <a:prstGeom prst="rect">
            <a:avLst/>
          </a:prstGeom>
        </p:spPr>
      </p:pic>
      <p:sp>
        <p:nvSpPr>
          <p:cNvPr id="7" name="Text 3"/>
          <p:cNvSpPr txBox="1"/>
          <p:nvPr/>
        </p:nvSpPr>
        <p:spPr>
          <a:xfrm>
            <a:off x="1280160" y="1353312"/>
            <a:ext cx="2570378" cy="502920"/>
          </a:xfrm>
          <a:prstGeom prst="rect">
            <a:avLst/>
          </a:prstGeom>
          <a:noFill/>
          <a:ln/>
        </p:spPr>
        <p:txBody>
          <a:bodyPr wrap="square" lIns="0" tIns="0" rIns="0" bIns="0" rtlCol="0" anchor="ctr"/>
          <a:lstStyle/>
          <a:p>
            <a:pPr algn="l" indent="0" marL="0">
              <a:buNone/>
            </a:pPr>
            <a:r>
              <a:rPr lang="en-US" sz="1500" b="1" dirty="0">
                <a:solidFill>
                  <a:schemeClr val="tx1"/>
                </a:solidFill>
              </a:rPr>
              <a:t>HDMI Adopter and ATC</a:t>
            </a:r>
            <a:endParaRPr lang="en-US" sz="1500" dirty="0"/>
          </a:p>
        </p:txBody>
      </p:sp>
      <p:sp>
        <p:nvSpPr>
          <p:cNvPr id="8" name="Text 4"/>
          <p:cNvSpPr txBox="1"/>
          <p:nvPr/>
        </p:nvSpPr>
        <p:spPr>
          <a:xfrm>
            <a:off x="640080" y="2011680"/>
            <a:ext cx="3210458" cy="914400"/>
          </a:xfrm>
          <a:prstGeom prst="rect">
            <a:avLst/>
          </a:prstGeom>
          <a:noFill/>
          <a:ln/>
        </p:spPr>
        <p:txBody>
          <a:bodyPr wrap="square" lIns="0" tIns="0" rIns="0" bIns="0" rtlCol="0" anchor="t"/>
          <a:lstStyle/>
          <a:p>
            <a:pPr algn="l" indent="0" marL="0">
              <a:buNone/>
            </a:pPr>
            <a:r>
              <a:rPr lang="en-US" sz="1250" dirty="0">
                <a:solidFill>
                  <a:schemeClr val="tx1"/>
                </a:solidFill>
              </a:rPr>
              <a:t>The factory must be an HDMI Adopter with Authorized Test Center reports. HDMI LA runs seizures.</a:t>
            </a:r>
            <a:endParaRPr lang="en-US" sz="1250" dirty="0"/>
          </a:p>
        </p:txBody>
      </p:sp>
      <p:sp>
        <p:nvSpPr>
          <p:cNvPr id="9" name="Text 5"/>
          <p:cNvSpPr txBox="1"/>
          <p:nvPr/>
        </p:nvSpPr>
        <p:spPr>
          <a:xfrm>
            <a:off x="640080" y="2926080"/>
            <a:ext cx="3210458" cy="548640"/>
          </a:xfrm>
          <a:prstGeom prst="rect">
            <a:avLst/>
          </a:prstGeom>
          <a:noFill/>
          <a:ln/>
        </p:spPr>
        <p:txBody>
          <a:bodyPr wrap="square" lIns="0" tIns="0" rIns="0" bIns="0" rtlCol="0" anchor="t"/>
          <a:lstStyle/>
          <a:p>
            <a:pPr algn="l" indent="0" marL="0">
              <a:buNone/>
            </a:pPr>
            <a:r>
              <a:rPr lang="en-US" sz="1100" dirty="0">
                <a:solidFill>
                  <a:schemeClr val="accent5"/>
                </a:solidFill>
              </a:rPr>
              <a:t>[PLACEHOLDER: HDMI Adopter certificate number and ATC report from factory]</a:t>
            </a:r>
            <a:endParaRPr lang="en-US" sz="1100" dirty="0"/>
          </a:p>
        </p:txBody>
      </p:sp>
      <p:sp>
        <p:nvSpPr>
          <p:cNvPr id="10" name="card"/>
          <p:cNvSpPr/>
          <p:nvPr/>
        </p:nvSpPr>
        <p:spPr>
          <a:xfrm>
            <a:off x="4307738" y="1188720"/>
            <a:ext cx="3576218" cy="2377440"/>
          </a:xfrm>
          <a:prstGeom prst="roundRect">
            <a:avLst>
              <a:gd name="adj" fmla="val 4615"/>
            </a:avLst>
          </a:prstGeom>
          <a:solidFill>
            <a:schemeClr val="bg2"/>
          </a:solidFill>
          <a:ln w="12700">
            <a:solidFill>
              <a:srgbClr val="141C36"/>
            </a:solidFill>
            <a:prstDash val="solid"/>
          </a:ln>
        </p:spPr>
      </p:sp>
      <p:sp>
        <p:nvSpPr>
          <p:cNvPr id="11" name="Shape 7"/>
          <p:cNvSpPr/>
          <p:nvPr/>
        </p:nvSpPr>
        <p:spPr>
          <a:xfrm>
            <a:off x="4490618" y="1353312"/>
            <a:ext cx="502920" cy="502920"/>
          </a:xfrm>
          <a:prstGeom prst="ellipse">
            <a:avLst/>
          </a:prstGeom>
          <a:solidFill>
            <a:srgbClr val="1B2447"/>
          </a:solidFill>
          <a:ln w="12700">
            <a:solidFill>
              <a:srgbClr val="1B2447"/>
            </a:solidFill>
            <a:prstDash val="solid"/>
          </a:ln>
        </p:spPr>
      </p:sp>
      <p:pic>
        <p:nvPicPr>
          <p:cNvPr id="12" name="Image 1" descr="preencoded.png">    </p:cNvPr>
          <p:cNvPicPr>
            <a:picLocks noChangeAspect="1"/>
          </p:cNvPicPr>
          <p:nvPr/>
        </p:nvPicPr>
        <p:blipFill>
          <a:blip r:embed="rId2"/>
          <a:stretch>
            <a:fillRect/>
          </a:stretch>
        </p:blipFill>
        <p:spPr>
          <a:xfrm>
            <a:off x="4601261" y="1463954"/>
            <a:ext cx="281635" cy="281635"/>
          </a:xfrm>
          <a:prstGeom prst="rect">
            <a:avLst/>
          </a:prstGeom>
        </p:spPr>
      </p:pic>
      <p:sp>
        <p:nvSpPr>
          <p:cNvPr id="13" name="Text 8"/>
          <p:cNvSpPr txBox="1"/>
          <p:nvPr/>
        </p:nvSpPr>
        <p:spPr>
          <a:xfrm>
            <a:off x="5130698" y="1353312"/>
            <a:ext cx="2570378" cy="502920"/>
          </a:xfrm>
          <a:prstGeom prst="rect">
            <a:avLst/>
          </a:prstGeom>
          <a:noFill/>
          <a:ln/>
        </p:spPr>
        <p:txBody>
          <a:bodyPr wrap="square" lIns="0" tIns="0" rIns="0" bIns="0" rtlCol="0" anchor="ctr"/>
          <a:lstStyle/>
          <a:p>
            <a:pPr algn="l" indent="0" marL="0">
              <a:buNone/>
            </a:pPr>
            <a:r>
              <a:rPr lang="en-US" sz="1500" b="1" dirty="0">
                <a:solidFill>
                  <a:schemeClr val="tx1"/>
                </a:solidFill>
              </a:rPr>
              <a:t>Naming on box and listing</a:t>
            </a:r>
            <a:endParaRPr lang="en-US" sz="1500" dirty="0"/>
          </a:p>
        </p:txBody>
      </p:sp>
      <p:sp>
        <p:nvSpPr>
          <p:cNvPr id="14" name="Text 9"/>
          <p:cNvSpPr txBox="1"/>
          <p:nvPr/>
        </p:nvSpPr>
        <p:spPr>
          <a:xfrm>
            <a:off x="4490618" y="2011680"/>
            <a:ext cx="3210458" cy="914400"/>
          </a:xfrm>
          <a:prstGeom prst="rect">
            <a:avLst/>
          </a:prstGeom>
          <a:noFill/>
          <a:ln/>
        </p:spPr>
        <p:txBody>
          <a:bodyPr wrap="square" lIns="0" tIns="0" rIns="0" bIns="0" rtlCol="0" anchor="t"/>
          <a:lstStyle/>
          <a:p>
            <a:pPr algn="l" indent="0" marL="0">
              <a:buNone/>
            </a:pPr>
            <a:r>
              <a:rPr lang="en-US" sz="1250" dirty="0">
                <a:solidFill>
                  <a:schemeClr val="tx1"/>
                </a:solidFill>
              </a:rPr>
              <a:t>Category name only (Ultra High Speed HDMI Cable). Titles may say 48Gbps and 8K. No version numbers.</a:t>
            </a:r>
            <a:endParaRPr lang="en-US" sz="1250" dirty="0"/>
          </a:p>
        </p:txBody>
      </p:sp>
      <p:sp>
        <p:nvSpPr>
          <p:cNvPr id="15" name="Text 10"/>
          <p:cNvSpPr txBox="1"/>
          <p:nvPr/>
        </p:nvSpPr>
        <p:spPr>
          <a:xfrm>
            <a:off x="4490618" y="2926080"/>
            <a:ext cx="3210458" cy="548640"/>
          </a:xfrm>
          <a:prstGeom prst="rect">
            <a:avLst/>
          </a:prstGeom>
          <a:noFill/>
          <a:ln/>
        </p:spPr>
        <p:txBody>
          <a:bodyPr wrap="square" lIns="0" tIns="0" rIns="0" bIns="0" rtlCol="0" anchor="t"/>
          <a:lstStyle/>
          <a:p>
            <a:pPr algn="l" indent="0" marL="0">
              <a:buNone/>
            </a:pPr>
            <a:r>
              <a:rPr lang="en-US" sz="1100" dirty="0">
                <a:solidFill>
                  <a:schemeClr val="accent5"/>
                </a:solidFill>
              </a:rPr>
              <a:t>Rule applied in the listing kit</a:t>
            </a:r>
            <a:endParaRPr lang="en-US" sz="1100" dirty="0"/>
          </a:p>
        </p:txBody>
      </p:sp>
      <p:sp>
        <p:nvSpPr>
          <p:cNvPr id="16" name="card"/>
          <p:cNvSpPr/>
          <p:nvPr/>
        </p:nvSpPr>
        <p:spPr>
          <a:xfrm>
            <a:off x="8158277" y="1188720"/>
            <a:ext cx="3576218" cy="2377440"/>
          </a:xfrm>
          <a:prstGeom prst="roundRect">
            <a:avLst>
              <a:gd name="adj" fmla="val 4615"/>
            </a:avLst>
          </a:prstGeom>
          <a:solidFill>
            <a:schemeClr val="bg2"/>
          </a:solidFill>
          <a:ln w="12700">
            <a:solidFill>
              <a:srgbClr val="141C36"/>
            </a:solidFill>
            <a:prstDash val="solid"/>
          </a:ln>
        </p:spPr>
      </p:sp>
      <p:sp>
        <p:nvSpPr>
          <p:cNvPr id="17" name="Shape 12"/>
          <p:cNvSpPr/>
          <p:nvPr/>
        </p:nvSpPr>
        <p:spPr>
          <a:xfrm>
            <a:off x="8341157" y="1353312"/>
            <a:ext cx="502920" cy="502920"/>
          </a:xfrm>
          <a:prstGeom prst="ellipse">
            <a:avLst/>
          </a:prstGeom>
          <a:solidFill>
            <a:srgbClr val="1B2447"/>
          </a:solidFill>
          <a:ln w="12700">
            <a:solidFill>
              <a:srgbClr val="1B2447"/>
            </a:solidFill>
            <a:prstDash val="solid"/>
          </a:ln>
        </p:spPr>
      </p:sp>
      <p:pic>
        <p:nvPicPr>
          <p:cNvPr id="18" name="Image 2" descr="preencoded.png">    </p:cNvPr>
          <p:cNvPicPr>
            <a:picLocks noChangeAspect="1"/>
          </p:cNvPicPr>
          <p:nvPr/>
        </p:nvPicPr>
        <p:blipFill>
          <a:blip r:embed="rId3"/>
          <a:stretch>
            <a:fillRect/>
          </a:stretch>
        </p:blipFill>
        <p:spPr>
          <a:xfrm>
            <a:off x="8451799" y="1463954"/>
            <a:ext cx="281635" cy="281635"/>
          </a:xfrm>
          <a:prstGeom prst="rect">
            <a:avLst/>
          </a:prstGeom>
        </p:spPr>
      </p:pic>
      <p:sp>
        <p:nvSpPr>
          <p:cNvPr id="19" name="Text 13"/>
          <p:cNvSpPr txBox="1"/>
          <p:nvPr/>
        </p:nvSpPr>
        <p:spPr>
          <a:xfrm>
            <a:off x="8981237" y="1353312"/>
            <a:ext cx="2570378" cy="502920"/>
          </a:xfrm>
          <a:prstGeom prst="rect">
            <a:avLst/>
          </a:prstGeom>
          <a:noFill/>
          <a:ln/>
        </p:spPr>
        <p:txBody>
          <a:bodyPr wrap="square" lIns="0" tIns="0" rIns="0" bIns="0" rtlCol="0" anchor="ctr"/>
          <a:lstStyle/>
          <a:p>
            <a:pPr algn="l" indent="0" marL="0">
              <a:buNone/>
            </a:pPr>
            <a:r>
              <a:rPr lang="en-US" sz="1500" b="1" dirty="0">
                <a:solidFill>
                  <a:schemeClr val="tx1"/>
                </a:solidFill>
              </a:rPr>
              <a:t>FCC</a:t>
            </a:r>
            <a:endParaRPr lang="en-US" sz="1500" dirty="0"/>
          </a:p>
        </p:txBody>
      </p:sp>
      <p:sp>
        <p:nvSpPr>
          <p:cNvPr id="20" name="Text 14"/>
          <p:cNvSpPr txBox="1"/>
          <p:nvPr/>
        </p:nvSpPr>
        <p:spPr>
          <a:xfrm>
            <a:off x="8341157" y="2011680"/>
            <a:ext cx="3210458" cy="914400"/>
          </a:xfrm>
          <a:prstGeom prst="rect">
            <a:avLst/>
          </a:prstGeom>
          <a:noFill/>
          <a:ln/>
        </p:spPr>
        <p:txBody>
          <a:bodyPr wrap="square" lIns="0" tIns="0" rIns="0" bIns="0" rtlCol="0" anchor="t"/>
          <a:lstStyle/>
          <a:p>
            <a:pPr algn="l" indent="0" marL="0">
              <a:buNone/>
            </a:pPr>
            <a:r>
              <a:rPr lang="en-US" sz="1250" dirty="0">
                <a:solidFill>
                  <a:schemeClr val="tx1"/>
                </a:solidFill>
              </a:rPr>
              <a:t>AOC heads contain active electronics, so obtain the factory's FCC test report before the first shipment.</a:t>
            </a:r>
            <a:endParaRPr lang="en-US" sz="1250" dirty="0"/>
          </a:p>
        </p:txBody>
      </p:sp>
      <p:sp>
        <p:nvSpPr>
          <p:cNvPr id="21" name="Text 15"/>
          <p:cNvSpPr txBox="1"/>
          <p:nvPr/>
        </p:nvSpPr>
        <p:spPr>
          <a:xfrm>
            <a:off x="8341157" y="2926080"/>
            <a:ext cx="3210458" cy="548640"/>
          </a:xfrm>
          <a:prstGeom prst="rect">
            <a:avLst/>
          </a:prstGeom>
          <a:noFill/>
          <a:ln/>
        </p:spPr>
        <p:txBody>
          <a:bodyPr wrap="square" lIns="0" tIns="0" rIns="0" bIns="0" rtlCol="0" anchor="t"/>
          <a:lstStyle/>
          <a:p>
            <a:pPr algn="l" indent="0" marL="0">
              <a:buNone/>
            </a:pPr>
            <a:r>
              <a:rPr lang="en-US" sz="1100" dirty="0">
                <a:solidFill>
                  <a:schemeClr val="accent5"/>
                </a:solidFill>
              </a:rPr>
              <a:t>[PLACEHOLDER: FCC test report from factory]</a:t>
            </a:r>
            <a:endParaRPr lang="en-US" sz="1100" dirty="0"/>
          </a:p>
        </p:txBody>
      </p:sp>
      <p:sp>
        <p:nvSpPr>
          <p:cNvPr id="22" name="card"/>
          <p:cNvSpPr/>
          <p:nvPr/>
        </p:nvSpPr>
        <p:spPr>
          <a:xfrm>
            <a:off x="457200" y="3840480"/>
            <a:ext cx="3576218" cy="2377440"/>
          </a:xfrm>
          <a:prstGeom prst="roundRect">
            <a:avLst>
              <a:gd name="adj" fmla="val 4615"/>
            </a:avLst>
          </a:prstGeom>
          <a:solidFill>
            <a:schemeClr val="bg2"/>
          </a:solidFill>
          <a:ln w="12700">
            <a:solidFill>
              <a:srgbClr val="141C36"/>
            </a:solidFill>
            <a:prstDash val="solid"/>
          </a:ln>
        </p:spPr>
      </p:sp>
      <p:sp>
        <p:nvSpPr>
          <p:cNvPr id="23" name="Shape 17"/>
          <p:cNvSpPr/>
          <p:nvPr/>
        </p:nvSpPr>
        <p:spPr>
          <a:xfrm>
            <a:off x="640080" y="4005072"/>
            <a:ext cx="502920" cy="502920"/>
          </a:xfrm>
          <a:prstGeom prst="ellipse">
            <a:avLst/>
          </a:prstGeom>
          <a:solidFill>
            <a:srgbClr val="1B2447"/>
          </a:solidFill>
          <a:ln w="12700">
            <a:solidFill>
              <a:srgbClr val="1B2447"/>
            </a:solidFill>
            <a:prstDash val="solid"/>
          </a:ln>
        </p:spPr>
      </p:sp>
      <p:pic>
        <p:nvPicPr>
          <p:cNvPr id="24" name="Image 3" descr="preencoded.png">    </p:cNvPr>
          <p:cNvPicPr>
            <a:picLocks noChangeAspect="1"/>
          </p:cNvPicPr>
          <p:nvPr/>
        </p:nvPicPr>
        <p:blipFill>
          <a:blip r:embed="rId4"/>
          <a:stretch>
            <a:fillRect/>
          </a:stretch>
        </p:blipFill>
        <p:spPr>
          <a:xfrm>
            <a:off x="750722" y="4115714"/>
            <a:ext cx="281635" cy="281635"/>
          </a:xfrm>
          <a:prstGeom prst="rect">
            <a:avLst/>
          </a:prstGeom>
        </p:spPr>
      </p:pic>
      <p:sp>
        <p:nvSpPr>
          <p:cNvPr id="25" name="Text 18"/>
          <p:cNvSpPr txBox="1"/>
          <p:nvPr/>
        </p:nvSpPr>
        <p:spPr>
          <a:xfrm>
            <a:off x="1280160" y="4005072"/>
            <a:ext cx="2570378" cy="502920"/>
          </a:xfrm>
          <a:prstGeom prst="rect">
            <a:avLst/>
          </a:prstGeom>
          <a:noFill/>
          <a:ln/>
        </p:spPr>
        <p:txBody>
          <a:bodyPr wrap="square" lIns="0" tIns="0" rIns="0" bIns="0" rtlCol="0" anchor="ctr"/>
          <a:lstStyle/>
          <a:p>
            <a:pPr algn="l" indent="0" marL="0">
              <a:buNone/>
            </a:pPr>
            <a:r>
              <a:rPr lang="en-US" sz="1500" b="1" dirty="0">
                <a:solidFill>
                  <a:schemeClr val="tx1"/>
                </a:solidFill>
              </a:rPr>
              <a:t>California Prop 65</a:t>
            </a:r>
            <a:endParaRPr lang="en-US" sz="1500" dirty="0"/>
          </a:p>
        </p:txBody>
      </p:sp>
      <p:sp>
        <p:nvSpPr>
          <p:cNvPr id="26" name="Text 19"/>
          <p:cNvSpPr txBox="1"/>
          <p:nvPr/>
        </p:nvSpPr>
        <p:spPr>
          <a:xfrm>
            <a:off x="640080" y="4663440"/>
            <a:ext cx="3210458" cy="914400"/>
          </a:xfrm>
          <a:prstGeom prst="rect">
            <a:avLst/>
          </a:prstGeom>
          <a:noFill/>
          <a:ln/>
        </p:spPr>
        <p:txBody>
          <a:bodyPr wrap="square" lIns="0" tIns="0" rIns="0" bIns="0" rtlCol="0" anchor="t"/>
          <a:lstStyle/>
          <a:p>
            <a:pPr algn="l" indent="0" marL="0">
              <a:buNone/>
            </a:pPr>
            <a:r>
              <a:rPr lang="en-US" sz="1250" dirty="0">
                <a:solidFill>
                  <a:schemeClr val="tx1"/>
                </a:solidFill>
              </a:rPr>
              <a:t>Add the Prop 65 warning label to packaging and the listing.</a:t>
            </a:r>
            <a:endParaRPr lang="en-US" sz="1250" dirty="0"/>
          </a:p>
        </p:txBody>
      </p:sp>
      <p:sp>
        <p:nvSpPr>
          <p:cNvPr id="27" name="Text 20"/>
          <p:cNvSpPr txBox="1"/>
          <p:nvPr/>
        </p:nvSpPr>
        <p:spPr>
          <a:xfrm>
            <a:off x="640080" y="5577840"/>
            <a:ext cx="3210458" cy="548640"/>
          </a:xfrm>
          <a:prstGeom prst="rect">
            <a:avLst/>
          </a:prstGeom>
          <a:noFill/>
          <a:ln/>
        </p:spPr>
        <p:txBody>
          <a:bodyPr wrap="square" lIns="0" tIns="0" rIns="0" bIns="0" rtlCol="0" anchor="t"/>
          <a:lstStyle/>
          <a:p>
            <a:pPr algn="l" indent="0" marL="0">
              <a:buNone/>
            </a:pPr>
            <a:r>
              <a:rPr lang="en-US" sz="1100" dirty="0">
                <a:solidFill>
                  <a:schemeClr val="accent5"/>
                </a:solidFill>
              </a:rPr>
              <a:t>Label text in the listing kit</a:t>
            </a:r>
            <a:endParaRPr lang="en-US" sz="1100" dirty="0"/>
          </a:p>
        </p:txBody>
      </p:sp>
      <p:sp>
        <p:nvSpPr>
          <p:cNvPr id="28" name="card"/>
          <p:cNvSpPr/>
          <p:nvPr/>
        </p:nvSpPr>
        <p:spPr>
          <a:xfrm>
            <a:off x="4307738" y="3840480"/>
            <a:ext cx="3576218" cy="2377440"/>
          </a:xfrm>
          <a:prstGeom prst="roundRect">
            <a:avLst>
              <a:gd name="adj" fmla="val 4615"/>
            </a:avLst>
          </a:prstGeom>
          <a:solidFill>
            <a:schemeClr val="bg2"/>
          </a:solidFill>
          <a:ln w="12700">
            <a:solidFill>
              <a:srgbClr val="141C36"/>
            </a:solidFill>
            <a:prstDash val="solid"/>
          </a:ln>
        </p:spPr>
      </p:sp>
      <p:sp>
        <p:nvSpPr>
          <p:cNvPr id="29" name="Shape 22"/>
          <p:cNvSpPr/>
          <p:nvPr/>
        </p:nvSpPr>
        <p:spPr>
          <a:xfrm>
            <a:off x="4490618" y="4005072"/>
            <a:ext cx="502920" cy="502920"/>
          </a:xfrm>
          <a:prstGeom prst="ellipse">
            <a:avLst/>
          </a:prstGeom>
          <a:solidFill>
            <a:srgbClr val="1B2447"/>
          </a:solidFill>
          <a:ln w="12700">
            <a:solidFill>
              <a:srgbClr val="1B2447"/>
            </a:solidFill>
            <a:prstDash val="solid"/>
          </a:ln>
        </p:spPr>
      </p:sp>
      <p:pic>
        <p:nvPicPr>
          <p:cNvPr id="30" name="Image 4" descr="preencoded.png">    </p:cNvPr>
          <p:cNvPicPr>
            <a:picLocks noChangeAspect="1"/>
          </p:cNvPicPr>
          <p:nvPr/>
        </p:nvPicPr>
        <p:blipFill>
          <a:blip r:embed="rId5"/>
          <a:stretch>
            <a:fillRect/>
          </a:stretch>
        </p:blipFill>
        <p:spPr>
          <a:xfrm>
            <a:off x="4601261" y="4115714"/>
            <a:ext cx="281635" cy="281635"/>
          </a:xfrm>
          <a:prstGeom prst="rect">
            <a:avLst/>
          </a:prstGeom>
        </p:spPr>
      </p:pic>
      <p:sp>
        <p:nvSpPr>
          <p:cNvPr id="31" name="Text 23"/>
          <p:cNvSpPr txBox="1"/>
          <p:nvPr/>
        </p:nvSpPr>
        <p:spPr>
          <a:xfrm>
            <a:off x="5130698" y="4005072"/>
            <a:ext cx="2570378" cy="502920"/>
          </a:xfrm>
          <a:prstGeom prst="rect">
            <a:avLst/>
          </a:prstGeom>
          <a:noFill/>
          <a:ln/>
        </p:spPr>
        <p:txBody>
          <a:bodyPr wrap="square" lIns="0" tIns="0" rIns="0" bIns="0" rtlCol="0" anchor="ctr"/>
          <a:lstStyle/>
          <a:p>
            <a:pPr algn="l" indent="0" marL="0">
              <a:buNone/>
            </a:pPr>
            <a:r>
              <a:rPr lang="en-US" sz="1500" b="1" dirty="0">
                <a:solidFill>
                  <a:schemeClr val="tx1"/>
                </a:solidFill>
              </a:rPr>
              <a:t>CL3 in wall</a:t>
            </a:r>
            <a:endParaRPr lang="en-US" sz="1500" dirty="0"/>
          </a:p>
        </p:txBody>
      </p:sp>
      <p:sp>
        <p:nvSpPr>
          <p:cNvPr id="32" name="Text 24"/>
          <p:cNvSpPr txBox="1"/>
          <p:nvPr/>
        </p:nvSpPr>
        <p:spPr>
          <a:xfrm>
            <a:off x="4490618" y="4663440"/>
            <a:ext cx="3210458" cy="914400"/>
          </a:xfrm>
          <a:prstGeom prst="rect">
            <a:avLst/>
          </a:prstGeom>
          <a:noFill/>
          <a:ln/>
        </p:spPr>
        <p:txBody>
          <a:bodyPr wrap="square" lIns="0" tIns="0" rIns="0" bIns="0" rtlCol="0" anchor="t"/>
          <a:lstStyle/>
          <a:p>
            <a:pPr algn="l" indent="0" marL="0">
              <a:buNone/>
            </a:pPr>
            <a:r>
              <a:rPr lang="en-US" sz="1250" dirty="0">
                <a:solidFill>
                  <a:schemeClr val="tx1"/>
                </a:solidFill>
              </a:rPr>
              <a:t>Claim in wall only after the CL3 documentation is in hand.</a:t>
            </a:r>
            <a:endParaRPr lang="en-US" sz="1250" dirty="0"/>
          </a:p>
        </p:txBody>
      </p:sp>
      <p:sp>
        <p:nvSpPr>
          <p:cNvPr id="33" name="Text 25"/>
          <p:cNvSpPr txBox="1"/>
          <p:nvPr/>
        </p:nvSpPr>
        <p:spPr>
          <a:xfrm>
            <a:off x="4490618" y="5577840"/>
            <a:ext cx="3210458" cy="548640"/>
          </a:xfrm>
          <a:prstGeom prst="rect">
            <a:avLst/>
          </a:prstGeom>
          <a:noFill/>
          <a:ln/>
        </p:spPr>
        <p:txBody>
          <a:bodyPr wrap="square" lIns="0" tIns="0" rIns="0" bIns="0" rtlCol="0" anchor="t"/>
          <a:lstStyle/>
          <a:p>
            <a:pPr algn="l" indent="0" marL="0">
              <a:buNone/>
            </a:pPr>
            <a:r>
              <a:rPr lang="en-US" sz="1100" dirty="0">
                <a:solidFill>
                  <a:schemeClr val="accent5"/>
                </a:solidFill>
              </a:rPr>
              <a:t>[PLACEHOLDER: CL3 documentation from factory]</a:t>
            </a:r>
            <a:endParaRPr lang="en-US" sz="1100" dirty="0"/>
          </a:p>
        </p:txBody>
      </p:sp>
      <p:sp>
        <p:nvSpPr>
          <p:cNvPr id="34" name="card"/>
          <p:cNvSpPr/>
          <p:nvPr/>
        </p:nvSpPr>
        <p:spPr>
          <a:xfrm>
            <a:off x="8158277" y="3840480"/>
            <a:ext cx="3576218" cy="2377440"/>
          </a:xfrm>
          <a:prstGeom prst="roundRect">
            <a:avLst>
              <a:gd name="adj" fmla="val 4615"/>
            </a:avLst>
          </a:prstGeom>
          <a:solidFill>
            <a:schemeClr val="bg2"/>
          </a:solidFill>
          <a:ln w="12700">
            <a:solidFill>
              <a:srgbClr val="141C36"/>
            </a:solidFill>
            <a:prstDash val="solid"/>
          </a:ln>
        </p:spPr>
      </p:sp>
      <p:sp>
        <p:nvSpPr>
          <p:cNvPr id="35" name="Shape 27"/>
          <p:cNvSpPr/>
          <p:nvPr/>
        </p:nvSpPr>
        <p:spPr>
          <a:xfrm>
            <a:off x="8341157" y="4005072"/>
            <a:ext cx="502920" cy="502920"/>
          </a:xfrm>
          <a:prstGeom prst="ellipse">
            <a:avLst/>
          </a:prstGeom>
          <a:solidFill>
            <a:srgbClr val="1B2447"/>
          </a:solidFill>
          <a:ln w="12700">
            <a:solidFill>
              <a:srgbClr val="1B2447"/>
            </a:solidFill>
            <a:prstDash val="solid"/>
          </a:ln>
        </p:spPr>
      </p:sp>
      <p:pic>
        <p:nvPicPr>
          <p:cNvPr id="36" name="Image 5" descr="preencoded.png">    </p:cNvPr>
          <p:cNvPicPr>
            <a:picLocks noChangeAspect="1"/>
          </p:cNvPicPr>
          <p:nvPr/>
        </p:nvPicPr>
        <p:blipFill>
          <a:blip r:embed="rId6"/>
          <a:stretch>
            <a:fillRect/>
          </a:stretch>
        </p:blipFill>
        <p:spPr>
          <a:xfrm>
            <a:off x="8451799" y="4115714"/>
            <a:ext cx="281635" cy="281635"/>
          </a:xfrm>
          <a:prstGeom prst="rect">
            <a:avLst/>
          </a:prstGeom>
        </p:spPr>
      </p:pic>
      <p:sp>
        <p:nvSpPr>
          <p:cNvPr id="37" name="Text 28"/>
          <p:cNvSpPr txBox="1"/>
          <p:nvPr/>
        </p:nvSpPr>
        <p:spPr>
          <a:xfrm>
            <a:off x="8981237" y="4005072"/>
            <a:ext cx="2570378" cy="502920"/>
          </a:xfrm>
          <a:prstGeom prst="rect">
            <a:avLst/>
          </a:prstGeom>
          <a:noFill/>
          <a:ln/>
        </p:spPr>
        <p:txBody>
          <a:bodyPr wrap="square" lIns="0" tIns="0" rIns="0" bIns="0" rtlCol="0" anchor="ctr"/>
          <a:lstStyle/>
          <a:p>
            <a:pPr algn="l" indent="0" marL="0">
              <a:buNone/>
            </a:pPr>
            <a:r>
              <a:rPr lang="en-US" sz="1500" b="1" dirty="0">
                <a:solidFill>
                  <a:schemeClr val="tx1"/>
                </a:solidFill>
              </a:rPr>
              <a:t>Product liability insurance</a:t>
            </a:r>
            <a:endParaRPr lang="en-US" sz="1500" dirty="0"/>
          </a:p>
        </p:txBody>
      </p:sp>
      <p:sp>
        <p:nvSpPr>
          <p:cNvPr id="38" name="Text 29"/>
          <p:cNvSpPr txBox="1"/>
          <p:nvPr/>
        </p:nvSpPr>
        <p:spPr>
          <a:xfrm>
            <a:off x="8341157" y="4663440"/>
            <a:ext cx="3210458" cy="914400"/>
          </a:xfrm>
          <a:prstGeom prst="rect">
            <a:avLst/>
          </a:prstGeom>
          <a:noFill/>
          <a:ln/>
        </p:spPr>
        <p:txBody>
          <a:bodyPr wrap="square" lIns="0" tIns="0" rIns="0" bIns="0" rtlCol="0" anchor="t"/>
          <a:lstStyle/>
          <a:p>
            <a:pPr algn="l" indent="0" marL="0">
              <a:buNone/>
            </a:pPr>
            <a:r>
              <a:rPr lang="en-US" sz="1250" dirty="0">
                <a:solidFill>
                  <a:schemeClr val="tx1"/>
                </a:solidFill>
              </a:rPr>
              <a:t>$1M cover is required once sales exceed $10K in a month (Medium case: Month 2).</a:t>
            </a:r>
            <a:endParaRPr lang="en-US" sz="1250" dirty="0"/>
          </a:p>
        </p:txBody>
      </p:sp>
      <p:sp>
        <p:nvSpPr>
          <p:cNvPr id="39" name="Text 30"/>
          <p:cNvSpPr txBox="1"/>
          <p:nvPr/>
        </p:nvSpPr>
        <p:spPr>
          <a:xfrm>
            <a:off x="8341157" y="5577840"/>
            <a:ext cx="3210458" cy="548640"/>
          </a:xfrm>
          <a:prstGeom prst="rect">
            <a:avLst/>
          </a:prstGeom>
          <a:noFill/>
          <a:ln/>
        </p:spPr>
        <p:txBody>
          <a:bodyPr wrap="square" lIns="0" tIns="0" rIns="0" bIns="0" rtlCol="0" anchor="t"/>
          <a:lstStyle/>
          <a:p>
            <a:pPr algn="l" indent="0" marL="0">
              <a:buNone/>
            </a:pPr>
            <a:r>
              <a:rPr lang="en-US" sz="1100" dirty="0">
                <a:solidFill>
                  <a:schemeClr val="accent5"/>
                </a:solidFill>
              </a:rPr>
              <a:t>Quote in week 3</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Tariff stack and the duty ruling</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6720840" cy="914400"/>
        </p:xfrm>
        <a:graphic>
          <a:graphicData uri="http://schemas.openxmlformats.org/drawingml/2006/table">
            <a:tbl>
              <a:tblPr/>
              <a:tblGrid>
                <a:gridCol w="1325880"/>
                <a:gridCol w="1600200"/>
                <a:gridCol w="594360"/>
                <a:gridCol w="914400"/>
                <a:gridCol w="960120"/>
                <a:gridCol w="685800"/>
                <a:gridCol w="640080"/>
              </a:tblGrid>
              <a:tr h="384048">
                <a:tc>
                  <a:txBody>
                    <a:bodyPr/>
                    <a:lstStyle/>
                    <a:p>
                      <a:pPr algn="l" indent="0" marL="0">
                        <a:buNone/>
                      </a:pPr>
                      <a:r>
                        <a:rPr lang="en-US" sz="1050" b="1" dirty="0">
                          <a:solidFill>
                            <a:srgbClr val="2DE2FF"/>
                          </a:solidFill>
                          <a:latin typeface="Calibri" pitchFamily="34" charset="0"/>
                          <a:ea typeface="Calibri" pitchFamily="34" charset="-122"/>
                          <a:cs typeface="Calibri" pitchFamily="34" charset="-120"/>
                        </a:rPr>
                        <a:t>Scenario</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050" b="1" dirty="0">
                          <a:solidFill>
                            <a:srgbClr val="2DE2FF"/>
                          </a:solidFill>
                          <a:latin typeface="Calibri" pitchFamily="34" charset="0"/>
                          <a:ea typeface="Calibri" pitchFamily="34" charset="-122"/>
                          <a:cs typeface="Calibri" pitchFamily="34" charset="-120"/>
                        </a:rPr>
                        <a:t>HTS</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MFN</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Section 301 list</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Section 301 forced labor</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Pending action</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384048">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Copper (default)</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8544.42.90</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2.6%</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12.5%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40.1%</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84048">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Fiber</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8544.70.00</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12.5%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b="1" dirty="0">
                          <a:solidFill>
                            <a:srgbClr val="3DDC97"/>
                          </a:solidFill>
                          <a:latin typeface="Calibri" pitchFamily="34" charset="0"/>
                          <a:ea typeface="Calibri" pitchFamily="34" charset="-122"/>
                          <a:cs typeface="Calibri" pitchFamily="34" charset="-120"/>
                        </a:rPr>
                        <a:t>12.5%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84048">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Stress</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8544.42.90 plus second Section 301 action</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2.6%</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12.5%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b="1" dirty="0">
                          <a:solidFill>
                            <a:srgbClr val="FFB547"/>
                          </a:solidFill>
                          <a:latin typeface="Calibri" pitchFamily="34" charset="0"/>
                          <a:ea typeface="Calibri" pitchFamily="34" charset="-122"/>
                          <a:cs typeface="Calibri" pitchFamily="34" charset="-120"/>
                        </a:rPr>
                        <a:t>50.1%</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84048">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Fiber if also on List 3</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8544.70.00</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12.5%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b="1" dirty="0">
                          <a:solidFill>
                            <a:srgbClr val="9AA5C4"/>
                          </a:solidFill>
                          <a:latin typeface="Calibri" pitchFamily="34" charset="0"/>
                          <a:ea typeface="Calibri" pitchFamily="34" charset="-122"/>
                          <a:cs typeface="Calibri" pitchFamily="34" charset="-120"/>
                        </a:rPr>
                        <a:t>37.5%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bl>
          </a:graphicData>
        </a:graphic>
      </p:graphicFrame>
      <p:sp>
        <p:nvSpPr>
          <p:cNvPr id="5" name="card"/>
          <p:cNvSpPr/>
          <p:nvPr/>
        </p:nvSpPr>
        <p:spPr>
          <a:xfrm>
            <a:off x="457200" y="3429000"/>
            <a:ext cx="6720840" cy="2788920"/>
          </a:xfrm>
          <a:prstGeom prst="roundRect">
            <a:avLst>
              <a:gd name="adj" fmla="val 3934"/>
            </a:avLst>
          </a:prstGeom>
          <a:solidFill>
            <a:schemeClr val="bg2"/>
          </a:solidFill>
          <a:ln w="12700">
            <a:solidFill>
              <a:srgbClr val="141C36"/>
            </a:solidFill>
            <a:prstDash val="solid"/>
          </a:ln>
        </p:spPr>
      </p:sp>
      <p:sp>
        <p:nvSpPr>
          <p:cNvPr id="6" name="Text 2"/>
          <p:cNvSpPr txBox="1"/>
          <p:nvPr/>
        </p:nvSpPr>
        <p:spPr>
          <a:xfrm>
            <a:off x="685800" y="3520440"/>
            <a:ext cx="6217920" cy="365760"/>
          </a:xfrm>
          <a:prstGeom prst="rect">
            <a:avLst/>
          </a:prstGeom>
          <a:noFill/>
          <a:ln/>
        </p:spPr>
        <p:txBody>
          <a:bodyPr wrap="square" lIns="0" tIns="0" rIns="0" bIns="0" rtlCol="0" anchor="t"/>
          <a:lstStyle/>
          <a:p>
            <a:pPr algn="l" indent="0" marL="0">
              <a:buNone/>
            </a:pPr>
            <a:r>
              <a:rPr lang="en-US" sz="1500" b="1" dirty="0">
                <a:solidFill>
                  <a:schemeClr val="accent1"/>
                </a:solidFill>
              </a:rPr>
              <a:t>What changed in 2026</a:t>
            </a:r>
            <a:endParaRPr lang="en-US" sz="1500" dirty="0"/>
          </a:p>
        </p:txBody>
      </p:sp>
      <p:sp>
        <p:nvSpPr>
          <p:cNvPr id="7" name="Text 3"/>
          <p:cNvSpPr txBox="1"/>
          <p:nvPr/>
        </p:nvSpPr>
        <p:spPr>
          <a:xfrm>
            <a:off x="685800" y="3931920"/>
            <a:ext cx="6309360" cy="2240280"/>
          </a:xfrm>
          <a:prstGeom prst="rect">
            <a:avLst/>
          </a:prstGeom>
          <a:noFill/>
          <a:ln/>
        </p:spPr>
        <p:txBody>
          <a:bodyPr wrap="square" lIns="0" tIns="0" rIns="0" bIns="0" rtlCol="0" anchor="t"/>
          <a:lstStyle/>
          <a:p>
            <a:pPr algn="l" marL="127000" indent="-127000">
              <a:spcAft>
                <a:spcPts val="300"/>
              </a:spcAft>
              <a:buSzPct val="100000"/>
              <a:buChar char="•"/>
            </a:pPr>
            <a:r>
              <a:rPr lang="en-US" sz="1150" dirty="0">
                <a:solidFill>
                  <a:schemeClr val="tx1"/>
                </a:solidFill>
              </a:rPr>
              <a:t>The Supreme Court struck down the IEEPA tariffs on February 20, 2026.</a:t>
            </a:r>
            <a:endParaRPr lang="en-US" sz="1150" dirty="0"/>
          </a:p>
          <a:p>
            <a:pPr algn="l" marL="127000" indent="-127000">
              <a:spcAft>
                <a:spcPts val="300"/>
              </a:spcAft>
              <a:buSzPct val="100000"/>
              <a:buChar char="•"/>
            </a:pPr>
            <a:r>
              <a:rPr lang="en-US" sz="1150" dirty="0">
                <a:solidFill>
                  <a:schemeClr val="tx1"/>
                </a:solidFill>
              </a:rPr>
              <a:t>The 10% Section 122 surcharge ran February 24 to July 24, 2026 and expired.</a:t>
            </a:r>
            <a:endParaRPr lang="en-US" sz="1150" dirty="0"/>
          </a:p>
          <a:p>
            <a:pPr algn="l" marL="127000" indent="-127000">
              <a:spcAft>
                <a:spcPts val="300"/>
              </a:spcAft>
              <a:buSzPct val="100000"/>
              <a:buChar char="•"/>
            </a:pPr>
            <a:r>
              <a:rPr lang="en-US" sz="1150" dirty="0">
                <a:solidFill>
                  <a:schemeClr val="tx1"/>
                </a:solidFill>
              </a:rPr>
              <a:t>A Section 301 forced labor action added 12.5% on all China origin goods in late July 2026. It applies under either classification.</a:t>
            </a:r>
            <a:endParaRPr lang="en-US" sz="1150" dirty="0"/>
          </a:p>
          <a:p>
            <a:pPr algn="l" marL="127000" indent="-127000">
              <a:spcAft>
                <a:spcPts val="300"/>
              </a:spcAft>
              <a:buSzPct val="100000"/>
              <a:buChar char="•"/>
            </a:pPr>
            <a:r>
              <a:rPr lang="en-US" sz="1150" dirty="0">
                <a:solidFill>
                  <a:schemeClr val="tx1"/>
                </a:solidFill>
              </a:rPr>
              <a:t>A second Section 301 investigation opened in March 2026 is pending: the stress case adds 10 points.</a:t>
            </a:r>
            <a:endParaRPr lang="en-US" sz="1150" dirty="0"/>
          </a:p>
          <a:p>
            <a:pPr algn="l" marL="127000" indent="-127000">
              <a:spcAft>
                <a:spcPts val="300"/>
              </a:spcAft>
              <a:buSzPct val="100000"/>
              <a:buChar char="•"/>
            </a:pPr>
            <a:r>
              <a:rPr lang="en-US" sz="1150" dirty="0">
                <a:solidFill>
                  <a:schemeClr val="tx1"/>
                </a:solidFill>
              </a:rPr>
              <a:t>De minimis is gone. Every shipment needs formal entry through the broker. No parcel dropship model.</a:t>
            </a:r>
            <a:endParaRPr lang="en-US" sz="1150" dirty="0"/>
          </a:p>
        </p:txBody>
      </p:sp>
      <p:sp>
        <p:nvSpPr>
          <p:cNvPr id="8" name="Text 4"/>
          <p:cNvSpPr txBox="1"/>
          <p:nvPr/>
        </p:nvSpPr>
        <p:spPr>
          <a:xfrm>
            <a:off x="7406640" y="1188720"/>
            <a:ext cx="4325112" cy="320040"/>
          </a:xfrm>
          <a:prstGeom prst="rect">
            <a:avLst/>
          </a:prstGeom>
          <a:noFill/>
          <a:ln/>
        </p:spPr>
        <p:txBody>
          <a:bodyPr wrap="square" lIns="0" tIns="0" rIns="0" bIns="0" rtlCol="0" anchor="t"/>
          <a:lstStyle/>
          <a:p>
            <a:pPr algn="l" indent="0" marL="0">
              <a:buNone/>
            </a:pPr>
            <a:r>
              <a:rPr lang="en-US" sz="1300" b="1" dirty="0">
                <a:solidFill>
                  <a:schemeClr val="tx1"/>
                </a:solidFill>
              </a:rPr>
              <a:t>Net per hero unit by duty scenario</a:t>
            </a:r>
            <a:endParaRPr lang="en-US" sz="1300" dirty="0"/>
          </a:p>
        </p:txBody>
      </p:sp>
      <p:graphicFrame>
        <p:nvGraphicFramePr>
          <p:cNvPr id="9" name="Chart 0" descr=""/>
          <p:cNvGraphicFramePr/>
          <p:nvPr/>
        </p:nvGraphicFramePr>
        <p:xfrm>
          <a:off x="7406640" y="1508760"/>
          <a:ext cx="4325112" cy="3154680"/>
        </p:xfrm>
        <a:graphic xmlns:a="http://schemas.openxmlformats.org/drawingml/2006/main">
          <a:graphicData uri="http://schemas.openxmlformats.org/drawingml/2006/chart">
            <c:chart xmlns:c="http://schemas.openxmlformats.org/drawingml/2006/chart" r:id="rId1"/>
          </a:graphicData>
        </a:graphic>
      </p:graphicFrame>
      <p:sp>
        <p:nvSpPr>
          <p:cNvPr id="10" name="card"/>
          <p:cNvSpPr/>
          <p:nvPr/>
        </p:nvSpPr>
        <p:spPr>
          <a:xfrm>
            <a:off x="7406640" y="4846320"/>
            <a:ext cx="4325112" cy="1371600"/>
          </a:xfrm>
          <a:prstGeom prst="roundRect">
            <a:avLst>
              <a:gd name="adj" fmla="val 8000"/>
            </a:avLst>
          </a:prstGeom>
          <a:solidFill>
            <a:schemeClr val="bg2"/>
          </a:solidFill>
          <a:ln w="12700">
            <a:solidFill>
              <a:srgbClr val="141C36"/>
            </a:solidFill>
            <a:prstDash val="solid"/>
          </a:ln>
        </p:spPr>
      </p:sp>
      <p:sp>
        <p:nvSpPr>
          <p:cNvPr id="11" name="Text 6"/>
          <p:cNvSpPr txBox="1"/>
          <p:nvPr/>
        </p:nvSpPr>
        <p:spPr>
          <a:xfrm>
            <a:off x="7589520" y="4919472"/>
            <a:ext cx="4023360" cy="320040"/>
          </a:xfrm>
          <a:prstGeom prst="rect">
            <a:avLst/>
          </a:prstGeom>
          <a:noFill/>
          <a:ln/>
        </p:spPr>
        <p:txBody>
          <a:bodyPr wrap="square" lIns="0" tIns="0" rIns="0" bIns="0" rtlCol="0" anchor="t"/>
          <a:lstStyle/>
          <a:p>
            <a:pPr algn="l" indent="0" marL="0">
              <a:buNone/>
            </a:pPr>
            <a:r>
              <a:rPr lang="en-US" sz="1300" b="1" dirty="0">
                <a:solidFill>
                  <a:schemeClr val="accent4"/>
                </a:solidFill>
              </a:rPr>
              <a:t>Effect in the Medium case</a:t>
            </a:r>
            <a:endParaRPr lang="en-US" sz="1300" dirty="0"/>
          </a:p>
        </p:txBody>
      </p:sp>
      <p:sp>
        <p:nvSpPr>
          <p:cNvPr id="12" name="Text 7"/>
          <p:cNvSpPr txBox="1"/>
          <p:nvPr/>
        </p:nvSpPr>
        <p:spPr>
          <a:xfrm>
            <a:off x="7589520" y="5230368"/>
            <a:ext cx="4023360" cy="960120"/>
          </a:xfrm>
          <a:prstGeom prst="rect">
            <a:avLst/>
          </a:prstGeom>
          <a:noFill/>
          <a:ln/>
        </p:spPr>
        <p:txBody>
          <a:bodyPr wrap="square" lIns="0" tIns="0" rIns="0" bIns="0" rtlCol="0" anchor="t"/>
          <a:lstStyle/>
          <a:p>
            <a:pPr algn="l" indent="0" marL="0">
              <a:buNone/>
            </a:pPr>
            <a:r>
              <a:rPr lang="en-US" sz="1150" dirty="0">
                <a:solidFill>
                  <a:schemeClr val="tx1"/>
                </a:solidFill>
              </a:rPr>
              <a:t>Fiber ruling: landed COGS 38% to 33.5%, hero net per unit $8.00 to $10.03, 18 month net $153K to $206K, breakeven Month 7. Stress: hero net $7.26, 18 month net $134K.</a:t>
            </a:r>
            <a:endParaRPr lang="en-US" sz="11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685800" y="3749040"/>
            <a:ext cx="9144000" cy="1005840"/>
          </a:xfrm>
          <a:prstGeom prst="rect">
            <a:avLst/>
          </a:prstGeom>
          <a:noFill/>
          <a:ln/>
        </p:spPr>
        <p:txBody>
          <a:bodyPr wrap="square" lIns="0" tIns="0" rIns="0" bIns="0" rtlCol="0" anchor="b"/>
          <a:lstStyle/>
          <a:p>
            <a:pPr algn="l" indent="0" marL="0">
              <a:buNone/>
            </a:pPr>
            <a:r>
              <a:rPr lang="en-US" sz="3600" b="1" dirty="0">
                <a:solidFill>
                  <a:srgbClr val="F3F6FF"/>
                </a:solidFill>
              </a:rPr>
              <a:t>Launch</a:t>
            </a:r>
            <a:endParaRPr lang="en-US" sz="3600" dirty="0"/>
          </a:p>
        </p:txBody>
      </p:sp>
      <p:sp>
        <p:nvSpPr>
          <p:cNvPr id="3" name="Text 0"/>
          <p:cNvSpPr/>
          <p:nvPr>
            <p:ph idx="101" type="body" hasCustomPrompt="1"/>
          </p:nvPr>
        </p:nvSpPr>
        <p:spPr>
          <a:xfrm>
            <a:off x="685800" y="4800600"/>
            <a:ext cx="9144000" cy="457200"/>
          </a:xfrm>
          <a:prstGeom prst="rect">
            <a:avLst/>
          </a:prstGeom>
          <a:noFill/>
          <a:ln/>
        </p:spPr>
        <p:txBody>
          <a:bodyPr wrap="square" lIns="0" tIns="0" rIns="0" bIns="0" rtlCol="0" anchor="t"/>
          <a:lstStyle/>
          <a:p>
            <a:pPr indent="0" marL="0">
              <a:buNone/>
            </a:pPr>
            <a:r>
              <a:rPr lang="en-US" sz="1600" dirty="0">
                <a:solidFill>
                  <a:srgbClr val="2DE2FF"/>
                </a:solidFill>
              </a:rPr>
              <a:t>Section 4 of 5</a:t>
            </a:r>
            <a:endParaRPr lang="en-US" sz="16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Critical path to the Day 90 gate</a:t>
            </a:r>
            <a:endParaRPr lang="en-US" sz="3200" dirty="0"/>
          </a:p>
        </p:txBody>
      </p:sp>
      <p:sp>
        <p:nvSpPr>
          <p:cNvPr id="4" name="Shape 1"/>
          <p:cNvSpPr/>
          <p:nvPr/>
        </p:nvSpPr>
        <p:spPr>
          <a:xfrm>
            <a:off x="457200" y="1097280"/>
            <a:ext cx="11277295" cy="3634950"/>
          </a:xfrm>
          <a:prstGeom prst="roundRect">
            <a:avLst>
              <a:gd name="adj" fmla="val 2012"/>
            </a:avLst>
          </a:prstGeom>
          <a:solidFill>
            <a:srgbClr val="FFFFFF"/>
          </a:solidFill>
          <a:ln w="12700">
            <a:solidFill>
              <a:srgbClr val="FFFFFF"/>
            </a:solidFill>
            <a:prstDash val="solid"/>
          </a:ln>
        </p:spPr>
      </p:sp>
      <p:pic>
        <p:nvPicPr>
          <p:cNvPr id="5" name="Image 0" descr="/home/user/lakehouse-tracker/BRAND_US_Launch/build/assets/deck_flow/01_launch_critical_path_deck.png">    </p:cNvPr>
          <p:cNvPicPr>
            <a:picLocks noChangeAspect="1"/>
          </p:cNvPicPr>
          <p:nvPr/>
        </p:nvPicPr>
        <p:blipFill>
          <a:blip r:embed="rId1"/>
          <a:stretch>
            <a:fillRect/>
          </a:stretch>
        </p:blipFill>
        <p:spPr>
          <a:xfrm>
            <a:off x="548640" y="1188720"/>
            <a:ext cx="11094415" cy="3452070"/>
          </a:xfrm>
          <a:prstGeom prst="rect">
            <a:avLst/>
          </a:prstGeom>
        </p:spPr>
      </p:pic>
      <p:sp>
        <p:nvSpPr>
          <p:cNvPr id="6" name="Text 2"/>
          <p:cNvSpPr txBox="1"/>
          <p:nvPr/>
        </p:nvSpPr>
        <p:spPr>
          <a:xfrm>
            <a:off x="457200" y="4777950"/>
            <a:ext cx="11277295" cy="274320"/>
          </a:xfrm>
          <a:prstGeom prst="rect">
            <a:avLst/>
          </a:prstGeom>
          <a:noFill/>
          <a:ln/>
        </p:spPr>
        <p:txBody>
          <a:bodyPr wrap="square" lIns="0" tIns="0" rIns="0" bIns="0" rtlCol="0" anchor="t"/>
          <a:lstStyle/>
          <a:p>
            <a:pPr algn="l" indent="0" marL="0">
              <a:buNone/>
            </a:pPr>
            <a:r>
              <a:rPr lang="en-US" sz="1100" dirty="0">
                <a:solidFill>
                  <a:schemeClr val="tx2"/>
                </a:solidFill>
              </a:rPr>
              <a:t>Flowchart 01 with owner and weeks on every node. Full size version: output/04_Flowcharts/01_launch_critical_path.png</a:t>
            </a:r>
            <a:endParaRPr lang="en-US" sz="1100" dirty="0"/>
          </a:p>
        </p:txBody>
      </p:sp>
      <p:sp>
        <p:nvSpPr>
          <p:cNvPr id="7" name="Text 3"/>
          <p:cNvSpPr txBox="1"/>
          <p:nvPr/>
        </p:nvSpPr>
        <p:spPr>
          <a:xfrm>
            <a:off x="457200" y="5097990"/>
            <a:ext cx="11277295" cy="274320"/>
          </a:xfrm>
          <a:prstGeom prst="rect">
            <a:avLst/>
          </a:prstGeom>
          <a:noFill/>
          <a:ln/>
        </p:spPr>
        <p:txBody>
          <a:bodyPr wrap="square" lIns="0" tIns="0" rIns="0" bIns="0" rtlCol="0" anchor="t"/>
          <a:lstStyle/>
          <a:p>
            <a:pPr algn="l" indent="0" marL="0">
              <a:buNone/>
            </a:pPr>
            <a:r>
              <a:rPr lang="en-US" sz="1250" b="1" dirty="0">
                <a:solidFill>
                  <a:schemeClr val="accent1"/>
                </a:solidFill>
              </a:rPr>
              <a:t>The three items that gate everything else</a:t>
            </a:r>
            <a:endParaRPr lang="en-US" sz="1250" dirty="0"/>
          </a:p>
        </p:txBody>
      </p:sp>
      <p:sp>
        <p:nvSpPr>
          <p:cNvPr id="8" name="card"/>
          <p:cNvSpPr/>
          <p:nvPr/>
        </p:nvSpPr>
        <p:spPr>
          <a:xfrm>
            <a:off x="457200" y="5418030"/>
            <a:ext cx="3576218" cy="891330"/>
          </a:xfrm>
          <a:prstGeom prst="roundRect">
            <a:avLst>
              <a:gd name="adj" fmla="val 12311"/>
            </a:avLst>
          </a:prstGeom>
          <a:solidFill>
            <a:srgbClr val="10172D"/>
          </a:solidFill>
          <a:ln w="12700">
            <a:solidFill>
              <a:srgbClr val="10172D"/>
            </a:solidFill>
            <a:prstDash val="solid"/>
          </a:ln>
        </p:spPr>
      </p:sp>
      <p:sp>
        <p:nvSpPr>
          <p:cNvPr id="9" name="Text 5"/>
          <p:cNvSpPr txBox="1"/>
          <p:nvPr/>
        </p:nvSpPr>
        <p:spPr>
          <a:xfrm>
            <a:off x="640080" y="5482038"/>
            <a:ext cx="457200" cy="548640"/>
          </a:xfrm>
          <a:prstGeom prst="rect">
            <a:avLst/>
          </a:prstGeom>
          <a:noFill/>
          <a:ln/>
        </p:spPr>
        <p:txBody>
          <a:bodyPr wrap="square" lIns="0" tIns="0" rIns="0" bIns="0" rtlCol="0" anchor="t"/>
          <a:lstStyle/>
          <a:p>
            <a:pPr algn="l" indent="0" marL="0">
              <a:buNone/>
            </a:pPr>
            <a:r>
              <a:rPr lang="en-US" sz="2400" b="1" dirty="0">
                <a:solidFill>
                  <a:schemeClr val="accent1"/>
                </a:solidFill>
              </a:rPr>
              <a:t>1</a:t>
            </a:r>
            <a:endParaRPr lang="en-US" sz="2400" dirty="0"/>
          </a:p>
        </p:txBody>
      </p:sp>
      <p:sp>
        <p:nvSpPr>
          <p:cNvPr id="10" name="Text 6"/>
          <p:cNvSpPr txBox="1"/>
          <p:nvPr/>
        </p:nvSpPr>
        <p:spPr>
          <a:xfrm>
            <a:off x="1097280" y="5509470"/>
            <a:ext cx="2753258" cy="708450"/>
          </a:xfrm>
          <a:prstGeom prst="rect">
            <a:avLst/>
          </a:prstGeom>
          <a:noFill/>
          <a:ln/>
        </p:spPr>
        <p:txBody>
          <a:bodyPr wrap="square" lIns="0" tIns="0" rIns="0" bIns="0" rtlCol="0" anchor="t"/>
          <a:lstStyle/>
          <a:p>
            <a:pPr algn="l" indent="0" marL="0">
              <a:buNone/>
            </a:pPr>
            <a:r>
              <a:rPr lang="en-US" sz="1150" dirty="0">
                <a:solidFill>
                  <a:schemeClr val="tx1"/>
                </a:solidFill>
              </a:rPr>
              <a:t>Customs broker and binding ruling request in week 1: the ruling answer takes 30 to 90 days and sets the duty rate for ocean lots.</a:t>
            </a:r>
            <a:endParaRPr lang="en-US" sz="1150" dirty="0"/>
          </a:p>
        </p:txBody>
      </p:sp>
      <p:sp>
        <p:nvSpPr>
          <p:cNvPr id="11" name="card"/>
          <p:cNvSpPr/>
          <p:nvPr/>
        </p:nvSpPr>
        <p:spPr>
          <a:xfrm>
            <a:off x="4307738" y="5418030"/>
            <a:ext cx="3576218" cy="891330"/>
          </a:xfrm>
          <a:prstGeom prst="roundRect">
            <a:avLst>
              <a:gd name="adj" fmla="val 12311"/>
            </a:avLst>
          </a:prstGeom>
          <a:solidFill>
            <a:srgbClr val="10172D"/>
          </a:solidFill>
          <a:ln w="12700">
            <a:solidFill>
              <a:srgbClr val="10172D"/>
            </a:solidFill>
            <a:prstDash val="solid"/>
          </a:ln>
        </p:spPr>
      </p:sp>
      <p:sp>
        <p:nvSpPr>
          <p:cNvPr id="12" name="Text 8"/>
          <p:cNvSpPr txBox="1"/>
          <p:nvPr/>
        </p:nvSpPr>
        <p:spPr>
          <a:xfrm>
            <a:off x="4490618" y="5482038"/>
            <a:ext cx="457200" cy="548640"/>
          </a:xfrm>
          <a:prstGeom prst="rect">
            <a:avLst/>
          </a:prstGeom>
          <a:noFill/>
          <a:ln/>
        </p:spPr>
        <p:txBody>
          <a:bodyPr wrap="square" lIns="0" tIns="0" rIns="0" bIns="0" rtlCol="0" anchor="t"/>
          <a:lstStyle/>
          <a:p>
            <a:pPr algn="l" indent="0" marL="0">
              <a:buNone/>
            </a:pPr>
            <a:r>
              <a:rPr lang="en-US" sz="2400" b="1" dirty="0">
                <a:solidFill>
                  <a:schemeClr val="accent1"/>
                </a:solidFill>
              </a:rPr>
              <a:t>2</a:t>
            </a:r>
            <a:endParaRPr lang="en-US" sz="2400" dirty="0"/>
          </a:p>
        </p:txBody>
      </p:sp>
      <p:sp>
        <p:nvSpPr>
          <p:cNvPr id="13" name="Text 9"/>
          <p:cNvSpPr txBox="1"/>
          <p:nvPr/>
        </p:nvSpPr>
        <p:spPr>
          <a:xfrm>
            <a:off x="4947818" y="5509470"/>
            <a:ext cx="2753258" cy="708450"/>
          </a:xfrm>
          <a:prstGeom prst="rect">
            <a:avLst/>
          </a:prstGeom>
          <a:noFill/>
          <a:ln/>
        </p:spPr>
        <p:txBody>
          <a:bodyPr wrap="square" lIns="0" tIns="0" rIns="0" bIns="0" rtlCol="0" anchor="t"/>
          <a:lstStyle/>
          <a:p>
            <a:pPr algn="l" indent="0" marL="0">
              <a:buNone/>
            </a:pPr>
            <a:r>
              <a:rPr lang="en-US" sz="1150" dirty="0">
                <a:solidFill>
                  <a:schemeClr val="tx1"/>
                </a:solidFill>
              </a:rPr>
              <a:t>Korean ODI report at the foreign exchange bank in week 2, before any capital moves to the LLC bank account.</a:t>
            </a:r>
            <a:endParaRPr lang="en-US" sz="1150" dirty="0"/>
          </a:p>
        </p:txBody>
      </p:sp>
      <p:sp>
        <p:nvSpPr>
          <p:cNvPr id="14" name="card"/>
          <p:cNvSpPr/>
          <p:nvPr/>
        </p:nvSpPr>
        <p:spPr>
          <a:xfrm>
            <a:off x="8158277" y="5418030"/>
            <a:ext cx="3576218" cy="891330"/>
          </a:xfrm>
          <a:prstGeom prst="roundRect">
            <a:avLst>
              <a:gd name="adj" fmla="val 12311"/>
            </a:avLst>
          </a:prstGeom>
          <a:solidFill>
            <a:srgbClr val="10172D"/>
          </a:solidFill>
          <a:ln w="12700">
            <a:solidFill>
              <a:srgbClr val="10172D"/>
            </a:solidFill>
            <a:prstDash val="solid"/>
          </a:ln>
        </p:spPr>
      </p:sp>
      <p:sp>
        <p:nvSpPr>
          <p:cNvPr id="15" name="Text 11"/>
          <p:cNvSpPr txBox="1"/>
          <p:nvPr/>
        </p:nvSpPr>
        <p:spPr>
          <a:xfrm>
            <a:off x="8341157" y="5482038"/>
            <a:ext cx="457200" cy="548640"/>
          </a:xfrm>
          <a:prstGeom prst="rect">
            <a:avLst/>
          </a:prstGeom>
          <a:noFill/>
          <a:ln/>
        </p:spPr>
        <p:txBody>
          <a:bodyPr wrap="square" lIns="0" tIns="0" rIns="0" bIns="0" rtlCol="0" anchor="t"/>
          <a:lstStyle/>
          <a:p>
            <a:pPr algn="l" indent="0" marL="0">
              <a:buNone/>
            </a:pPr>
            <a:r>
              <a:rPr lang="en-US" sz="2400" b="1" dirty="0">
                <a:solidFill>
                  <a:schemeClr val="accent1"/>
                </a:solidFill>
              </a:rPr>
              <a:t>3</a:t>
            </a:r>
            <a:endParaRPr lang="en-US" sz="2400" dirty="0"/>
          </a:p>
        </p:txBody>
      </p:sp>
      <p:sp>
        <p:nvSpPr>
          <p:cNvPr id="16" name="Text 12"/>
          <p:cNvSpPr txBox="1"/>
          <p:nvPr/>
        </p:nvSpPr>
        <p:spPr>
          <a:xfrm>
            <a:off x="8798357" y="5509470"/>
            <a:ext cx="2753258" cy="708450"/>
          </a:xfrm>
          <a:prstGeom prst="rect">
            <a:avLst/>
          </a:prstGeom>
          <a:noFill/>
          <a:ln/>
        </p:spPr>
        <p:txBody>
          <a:bodyPr wrap="square" lIns="0" tIns="0" rIns="0" bIns="0" rtlCol="0" anchor="t"/>
          <a:lstStyle/>
          <a:p>
            <a:pPr algn="l" indent="0" marL="0">
              <a:buNone/>
            </a:pPr>
            <a:r>
              <a:rPr lang="en-US" sz="1150" dirty="0">
                <a:solidFill>
                  <a:schemeClr val="tx1"/>
                </a:solidFill>
              </a:rPr>
              <a:t>Amazon account and Brand Registry in weeks 3 to 4: Brand Registry gates A+ content, Brand Store, video ads and hijacker protection.</a:t>
            </a:r>
            <a:endParaRPr lang="en-US" sz="11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Day 90 gate and kill criteria</a:t>
            </a:r>
            <a:endParaRPr lang="en-US" sz="3200" dirty="0"/>
          </a:p>
        </p:txBody>
      </p:sp>
      <p:sp>
        <p:nvSpPr>
          <p:cNvPr id="4" name="Text 1"/>
          <p:cNvSpPr txBox="1"/>
          <p:nvPr/>
        </p:nvSpPr>
        <p:spPr>
          <a:xfrm>
            <a:off x="457200" y="1097280"/>
            <a:ext cx="7132320" cy="274320"/>
          </a:xfrm>
          <a:prstGeom prst="rect">
            <a:avLst/>
          </a:prstGeom>
          <a:noFill/>
          <a:ln/>
        </p:spPr>
        <p:txBody>
          <a:bodyPr wrap="square" lIns="0" tIns="0" rIns="0" bIns="0" rtlCol="0" anchor="t"/>
          <a:lstStyle/>
          <a:p>
            <a:pPr algn="l" indent="0" marL="0">
              <a:buNone/>
            </a:pPr>
            <a:r>
              <a:rPr lang="en-US" sz="1300" b="1" dirty="0">
                <a:solidFill>
                  <a:schemeClr val="accent1"/>
                </a:solidFill>
              </a:rPr>
              <a:t>Day 90 gate (end of Month 3)</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7132320" cy="914400"/>
        </p:xfrm>
        <a:graphic>
          <a:graphicData uri="http://schemas.openxmlformats.org/drawingml/2006/table">
            <a:tbl>
              <a:tblPr/>
              <a:tblGrid>
                <a:gridCol w="3200400"/>
                <a:gridCol w="1325880"/>
                <a:gridCol w="1325880"/>
                <a:gridCol w="1280160"/>
              </a:tblGrid>
              <a:tr h="301752">
                <a:tc>
                  <a:txBody>
                    <a:bodyPr/>
                    <a:lstStyle/>
                    <a:p>
                      <a:pPr algn="l" indent="0" marL="0">
                        <a:buNone/>
                      </a:pPr>
                      <a:r>
                        <a:rPr lang="en-US" sz="1000" b="1" dirty="0">
                          <a:solidFill>
                            <a:srgbClr val="2DE2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000" b="1" dirty="0">
                          <a:solidFill>
                            <a:srgbClr val="2DE2FF"/>
                          </a:solidFill>
                          <a:latin typeface="Calibri" pitchFamily="34" charset="0"/>
                          <a:ea typeface="Calibri" pitchFamily="34" charset="-122"/>
                          <a:cs typeface="Calibri" pitchFamily="34" charset="-120"/>
                        </a:rPr>
                        <a:t>Pass</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000" b="1" dirty="0">
                          <a:solidFill>
                            <a:srgbClr val="2DE2FF"/>
                          </a:solidFill>
                          <a:latin typeface="Calibri" pitchFamily="34" charset="0"/>
                          <a:ea typeface="Calibri" pitchFamily="34" charset="-122"/>
                          <a:cs typeface="Calibri" pitchFamily="34" charset="-120"/>
                        </a:rPr>
                        <a:t>Kill</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000" b="1" dirty="0">
                          <a:solidFill>
                            <a:srgbClr val="2DE2FF"/>
                          </a:solidFill>
                          <a:latin typeface="Calibri" pitchFamily="34" charset="0"/>
                          <a:ea typeface="Calibri" pitchFamily="34" charset="-122"/>
                          <a:cs typeface="Calibri" pitchFamily="34" charset="-120"/>
                        </a:rPr>
                        <a:t>Medium model</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301752">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Unit session conversion on 3 of 5 launch SKUs</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at or above 8%</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hero below 5%</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observed at the gate</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01752">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TACOS in Month 3, falling month over month</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at or below 30%</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above 40%</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01752">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Return rate</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at or below 4%</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above 7%</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01752">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Contribution per unit before advertising on 3 of 5 SKUs</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at or above $11</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hero below $8</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$12.14</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01752">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Cash runway after funding the next PO</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at or above 4 months</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below 2 months</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10.2 months</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01752">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Suppressed listing or IP complaint</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none open</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open more than 14 days</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observed at the gate</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bl>
          </a:graphicData>
        </a:graphic>
      </p:graphicFrame>
      <p:sp>
        <p:nvSpPr>
          <p:cNvPr id="6" name="Text 2"/>
          <p:cNvSpPr txBox="1"/>
          <p:nvPr/>
        </p:nvSpPr>
        <p:spPr>
          <a:xfrm>
            <a:off x="457200" y="3931920"/>
            <a:ext cx="7132320" cy="274320"/>
          </a:xfrm>
          <a:prstGeom prst="rect">
            <a:avLst/>
          </a:prstGeom>
          <a:noFill/>
          <a:ln/>
        </p:spPr>
        <p:txBody>
          <a:bodyPr wrap="square" lIns="0" tIns="0" rIns="0" bIns="0" rtlCol="0" anchor="t"/>
          <a:lstStyle/>
          <a:p>
            <a:pPr algn="l" indent="0" marL="0">
              <a:buNone/>
            </a:pPr>
            <a:r>
              <a:rPr lang="en-US" sz="1300" b="1" dirty="0">
                <a:solidFill>
                  <a:schemeClr val="accent1"/>
                </a:solidFill>
              </a:rPr>
              <a:t>Month 12 gate</a:t>
            </a:r>
            <a:endParaRPr lang="en-US" sz="130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457200" y="4206240"/>
          <a:ext cx="7132320" cy="914400"/>
        </p:xfrm>
        <a:graphic>
          <a:graphicData uri="http://schemas.openxmlformats.org/drawingml/2006/table">
            <a:tbl>
              <a:tblPr/>
              <a:tblGrid>
                <a:gridCol w="1920240"/>
                <a:gridCol w="1554480"/>
                <a:gridCol w="2377440"/>
                <a:gridCol w="1280160"/>
              </a:tblGrid>
              <a:tr h="301752">
                <a:tc>
                  <a:txBody>
                    <a:bodyPr/>
                    <a:lstStyle/>
                    <a:p>
                      <a:pPr algn="l" indent="0" marL="0">
                        <a:buNone/>
                      </a:pPr>
                      <a:r>
                        <a:rPr lang="en-US" sz="1000" b="1" dirty="0">
                          <a:solidFill>
                            <a:srgbClr val="2DE2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000" b="1" dirty="0">
                          <a:solidFill>
                            <a:srgbClr val="2DE2FF"/>
                          </a:solidFill>
                          <a:latin typeface="Calibri" pitchFamily="34" charset="0"/>
                          <a:ea typeface="Calibri" pitchFamily="34" charset="-122"/>
                          <a:cs typeface="Calibri" pitchFamily="34" charset="-120"/>
                        </a:rPr>
                        <a:t>Pass</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000" b="1" dirty="0">
                          <a:solidFill>
                            <a:srgbClr val="2DE2FF"/>
                          </a:solidFill>
                          <a:latin typeface="Calibri" pitchFamily="34" charset="0"/>
                          <a:ea typeface="Calibri" pitchFamily="34" charset="-122"/>
                          <a:cs typeface="Calibri" pitchFamily="34" charset="-120"/>
                        </a:rPr>
                        <a:t>Kill</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000" b="1" dirty="0">
                          <a:solidFill>
                            <a:srgbClr val="2DE2FF"/>
                          </a:solidFill>
                          <a:latin typeface="Calibri" pitchFamily="34" charset="0"/>
                          <a:ea typeface="Calibri" pitchFamily="34" charset="-122"/>
                          <a:cs typeface="Calibri" pitchFamily="34" charset="-120"/>
                        </a:rPr>
                        <a:t>Medium model</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301752">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Monthly revenue in Month 12</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at or above $70,000</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below $50,000</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$86,100</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01752">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Cumulative net</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at or above $0</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below ($25,000)</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$38,040</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01752">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TACOS</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at or below 15%</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above 25%</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01752">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Return rate</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at or below 3%</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above 5%</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01752">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Operating cash flow</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positive two months in a row</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three negative months with a funding gap above $50,000</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$7,587 (lower of Months 11 and 12)</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bl>
          </a:graphicData>
        </a:graphic>
      </p:graphicFrame>
      <p:sp>
        <p:nvSpPr>
          <p:cNvPr id="8" name="card"/>
          <p:cNvSpPr/>
          <p:nvPr/>
        </p:nvSpPr>
        <p:spPr>
          <a:xfrm>
            <a:off x="7863840" y="1115568"/>
            <a:ext cx="3867912" cy="2057400"/>
          </a:xfrm>
          <a:prstGeom prst="roundRect">
            <a:avLst>
              <a:gd name="adj" fmla="val 5333"/>
            </a:avLst>
          </a:prstGeom>
          <a:solidFill>
            <a:schemeClr val="bg2"/>
          </a:solidFill>
          <a:ln w="12700">
            <a:solidFill>
              <a:srgbClr val="141C36"/>
            </a:solidFill>
            <a:prstDash val="solid"/>
          </a:ln>
        </p:spPr>
      </p:sp>
      <p:sp>
        <p:nvSpPr>
          <p:cNvPr id="9" name="Text 4"/>
          <p:cNvSpPr txBox="1"/>
          <p:nvPr/>
        </p:nvSpPr>
        <p:spPr>
          <a:xfrm>
            <a:off x="8092440" y="1207008"/>
            <a:ext cx="3474720" cy="320040"/>
          </a:xfrm>
          <a:prstGeom prst="rect">
            <a:avLst/>
          </a:prstGeom>
          <a:noFill/>
          <a:ln/>
        </p:spPr>
        <p:txBody>
          <a:bodyPr wrap="square" lIns="0" tIns="0" rIns="0" bIns="0" rtlCol="0" anchor="t"/>
          <a:lstStyle/>
          <a:p>
            <a:pPr algn="l" indent="0" marL="0">
              <a:buNone/>
            </a:pPr>
            <a:r>
              <a:rPr lang="en-US" sz="1300" b="1" dirty="0">
                <a:solidFill>
                  <a:schemeClr val="accent1"/>
                </a:solidFill>
              </a:rPr>
              <a:t>Model results by scenario</a:t>
            </a:r>
            <a:endParaRPr lang="en-US" sz="1300" dirty="0"/>
          </a:p>
        </p:txBody>
      </p:sp>
      <p:sp>
        <p:nvSpPr>
          <p:cNvPr id="10" name="Text 5"/>
          <p:cNvSpPr txBox="1"/>
          <p:nvPr/>
        </p:nvSpPr>
        <p:spPr>
          <a:xfrm>
            <a:off x="8092440" y="1600200"/>
            <a:ext cx="1097280" cy="384048"/>
          </a:xfrm>
          <a:prstGeom prst="rect">
            <a:avLst/>
          </a:prstGeom>
          <a:noFill/>
          <a:ln/>
        </p:spPr>
        <p:txBody>
          <a:bodyPr wrap="square" lIns="0" tIns="0" rIns="0" bIns="0" rtlCol="0" anchor="ctr"/>
          <a:lstStyle/>
          <a:p>
            <a:pPr algn="l" indent="0" marL="0">
              <a:buNone/>
            </a:pPr>
            <a:r>
              <a:rPr lang="en-US" sz="1250" b="1" dirty="0">
                <a:solidFill>
                  <a:schemeClr val="tx1"/>
                </a:solidFill>
              </a:rPr>
              <a:t>Low</a:t>
            </a:r>
            <a:endParaRPr lang="en-US" sz="1250" dirty="0"/>
          </a:p>
        </p:txBody>
      </p:sp>
      <p:sp>
        <p:nvSpPr>
          <p:cNvPr id="11" name="Shape 6"/>
          <p:cNvSpPr/>
          <p:nvPr/>
        </p:nvSpPr>
        <p:spPr>
          <a:xfrm>
            <a:off x="9189720" y="1600200"/>
            <a:ext cx="1188720" cy="384048"/>
          </a:xfrm>
          <a:prstGeom prst="roundRect">
            <a:avLst>
              <a:gd name="adj" fmla="val 19048"/>
            </a:avLst>
          </a:prstGeom>
          <a:solidFill>
            <a:srgbClr val="FFB547"/>
          </a:solidFill>
          <a:ln w="12700">
            <a:solidFill>
              <a:srgbClr val="FFB547"/>
            </a:solidFill>
            <a:prstDash val="solid"/>
          </a:ln>
        </p:spPr>
      </p:sp>
      <p:sp>
        <p:nvSpPr>
          <p:cNvPr id="12" name="Text 7"/>
          <p:cNvSpPr txBox="1"/>
          <p:nvPr/>
        </p:nvSpPr>
        <p:spPr>
          <a:xfrm>
            <a:off x="9189720" y="1600200"/>
            <a:ext cx="1188720" cy="384048"/>
          </a:xfrm>
          <a:prstGeom prst="rect">
            <a:avLst/>
          </a:prstGeom>
          <a:noFill/>
          <a:ln/>
        </p:spPr>
        <p:txBody>
          <a:bodyPr wrap="square" lIns="0" tIns="0" rIns="0" bIns="0" rtlCol="0" anchor="ctr"/>
          <a:lstStyle/>
          <a:p>
            <a:pPr algn="ctr" indent="0" marL="0">
              <a:buNone/>
            </a:pPr>
            <a:r>
              <a:rPr lang="en-US" sz="950" b="1" dirty="0">
                <a:solidFill>
                  <a:srgbClr val="0A0F1E"/>
                </a:solidFill>
              </a:rPr>
              <a:t>Day 90: REVIEW</a:t>
            </a:r>
            <a:endParaRPr lang="en-US" sz="950" dirty="0"/>
          </a:p>
        </p:txBody>
      </p:sp>
      <p:sp>
        <p:nvSpPr>
          <p:cNvPr id="13" name="Shape 8"/>
          <p:cNvSpPr/>
          <p:nvPr/>
        </p:nvSpPr>
        <p:spPr>
          <a:xfrm>
            <a:off x="10469880" y="1600200"/>
            <a:ext cx="1188720" cy="384048"/>
          </a:xfrm>
          <a:prstGeom prst="roundRect">
            <a:avLst>
              <a:gd name="adj" fmla="val 19048"/>
            </a:avLst>
          </a:prstGeom>
          <a:solidFill>
            <a:srgbClr val="FF4FD8"/>
          </a:solidFill>
          <a:ln w="12700">
            <a:solidFill>
              <a:srgbClr val="FF4FD8"/>
            </a:solidFill>
            <a:prstDash val="solid"/>
          </a:ln>
        </p:spPr>
      </p:sp>
      <p:sp>
        <p:nvSpPr>
          <p:cNvPr id="14" name="Text 9"/>
          <p:cNvSpPr txBox="1"/>
          <p:nvPr/>
        </p:nvSpPr>
        <p:spPr>
          <a:xfrm>
            <a:off x="10469880" y="1600200"/>
            <a:ext cx="1188720" cy="384048"/>
          </a:xfrm>
          <a:prstGeom prst="rect">
            <a:avLst/>
          </a:prstGeom>
          <a:noFill/>
          <a:ln/>
        </p:spPr>
        <p:txBody>
          <a:bodyPr wrap="square" lIns="0" tIns="0" rIns="0" bIns="0" rtlCol="0" anchor="ctr"/>
          <a:lstStyle/>
          <a:p>
            <a:pPr algn="ctr" indent="0" marL="0">
              <a:buNone/>
            </a:pPr>
            <a:r>
              <a:rPr lang="en-US" sz="950" b="1" dirty="0">
                <a:solidFill>
                  <a:srgbClr val="0A0F1E"/>
                </a:solidFill>
              </a:rPr>
              <a:t>Month 12: KILL</a:t>
            </a:r>
            <a:endParaRPr lang="en-US" sz="950" dirty="0"/>
          </a:p>
        </p:txBody>
      </p:sp>
      <p:sp>
        <p:nvSpPr>
          <p:cNvPr id="15" name="Text 10"/>
          <p:cNvSpPr txBox="1"/>
          <p:nvPr/>
        </p:nvSpPr>
        <p:spPr>
          <a:xfrm>
            <a:off x="8092440" y="2075688"/>
            <a:ext cx="1097280" cy="384048"/>
          </a:xfrm>
          <a:prstGeom prst="rect">
            <a:avLst/>
          </a:prstGeom>
          <a:noFill/>
          <a:ln/>
        </p:spPr>
        <p:txBody>
          <a:bodyPr wrap="square" lIns="0" tIns="0" rIns="0" bIns="0" rtlCol="0" anchor="ctr"/>
          <a:lstStyle/>
          <a:p>
            <a:pPr algn="l" indent="0" marL="0">
              <a:buNone/>
            </a:pPr>
            <a:r>
              <a:rPr lang="en-US" sz="1250" b="1" dirty="0">
                <a:solidFill>
                  <a:schemeClr val="tx1"/>
                </a:solidFill>
              </a:rPr>
              <a:t>Medium</a:t>
            </a:r>
            <a:endParaRPr lang="en-US" sz="1250" dirty="0"/>
          </a:p>
        </p:txBody>
      </p:sp>
      <p:sp>
        <p:nvSpPr>
          <p:cNvPr id="16" name="Shape 11"/>
          <p:cNvSpPr/>
          <p:nvPr/>
        </p:nvSpPr>
        <p:spPr>
          <a:xfrm>
            <a:off x="9189720" y="2075688"/>
            <a:ext cx="1188720" cy="384048"/>
          </a:xfrm>
          <a:prstGeom prst="roundRect">
            <a:avLst>
              <a:gd name="adj" fmla="val 19048"/>
            </a:avLst>
          </a:prstGeom>
          <a:solidFill>
            <a:srgbClr val="3DDC97"/>
          </a:solidFill>
          <a:ln w="12700">
            <a:solidFill>
              <a:srgbClr val="3DDC97"/>
            </a:solidFill>
            <a:prstDash val="solid"/>
          </a:ln>
        </p:spPr>
      </p:sp>
      <p:sp>
        <p:nvSpPr>
          <p:cNvPr id="17" name="Text 12"/>
          <p:cNvSpPr txBox="1"/>
          <p:nvPr/>
        </p:nvSpPr>
        <p:spPr>
          <a:xfrm>
            <a:off x="9189720" y="2075688"/>
            <a:ext cx="1188720" cy="384048"/>
          </a:xfrm>
          <a:prstGeom prst="rect">
            <a:avLst/>
          </a:prstGeom>
          <a:noFill/>
          <a:ln/>
        </p:spPr>
        <p:txBody>
          <a:bodyPr wrap="square" lIns="0" tIns="0" rIns="0" bIns="0" rtlCol="0" anchor="ctr"/>
          <a:lstStyle/>
          <a:p>
            <a:pPr algn="ctr" indent="0" marL="0">
              <a:buNone/>
            </a:pPr>
            <a:r>
              <a:rPr lang="en-US" sz="950" b="1" dirty="0">
                <a:solidFill>
                  <a:srgbClr val="0A0F1E"/>
                </a:solidFill>
              </a:rPr>
              <a:t>Day 90: PASS</a:t>
            </a:r>
            <a:endParaRPr lang="en-US" sz="950" dirty="0"/>
          </a:p>
        </p:txBody>
      </p:sp>
      <p:sp>
        <p:nvSpPr>
          <p:cNvPr id="18" name="Shape 13"/>
          <p:cNvSpPr/>
          <p:nvPr/>
        </p:nvSpPr>
        <p:spPr>
          <a:xfrm>
            <a:off x="10469880" y="2075688"/>
            <a:ext cx="1188720" cy="384048"/>
          </a:xfrm>
          <a:prstGeom prst="roundRect">
            <a:avLst>
              <a:gd name="adj" fmla="val 19048"/>
            </a:avLst>
          </a:prstGeom>
          <a:solidFill>
            <a:srgbClr val="3DDC97"/>
          </a:solidFill>
          <a:ln w="12700">
            <a:solidFill>
              <a:srgbClr val="3DDC97"/>
            </a:solidFill>
            <a:prstDash val="solid"/>
          </a:ln>
        </p:spPr>
      </p:sp>
      <p:sp>
        <p:nvSpPr>
          <p:cNvPr id="19" name="Text 14"/>
          <p:cNvSpPr txBox="1"/>
          <p:nvPr/>
        </p:nvSpPr>
        <p:spPr>
          <a:xfrm>
            <a:off x="10469880" y="2075688"/>
            <a:ext cx="1188720" cy="384048"/>
          </a:xfrm>
          <a:prstGeom prst="rect">
            <a:avLst/>
          </a:prstGeom>
          <a:noFill/>
          <a:ln/>
        </p:spPr>
        <p:txBody>
          <a:bodyPr wrap="square" lIns="0" tIns="0" rIns="0" bIns="0" rtlCol="0" anchor="ctr"/>
          <a:lstStyle/>
          <a:p>
            <a:pPr algn="ctr" indent="0" marL="0">
              <a:buNone/>
            </a:pPr>
            <a:r>
              <a:rPr lang="en-US" sz="950" b="1" dirty="0">
                <a:solidFill>
                  <a:srgbClr val="0A0F1E"/>
                </a:solidFill>
              </a:rPr>
              <a:t>Month 12: PASS</a:t>
            </a:r>
            <a:endParaRPr lang="en-US" sz="950" dirty="0"/>
          </a:p>
        </p:txBody>
      </p:sp>
      <p:sp>
        <p:nvSpPr>
          <p:cNvPr id="20" name="Text 15"/>
          <p:cNvSpPr txBox="1"/>
          <p:nvPr/>
        </p:nvSpPr>
        <p:spPr>
          <a:xfrm>
            <a:off x="8092440" y="2551176"/>
            <a:ext cx="1097280" cy="384048"/>
          </a:xfrm>
          <a:prstGeom prst="rect">
            <a:avLst/>
          </a:prstGeom>
          <a:noFill/>
          <a:ln/>
        </p:spPr>
        <p:txBody>
          <a:bodyPr wrap="square" lIns="0" tIns="0" rIns="0" bIns="0" rtlCol="0" anchor="ctr"/>
          <a:lstStyle/>
          <a:p>
            <a:pPr algn="l" indent="0" marL="0">
              <a:buNone/>
            </a:pPr>
            <a:r>
              <a:rPr lang="en-US" sz="1250" b="1" dirty="0">
                <a:solidFill>
                  <a:schemeClr val="tx1"/>
                </a:solidFill>
              </a:rPr>
              <a:t>High</a:t>
            </a:r>
            <a:endParaRPr lang="en-US" sz="1250" dirty="0"/>
          </a:p>
        </p:txBody>
      </p:sp>
      <p:sp>
        <p:nvSpPr>
          <p:cNvPr id="21" name="Shape 16"/>
          <p:cNvSpPr/>
          <p:nvPr/>
        </p:nvSpPr>
        <p:spPr>
          <a:xfrm>
            <a:off x="9189720" y="2551176"/>
            <a:ext cx="1188720" cy="384048"/>
          </a:xfrm>
          <a:prstGeom prst="roundRect">
            <a:avLst>
              <a:gd name="adj" fmla="val 19048"/>
            </a:avLst>
          </a:prstGeom>
          <a:solidFill>
            <a:srgbClr val="3DDC97"/>
          </a:solidFill>
          <a:ln w="12700">
            <a:solidFill>
              <a:srgbClr val="3DDC97"/>
            </a:solidFill>
            <a:prstDash val="solid"/>
          </a:ln>
        </p:spPr>
      </p:sp>
      <p:sp>
        <p:nvSpPr>
          <p:cNvPr id="22" name="Text 17"/>
          <p:cNvSpPr txBox="1"/>
          <p:nvPr/>
        </p:nvSpPr>
        <p:spPr>
          <a:xfrm>
            <a:off x="9189720" y="2551176"/>
            <a:ext cx="1188720" cy="384048"/>
          </a:xfrm>
          <a:prstGeom prst="rect">
            <a:avLst/>
          </a:prstGeom>
          <a:noFill/>
          <a:ln/>
        </p:spPr>
        <p:txBody>
          <a:bodyPr wrap="square" lIns="0" tIns="0" rIns="0" bIns="0" rtlCol="0" anchor="ctr"/>
          <a:lstStyle/>
          <a:p>
            <a:pPr algn="ctr" indent="0" marL="0">
              <a:buNone/>
            </a:pPr>
            <a:r>
              <a:rPr lang="en-US" sz="950" b="1" dirty="0">
                <a:solidFill>
                  <a:srgbClr val="0A0F1E"/>
                </a:solidFill>
              </a:rPr>
              <a:t>Day 90: PASS</a:t>
            </a:r>
            <a:endParaRPr lang="en-US" sz="950" dirty="0"/>
          </a:p>
        </p:txBody>
      </p:sp>
      <p:sp>
        <p:nvSpPr>
          <p:cNvPr id="23" name="Shape 18"/>
          <p:cNvSpPr/>
          <p:nvPr/>
        </p:nvSpPr>
        <p:spPr>
          <a:xfrm>
            <a:off x="10469880" y="2551176"/>
            <a:ext cx="1188720" cy="384048"/>
          </a:xfrm>
          <a:prstGeom prst="roundRect">
            <a:avLst>
              <a:gd name="adj" fmla="val 19048"/>
            </a:avLst>
          </a:prstGeom>
          <a:solidFill>
            <a:srgbClr val="3DDC97"/>
          </a:solidFill>
          <a:ln w="12700">
            <a:solidFill>
              <a:srgbClr val="3DDC97"/>
            </a:solidFill>
            <a:prstDash val="solid"/>
          </a:ln>
        </p:spPr>
      </p:sp>
      <p:sp>
        <p:nvSpPr>
          <p:cNvPr id="24" name="Text 19"/>
          <p:cNvSpPr txBox="1"/>
          <p:nvPr/>
        </p:nvSpPr>
        <p:spPr>
          <a:xfrm>
            <a:off x="10469880" y="2551176"/>
            <a:ext cx="1188720" cy="384048"/>
          </a:xfrm>
          <a:prstGeom prst="rect">
            <a:avLst/>
          </a:prstGeom>
          <a:noFill/>
          <a:ln/>
        </p:spPr>
        <p:txBody>
          <a:bodyPr wrap="square" lIns="0" tIns="0" rIns="0" bIns="0" rtlCol="0" anchor="ctr"/>
          <a:lstStyle/>
          <a:p>
            <a:pPr algn="ctr" indent="0" marL="0">
              <a:buNone/>
            </a:pPr>
            <a:r>
              <a:rPr lang="en-US" sz="950" b="1" dirty="0">
                <a:solidFill>
                  <a:srgbClr val="0A0F1E"/>
                </a:solidFill>
              </a:rPr>
              <a:t>Month 12: PASS</a:t>
            </a:r>
            <a:endParaRPr lang="en-US" sz="950" dirty="0"/>
          </a:p>
        </p:txBody>
      </p:sp>
      <p:sp>
        <p:nvSpPr>
          <p:cNvPr id="25" name="card"/>
          <p:cNvSpPr/>
          <p:nvPr/>
        </p:nvSpPr>
        <p:spPr>
          <a:xfrm>
            <a:off x="7863840" y="3337560"/>
            <a:ext cx="3867912" cy="2880360"/>
          </a:xfrm>
          <a:prstGeom prst="roundRect">
            <a:avLst>
              <a:gd name="adj" fmla="val 3810"/>
            </a:avLst>
          </a:prstGeom>
          <a:solidFill>
            <a:srgbClr val="10172D"/>
          </a:solidFill>
          <a:ln w="12700">
            <a:solidFill>
              <a:srgbClr val="10172D"/>
            </a:solidFill>
            <a:prstDash val="solid"/>
          </a:ln>
        </p:spPr>
      </p:sp>
      <p:sp>
        <p:nvSpPr>
          <p:cNvPr id="26" name="Shape 21"/>
          <p:cNvSpPr/>
          <p:nvPr/>
        </p:nvSpPr>
        <p:spPr>
          <a:xfrm>
            <a:off x="8092440" y="3520440"/>
            <a:ext cx="502920" cy="502920"/>
          </a:xfrm>
          <a:prstGeom prst="ellipse">
            <a:avLst/>
          </a:prstGeom>
          <a:solidFill>
            <a:srgbClr val="1B2447"/>
          </a:solidFill>
          <a:ln w="12700">
            <a:solidFill>
              <a:srgbClr val="1B2447"/>
            </a:solidFill>
            <a:prstDash val="solid"/>
          </a:ln>
        </p:spPr>
      </p:sp>
      <p:pic>
        <p:nvPicPr>
          <p:cNvPr id="27" name="Image 0" descr="preencoded.png">    </p:cNvPr>
          <p:cNvPicPr>
            <a:picLocks noChangeAspect="1"/>
          </p:cNvPicPr>
          <p:nvPr/>
        </p:nvPicPr>
        <p:blipFill>
          <a:blip r:embed="rId1"/>
          <a:stretch>
            <a:fillRect/>
          </a:stretch>
        </p:blipFill>
        <p:spPr>
          <a:xfrm>
            <a:off x="8203082" y="3631082"/>
            <a:ext cx="281635" cy="281635"/>
          </a:xfrm>
          <a:prstGeom prst="rect">
            <a:avLst/>
          </a:prstGeom>
        </p:spPr>
      </p:pic>
      <p:sp>
        <p:nvSpPr>
          <p:cNvPr id="28" name="Text 22"/>
          <p:cNvSpPr txBox="1"/>
          <p:nvPr/>
        </p:nvSpPr>
        <p:spPr>
          <a:xfrm>
            <a:off x="8092440" y="4114800"/>
            <a:ext cx="3474720" cy="2011680"/>
          </a:xfrm>
          <a:prstGeom prst="rect">
            <a:avLst/>
          </a:prstGeom>
          <a:noFill/>
          <a:ln/>
        </p:spPr>
        <p:txBody>
          <a:bodyPr wrap="square" lIns="0" tIns="0" rIns="0" bIns="0" rtlCol="0" anchor="t"/>
          <a:lstStyle/>
          <a:p>
            <a:pPr algn="l" indent="0" marL="0">
              <a:buNone/>
            </a:pPr>
            <a:r>
              <a:rPr lang="en-US" sz="1200" dirty="0">
                <a:solidFill>
                  <a:schemeClr val="tx1"/>
                </a:solidFill>
              </a:rPr>
              <a:t>KILL if any kill trigger fires. PASS if every threshold is met. REVIEW otherwise: fix and retest within 30 days. Kill means no further capital, sell down inventory, delist losers, move to Plan B.</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685800" y="3749040"/>
            <a:ext cx="9144000" cy="1005840"/>
          </a:xfrm>
          <a:prstGeom prst="rect">
            <a:avLst/>
          </a:prstGeom>
          <a:noFill/>
          <a:ln/>
        </p:spPr>
        <p:txBody>
          <a:bodyPr wrap="square" lIns="0" tIns="0" rIns="0" bIns="0" rtlCol="0" anchor="b"/>
          <a:lstStyle/>
          <a:p>
            <a:pPr algn="l" indent="0" marL="0">
              <a:buNone/>
            </a:pPr>
            <a:r>
              <a:rPr lang="en-US" sz="3600" b="1" dirty="0">
                <a:solidFill>
                  <a:srgbClr val="F3F6FF"/>
                </a:solidFill>
              </a:rPr>
              <a:t>Economics</a:t>
            </a:r>
            <a:endParaRPr lang="en-US" sz="3600" dirty="0"/>
          </a:p>
        </p:txBody>
      </p:sp>
      <p:sp>
        <p:nvSpPr>
          <p:cNvPr id="3" name="Text 0"/>
          <p:cNvSpPr/>
          <p:nvPr>
            <p:ph idx="101" type="body" hasCustomPrompt="1"/>
          </p:nvPr>
        </p:nvSpPr>
        <p:spPr>
          <a:xfrm>
            <a:off x="685800" y="4800600"/>
            <a:ext cx="9144000" cy="457200"/>
          </a:xfrm>
          <a:prstGeom prst="rect">
            <a:avLst/>
          </a:prstGeom>
          <a:noFill/>
          <a:ln/>
        </p:spPr>
        <p:txBody>
          <a:bodyPr wrap="square" lIns="0" tIns="0" rIns="0" bIns="0" rtlCol="0" anchor="t"/>
          <a:lstStyle/>
          <a:p>
            <a:pPr indent="0" marL="0">
              <a:buNone/>
            </a:pPr>
            <a:r>
              <a:rPr lang="en-US" sz="1600" dirty="0">
                <a:solidFill>
                  <a:srgbClr val="2DE2FF"/>
                </a:solidFill>
              </a:rPr>
              <a:t>Section 5 of 5</a:t>
            </a:r>
            <a:endParaRPr lang="en-US" sz="1600" dirty="0"/>
          </a:p>
        </p:txBody>
      </p:sp>
      <p:sp>
        <p:nvSpPr>
          <p:cNvPr id="25" name="Slide Number Placeholder 0"/>
          <p:cNvSpPr>
            <a:spLocks noGrp="1"/>
          </p:cNvSpPr>
          <p:nvPr>
            <p:ph type="sldNum" sz="quarter" idx="4294967295"/>
          </p:nvPr>
        </p:nvSpPr>
        <p:spPr>
          <a:xfrm>
            <a:off x="11247120"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Hero unit economics on Amazon US</a:t>
            </a:r>
            <a:endParaRPr lang="en-US" sz="3200" dirty="0"/>
          </a:p>
        </p:txBody>
      </p:sp>
      <p:graphicFrame>
        <p:nvGraphicFramePr>
          <p:cNvPr id="4" name="Chart 0" descr=""/>
          <p:cNvGraphicFramePr/>
          <p:nvPr/>
        </p:nvGraphicFramePr>
        <p:xfrm>
          <a:off x="457200" y="1188720"/>
          <a:ext cx="7315200" cy="41605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57200" y="5440680"/>
            <a:ext cx="7315200" cy="868680"/>
          </a:xfrm>
          <a:prstGeom prst="rect">
            <a:avLst/>
          </a:prstGeom>
          <a:noFill/>
          <a:ln/>
        </p:spPr>
        <p:txBody>
          <a:bodyPr wrap="square" lIns="0" tIns="0" rIns="0" bIns="0" rtlCol="0" anchor="t"/>
          <a:lstStyle/>
          <a:p>
            <a:pPr algn="l" indent="0" marL="0">
              <a:buNone/>
            </a:pPr>
            <a:r>
              <a:rPr lang="en-US" sz="1100" dirty="0">
                <a:solidFill>
                  <a:schemeClr val="tx2"/>
                </a:solidFill>
              </a:rPr>
              <a:t>Waterfall: price $44.99 less landed cost $17.10, referral $6.75, FBA $5.50, advertising $5.40, returns and storage $2.25 = net $8.00. August model, evidence based: landed cost assumed at 38% of price pending the customs ruling. Advertising $5.40 is the blended 18 month rate. At the Alibaba benchmark cost the same unit loses money (next slide).</a:t>
            </a:r>
            <a:endParaRPr lang="en-US" sz="1100" dirty="0"/>
          </a:p>
        </p:txBody>
      </p:sp>
      <p:sp>
        <p:nvSpPr>
          <p:cNvPr id="6" name="card"/>
          <p:cNvSpPr/>
          <p:nvPr/>
        </p:nvSpPr>
        <p:spPr>
          <a:xfrm>
            <a:off x="8046720" y="1188720"/>
            <a:ext cx="3685032" cy="1325880"/>
          </a:xfrm>
          <a:prstGeom prst="roundRect">
            <a:avLst>
              <a:gd name="adj" fmla="val 8276"/>
            </a:avLst>
          </a:prstGeom>
          <a:solidFill>
            <a:schemeClr val="bg2"/>
          </a:solidFill>
          <a:ln w="12700">
            <a:solidFill>
              <a:srgbClr val="141C36"/>
            </a:solidFill>
            <a:prstDash val="solid"/>
          </a:ln>
        </p:spPr>
      </p:sp>
      <p:sp>
        <p:nvSpPr>
          <p:cNvPr id="7" name="Text 3"/>
          <p:cNvSpPr txBox="1"/>
          <p:nvPr/>
        </p:nvSpPr>
        <p:spPr>
          <a:xfrm>
            <a:off x="8229600" y="1280160"/>
            <a:ext cx="3291840" cy="274320"/>
          </a:xfrm>
          <a:prstGeom prst="rect">
            <a:avLst/>
          </a:prstGeom>
          <a:noFill/>
          <a:ln/>
        </p:spPr>
        <p:txBody>
          <a:bodyPr wrap="square" lIns="0" tIns="0" rIns="0" bIns="0" rtlCol="0" anchor="t"/>
          <a:lstStyle/>
          <a:p>
            <a:pPr algn="l" indent="0" marL="0">
              <a:buNone/>
            </a:pPr>
            <a:r>
              <a:rPr lang="en-US" sz="1200" dirty="0">
                <a:solidFill>
                  <a:schemeClr val="tx2"/>
                </a:solidFill>
              </a:rPr>
              <a:t>Net per unit</a:t>
            </a:r>
            <a:endParaRPr lang="en-US" sz="1200" dirty="0"/>
          </a:p>
        </p:txBody>
      </p:sp>
      <p:sp>
        <p:nvSpPr>
          <p:cNvPr id="8" name="Text 4"/>
          <p:cNvSpPr txBox="1"/>
          <p:nvPr/>
        </p:nvSpPr>
        <p:spPr>
          <a:xfrm>
            <a:off x="8229600" y="1554480"/>
            <a:ext cx="3291840" cy="548640"/>
          </a:xfrm>
          <a:prstGeom prst="rect">
            <a:avLst/>
          </a:prstGeom>
          <a:noFill/>
          <a:ln/>
        </p:spPr>
        <p:txBody>
          <a:bodyPr wrap="square" lIns="0" tIns="0" rIns="0" bIns="0" rtlCol="0" anchor="ctr"/>
          <a:lstStyle/>
          <a:p>
            <a:pPr algn="l" indent="0" marL="0">
              <a:buNone/>
            </a:pPr>
            <a:r>
              <a:rPr lang="en-US" sz="2800" b="1" dirty="0">
                <a:solidFill>
                  <a:schemeClr val="accent4"/>
                </a:solidFill>
              </a:rPr>
              <a:t>$8.00</a:t>
            </a:r>
            <a:endParaRPr lang="en-US" sz="2800" dirty="0"/>
          </a:p>
        </p:txBody>
      </p:sp>
      <p:sp>
        <p:nvSpPr>
          <p:cNvPr id="9" name="Text 5"/>
          <p:cNvSpPr txBox="1"/>
          <p:nvPr/>
        </p:nvSpPr>
        <p:spPr>
          <a:xfrm>
            <a:off x="8229600" y="2103120"/>
            <a:ext cx="3291840" cy="384048"/>
          </a:xfrm>
          <a:prstGeom prst="rect">
            <a:avLst/>
          </a:prstGeom>
          <a:noFill/>
          <a:ln/>
        </p:spPr>
        <p:txBody>
          <a:bodyPr wrap="square" lIns="0" tIns="0" rIns="0" bIns="0" rtlCol="0" anchor="t"/>
          <a:lstStyle/>
          <a:p>
            <a:pPr algn="l" indent="0" marL="0">
              <a:buNone/>
            </a:pPr>
            <a:r>
              <a:rPr lang="en-US" sz="1100" dirty="0">
                <a:solidFill>
                  <a:schemeClr val="tx2"/>
                </a:solidFill>
              </a:rPr>
              <a:t>17.8% of $44.99</a:t>
            </a:r>
            <a:endParaRPr lang="en-US" sz="1100" dirty="0"/>
          </a:p>
        </p:txBody>
      </p:sp>
      <p:sp>
        <p:nvSpPr>
          <p:cNvPr id="10" name="card"/>
          <p:cNvSpPr/>
          <p:nvPr/>
        </p:nvSpPr>
        <p:spPr>
          <a:xfrm>
            <a:off x="8046720" y="2651760"/>
            <a:ext cx="3685032" cy="1325880"/>
          </a:xfrm>
          <a:prstGeom prst="roundRect">
            <a:avLst>
              <a:gd name="adj" fmla="val 8276"/>
            </a:avLst>
          </a:prstGeom>
          <a:solidFill>
            <a:schemeClr val="bg2"/>
          </a:solidFill>
          <a:ln w="12700">
            <a:solidFill>
              <a:srgbClr val="141C36"/>
            </a:solidFill>
            <a:prstDash val="solid"/>
          </a:ln>
        </p:spPr>
      </p:sp>
      <p:sp>
        <p:nvSpPr>
          <p:cNvPr id="11" name="Text 7"/>
          <p:cNvSpPr txBox="1"/>
          <p:nvPr/>
        </p:nvSpPr>
        <p:spPr>
          <a:xfrm>
            <a:off x="8229600" y="2743200"/>
            <a:ext cx="3291840" cy="274320"/>
          </a:xfrm>
          <a:prstGeom prst="rect">
            <a:avLst/>
          </a:prstGeom>
          <a:noFill/>
          <a:ln/>
        </p:spPr>
        <p:txBody>
          <a:bodyPr wrap="square" lIns="0" tIns="0" rIns="0" bIns="0" rtlCol="0" anchor="t"/>
          <a:lstStyle/>
          <a:p>
            <a:pPr algn="l" indent="0" marL="0">
              <a:buNone/>
            </a:pPr>
            <a:r>
              <a:rPr lang="en-US" sz="1200" dirty="0">
                <a:solidFill>
                  <a:schemeClr val="tx2"/>
                </a:solidFill>
              </a:rPr>
              <a:t>Same unit in Korea wholesale</a:t>
            </a:r>
            <a:endParaRPr lang="en-US" sz="1200" dirty="0"/>
          </a:p>
        </p:txBody>
      </p:sp>
      <p:sp>
        <p:nvSpPr>
          <p:cNvPr id="12" name="Text 8"/>
          <p:cNvSpPr txBox="1"/>
          <p:nvPr/>
        </p:nvSpPr>
        <p:spPr>
          <a:xfrm>
            <a:off x="8229600" y="3017520"/>
            <a:ext cx="3291840" cy="548640"/>
          </a:xfrm>
          <a:prstGeom prst="rect">
            <a:avLst/>
          </a:prstGeom>
          <a:noFill/>
          <a:ln/>
        </p:spPr>
        <p:txBody>
          <a:bodyPr wrap="square" lIns="0" tIns="0" rIns="0" bIns="0" rtlCol="0" anchor="ctr"/>
          <a:lstStyle/>
          <a:p>
            <a:pPr algn="l" indent="0" marL="0">
              <a:buNone/>
            </a:pPr>
            <a:r>
              <a:rPr lang="en-US" sz="2800" b="1" dirty="0">
                <a:solidFill>
                  <a:schemeClr val="accent5"/>
                </a:solidFill>
              </a:rPr>
              <a:t>$1.86</a:t>
            </a:r>
            <a:endParaRPr lang="en-US" sz="2800" dirty="0"/>
          </a:p>
        </p:txBody>
      </p:sp>
      <p:sp>
        <p:nvSpPr>
          <p:cNvPr id="13" name="Text 9"/>
          <p:cNvSpPr txBox="1"/>
          <p:nvPr/>
        </p:nvSpPr>
        <p:spPr>
          <a:xfrm>
            <a:off x="8229600" y="3566160"/>
            <a:ext cx="3291840" cy="384048"/>
          </a:xfrm>
          <a:prstGeom prst="rect">
            <a:avLst/>
          </a:prstGeom>
          <a:noFill/>
          <a:ln/>
        </p:spPr>
        <p:txBody>
          <a:bodyPr wrap="square" lIns="0" tIns="0" rIns="0" bIns="0" rtlCol="0" anchor="t"/>
          <a:lstStyle/>
          <a:p>
            <a:pPr algn="l" indent="0" marL="0">
              <a:buNone/>
            </a:pPr>
            <a:r>
              <a:rPr lang="en-US" sz="1100" dirty="0">
                <a:solidFill>
                  <a:schemeClr val="tx2"/>
                </a:solidFill>
              </a:rPr>
              <a:t>gross profit per unit, August deal</a:t>
            </a:r>
            <a:endParaRPr lang="en-US" sz="1100" dirty="0"/>
          </a:p>
        </p:txBody>
      </p:sp>
      <p:sp>
        <p:nvSpPr>
          <p:cNvPr id="14" name="card"/>
          <p:cNvSpPr/>
          <p:nvPr/>
        </p:nvSpPr>
        <p:spPr>
          <a:xfrm>
            <a:off x="8046720" y="4114800"/>
            <a:ext cx="3685032" cy="1325880"/>
          </a:xfrm>
          <a:prstGeom prst="roundRect">
            <a:avLst>
              <a:gd name="adj" fmla="val 8276"/>
            </a:avLst>
          </a:prstGeom>
          <a:solidFill>
            <a:schemeClr val="bg2"/>
          </a:solidFill>
          <a:ln w="12700">
            <a:solidFill>
              <a:srgbClr val="141C36"/>
            </a:solidFill>
            <a:prstDash val="solid"/>
          </a:ln>
        </p:spPr>
      </p:sp>
      <p:sp>
        <p:nvSpPr>
          <p:cNvPr id="15" name="Text 11"/>
          <p:cNvSpPr txBox="1"/>
          <p:nvPr/>
        </p:nvSpPr>
        <p:spPr>
          <a:xfrm>
            <a:off x="8229600" y="4206240"/>
            <a:ext cx="3291840" cy="274320"/>
          </a:xfrm>
          <a:prstGeom prst="rect">
            <a:avLst/>
          </a:prstGeom>
          <a:noFill/>
          <a:ln/>
        </p:spPr>
        <p:txBody>
          <a:bodyPr wrap="square" lIns="0" tIns="0" rIns="0" bIns="0" rtlCol="0" anchor="t"/>
          <a:lstStyle/>
          <a:p>
            <a:pPr algn="l" indent="0" marL="0">
              <a:buNone/>
            </a:pPr>
            <a:r>
              <a:rPr lang="en-US" sz="1200" dirty="0">
                <a:solidFill>
                  <a:schemeClr val="tx2"/>
                </a:solidFill>
              </a:rPr>
              <a:t>Contribution before advertising</a:t>
            </a:r>
            <a:endParaRPr lang="en-US" sz="1200" dirty="0"/>
          </a:p>
        </p:txBody>
      </p:sp>
      <p:sp>
        <p:nvSpPr>
          <p:cNvPr id="16" name="Text 12"/>
          <p:cNvSpPr txBox="1"/>
          <p:nvPr/>
        </p:nvSpPr>
        <p:spPr>
          <a:xfrm>
            <a:off x="8229600" y="4480560"/>
            <a:ext cx="3291840" cy="548640"/>
          </a:xfrm>
          <a:prstGeom prst="rect">
            <a:avLst/>
          </a:prstGeom>
          <a:noFill/>
          <a:ln/>
        </p:spPr>
        <p:txBody>
          <a:bodyPr wrap="square" lIns="0" tIns="0" rIns="0" bIns="0" rtlCol="0" anchor="ctr"/>
          <a:lstStyle/>
          <a:p>
            <a:pPr algn="l" indent="0" marL="0">
              <a:buNone/>
            </a:pPr>
            <a:r>
              <a:rPr lang="en-US" sz="2800" b="1" dirty="0">
                <a:solidFill>
                  <a:schemeClr val="accent4"/>
                </a:solidFill>
              </a:rPr>
              <a:t>$12.14</a:t>
            </a:r>
            <a:endParaRPr lang="en-US" sz="2800" dirty="0"/>
          </a:p>
        </p:txBody>
      </p:sp>
      <p:sp>
        <p:nvSpPr>
          <p:cNvPr id="17" name="Text 13"/>
          <p:cNvSpPr txBox="1"/>
          <p:nvPr/>
        </p:nvSpPr>
        <p:spPr>
          <a:xfrm>
            <a:off x="8229600" y="5029200"/>
            <a:ext cx="3291840" cy="384048"/>
          </a:xfrm>
          <a:prstGeom prst="rect">
            <a:avLst/>
          </a:prstGeom>
          <a:noFill/>
          <a:ln/>
        </p:spPr>
        <p:txBody>
          <a:bodyPr wrap="square" lIns="0" tIns="0" rIns="0" bIns="0" rtlCol="0" anchor="t"/>
          <a:lstStyle/>
          <a:p>
            <a:pPr algn="l" indent="0" marL="0">
              <a:buNone/>
            </a:pPr>
            <a:r>
              <a:rPr lang="en-US" sz="1100" dirty="0">
                <a:solidFill>
                  <a:schemeClr val="tx2"/>
                </a:solidFill>
              </a:rPr>
              <a:t>at the $42 blended ASP; the Day 90 gate asks for $11</a:t>
            </a:r>
            <a:endParaRPr lang="en-US" sz="1100" dirty="0"/>
          </a:p>
        </p:txBody>
      </p:sp>
      <p:sp>
        <p:nvSpPr>
          <p:cNvPr id="18" name="card"/>
          <p:cNvSpPr/>
          <p:nvPr/>
        </p:nvSpPr>
        <p:spPr>
          <a:xfrm>
            <a:off x="8046720" y="5577840"/>
            <a:ext cx="3685032" cy="685800"/>
          </a:xfrm>
          <a:prstGeom prst="roundRect">
            <a:avLst>
              <a:gd name="adj" fmla="val 16000"/>
            </a:avLst>
          </a:prstGeom>
          <a:solidFill>
            <a:srgbClr val="10172D"/>
          </a:solidFill>
          <a:ln w="12700">
            <a:solidFill>
              <a:srgbClr val="10172D"/>
            </a:solidFill>
            <a:prstDash val="solid"/>
          </a:ln>
        </p:spPr>
      </p:sp>
      <p:sp>
        <p:nvSpPr>
          <p:cNvPr id="19" name="Text 15"/>
          <p:cNvSpPr txBox="1"/>
          <p:nvPr/>
        </p:nvSpPr>
        <p:spPr>
          <a:xfrm>
            <a:off x="8229600" y="5577840"/>
            <a:ext cx="3383280" cy="685800"/>
          </a:xfrm>
          <a:prstGeom prst="rect">
            <a:avLst/>
          </a:prstGeom>
          <a:noFill/>
          <a:ln/>
        </p:spPr>
        <p:txBody>
          <a:bodyPr wrap="square" lIns="0" tIns="0" rIns="0" bIns="0" rtlCol="0" anchor="ctr"/>
          <a:lstStyle/>
          <a:p>
            <a:pPr algn="l" indent="0" marL="0">
              <a:buNone/>
            </a:pPr>
            <a:r>
              <a:rPr lang="en-US" sz="1150" b="1" dirty="0">
                <a:solidFill>
                  <a:schemeClr val="accent1"/>
                </a:solidFill>
              </a:rPr>
              <a:t>$8.00 vs $1.86: Amazon US vs Korea wholesale, same unit</a:t>
            </a:r>
            <a:endParaRPr lang="en-US" sz="11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Factory cost cross check</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7223760" cy="914400"/>
        </p:xfrm>
        <a:graphic>
          <a:graphicData uri="http://schemas.openxmlformats.org/drawingml/2006/table">
            <a:tbl>
              <a:tblPr/>
              <a:tblGrid>
                <a:gridCol w="2834640"/>
                <a:gridCol w="1188720"/>
                <a:gridCol w="1188720"/>
                <a:gridCol w="2011680"/>
              </a:tblGrid>
              <a:tr h="512064">
                <a:tc>
                  <a:txBody>
                    <a:bodyPr/>
                    <a:lstStyle/>
                    <a:p>
                      <a:pPr algn="l" indent="0" marL="0">
                        <a:buNone/>
                      </a:pPr>
                      <a:r>
                        <a:rPr lang="en-US" sz="1100" b="1" dirty="0">
                          <a:solidFill>
                            <a:srgbClr val="2DE2FF"/>
                          </a:solidFill>
                          <a:latin typeface="Calibri" pitchFamily="34" charset="0"/>
                          <a:ea typeface="Calibri" pitchFamily="34" charset="-122"/>
                          <a:cs typeface="Calibri" pitchFamily="34" charset="-120"/>
                        </a:rPr>
                        <a:t>Cost base</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100" b="1" dirty="0">
                          <a:solidFill>
                            <a:srgbClr val="2DE2FF"/>
                          </a:solidFill>
                          <a:latin typeface="Calibri" pitchFamily="34" charset="0"/>
                          <a:ea typeface="Calibri" pitchFamily="34" charset="-122"/>
                          <a:cs typeface="Calibri" pitchFamily="34" charset="-120"/>
                        </a:rPr>
                        <a:t>Landed cost per hero unit</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100" b="1" dirty="0">
                          <a:solidFill>
                            <a:srgbClr val="2DE2FF"/>
                          </a:solidFill>
                          <a:latin typeface="Calibri" pitchFamily="34" charset="0"/>
                          <a:ea typeface="Calibri" pitchFamily="34" charset="-122"/>
                          <a:cs typeface="Calibri" pitchFamily="34" charset="-120"/>
                        </a:rPr>
                        <a:t>Net per unit at $44.99</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100" b="1" dirty="0">
                          <a:solidFill>
                            <a:srgbClr val="2DE2FF"/>
                          </a:solidFill>
                          <a:latin typeface="Calibri" pitchFamily="34" charset="0"/>
                          <a:ea typeface="Calibri" pitchFamily="34" charset="-122"/>
                          <a:cs typeface="Calibri" pitchFamily="34" charset="-120"/>
                        </a:rPr>
                        <a:t>Basis</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512064">
                <a:tc>
                  <a:txBody>
                    <a:bodyPr/>
                    <a:lstStyle/>
                    <a:p>
                      <a:pPr algn="l" indent="0" marL="0">
                        <a:buNone/>
                      </a:pPr>
                      <a:r>
                        <a:rPr lang="en-US" sz="1100" dirty="0">
                          <a:solidFill>
                            <a:srgbClr val="F3F6FF"/>
                          </a:solidFill>
                          <a:latin typeface="Calibri" pitchFamily="34" charset="0"/>
                          <a:ea typeface="Calibri" pitchFamily="34" charset="-122"/>
                          <a:cs typeface="Calibri" pitchFamily="34" charset="-120"/>
                        </a:rPr>
                        <a:t>H2 cost base (August deal, FOB = Korea landed cost times 0.92)</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$13.22</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b="1" dirty="0">
                          <a:solidFill>
                            <a:srgbClr val="F3F6FF"/>
                          </a:solidFill>
                          <a:latin typeface="Calibri" pitchFamily="34" charset="0"/>
                          <a:ea typeface="Calibri" pitchFamily="34" charset="-122"/>
                          <a:cs typeface="Calibri" pitchFamily="34" charset="-120"/>
                        </a:rPr>
                        <a:t>$11.87</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100" dirty="0">
                          <a:solidFill>
                            <a:srgbClr val="F3F6FF"/>
                          </a:solidFill>
                          <a:latin typeface="Calibri" pitchFamily="34" charset="0"/>
                          <a:ea typeface="Calibri" pitchFamily="34" charset="-122"/>
                          <a:cs typeface="Calibri" pitchFamily="34" charset="-120"/>
                        </a:rPr>
                        <a:t>Evidence based cost; FOB factor is a management estimate</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512064">
                <a:tc>
                  <a:txBody>
                    <a:bodyPr/>
                    <a:lstStyle/>
                    <a:p>
                      <a:pPr algn="l" indent="0" marL="0">
                        <a:buNone/>
                      </a:pPr>
                      <a:r>
                        <a:rPr lang="en-US" sz="1100" dirty="0">
                          <a:solidFill>
                            <a:srgbClr val="F3F6FF"/>
                          </a:solidFill>
                          <a:latin typeface="Calibri" pitchFamily="34" charset="0"/>
                          <a:ea typeface="Calibri" pitchFamily="34" charset="-122"/>
                          <a:cs typeface="Calibri" pitchFamily="34" charset="-120"/>
                        </a:rPr>
                        <a:t>August model assumption (38% of price)</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$17.10</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00" b="1" dirty="0">
                          <a:solidFill>
                            <a:srgbClr val="F3F6FF"/>
                          </a:solidFill>
                          <a:latin typeface="Calibri" pitchFamily="34" charset="0"/>
                          <a:ea typeface="Calibri" pitchFamily="34" charset="-122"/>
                          <a:cs typeface="Calibri" pitchFamily="34" charset="-120"/>
                        </a:rPr>
                        <a:t>$8.00</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100" dirty="0">
                          <a:solidFill>
                            <a:srgbClr val="F3F6FF"/>
                          </a:solidFill>
                          <a:latin typeface="Calibri" pitchFamily="34" charset="0"/>
                          <a:ea typeface="Calibri" pitchFamily="34" charset="-122"/>
                          <a:cs typeface="Calibri" pitchFamily="34" charset="-120"/>
                        </a:rPr>
                        <a:t>Evidence based (August deck assumption)</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512064">
                <a:tc>
                  <a:txBody>
                    <a:bodyPr/>
                    <a:lstStyle/>
                    <a:p>
                      <a:pPr algn="l" indent="0" marL="0">
                        <a:buNone/>
                      </a:pPr>
                      <a:r>
                        <a:rPr lang="en-US" sz="1100" dirty="0">
                          <a:solidFill>
                            <a:srgbClr val="F3F6FF"/>
                          </a:solidFill>
                          <a:latin typeface="Calibri" pitchFamily="34" charset="0"/>
                          <a:ea typeface="Calibri" pitchFamily="34" charset="-122"/>
                          <a:cs typeface="Calibri" pitchFamily="34" charset="-120"/>
                        </a:rPr>
                        <a:t>Alibaba benchmark, low ($17 FOB for a comparable 30 ft AOC)</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$26.70</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00" b="1" dirty="0">
                          <a:solidFill>
                            <a:srgbClr val="F3F6FF"/>
                          </a:solidFill>
                          <a:latin typeface="Calibri" pitchFamily="34" charset="0"/>
                          <a:ea typeface="Calibri" pitchFamily="34" charset="-122"/>
                          <a:cs typeface="Calibri" pitchFamily="34" charset="-120"/>
                        </a:rPr>
                        <a:t>($1.61)</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100" dirty="0">
                          <a:solidFill>
                            <a:srgbClr val="F3F6FF"/>
                          </a:solidFill>
                          <a:latin typeface="Calibri" pitchFamily="34" charset="0"/>
                          <a:ea typeface="Calibri" pitchFamily="34" charset="-122"/>
                          <a:cs typeface="Calibri" pitchFamily="34" charset="-120"/>
                        </a:rPr>
                        <a:t>Evidence based quote, flagged</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512064">
                <a:tc>
                  <a:txBody>
                    <a:bodyPr/>
                    <a:lstStyle/>
                    <a:p>
                      <a:pPr algn="l" indent="0" marL="0">
                        <a:buNone/>
                      </a:pPr>
                      <a:r>
                        <a:rPr lang="en-US" sz="1100" dirty="0">
                          <a:solidFill>
                            <a:srgbClr val="F3F6FF"/>
                          </a:solidFill>
                          <a:latin typeface="Calibri" pitchFamily="34" charset="0"/>
                          <a:ea typeface="Calibri" pitchFamily="34" charset="-122"/>
                          <a:cs typeface="Calibri" pitchFamily="34" charset="-120"/>
                        </a:rPr>
                        <a:t>Alibaba benchmark, high ($22 FOB)</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00" dirty="0">
                          <a:solidFill>
                            <a:srgbClr val="F3F6FF"/>
                          </a:solidFill>
                          <a:latin typeface="Calibri" pitchFamily="34" charset="0"/>
                          <a:ea typeface="Calibri" pitchFamily="34" charset="-122"/>
                          <a:cs typeface="Calibri" pitchFamily="34" charset="-120"/>
                        </a:rPr>
                        <a:t>$33.71</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00" b="1" dirty="0">
                          <a:solidFill>
                            <a:srgbClr val="F3F6FF"/>
                          </a:solidFill>
                          <a:latin typeface="Calibri" pitchFamily="34" charset="0"/>
                          <a:ea typeface="Calibri" pitchFamily="34" charset="-122"/>
                          <a:cs typeface="Calibri" pitchFamily="34" charset="-120"/>
                        </a:rPr>
                        <a:t>($8.61)</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100" dirty="0">
                          <a:solidFill>
                            <a:srgbClr val="F3F6FF"/>
                          </a:solidFill>
                          <a:latin typeface="Calibri" pitchFamily="34" charset="0"/>
                          <a:ea typeface="Calibri" pitchFamily="34" charset="-122"/>
                          <a:cs typeface="Calibri" pitchFamily="34" charset="-120"/>
                        </a:rPr>
                        <a:t>Evidence based quote, flagged</a:t>
                      </a:r>
                      <a:endParaRPr lang="en-US" sz="11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bl>
          </a:graphicData>
        </a:graphic>
      </p:graphicFrame>
      <p:sp>
        <p:nvSpPr>
          <p:cNvPr id="5" name="Text 1"/>
          <p:cNvSpPr txBox="1"/>
          <p:nvPr/>
        </p:nvSpPr>
        <p:spPr>
          <a:xfrm>
            <a:off x="457200" y="3767328"/>
            <a:ext cx="7223760" cy="365760"/>
          </a:xfrm>
          <a:prstGeom prst="rect">
            <a:avLst/>
          </a:prstGeom>
          <a:noFill/>
          <a:ln/>
        </p:spPr>
        <p:txBody>
          <a:bodyPr wrap="square" lIns="0" tIns="0" rIns="0" bIns="0" rtlCol="0" anchor="t"/>
          <a:lstStyle/>
          <a:p>
            <a:pPr algn="l" indent="0" marL="0">
              <a:buNone/>
            </a:pPr>
            <a:r>
              <a:rPr lang="en-US" sz="1000" dirty="0">
                <a:solidFill>
                  <a:schemeClr val="tx2"/>
                </a:solidFill>
              </a:rPr>
              <a:t>Net uses the August fee structure (FBA $5.50); the price ladder on slide 7 uses the SKU tab FBA estimate of $4.90, hence $12.47 there.</a:t>
            </a:r>
            <a:endParaRPr lang="en-US" sz="1000" dirty="0"/>
          </a:p>
        </p:txBody>
      </p:sp>
      <p:sp>
        <p:nvSpPr>
          <p:cNvPr id="6" name="card"/>
          <p:cNvSpPr/>
          <p:nvPr/>
        </p:nvSpPr>
        <p:spPr>
          <a:xfrm>
            <a:off x="457200" y="4160520"/>
            <a:ext cx="7223760" cy="1325880"/>
          </a:xfrm>
          <a:prstGeom prst="roundRect">
            <a:avLst>
              <a:gd name="adj" fmla="val 8276"/>
            </a:avLst>
          </a:prstGeom>
          <a:solidFill>
            <a:schemeClr val="bg2"/>
          </a:solidFill>
          <a:ln w="12700">
            <a:solidFill>
              <a:srgbClr val="141C36"/>
            </a:solidFill>
            <a:prstDash val="solid"/>
          </a:ln>
        </p:spPr>
      </p:sp>
      <p:sp>
        <p:nvSpPr>
          <p:cNvPr id="7" name="Text 3"/>
          <p:cNvSpPr txBox="1"/>
          <p:nvPr/>
        </p:nvSpPr>
        <p:spPr>
          <a:xfrm>
            <a:off x="685800" y="4206240"/>
            <a:ext cx="6766560" cy="292608"/>
          </a:xfrm>
          <a:prstGeom prst="rect">
            <a:avLst/>
          </a:prstGeom>
          <a:noFill/>
          <a:ln/>
        </p:spPr>
        <p:txBody>
          <a:bodyPr wrap="square" lIns="0" tIns="0" rIns="0" bIns="0" rtlCol="0" anchor="t"/>
          <a:lstStyle/>
          <a:p>
            <a:pPr algn="l" indent="0" marL="0">
              <a:buNone/>
            </a:pPr>
            <a:r>
              <a:rPr lang="en-US" sz="1400" b="1" dirty="0">
                <a:solidFill>
                  <a:schemeClr val="accent3"/>
                </a:solidFill>
              </a:rPr>
              <a:t>Plain statement</a:t>
            </a:r>
            <a:endParaRPr lang="en-US" sz="1400" dirty="0"/>
          </a:p>
        </p:txBody>
      </p:sp>
      <p:sp>
        <p:nvSpPr>
          <p:cNvPr id="8" name="Text 4"/>
          <p:cNvSpPr txBox="1"/>
          <p:nvPr/>
        </p:nvSpPr>
        <p:spPr>
          <a:xfrm>
            <a:off x="685800" y="4498848"/>
            <a:ext cx="6766560" cy="960120"/>
          </a:xfrm>
          <a:prstGeom prst="rect">
            <a:avLst/>
          </a:prstGeom>
          <a:noFill/>
          <a:ln/>
        </p:spPr>
        <p:txBody>
          <a:bodyPr wrap="square" lIns="0" tIns="0" rIns="0" bIns="0" rtlCol="0" anchor="t"/>
          <a:lstStyle/>
          <a:p>
            <a:pPr algn="l" indent="0" marL="0">
              <a:buNone/>
            </a:pPr>
            <a:r>
              <a:rPr lang="en-US" sz="1200" dirty="0">
                <a:solidFill>
                  <a:schemeClr val="tx1"/>
                </a:solidFill>
              </a:rPr>
              <a:t>At the Alibaba cost the hero SKU loses money at $44.99. The H2 cost base is $7.38 FOB per unit, far below the $17 to $22 quote. Until the factory confirms a written FOB price for US volumes, this gap is the largest risk in the plan.</a:t>
            </a:r>
            <a:endParaRPr lang="en-US" sz="1200" dirty="0"/>
          </a:p>
        </p:txBody>
      </p:sp>
      <p:sp>
        <p:nvSpPr>
          <p:cNvPr id="9" name="Text 5"/>
          <p:cNvSpPr txBox="1"/>
          <p:nvPr/>
        </p:nvSpPr>
        <p:spPr>
          <a:xfrm>
            <a:off x="457200" y="5532120"/>
            <a:ext cx="7223760" cy="777240"/>
          </a:xfrm>
          <a:prstGeom prst="rect">
            <a:avLst/>
          </a:prstGeom>
          <a:noFill/>
          <a:ln/>
        </p:spPr>
        <p:txBody>
          <a:bodyPr wrap="square" lIns="0" tIns="0" rIns="0" bIns="0" rtlCol="0" anchor="t"/>
          <a:lstStyle/>
          <a:p>
            <a:pPr algn="l" indent="0" marL="0">
              <a:buNone/>
            </a:pPr>
            <a:r>
              <a:rPr lang="en-US" sz="1200" b="1" dirty="0">
                <a:solidFill>
                  <a:schemeClr val="accent5"/>
                </a:solidFill>
              </a:rPr>
              <a:t>Action in week 1: written FOB quote sheet from the factory for the 5 launch SKUs at 300, 1,000 and 5,000 units [PLACEHOLDER: factory FOB quote sheet].</a:t>
            </a:r>
            <a:endParaRPr lang="en-US" sz="1200" dirty="0"/>
          </a:p>
        </p:txBody>
      </p:sp>
      <p:sp>
        <p:nvSpPr>
          <p:cNvPr id="10" name="Text 6"/>
          <p:cNvSpPr txBox="1"/>
          <p:nvPr/>
        </p:nvSpPr>
        <p:spPr>
          <a:xfrm>
            <a:off x="7909560" y="1188720"/>
            <a:ext cx="3822192" cy="320040"/>
          </a:xfrm>
          <a:prstGeom prst="rect">
            <a:avLst/>
          </a:prstGeom>
          <a:noFill/>
          <a:ln/>
        </p:spPr>
        <p:txBody>
          <a:bodyPr wrap="square" lIns="0" tIns="0" rIns="0" bIns="0" rtlCol="0" anchor="t"/>
          <a:lstStyle/>
          <a:p>
            <a:pPr algn="l" indent="0" marL="0">
              <a:buNone/>
            </a:pPr>
            <a:r>
              <a:rPr lang="en-US" sz="1300" b="1" dirty="0">
                <a:solidFill>
                  <a:schemeClr val="tx1"/>
                </a:solidFill>
              </a:rPr>
              <a:t>Net per hero unit by cost base</a:t>
            </a:r>
            <a:endParaRPr lang="en-US" sz="1300" dirty="0"/>
          </a:p>
        </p:txBody>
      </p:sp>
      <p:graphicFrame>
        <p:nvGraphicFramePr>
          <p:cNvPr id="11" name="Chart 0" descr=""/>
          <p:cNvGraphicFramePr/>
          <p:nvPr/>
        </p:nvGraphicFramePr>
        <p:xfrm>
          <a:off x="7909560" y="1508760"/>
          <a:ext cx="3822192" cy="39319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Eighteen month Amazon US P&amp;L</a:t>
            </a:r>
            <a:endParaRPr lang="en-US" sz="3200" dirty="0"/>
          </a:p>
        </p:txBody>
      </p:sp>
      <p:graphicFrame>
        <p:nvGraphicFramePr>
          <p:cNvPr id="4" name="Chart 0" descr=""/>
          <p:cNvGraphicFramePr/>
          <p:nvPr/>
        </p:nvGraphicFramePr>
        <p:xfrm>
          <a:off x="457200" y="1188720"/>
          <a:ext cx="7269480" cy="411480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57200" y="5394960"/>
            <a:ext cx="11277295" cy="914400"/>
          </a:xfrm>
          <a:prstGeom prst="rect">
            <a:avLst/>
          </a:prstGeom>
          <a:noFill/>
          <a:ln/>
        </p:spPr>
        <p:txBody>
          <a:bodyPr wrap="square" lIns="0" tIns="0" rIns="0" bIns="0" rtlCol="0" anchor="t"/>
          <a:lstStyle/>
          <a:p>
            <a:pPr algn="l" indent="0" marL="0">
              <a:buNone/>
            </a:pPr>
            <a:r>
              <a:rPr lang="en-US" sz="1100" dirty="0">
                <a:solidFill>
                  <a:schemeClr val="tx2"/>
                </a:solidFill>
              </a:rPr>
              <a:t>Medium reproduces the August model (evidence based): ASP $42, landed COGS 38%, returns 3%, ad spend 30% then 22%, 15%, 11% of revenue by phase, fixed $850 per month, seller fee $39.99, launch costs $9,500. Low and High are calibrated management estimates. The single variable separating Low from Medium is the duty ruling and the cost it implies.</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955280" y="1188720"/>
          <a:ext cx="3776472" cy="914400"/>
        </p:xfrm>
        <a:graphic>
          <a:graphicData uri="http://schemas.openxmlformats.org/drawingml/2006/table">
            <a:tbl>
              <a:tblPr/>
              <a:tblGrid>
                <a:gridCol w="1490472"/>
                <a:gridCol w="731520"/>
                <a:gridCol w="822960"/>
                <a:gridCol w="731520"/>
              </a:tblGrid>
              <a:tr h="411480">
                <a:tc>
                  <a:txBody>
                    <a:bodyPr/>
                    <a:lstStyle/>
                    <a:p>
                      <a:pPr algn="l" indent="0" marL="0">
                        <a:buNone/>
                      </a:pP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411480">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Revenue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$633K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$1.17M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$1.85M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11480">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Net</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($20K)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$153K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$447K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11480">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Net margin</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(3.1%)</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13.1%</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24.2%</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11480">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Cumulative breakeven</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Month 8</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Month 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11480">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Month 18 run rate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$834K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$1.54M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$2.44M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11480">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Exit margin (Month 18)</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2.2%</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17.2%</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27.3%</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11480">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Units</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16,662</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27,770</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43,047</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Five year trajectory</a:t>
            </a:r>
            <a:endParaRPr lang="en-US" sz="3200" dirty="0"/>
          </a:p>
        </p:txBody>
      </p:sp>
      <p:graphicFrame>
        <p:nvGraphicFramePr>
          <p:cNvPr id="4" name="Chart 0" descr=""/>
          <p:cNvGraphicFramePr/>
          <p:nvPr/>
        </p:nvGraphicFramePr>
        <p:xfrm>
          <a:off x="457200" y="1188720"/>
          <a:ext cx="6675120" cy="4937760"/>
        </p:xfrm>
        <a:graphic xmlns:a="http://schemas.openxmlformats.org/drawingml/2006/main">
          <a:graphicData uri="http://schemas.openxmlformats.org/drawingml/2006/chart">
            <c:chart xmlns:c="http://schemas.openxmlformats.org/drawingml/2006/chart" r:id="rId1"/>
          </a:graphicData>
        </a:graphic>
      </p:graphicFrame>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360920" y="1188720"/>
          <a:ext cx="4370832" cy="914400"/>
        </p:xfrm>
        <a:graphic>
          <a:graphicData uri="http://schemas.openxmlformats.org/drawingml/2006/table">
            <a:tbl>
              <a:tblPr/>
              <a:tblGrid>
                <a:gridCol w="713232"/>
                <a:gridCol w="548640"/>
                <a:gridCol w="566928"/>
                <a:gridCol w="566928"/>
                <a:gridCol w="566928"/>
                <a:gridCol w="566928"/>
                <a:gridCol w="841248"/>
              </a:tblGrid>
              <a:tr h="411480">
                <a:tc>
                  <a:txBody>
                    <a:bodyPr/>
                    <a:lstStyle/>
                    <a:p>
                      <a:pPr algn="l" indent="0" marL="0">
                        <a:buNone/>
                      </a:pP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950" b="1" dirty="0">
                          <a:solidFill>
                            <a:srgbClr val="2DE2FF"/>
                          </a:solidFill>
                          <a:latin typeface="Calibri" pitchFamily="34" charset="0"/>
                          <a:ea typeface="Calibri" pitchFamily="34" charset="-122"/>
                          <a:cs typeface="Calibri" pitchFamily="34" charset="-120"/>
                        </a:rPr>
                        <a:t>Year 1</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950" b="1" dirty="0">
                          <a:solidFill>
                            <a:srgbClr val="2DE2FF"/>
                          </a:solidFill>
                          <a:latin typeface="Calibri" pitchFamily="34" charset="0"/>
                          <a:ea typeface="Calibri" pitchFamily="34" charset="-122"/>
                          <a:cs typeface="Calibri" pitchFamily="34" charset="-120"/>
                        </a:rPr>
                        <a:t>Year 2</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950" b="1" dirty="0">
                          <a:solidFill>
                            <a:srgbClr val="2DE2FF"/>
                          </a:solidFill>
                          <a:latin typeface="Calibri" pitchFamily="34" charset="0"/>
                          <a:ea typeface="Calibri" pitchFamily="34" charset="-122"/>
                          <a:cs typeface="Calibri" pitchFamily="34" charset="-120"/>
                        </a:rPr>
                        <a:t>Year 3</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950" b="1" dirty="0">
                          <a:solidFill>
                            <a:srgbClr val="2DE2FF"/>
                          </a:solidFill>
                          <a:latin typeface="Calibri" pitchFamily="34" charset="0"/>
                          <a:ea typeface="Calibri" pitchFamily="34" charset="-122"/>
                          <a:cs typeface="Calibri" pitchFamily="34" charset="-120"/>
                        </a:rPr>
                        <a:t>Year 4</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950" b="1" dirty="0">
                          <a:solidFill>
                            <a:srgbClr val="2DE2FF"/>
                          </a:solidFill>
                          <a:latin typeface="Calibri" pitchFamily="34" charset="0"/>
                          <a:ea typeface="Calibri" pitchFamily="34" charset="-122"/>
                          <a:cs typeface="Calibri" pitchFamily="34" charset="-120"/>
                        </a:rPr>
                        <a:t>Year 5</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950" b="1" dirty="0">
                          <a:solidFill>
                            <a:srgbClr val="2DE2FF"/>
                          </a:solidFill>
                          <a:latin typeface="Calibri" pitchFamily="34" charset="0"/>
                          <a:ea typeface="Calibri" pitchFamily="34" charset="-122"/>
                          <a:cs typeface="Calibri" pitchFamily="34" charset="-120"/>
                        </a:rPr>
                        <a:t>Year 5 net</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411480">
                <a:tc>
                  <a:txBody>
                    <a:bodyPr/>
                    <a:lstStyle/>
                    <a:p>
                      <a:pPr algn="l" indent="0" marL="0">
                        <a:buNone/>
                      </a:pPr>
                      <a:r>
                        <a:rPr lang="en-US" sz="950" b="1" dirty="0">
                          <a:solidFill>
                            <a:srgbClr val="F3F6FF"/>
                          </a:solidFill>
                          <a:latin typeface="Calibri" pitchFamily="34" charset="0"/>
                          <a:ea typeface="Calibri" pitchFamily="34" charset="-122"/>
                          <a:cs typeface="Calibri" pitchFamily="34" charset="-120"/>
                        </a:rPr>
                        <a:t>Low</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dirty="0">
                          <a:solidFill>
                            <a:srgbClr val="F3F6FF"/>
                          </a:solidFill>
                          <a:latin typeface="Calibri" pitchFamily="34" charset="0"/>
                          <a:ea typeface="Calibri" pitchFamily="34" charset="-122"/>
                          <a:cs typeface="Calibri" pitchFamily="34" charset="-120"/>
                        </a:rPr>
                        <a:t>$268K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dirty="0">
                          <a:solidFill>
                            <a:srgbClr val="F3F6FF"/>
                          </a:solidFill>
                          <a:latin typeface="Calibri" pitchFamily="34" charset="0"/>
                          <a:ea typeface="Calibri" pitchFamily="34" charset="-122"/>
                          <a:cs typeface="Calibri" pitchFamily="34" charset="-120"/>
                        </a:rPr>
                        <a:t>$642K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dirty="0">
                          <a:solidFill>
                            <a:srgbClr val="F3F6FF"/>
                          </a:solidFill>
                          <a:latin typeface="Calibri" pitchFamily="34" charset="0"/>
                          <a:ea typeface="Calibri" pitchFamily="34" charset="-122"/>
                          <a:cs typeface="Calibri" pitchFamily="34" charset="-120"/>
                        </a:rPr>
                        <a:t>$738K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dirty="0">
                          <a:solidFill>
                            <a:srgbClr val="F3F6FF"/>
                          </a:solidFill>
                          <a:latin typeface="Calibri" pitchFamily="34" charset="0"/>
                          <a:ea typeface="Calibri" pitchFamily="34" charset="-122"/>
                          <a:cs typeface="Calibri" pitchFamily="34" charset="-120"/>
                        </a:rPr>
                        <a:t>$763K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dirty="0">
                          <a:solidFill>
                            <a:srgbClr val="F3F6FF"/>
                          </a:solidFill>
                          <a:latin typeface="Calibri" pitchFamily="34" charset="0"/>
                          <a:ea typeface="Calibri" pitchFamily="34" charset="-122"/>
                          <a:cs typeface="Calibri" pitchFamily="34" charset="-120"/>
                        </a:rPr>
                        <a:t>$768K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dirty="0">
                          <a:solidFill>
                            <a:srgbClr val="FFB547"/>
                          </a:solidFill>
                          <a:latin typeface="Calibri" pitchFamily="34" charset="0"/>
                          <a:ea typeface="Calibri" pitchFamily="34" charset="-122"/>
                          <a:cs typeface="Calibri" pitchFamily="34" charset="-120"/>
                        </a:rPr>
                        <a:t>($2K), (0.3%)</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11480">
                <a:tc>
                  <a:txBody>
                    <a:bodyPr/>
                    <a:lstStyle/>
                    <a:p>
                      <a:pPr algn="l" indent="0" marL="0">
                        <a:buNone/>
                      </a:pPr>
                      <a:r>
                        <a:rPr lang="en-US" sz="950" b="1" dirty="0">
                          <a:solidFill>
                            <a:srgbClr val="F3F6FF"/>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950" dirty="0">
                          <a:solidFill>
                            <a:srgbClr val="F3F6FF"/>
                          </a:solidFill>
                          <a:latin typeface="Calibri" pitchFamily="34" charset="0"/>
                          <a:ea typeface="Calibri" pitchFamily="34" charset="-122"/>
                          <a:cs typeface="Calibri" pitchFamily="34" charset="-120"/>
                        </a:rPr>
                        <a:t>$494K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950" dirty="0">
                          <a:solidFill>
                            <a:srgbClr val="F3F6FF"/>
                          </a:solidFill>
                          <a:latin typeface="Calibri" pitchFamily="34" charset="0"/>
                          <a:ea typeface="Calibri" pitchFamily="34" charset="-122"/>
                          <a:cs typeface="Calibri" pitchFamily="34" charset="-120"/>
                        </a:rPr>
                        <a:t>$1.77M</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950" dirty="0">
                          <a:solidFill>
                            <a:srgbClr val="F3F6FF"/>
                          </a:solidFill>
                          <a:latin typeface="Calibri" pitchFamily="34" charset="0"/>
                          <a:ea typeface="Calibri" pitchFamily="34" charset="-122"/>
                          <a:cs typeface="Calibri" pitchFamily="34" charset="-120"/>
                        </a:rPr>
                        <a:t>$2.61M</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950" dirty="0">
                          <a:solidFill>
                            <a:srgbClr val="F3F6FF"/>
                          </a:solidFill>
                          <a:latin typeface="Calibri" pitchFamily="34" charset="0"/>
                          <a:ea typeface="Calibri" pitchFamily="34" charset="-122"/>
                          <a:cs typeface="Calibri" pitchFamily="34" charset="-120"/>
                        </a:rPr>
                        <a:t>$3.66M</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950" dirty="0">
                          <a:solidFill>
                            <a:srgbClr val="F3F6FF"/>
                          </a:solidFill>
                          <a:latin typeface="Calibri" pitchFamily="34" charset="0"/>
                          <a:ea typeface="Calibri" pitchFamily="34" charset="-122"/>
                          <a:cs typeface="Calibri" pitchFamily="34" charset="-120"/>
                        </a:rPr>
                        <a:t>$4.58M</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950" dirty="0">
                          <a:solidFill>
                            <a:srgbClr val="3DDC97"/>
                          </a:solidFill>
                          <a:latin typeface="Calibri" pitchFamily="34" charset="0"/>
                          <a:ea typeface="Calibri" pitchFamily="34" charset="-122"/>
                          <a:cs typeface="Calibri" pitchFamily="34" charset="-120"/>
                        </a:rPr>
                        <a:t>$613K, 13.4%</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11480">
                <a:tc>
                  <a:txBody>
                    <a:bodyPr/>
                    <a:lstStyle/>
                    <a:p>
                      <a:pPr algn="l" indent="0" marL="0">
                        <a:buNone/>
                      </a:pPr>
                      <a:r>
                        <a:rPr lang="en-US" sz="950" b="1" dirty="0">
                          <a:solidFill>
                            <a:srgbClr val="F3F6FF"/>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dirty="0">
                          <a:solidFill>
                            <a:srgbClr val="F3F6FF"/>
                          </a:solidFill>
                          <a:latin typeface="Calibri" pitchFamily="34" charset="0"/>
                          <a:ea typeface="Calibri" pitchFamily="34" charset="-122"/>
                          <a:cs typeface="Calibri" pitchFamily="34" charset="-120"/>
                        </a:rPr>
                        <a:t>$785K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dirty="0">
                          <a:solidFill>
                            <a:srgbClr val="F3F6FF"/>
                          </a:solidFill>
                          <a:latin typeface="Calibri" pitchFamily="34" charset="0"/>
                          <a:ea typeface="Calibri" pitchFamily="34" charset="-122"/>
                          <a:cs typeface="Calibri" pitchFamily="34" charset="-120"/>
                        </a:rPr>
                        <a:t>$2.84M</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dirty="0">
                          <a:solidFill>
                            <a:srgbClr val="F3F6FF"/>
                          </a:solidFill>
                          <a:latin typeface="Calibri" pitchFamily="34" charset="0"/>
                          <a:ea typeface="Calibri" pitchFamily="34" charset="-122"/>
                          <a:cs typeface="Calibri" pitchFamily="34" charset="-120"/>
                        </a:rPr>
                        <a:t>$4.42M</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dirty="0">
                          <a:solidFill>
                            <a:srgbClr val="F3F6FF"/>
                          </a:solidFill>
                          <a:latin typeface="Calibri" pitchFamily="34" charset="0"/>
                          <a:ea typeface="Calibri" pitchFamily="34" charset="-122"/>
                          <a:cs typeface="Calibri" pitchFamily="34" charset="-120"/>
                        </a:rPr>
                        <a:t>$6.47M</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dirty="0">
                          <a:solidFill>
                            <a:srgbClr val="F3F6FF"/>
                          </a:solidFill>
                          <a:latin typeface="Calibri" pitchFamily="34" charset="0"/>
                          <a:ea typeface="Calibri" pitchFamily="34" charset="-122"/>
                          <a:cs typeface="Calibri" pitchFamily="34" charset="-120"/>
                        </a:rPr>
                        <a:t>$8.30M</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dirty="0">
                          <a:solidFill>
                            <a:srgbClr val="3DDC97"/>
                          </a:solidFill>
                          <a:latin typeface="Calibri" pitchFamily="34" charset="0"/>
                          <a:ea typeface="Calibri" pitchFamily="34" charset="-122"/>
                          <a:cs typeface="Calibri" pitchFamily="34" charset="-120"/>
                        </a:rPr>
                        <a:t>$1.84M, 22.2%</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bl>
          </a:graphicData>
        </a:graphic>
      </p:graphicFrame>
      <p:sp>
        <p:nvSpPr>
          <p:cNvPr id="6" name="card"/>
          <p:cNvSpPr/>
          <p:nvPr/>
        </p:nvSpPr>
        <p:spPr>
          <a:xfrm>
            <a:off x="7360920" y="3063240"/>
            <a:ext cx="4370832" cy="3063240"/>
          </a:xfrm>
          <a:prstGeom prst="roundRect">
            <a:avLst>
              <a:gd name="adj" fmla="val 3582"/>
            </a:avLst>
          </a:prstGeom>
          <a:solidFill>
            <a:srgbClr val="10172D"/>
          </a:solidFill>
          <a:ln w="12700">
            <a:solidFill>
              <a:srgbClr val="10172D"/>
            </a:solidFill>
            <a:prstDash val="solid"/>
          </a:ln>
        </p:spPr>
      </p:sp>
      <p:sp>
        <p:nvSpPr>
          <p:cNvPr id="7" name="Text 2"/>
          <p:cNvSpPr txBox="1"/>
          <p:nvPr/>
        </p:nvSpPr>
        <p:spPr>
          <a:xfrm>
            <a:off x="7589520" y="3200400"/>
            <a:ext cx="3931920" cy="2834640"/>
          </a:xfrm>
          <a:prstGeom prst="rect">
            <a:avLst/>
          </a:prstGeom>
          <a:noFill/>
          <a:ln/>
        </p:spPr>
        <p:txBody>
          <a:bodyPr wrap="square" lIns="0" tIns="0" rIns="0" bIns="0" rtlCol="0" anchor="t"/>
          <a:lstStyle/>
          <a:p>
            <a:pPr algn="l" indent="0" marL="0">
              <a:buNone/>
            </a:pPr>
            <a:r>
              <a:rPr lang="en-US" sz="1400" dirty="0">
                <a:solidFill>
                  <a:schemeClr val="tx1"/>
                </a:solidFill>
              </a:rPr>
              <a:t>Stacked columns: Medium revenue by channel. Year 1 is Amazon US only and ties to the 18 month model. Year 2 adds eBay and Walmart overflow and B2B installers, Year 3 the DTC site and roadmap SKUs, Years 4 and 5 Amazon Canada and the pro line.</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What must be true for each band</a:t>
            </a:r>
            <a:endParaRPr 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7295" cy="914400"/>
        </p:xfrm>
        <a:graphic>
          <a:graphicData uri="http://schemas.openxmlformats.org/drawingml/2006/table">
            <a:tbl>
              <a:tblPr/>
              <a:tblGrid>
                <a:gridCol w="2651760"/>
                <a:gridCol w="2743200"/>
                <a:gridCol w="3017520"/>
                <a:gridCol w="2862072"/>
              </a:tblGrid>
              <a:tr h="420624">
                <a:tc>
                  <a:txBody>
                    <a:bodyPr/>
                    <a:lstStyle/>
                    <a:p>
                      <a:pPr algn="l" indent="0" marL="0">
                        <a:buNone/>
                      </a:pPr>
                      <a:r>
                        <a:rPr lang="en-US" sz="1050" b="1" dirty="0">
                          <a:solidFill>
                            <a:srgbClr val="2DE2FF"/>
                          </a:solidFill>
                          <a:latin typeface="Calibri" pitchFamily="34" charset="0"/>
                          <a:ea typeface="Calibri" pitchFamily="34" charset="-122"/>
                          <a:cs typeface="Calibri" pitchFamily="34" charset="-120"/>
                        </a:rPr>
                        <a:t>Driver</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050" b="1" dirty="0">
                          <a:solidFill>
                            <a:srgbClr val="2DE2FF"/>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050" b="1" dirty="0">
                          <a:solidFill>
                            <a:srgbClr val="2DE2FF"/>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050" b="1" dirty="0">
                          <a:solidFill>
                            <a:srgbClr val="2DE2FF"/>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420624">
                <a:tc>
                  <a:txBody>
                    <a:bodyPr/>
                    <a:lstStyle/>
                    <a:p>
                      <a:pPr algn="l" indent="0" marL="0">
                        <a:buNone/>
                      </a:pPr>
                      <a:r>
                        <a:rPr lang="en-US" sz="1050" b="1" dirty="0">
                          <a:solidFill>
                            <a:srgbClr val="F3F6FF"/>
                          </a:solidFill>
                          <a:latin typeface="Calibri" pitchFamily="34" charset="0"/>
                          <a:ea typeface="Calibri" pitchFamily="34" charset="-122"/>
                          <a:cs typeface="Calibri" pitchFamily="34" charset="-120"/>
                        </a:rPr>
                        <a:t>Amazon units: Year 1 and growth Years 3 to 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7,062 units, then +10%, +8%, +5%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2DE2FF"/>
                          </a:solidFill>
                          <a:latin typeface="Calibri" pitchFamily="34" charset="0"/>
                          <a:ea typeface="Calibri" pitchFamily="34" charset="-122"/>
                          <a:cs typeface="Calibri" pitchFamily="34" charset="-120"/>
                        </a:rPr>
                        <a:t>11,770 units, then +30%, +20%, +12%</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18,245 units, then +35%, +25%, +15%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20624">
                <a:tc>
                  <a:txBody>
                    <a:bodyPr/>
                    <a:lstStyle/>
                    <a:p>
                      <a:pPr algn="l" indent="0" marL="0">
                        <a:buNone/>
                      </a:pPr>
                      <a:r>
                        <a:rPr lang="en-US" sz="1050" b="1" dirty="0">
                          <a:solidFill>
                            <a:srgbClr val="F3F6FF"/>
                          </a:solidFill>
                          <a:latin typeface="Calibri" pitchFamily="34" charset="0"/>
                          <a:ea typeface="Calibri" pitchFamily="34" charset="-122"/>
                          <a:cs typeface="Calibri" pitchFamily="34" charset="-120"/>
                        </a:rPr>
                        <a:t>ASP Year 1 to Year 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$38 to $33.62</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2DE2FF"/>
                          </a:solidFill>
                          <a:latin typeface="Calibri" pitchFamily="34" charset="0"/>
                          <a:ea typeface="Calibri" pitchFamily="34" charset="-122"/>
                          <a:cs typeface="Calibri" pitchFamily="34" charset="-120"/>
                        </a:rPr>
                        <a:t>$42 to $38.27</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$43 to $40.42</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20624">
                <a:tc>
                  <a:txBody>
                    <a:bodyPr/>
                    <a:lstStyle/>
                    <a:p>
                      <a:pPr algn="l" indent="0" marL="0">
                        <a:buNone/>
                      </a:pPr>
                      <a:r>
                        <a:rPr lang="en-US" sz="1050" b="1" dirty="0">
                          <a:solidFill>
                            <a:srgbClr val="F3F6FF"/>
                          </a:solidFill>
                          <a:latin typeface="Calibri" pitchFamily="34" charset="0"/>
                          <a:ea typeface="Calibri" pitchFamily="34" charset="-122"/>
                          <a:cs typeface="Calibri" pitchFamily="34" charset="-120"/>
                        </a:rPr>
                        <a:t>Landed COGS Year 1 to Year 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43% to 43%</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2DE2FF"/>
                          </a:solidFill>
                          <a:latin typeface="Calibri" pitchFamily="34" charset="0"/>
                          <a:ea typeface="Calibri" pitchFamily="34" charset="-122"/>
                          <a:cs typeface="Calibri" pitchFamily="34" charset="-120"/>
                        </a:rPr>
                        <a:t>38% to 37.5%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32% to 32%</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20624">
                <a:tc>
                  <a:txBody>
                    <a:bodyPr/>
                    <a:lstStyle/>
                    <a:p>
                      <a:pPr algn="l" indent="0" marL="0">
                        <a:buNone/>
                      </a:pPr>
                      <a:r>
                        <a:rPr lang="en-US" sz="1050" b="1" dirty="0">
                          <a:solidFill>
                            <a:srgbClr val="F3F6FF"/>
                          </a:solidFill>
                          <a:latin typeface="Calibri" pitchFamily="34" charset="0"/>
                          <a:ea typeface="Calibri" pitchFamily="34" charset="-122"/>
                          <a:cs typeface="Calibri" pitchFamily="34" charset="-120"/>
                        </a:rPr>
                        <a:t>Ad spend Year 1 to Year 5 (floor 8%)</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24.1% to 16.5%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2DE2FF"/>
                          </a:solidFill>
                          <a:latin typeface="Calibri" pitchFamily="34" charset="0"/>
                          <a:ea typeface="Calibri" pitchFamily="34" charset="-122"/>
                          <a:cs typeface="Calibri" pitchFamily="34" charset="-120"/>
                        </a:rPr>
                        <a:t>17.1% to 11.5%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13.1% to 9.5%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20624">
                <a:tc>
                  <a:txBody>
                    <a:bodyPr/>
                    <a:lstStyle/>
                    <a:p>
                      <a:pPr algn="l" indent="0" marL="0">
                        <a:buNone/>
                      </a:pPr>
                      <a:r>
                        <a:rPr lang="en-US" sz="1050" b="1" dirty="0">
                          <a:solidFill>
                            <a:srgbClr val="F3F6FF"/>
                          </a:solidFill>
                          <a:latin typeface="Calibri" pitchFamily="34" charset="0"/>
                          <a:ea typeface="Calibri" pitchFamily="34" charset="-122"/>
                          <a:cs typeface="Calibri" pitchFamily="34" charset="-120"/>
                        </a:rPr>
                        <a:t>Return rate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4% flat</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2DE2FF"/>
                          </a:solidFill>
                          <a:latin typeface="Calibri" pitchFamily="34" charset="0"/>
                          <a:ea typeface="Calibri" pitchFamily="34" charset="-122"/>
                          <a:cs typeface="Calibri" pitchFamily="34" charset="-120"/>
                        </a:rPr>
                        <a:t>3%, then 2.5%</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2.5%, then 2%</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20624">
                <a:tc>
                  <a:txBody>
                    <a:bodyPr/>
                    <a:lstStyle/>
                    <a:p>
                      <a:pPr algn="l" indent="0" marL="0">
                        <a:buNone/>
                      </a:pPr>
                      <a:r>
                        <a:rPr lang="en-US" sz="1050" b="1" dirty="0">
                          <a:solidFill>
                            <a:srgbClr val="F3F6FF"/>
                          </a:solidFill>
                          <a:latin typeface="Calibri" pitchFamily="34" charset="0"/>
                          <a:ea typeface="Calibri" pitchFamily="34" charset="-122"/>
                          <a:cs typeface="Calibri" pitchFamily="34" charset="-120"/>
                        </a:rPr>
                        <a:t>Duty and freight</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Copper rate, air only</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2DE2FF"/>
                          </a:solidFill>
                          <a:latin typeface="Calibri" pitchFamily="34" charset="0"/>
                          <a:ea typeface="Calibri" pitchFamily="34" charset="-122"/>
                          <a:cs typeface="Calibri" pitchFamily="34" charset="-120"/>
                        </a:rPr>
                        <a:t>Copper rate, ocean after the gate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Fiber ruling, ocean, volume pricing</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20624">
                <a:tc>
                  <a:txBody>
                    <a:bodyPr/>
                    <a:lstStyle/>
                    <a:p>
                      <a:pPr algn="l" indent="0" marL="0">
                        <a:buNone/>
                      </a:pPr>
                      <a:r>
                        <a:rPr lang="en-US" sz="1050" b="1" dirty="0">
                          <a:solidFill>
                            <a:srgbClr val="F3F6FF"/>
                          </a:solidFill>
                          <a:latin typeface="Calibri" pitchFamily="34" charset="0"/>
                          <a:ea typeface="Calibri" pitchFamily="34" charset="-122"/>
                          <a:cs typeface="Calibri" pitchFamily="34" charset="-120"/>
                        </a:rPr>
                        <a:t>Channels beyond Amazon US</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eBay and Walmart overflow; B2B $60K from Year 3</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2DE2FF"/>
                          </a:solidFill>
                          <a:latin typeface="Calibri" pitchFamily="34" charset="0"/>
                          <a:ea typeface="Calibri" pitchFamily="34" charset="-122"/>
                          <a:cs typeface="Calibri" pitchFamily="34" charset="-120"/>
                        </a:rPr>
                        <a:t>B2B $120K in Year 2 to $850K; DTC, Canada, pro line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1.8 times the Medium channel revenue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20624">
                <a:tc>
                  <a:txBody>
                    <a:bodyPr/>
                    <a:lstStyle/>
                    <a:p>
                      <a:pPr algn="l" indent="0" marL="0">
                        <a:buNone/>
                      </a:pPr>
                      <a:r>
                        <a:rPr lang="en-US" sz="1050" b="1" dirty="0">
                          <a:solidFill>
                            <a:srgbClr val="F3F6FF"/>
                          </a:solidFill>
                          <a:latin typeface="Calibri" pitchFamily="34" charset="0"/>
                          <a:ea typeface="Calibri" pitchFamily="34" charset="-122"/>
                          <a:cs typeface="Calibri" pitchFamily="34" charset="-120"/>
                        </a:rPr>
                        <a:t>Lost quarter (listing suppression)</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Months 19 to 21 at 10% of trend</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2DE2FF"/>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20624">
                <a:tc>
                  <a:txBody>
                    <a:bodyPr/>
                    <a:lstStyle/>
                    <a:p>
                      <a:pPr algn="l" indent="0" marL="0">
                        <a:buNone/>
                      </a:pPr>
                      <a:r>
                        <a:rPr lang="en-US" sz="1050" b="1" dirty="0">
                          <a:solidFill>
                            <a:srgbClr val="F3F6FF"/>
                          </a:solidFill>
                          <a:latin typeface="Calibri" pitchFamily="34" charset="0"/>
                          <a:ea typeface="Calibri" pitchFamily="34" charset="-122"/>
                          <a:cs typeface="Calibri" pitchFamily="34" charset="-120"/>
                        </a:rPr>
                        <a:t>Year 5 result</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$768K, ($2K) net</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2DE2FF"/>
                          </a:solidFill>
                          <a:latin typeface="Calibri" pitchFamily="34" charset="0"/>
                          <a:ea typeface="Calibri" pitchFamily="34" charset="-122"/>
                          <a:cs typeface="Calibri" pitchFamily="34" charset="-120"/>
                        </a:rPr>
                        <a:t>$4.58M, $613K net</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$8.30M, $1.84M net</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bl>
          </a:graphicData>
        </a:graphic>
      </p:graphicFrame>
      <p:sp>
        <p:nvSpPr>
          <p:cNvPr id="5" name="Text 1"/>
          <p:cNvSpPr txBox="1"/>
          <p:nvPr/>
        </p:nvSpPr>
        <p:spPr>
          <a:xfrm>
            <a:off x="457200" y="5623560"/>
            <a:ext cx="11277295" cy="640080"/>
          </a:xfrm>
          <a:prstGeom prst="rect">
            <a:avLst/>
          </a:prstGeom>
          <a:noFill/>
          <a:ln/>
        </p:spPr>
        <p:txBody>
          <a:bodyPr wrap="square" lIns="0" tIns="0" rIns="0" bIns="0" rtlCol="0" anchor="t"/>
          <a:lstStyle/>
          <a:p>
            <a:pPr algn="l" indent="0" marL="0">
              <a:buNone/>
            </a:pPr>
            <a:r>
              <a:rPr lang="en-US" sz="1100" dirty="0">
                <a:solidFill>
                  <a:schemeClr val="tx2"/>
                </a:solidFill>
              </a:rPr>
              <a:t>Year 1 Medium drivers are the August model (evidence based). Everything after Month 18 is a management estimate, calibrated so margin compresses at least 1 point a year and ad spend never falls below 8%.</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Channel expansion roadmap</a:t>
            </a:r>
            <a:endParaRPr lang="en-US" sz="3200" dirty="0"/>
          </a:p>
        </p:txBody>
      </p:sp>
      <p:sp>
        <p:nvSpPr>
          <p:cNvPr id="4" name="Shape 1"/>
          <p:cNvSpPr/>
          <p:nvPr/>
        </p:nvSpPr>
        <p:spPr>
          <a:xfrm>
            <a:off x="640370" y="1097280"/>
            <a:ext cx="10910955" cy="4160520"/>
          </a:xfrm>
          <a:prstGeom prst="roundRect">
            <a:avLst>
              <a:gd name="adj" fmla="val 1758"/>
            </a:avLst>
          </a:prstGeom>
          <a:solidFill>
            <a:srgbClr val="FFFFFF"/>
          </a:solidFill>
          <a:ln w="12700">
            <a:solidFill>
              <a:srgbClr val="FFFFFF"/>
            </a:solidFill>
            <a:prstDash val="solid"/>
          </a:ln>
        </p:spPr>
      </p:sp>
      <p:pic>
        <p:nvPicPr>
          <p:cNvPr id="5" name="Image 0" descr="/home/user/lakehouse-tracker/BRAND_US_Launch/build/assets/deck_flow/07_five_year_channel_map_deck.png">    </p:cNvPr>
          <p:cNvPicPr>
            <a:picLocks noChangeAspect="1"/>
          </p:cNvPicPr>
          <p:nvPr/>
        </p:nvPicPr>
        <p:blipFill>
          <a:blip r:embed="rId1"/>
          <a:stretch>
            <a:fillRect/>
          </a:stretch>
        </p:blipFill>
        <p:spPr>
          <a:xfrm>
            <a:off x="731810" y="1188720"/>
            <a:ext cx="10728075" cy="3977640"/>
          </a:xfrm>
          <a:prstGeom prst="rect">
            <a:avLst/>
          </a:prstGeom>
        </p:spPr>
      </p:pic>
      <p:sp>
        <p:nvSpPr>
          <p:cNvPr id="6" name="Text 2"/>
          <p:cNvSpPr txBox="1"/>
          <p:nvPr/>
        </p:nvSpPr>
        <p:spPr>
          <a:xfrm>
            <a:off x="457200" y="5303520"/>
            <a:ext cx="11277295" cy="411480"/>
          </a:xfrm>
          <a:prstGeom prst="rect">
            <a:avLst/>
          </a:prstGeom>
          <a:noFill/>
          <a:ln/>
        </p:spPr>
        <p:txBody>
          <a:bodyPr wrap="square" lIns="0" tIns="0" rIns="0" bIns="0" rtlCol="0" anchor="t"/>
          <a:lstStyle/>
          <a:p>
            <a:pPr algn="l" indent="0" marL="0">
              <a:buNone/>
            </a:pPr>
            <a:r>
              <a:rPr lang="en-US" sz="1100" dirty="0">
                <a:solidFill>
                  <a:schemeClr val="tx2"/>
                </a:solidFill>
              </a:rPr>
              <a:t>Flowchart 07: channels by year. Each year starts only after its gate: Month 12 gate passed (Year 2), Amazon US and B2B profitable (Year 3), DTC list and roadmap SKUs live (Year 4). Full size version: output/04_Flowcharts/07_five_year_channel_map.png</a:t>
            </a:r>
            <a:endParaRPr lang="en-US" sz="1100" dirty="0"/>
          </a:p>
        </p:txBody>
      </p:sp>
      <p:sp>
        <p:nvSpPr>
          <p:cNvPr id="7" name="Text 3"/>
          <p:cNvSpPr txBox="1"/>
          <p:nvPr/>
        </p:nvSpPr>
        <p:spPr>
          <a:xfrm>
            <a:off x="457200" y="5760720"/>
            <a:ext cx="1828800" cy="548640"/>
          </a:xfrm>
          <a:prstGeom prst="rect">
            <a:avLst/>
          </a:prstGeom>
          <a:noFill/>
          <a:ln/>
        </p:spPr>
        <p:txBody>
          <a:bodyPr wrap="square" lIns="0" tIns="0" rIns="0" bIns="0" rtlCol="0" anchor="ctr"/>
          <a:lstStyle/>
          <a:p>
            <a:pPr algn="l" indent="0" marL="0">
              <a:buNone/>
            </a:pPr>
            <a:r>
              <a:rPr lang="en-US" sz="1250" b="1" dirty="0">
                <a:solidFill>
                  <a:schemeClr val="accent1"/>
                </a:solidFill>
              </a:rPr>
              <a:t>Medium revenue by year</a:t>
            </a:r>
            <a:endParaRPr lang="en-US" sz="1250" dirty="0"/>
          </a:p>
        </p:txBody>
      </p:sp>
      <p:sp>
        <p:nvSpPr>
          <p:cNvPr id="8" name="card"/>
          <p:cNvSpPr/>
          <p:nvPr/>
        </p:nvSpPr>
        <p:spPr>
          <a:xfrm>
            <a:off x="2286000" y="5760720"/>
            <a:ext cx="1670243" cy="548640"/>
          </a:xfrm>
          <a:prstGeom prst="roundRect">
            <a:avLst>
              <a:gd name="adj" fmla="val 20000"/>
            </a:avLst>
          </a:prstGeom>
          <a:solidFill>
            <a:srgbClr val="10172D"/>
          </a:solidFill>
          <a:ln w="12700">
            <a:solidFill>
              <a:srgbClr val="10172D"/>
            </a:solidFill>
            <a:prstDash val="solid"/>
          </a:ln>
        </p:spPr>
      </p:sp>
      <p:sp>
        <p:nvSpPr>
          <p:cNvPr id="9" name="Text 5"/>
          <p:cNvSpPr txBox="1"/>
          <p:nvPr/>
        </p:nvSpPr>
        <p:spPr>
          <a:xfrm>
            <a:off x="2423160" y="5760720"/>
            <a:ext cx="822960" cy="548640"/>
          </a:xfrm>
          <a:prstGeom prst="rect">
            <a:avLst/>
          </a:prstGeom>
          <a:noFill/>
          <a:ln/>
        </p:spPr>
        <p:txBody>
          <a:bodyPr wrap="square" lIns="0" tIns="0" rIns="0" bIns="0" rtlCol="0" anchor="ctr"/>
          <a:lstStyle/>
          <a:p>
            <a:pPr algn="l" indent="0" marL="0">
              <a:buNone/>
            </a:pPr>
            <a:r>
              <a:rPr lang="en-US" sz="1200" dirty="0">
                <a:solidFill>
                  <a:schemeClr val="tx2"/>
                </a:solidFill>
              </a:rPr>
              <a:t>Year 1</a:t>
            </a:r>
            <a:endParaRPr lang="en-US" sz="1200" dirty="0"/>
          </a:p>
        </p:txBody>
      </p:sp>
      <p:sp>
        <p:nvSpPr>
          <p:cNvPr id="10" name="Text 6"/>
          <p:cNvSpPr txBox="1"/>
          <p:nvPr/>
        </p:nvSpPr>
        <p:spPr>
          <a:xfrm>
            <a:off x="3108960" y="5760720"/>
            <a:ext cx="710123" cy="548640"/>
          </a:xfrm>
          <a:prstGeom prst="rect">
            <a:avLst/>
          </a:prstGeom>
          <a:noFill/>
          <a:ln/>
        </p:spPr>
        <p:txBody>
          <a:bodyPr wrap="square" lIns="0" tIns="0" rIns="0" bIns="0" rtlCol="0" anchor="ctr"/>
          <a:lstStyle/>
          <a:p>
            <a:pPr algn="r" indent="0" marL="0">
              <a:buNone/>
            </a:pPr>
            <a:r>
              <a:rPr lang="en-US" sz="1600" b="1" dirty="0">
                <a:solidFill>
                  <a:schemeClr val="accent4"/>
                </a:solidFill>
              </a:rPr>
              <a:t>$494K</a:t>
            </a:r>
            <a:endParaRPr lang="en-US" sz="1600" dirty="0"/>
          </a:p>
        </p:txBody>
      </p:sp>
      <p:sp>
        <p:nvSpPr>
          <p:cNvPr id="11" name="card"/>
          <p:cNvSpPr/>
          <p:nvPr/>
        </p:nvSpPr>
        <p:spPr>
          <a:xfrm>
            <a:off x="4230563" y="5760720"/>
            <a:ext cx="1670243" cy="548640"/>
          </a:xfrm>
          <a:prstGeom prst="roundRect">
            <a:avLst>
              <a:gd name="adj" fmla="val 20000"/>
            </a:avLst>
          </a:prstGeom>
          <a:solidFill>
            <a:srgbClr val="10172D"/>
          </a:solidFill>
          <a:ln w="12700">
            <a:solidFill>
              <a:srgbClr val="10172D"/>
            </a:solidFill>
            <a:prstDash val="solid"/>
          </a:ln>
        </p:spPr>
      </p:sp>
      <p:sp>
        <p:nvSpPr>
          <p:cNvPr id="12" name="Text 8"/>
          <p:cNvSpPr txBox="1"/>
          <p:nvPr/>
        </p:nvSpPr>
        <p:spPr>
          <a:xfrm>
            <a:off x="4367723" y="5760720"/>
            <a:ext cx="822960" cy="548640"/>
          </a:xfrm>
          <a:prstGeom prst="rect">
            <a:avLst/>
          </a:prstGeom>
          <a:noFill/>
          <a:ln/>
        </p:spPr>
        <p:txBody>
          <a:bodyPr wrap="square" lIns="0" tIns="0" rIns="0" bIns="0" rtlCol="0" anchor="ctr"/>
          <a:lstStyle/>
          <a:p>
            <a:pPr algn="l" indent="0" marL="0">
              <a:buNone/>
            </a:pPr>
            <a:r>
              <a:rPr lang="en-US" sz="1200" dirty="0">
                <a:solidFill>
                  <a:schemeClr val="tx2"/>
                </a:solidFill>
              </a:rPr>
              <a:t>Year 2</a:t>
            </a:r>
            <a:endParaRPr lang="en-US" sz="1200" dirty="0"/>
          </a:p>
        </p:txBody>
      </p:sp>
      <p:sp>
        <p:nvSpPr>
          <p:cNvPr id="13" name="Text 9"/>
          <p:cNvSpPr txBox="1"/>
          <p:nvPr/>
        </p:nvSpPr>
        <p:spPr>
          <a:xfrm>
            <a:off x="5053523" y="5760720"/>
            <a:ext cx="710123" cy="548640"/>
          </a:xfrm>
          <a:prstGeom prst="rect">
            <a:avLst/>
          </a:prstGeom>
          <a:noFill/>
          <a:ln/>
        </p:spPr>
        <p:txBody>
          <a:bodyPr wrap="square" lIns="0" tIns="0" rIns="0" bIns="0" rtlCol="0" anchor="ctr"/>
          <a:lstStyle/>
          <a:p>
            <a:pPr algn="r" indent="0" marL="0">
              <a:buNone/>
            </a:pPr>
            <a:r>
              <a:rPr lang="en-US" sz="1600" b="1" dirty="0">
                <a:solidFill>
                  <a:schemeClr val="accent4"/>
                </a:solidFill>
              </a:rPr>
              <a:t>$1.77M</a:t>
            </a:r>
            <a:endParaRPr lang="en-US" sz="1600" dirty="0"/>
          </a:p>
        </p:txBody>
      </p:sp>
      <p:sp>
        <p:nvSpPr>
          <p:cNvPr id="14" name="card"/>
          <p:cNvSpPr/>
          <p:nvPr/>
        </p:nvSpPr>
        <p:spPr>
          <a:xfrm>
            <a:off x="6175126" y="5760720"/>
            <a:ext cx="1670243" cy="548640"/>
          </a:xfrm>
          <a:prstGeom prst="roundRect">
            <a:avLst>
              <a:gd name="adj" fmla="val 20000"/>
            </a:avLst>
          </a:prstGeom>
          <a:solidFill>
            <a:srgbClr val="10172D"/>
          </a:solidFill>
          <a:ln w="12700">
            <a:solidFill>
              <a:srgbClr val="10172D"/>
            </a:solidFill>
            <a:prstDash val="solid"/>
          </a:ln>
        </p:spPr>
      </p:sp>
      <p:sp>
        <p:nvSpPr>
          <p:cNvPr id="15" name="Text 11"/>
          <p:cNvSpPr txBox="1"/>
          <p:nvPr/>
        </p:nvSpPr>
        <p:spPr>
          <a:xfrm>
            <a:off x="6312286" y="5760720"/>
            <a:ext cx="822960" cy="548640"/>
          </a:xfrm>
          <a:prstGeom prst="rect">
            <a:avLst/>
          </a:prstGeom>
          <a:noFill/>
          <a:ln/>
        </p:spPr>
        <p:txBody>
          <a:bodyPr wrap="square" lIns="0" tIns="0" rIns="0" bIns="0" rtlCol="0" anchor="ctr"/>
          <a:lstStyle/>
          <a:p>
            <a:pPr algn="l" indent="0" marL="0">
              <a:buNone/>
            </a:pPr>
            <a:r>
              <a:rPr lang="en-US" sz="1200" dirty="0">
                <a:solidFill>
                  <a:schemeClr val="tx2"/>
                </a:solidFill>
              </a:rPr>
              <a:t>Year 3</a:t>
            </a:r>
            <a:endParaRPr lang="en-US" sz="1200" dirty="0"/>
          </a:p>
        </p:txBody>
      </p:sp>
      <p:sp>
        <p:nvSpPr>
          <p:cNvPr id="16" name="Text 12"/>
          <p:cNvSpPr txBox="1"/>
          <p:nvPr/>
        </p:nvSpPr>
        <p:spPr>
          <a:xfrm>
            <a:off x="6998086" y="5760720"/>
            <a:ext cx="710123" cy="548640"/>
          </a:xfrm>
          <a:prstGeom prst="rect">
            <a:avLst/>
          </a:prstGeom>
          <a:noFill/>
          <a:ln/>
        </p:spPr>
        <p:txBody>
          <a:bodyPr wrap="square" lIns="0" tIns="0" rIns="0" bIns="0" rtlCol="0" anchor="ctr"/>
          <a:lstStyle/>
          <a:p>
            <a:pPr algn="r" indent="0" marL="0">
              <a:buNone/>
            </a:pPr>
            <a:r>
              <a:rPr lang="en-US" sz="1600" b="1" dirty="0">
                <a:solidFill>
                  <a:schemeClr val="accent4"/>
                </a:solidFill>
              </a:rPr>
              <a:t>$2.61M</a:t>
            </a:r>
            <a:endParaRPr lang="en-US" sz="1600" dirty="0"/>
          </a:p>
        </p:txBody>
      </p:sp>
      <p:sp>
        <p:nvSpPr>
          <p:cNvPr id="17" name="card"/>
          <p:cNvSpPr/>
          <p:nvPr/>
        </p:nvSpPr>
        <p:spPr>
          <a:xfrm>
            <a:off x="8119689" y="5760720"/>
            <a:ext cx="1670243" cy="548640"/>
          </a:xfrm>
          <a:prstGeom prst="roundRect">
            <a:avLst>
              <a:gd name="adj" fmla="val 20000"/>
            </a:avLst>
          </a:prstGeom>
          <a:solidFill>
            <a:srgbClr val="10172D"/>
          </a:solidFill>
          <a:ln w="12700">
            <a:solidFill>
              <a:srgbClr val="10172D"/>
            </a:solidFill>
            <a:prstDash val="solid"/>
          </a:ln>
        </p:spPr>
      </p:sp>
      <p:sp>
        <p:nvSpPr>
          <p:cNvPr id="18" name="Text 14"/>
          <p:cNvSpPr txBox="1"/>
          <p:nvPr/>
        </p:nvSpPr>
        <p:spPr>
          <a:xfrm>
            <a:off x="8256849" y="5760720"/>
            <a:ext cx="822960" cy="548640"/>
          </a:xfrm>
          <a:prstGeom prst="rect">
            <a:avLst/>
          </a:prstGeom>
          <a:noFill/>
          <a:ln/>
        </p:spPr>
        <p:txBody>
          <a:bodyPr wrap="square" lIns="0" tIns="0" rIns="0" bIns="0" rtlCol="0" anchor="ctr"/>
          <a:lstStyle/>
          <a:p>
            <a:pPr algn="l" indent="0" marL="0">
              <a:buNone/>
            </a:pPr>
            <a:r>
              <a:rPr lang="en-US" sz="1200" dirty="0">
                <a:solidFill>
                  <a:schemeClr val="tx2"/>
                </a:solidFill>
              </a:rPr>
              <a:t>Year 4</a:t>
            </a:r>
            <a:endParaRPr lang="en-US" sz="1200" dirty="0"/>
          </a:p>
        </p:txBody>
      </p:sp>
      <p:sp>
        <p:nvSpPr>
          <p:cNvPr id="19" name="Text 15"/>
          <p:cNvSpPr txBox="1"/>
          <p:nvPr/>
        </p:nvSpPr>
        <p:spPr>
          <a:xfrm>
            <a:off x="8942649" y="5760720"/>
            <a:ext cx="710123" cy="548640"/>
          </a:xfrm>
          <a:prstGeom prst="rect">
            <a:avLst/>
          </a:prstGeom>
          <a:noFill/>
          <a:ln/>
        </p:spPr>
        <p:txBody>
          <a:bodyPr wrap="square" lIns="0" tIns="0" rIns="0" bIns="0" rtlCol="0" anchor="ctr"/>
          <a:lstStyle/>
          <a:p>
            <a:pPr algn="r" indent="0" marL="0">
              <a:buNone/>
            </a:pPr>
            <a:r>
              <a:rPr lang="en-US" sz="1600" b="1" dirty="0">
                <a:solidFill>
                  <a:schemeClr val="accent4"/>
                </a:solidFill>
              </a:rPr>
              <a:t>$3.66M</a:t>
            </a:r>
            <a:endParaRPr lang="en-US" sz="1600" dirty="0"/>
          </a:p>
        </p:txBody>
      </p:sp>
      <p:sp>
        <p:nvSpPr>
          <p:cNvPr id="20" name="card"/>
          <p:cNvSpPr/>
          <p:nvPr/>
        </p:nvSpPr>
        <p:spPr>
          <a:xfrm>
            <a:off x="10064252" y="5760720"/>
            <a:ext cx="1670243" cy="548640"/>
          </a:xfrm>
          <a:prstGeom prst="roundRect">
            <a:avLst>
              <a:gd name="adj" fmla="val 20000"/>
            </a:avLst>
          </a:prstGeom>
          <a:solidFill>
            <a:srgbClr val="10172D"/>
          </a:solidFill>
          <a:ln w="12700">
            <a:solidFill>
              <a:srgbClr val="10172D"/>
            </a:solidFill>
            <a:prstDash val="solid"/>
          </a:ln>
        </p:spPr>
      </p:sp>
      <p:sp>
        <p:nvSpPr>
          <p:cNvPr id="21" name="Text 17"/>
          <p:cNvSpPr txBox="1"/>
          <p:nvPr/>
        </p:nvSpPr>
        <p:spPr>
          <a:xfrm>
            <a:off x="10201412" y="5760720"/>
            <a:ext cx="822960" cy="548640"/>
          </a:xfrm>
          <a:prstGeom prst="rect">
            <a:avLst/>
          </a:prstGeom>
          <a:noFill/>
          <a:ln/>
        </p:spPr>
        <p:txBody>
          <a:bodyPr wrap="square" lIns="0" tIns="0" rIns="0" bIns="0" rtlCol="0" anchor="ctr"/>
          <a:lstStyle/>
          <a:p>
            <a:pPr algn="l" indent="0" marL="0">
              <a:buNone/>
            </a:pPr>
            <a:r>
              <a:rPr lang="en-US" sz="1200" dirty="0">
                <a:solidFill>
                  <a:schemeClr val="tx2"/>
                </a:solidFill>
              </a:rPr>
              <a:t>Year 5</a:t>
            </a:r>
            <a:endParaRPr lang="en-US" sz="1200" dirty="0"/>
          </a:p>
        </p:txBody>
      </p:sp>
      <p:sp>
        <p:nvSpPr>
          <p:cNvPr id="22" name="Text 18"/>
          <p:cNvSpPr txBox="1"/>
          <p:nvPr/>
        </p:nvSpPr>
        <p:spPr>
          <a:xfrm>
            <a:off x="10887212" y="5760720"/>
            <a:ext cx="710123" cy="548640"/>
          </a:xfrm>
          <a:prstGeom prst="rect">
            <a:avLst/>
          </a:prstGeom>
          <a:noFill/>
          <a:ln/>
        </p:spPr>
        <p:txBody>
          <a:bodyPr wrap="square" lIns="0" tIns="0" rIns="0" bIns="0" rtlCol="0" anchor="ctr"/>
          <a:lstStyle/>
          <a:p>
            <a:pPr algn="r" indent="0" marL="0">
              <a:buNone/>
            </a:pPr>
            <a:r>
              <a:rPr lang="en-US" sz="1600" b="1" dirty="0">
                <a:solidFill>
                  <a:schemeClr val="accent4"/>
                </a:solidFill>
              </a:rPr>
              <a:t>$4.58M</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Cash by month with the peak need marked</a:t>
            </a:r>
            <a:endParaRPr lang="en-US" sz="3200" dirty="0"/>
          </a:p>
        </p:txBody>
      </p:sp>
      <p:graphicFrame>
        <p:nvGraphicFramePr>
          <p:cNvPr id="4" name="Chart 0" descr=""/>
          <p:cNvGraphicFramePr/>
          <p:nvPr/>
        </p:nvGraphicFramePr>
        <p:xfrm>
          <a:off x="457200" y="1188720"/>
          <a:ext cx="7315200" cy="502920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8046720" y="1188720"/>
            <a:ext cx="3685032" cy="987552"/>
          </a:xfrm>
          <a:prstGeom prst="roundRect">
            <a:avLst>
              <a:gd name="adj" fmla="val 11111"/>
            </a:avLst>
          </a:prstGeom>
          <a:solidFill>
            <a:schemeClr val="bg2"/>
          </a:solidFill>
          <a:ln w="12700">
            <a:solidFill>
              <a:srgbClr val="141C36"/>
            </a:solidFill>
            <a:prstDash val="solid"/>
          </a:ln>
        </p:spPr>
      </p:sp>
      <p:sp>
        <p:nvSpPr>
          <p:cNvPr id="6" name="Text 2"/>
          <p:cNvSpPr txBox="1"/>
          <p:nvPr/>
        </p:nvSpPr>
        <p:spPr>
          <a:xfrm>
            <a:off x="8229600" y="1261872"/>
            <a:ext cx="3291840" cy="256032"/>
          </a:xfrm>
          <a:prstGeom prst="rect">
            <a:avLst/>
          </a:prstGeom>
          <a:noFill/>
          <a:ln/>
        </p:spPr>
        <p:txBody>
          <a:bodyPr wrap="square" lIns="0" tIns="0" rIns="0" bIns="0" rtlCol="0" anchor="t"/>
          <a:lstStyle/>
          <a:p>
            <a:pPr algn="l" indent="0" marL="0">
              <a:buNone/>
            </a:pPr>
            <a:r>
              <a:rPr lang="en-US" sz="1100" dirty="0">
                <a:solidFill>
                  <a:schemeClr val="tx2"/>
                </a:solidFill>
              </a:rPr>
              <a:t>Medium peak need</a:t>
            </a:r>
            <a:endParaRPr lang="en-US" sz="1100" dirty="0"/>
          </a:p>
        </p:txBody>
      </p:sp>
      <p:sp>
        <p:nvSpPr>
          <p:cNvPr id="7" name="Text 3"/>
          <p:cNvSpPr txBox="1"/>
          <p:nvPr/>
        </p:nvSpPr>
        <p:spPr>
          <a:xfrm>
            <a:off x="8229600" y="1490472"/>
            <a:ext cx="1463040" cy="411480"/>
          </a:xfrm>
          <a:prstGeom prst="rect">
            <a:avLst/>
          </a:prstGeom>
          <a:noFill/>
          <a:ln/>
        </p:spPr>
        <p:txBody>
          <a:bodyPr wrap="square" lIns="0" tIns="0" rIns="0" bIns="0" rtlCol="0" anchor="ctr"/>
          <a:lstStyle/>
          <a:p>
            <a:pPr algn="l" indent="0" marL="0">
              <a:buNone/>
            </a:pPr>
            <a:r>
              <a:rPr lang="en-US" sz="2200" b="1" dirty="0">
                <a:solidFill>
                  <a:schemeClr val="accent1"/>
                </a:solidFill>
              </a:rPr>
              <a:t>$96K</a:t>
            </a:r>
            <a:endParaRPr lang="en-US" sz="2200" dirty="0"/>
          </a:p>
        </p:txBody>
      </p:sp>
      <p:sp>
        <p:nvSpPr>
          <p:cNvPr id="8" name="Text 4"/>
          <p:cNvSpPr txBox="1"/>
          <p:nvPr/>
        </p:nvSpPr>
        <p:spPr>
          <a:xfrm>
            <a:off x="9692640" y="1463040"/>
            <a:ext cx="1920240" cy="658368"/>
          </a:xfrm>
          <a:prstGeom prst="rect">
            <a:avLst/>
          </a:prstGeom>
          <a:noFill/>
          <a:ln/>
        </p:spPr>
        <p:txBody>
          <a:bodyPr wrap="square" lIns="0" tIns="0" rIns="0" bIns="0" rtlCol="0" anchor="ctr"/>
          <a:lstStyle/>
          <a:p>
            <a:pPr algn="l" indent="0" marL="0">
              <a:buNone/>
            </a:pPr>
            <a:r>
              <a:rPr lang="en-US" sz="1000" dirty="0">
                <a:solidFill>
                  <a:schemeClr val="tx2"/>
                </a:solidFill>
              </a:rPr>
              <a:t>in Month 12; line of credit $116K by Month 2</a:t>
            </a:r>
            <a:endParaRPr lang="en-US" sz="1000" dirty="0"/>
          </a:p>
        </p:txBody>
      </p:sp>
      <p:sp>
        <p:nvSpPr>
          <p:cNvPr id="9" name="card"/>
          <p:cNvSpPr/>
          <p:nvPr/>
        </p:nvSpPr>
        <p:spPr>
          <a:xfrm>
            <a:off x="8046720" y="2286000"/>
            <a:ext cx="3685032" cy="987552"/>
          </a:xfrm>
          <a:prstGeom prst="roundRect">
            <a:avLst>
              <a:gd name="adj" fmla="val 11111"/>
            </a:avLst>
          </a:prstGeom>
          <a:solidFill>
            <a:schemeClr val="bg2"/>
          </a:solidFill>
          <a:ln w="12700">
            <a:solidFill>
              <a:srgbClr val="141C36"/>
            </a:solidFill>
            <a:prstDash val="solid"/>
          </a:ln>
        </p:spPr>
      </p:sp>
      <p:sp>
        <p:nvSpPr>
          <p:cNvPr id="10" name="Text 6"/>
          <p:cNvSpPr txBox="1"/>
          <p:nvPr/>
        </p:nvSpPr>
        <p:spPr>
          <a:xfrm>
            <a:off x="8229600" y="2359152"/>
            <a:ext cx="3291840" cy="256032"/>
          </a:xfrm>
          <a:prstGeom prst="rect">
            <a:avLst/>
          </a:prstGeom>
          <a:noFill/>
          <a:ln/>
        </p:spPr>
        <p:txBody>
          <a:bodyPr wrap="square" lIns="0" tIns="0" rIns="0" bIns="0" rtlCol="0" anchor="t"/>
          <a:lstStyle/>
          <a:p>
            <a:pPr algn="l" indent="0" marL="0">
              <a:buNone/>
            </a:pPr>
            <a:r>
              <a:rPr lang="en-US" sz="1100" dirty="0">
                <a:solidFill>
                  <a:schemeClr val="tx2"/>
                </a:solidFill>
              </a:rPr>
              <a:t>Low peak need</a:t>
            </a:r>
            <a:endParaRPr lang="en-US" sz="1100" dirty="0"/>
          </a:p>
        </p:txBody>
      </p:sp>
      <p:sp>
        <p:nvSpPr>
          <p:cNvPr id="11" name="Text 7"/>
          <p:cNvSpPr txBox="1"/>
          <p:nvPr/>
        </p:nvSpPr>
        <p:spPr>
          <a:xfrm>
            <a:off x="8229600" y="2587752"/>
            <a:ext cx="1463040" cy="411480"/>
          </a:xfrm>
          <a:prstGeom prst="rect">
            <a:avLst/>
          </a:prstGeom>
          <a:noFill/>
          <a:ln/>
        </p:spPr>
        <p:txBody>
          <a:bodyPr wrap="square" lIns="0" tIns="0" rIns="0" bIns="0" rtlCol="0" anchor="ctr"/>
          <a:lstStyle/>
          <a:p>
            <a:pPr algn="l" indent="0" marL="0">
              <a:buNone/>
            </a:pPr>
            <a:r>
              <a:rPr lang="en-US" sz="2200" b="1" dirty="0">
                <a:solidFill>
                  <a:schemeClr val="accent5"/>
                </a:solidFill>
              </a:rPr>
              <a:t>$114K</a:t>
            </a:r>
            <a:endParaRPr lang="en-US" sz="2200" dirty="0"/>
          </a:p>
        </p:txBody>
      </p:sp>
      <p:sp>
        <p:nvSpPr>
          <p:cNvPr id="12" name="Text 8"/>
          <p:cNvSpPr txBox="1"/>
          <p:nvPr/>
        </p:nvSpPr>
        <p:spPr>
          <a:xfrm>
            <a:off x="9692640" y="2560320"/>
            <a:ext cx="1920240" cy="658368"/>
          </a:xfrm>
          <a:prstGeom prst="rect">
            <a:avLst/>
          </a:prstGeom>
          <a:noFill/>
          <a:ln/>
        </p:spPr>
        <p:txBody>
          <a:bodyPr wrap="square" lIns="0" tIns="0" rIns="0" bIns="0" rtlCol="0" anchor="ctr"/>
          <a:lstStyle/>
          <a:p>
            <a:pPr algn="l" indent="0" marL="0">
              <a:buNone/>
            </a:pPr>
            <a:r>
              <a:rPr lang="en-US" sz="1000" dirty="0">
                <a:solidFill>
                  <a:schemeClr val="tx2"/>
                </a:solidFill>
              </a:rPr>
              <a:t>in Month 24; line of credit $136K by Month 2</a:t>
            </a:r>
            <a:endParaRPr lang="en-US" sz="1000" dirty="0"/>
          </a:p>
        </p:txBody>
      </p:sp>
      <p:sp>
        <p:nvSpPr>
          <p:cNvPr id="13" name="card"/>
          <p:cNvSpPr/>
          <p:nvPr/>
        </p:nvSpPr>
        <p:spPr>
          <a:xfrm>
            <a:off x="8046720" y="3383280"/>
            <a:ext cx="3685032" cy="987552"/>
          </a:xfrm>
          <a:prstGeom prst="roundRect">
            <a:avLst>
              <a:gd name="adj" fmla="val 11111"/>
            </a:avLst>
          </a:prstGeom>
          <a:solidFill>
            <a:schemeClr val="bg2"/>
          </a:solidFill>
          <a:ln w="12700">
            <a:solidFill>
              <a:srgbClr val="141C36"/>
            </a:solidFill>
            <a:prstDash val="solid"/>
          </a:ln>
        </p:spPr>
      </p:sp>
      <p:sp>
        <p:nvSpPr>
          <p:cNvPr id="14" name="Text 10"/>
          <p:cNvSpPr txBox="1"/>
          <p:nvPr/>
        </p:nvSpPr>
        <p:spPr>
          <a:xfrm>
            <a:off x="8229600" y="3456432"/>
            <a:ext cx="3291840" cy="256032"/>
          </a:xfrm>
          <a:prstGeom prst="rect">
            <a:avLst/>
          </a:prstGeom>
          <a:noFill/>
          <a:ln/>
        </p:spPr>
        <p:txBody>
          <a:bodyPr wrap="square" lIns="0" tIns="0" rIns="0" bIns="0" rtlCol="0" anchor="t"/>
          <a:lstStyle/>
          <a:p>
            <a:pPr algn="l" indent="0" marL="0">
              <a:buNone/>
            </a:pPr>
            <a:r>
              <a:rPr lang="en-US" sz="1100" dirty="0">
                <a:solidFill>
                  <a:schemeClr val="tx2"/>
                </a:solidFill>
              </a:rPr>
              <a:t>High peak need</a:t>
            </a:r>
            <a:endParaRPr lang="en-US" sz="1100" dirty="0"/>
          </a:p>
        </p:txBody>
      </p:sp>
      <p:sp>
        <p:nvSpPr>
          <p:cNvPr id="15" name="Text 11"/>
          <p:cNvSpPr txBox="1"/>
          <p:nvPr/>
        </p:nvSpPr>
        <p:spPr>
          <a:xfrm>
            <a:off x="8229600" y="3685032"/>
            <a:ext cx="1463040" cy="411480"/>
          </a:xfrm>
          <a:prstGeom prst="rect">
            <a:avLst/>
          </a:prstGeom>
          <a:noFill/>
          <a:ln/>
        </p:spPr>
        <p:txBody>
          <a:bodyPr wrap="square" lIns="0" tIns="0" rIns="0" bIns="0" rtlCol="0" anchor="ctr"/>
          <a:lstStyle/>
          <a:p>
            <a:pPr algn="l" indent="0" marL="0">
              <a:buNone/>
            </a:pPr>
            <a:r>
              <a:rPr lang="en-US" sz="2200" b="1" dirty="0">
                <a:solidFill>
                  <a:schemeClr val="accent4"/>
                </a:solidFill>
              </a:rPr>
              <a:t>$34K</a:t>
            </a:r>
            <a:endParaRPr lang="en-US" sz="2200" dirty="0"/>
          </a:p>
        </p:txBody>
      </p:sp>
      <p:sp>
        <p:nvSpPr>
          <p:cNvPr id="16" name="Text 12"/>
          <p:cNvSpPr txBox="1"/>
          <p:nvPr/>
        </p:nvSpPr>
        <p:spPr>
          <a:xfrm>
            <a:off x="9692640" y="3657600"/>
            <a:ext cx="1920240" cy="658368"/>
          </a:xfrm>
          <a:prstGeom prst="rect">
            <a:avLst/>
          </a:prstGeom>
          <a:noFill/>
          <a:ln/>
        </p:spPr>
        <p:txBody>
          <a:bodyPr wrap="square" lIns="0" tIns="0" rIns="0" bIns="0" rtlCol="0" anchor="ctr"/>
          <a:lstStyle/>
          <a:p>
            <a:pPr algn="l" indent="0" marL="0">
              <a:buNone/>
            </a:pPr>
            <a:r>
              <a:rPr lang="en-US" sz="1000" dirty="0">
                <a:solidFill>
                  <a:schemeClr val="tx2"/>
                </a:solidFill>
              </a:rPr>
              <a:t>in Month 7; line of credit $41K by Month 1</a:t>
            </a:r>
            <a:endParaRPr lang="en-US" sz="1000" dirty="0"/>
          </a:p>
        </p:txBody>
      </p:sp>
      <p:sp>
        <p:nvSpPr>
          <p:cNvPr id="17" name="card"/>
          <p:cNvSpPr/>
          <p:nvPr/>
        </p:nvSpPr>
        <p:spPr>
          <a:xfrm>
            <a:off x="8046720" y="4526280"/>
            <a:ext cx="3685032" cy="1691640"/>
          </a:xfrm>
          <a:prstGeom prst="roundRect">
            <a:avLst>
              <a:gd name="adj" fmla="val 6486"/>
            </a:avLst>
          </a:prstGeom>
          <a:solidFill>
            <a:srgbClr val="10172D"/>
          </a:solidFill>
          <a:ln w="12700">
            <a:solidFill>
              <a:srgbClr val="10172D"/>
            </a:solidFill>
            <a:prstDash val="solid"/>
          </a:ln>
        </p:spPr>
      </p:sp>
      <p:sp>
        <p:nvSpPr>
          <p:cNvPr id="18" name="Text 14"/>
          <p:cNvSpPr txBox="1"/>
          <p:nvPr/>
        </p:nvSpPr>
        <p:spPr>
          <a:xfrm>
            <a:off x="8229600" y="4572000"/>
            <a:ext cx="3291840" cy="274320"/>
          </a:xfrm>
          <a:prstGeom prst="rect">
            <a:avLst/>
          </a:prstGeom>
          <a:noFill/>
          <a:ln/>
        </p:spPr>
        <p:txBody>
          <a:bodyPr wrap="square" lIns="0" tIns="0" rIns="0" bIns="0" rtlCol="0" anchor="t"/>
          <a:lstStyle/>
          <a:p>
            <a:pPr algn="l" indent="0" marL="0">
              <a:buNone/>
            </a:pPr>
            <a:r>
              <a:rPr lang="en-US" sz="1200" b="1" dirty="0">
                <a:solidFill>
                  <a:schemeClr val="accent1"/>
                </a:solidFill>
              </a:rPr>
              <a:t>Cash assumptions</a:t>
            </a:r>
            <a:endParaRPr lang="en-US" sz="1200" dirty="0"/>
          </a:p>
        </p:txBody>
      </p:sp>
      <p:sp>
        <p:nvSpPr>
          <p:cNvPr id="19" name="Text 15"/>
          <p:cNvSpPr txBox="1"/>
          <p:nvPr/>
        </p:nvSpPr>
        <p:spPr>
          <a:xfrm>
            <a:off x="8229600" y="4846320"/>
            <a:ext cx="3337560" cy="1371600"/>
          </a:xfrm>
          <a:prstGeom prst="rect">
            <a:avLst/>
          </a:prstGeom>
          <a:noFill/>
          <a:ln/>
        </p:spPr>
        <p:txBody>
          <a:bodyPr wrap="square" lIns="0" tIns="0" rIns="0" bIns="0" rtlCol="0" anchor="t"/>
          <a:lstStyle/>
          <a:p>
            <a:pPr algn="l" marL="114300" indent="-114300">
              <a:spcAft>
                <a:spcPts val="100"/>
              </a:spcAft>
              <a:buSzPct val="100000"/>
              <a:buChar char="•"/>
            </a:pPr>
            <a:r>
              <a:rPr lang="en-US" sz="950" dirty="0">
                <a:solidFill>
                  <a:schemeClr val="tx1"/>
                </a:solidFill>
              </a:rPr>
              <a:t>Opening capital $39K, self funded.</a:t>
            </a:r>
            <a:endParaRPr lang="en-US" sz="950" dirty="0"/>
          </a:p>
          <a:p>
            <a:pPr algn="l" marL="114300" indent="-114300">
              <a:spcAft>
                <a:spcPts val="100"/>
              </a:spcAft>
              <a:buSzPct val="100000"/>
              <a:buChar char="•"/>
            </a:pPr>
            <a:r>
              <a:rPr lang="en-US" sz="950" dirty="0">
                <a:solidFill>
                  <a:schemeClr val="tx1"/>
                </a:solidFill>
              </a:rPr>
              <a:t>Inventory cover 2.5 months of forward units (Medium), 3.0 (Low), 2.0 (High).</a:t>
            </a:r>
            <a:endParaRPr lang="en-US" sz="950" dirty="0"/>
          </a:p>
          <a:p>
            <a:pPr algn="l" marL="114300" indent="-114300">
              <a:spcAft>
                <a:spcPts val="100"/>
              </a:spcAft>
              <a:buSzPct val="100000"/>
              <a:buChar char="•"/>
            </a:pPr>
            <a:r>
              <a:rPr lang="en-US" sz="950" dirty="0">
                <a:solidFill>
                  <a:schemeClr val="tx1"/>
                </a:solidFill>
              </a:rPr>
              <a:t>PO terms 30% at order, 70% at shipment. Lead time 1 month by air, 2 months by ocean after the gate.</a:t>
            </a:r>
            <a:endParaRPr lang="en-US" sz="950" dirty="0"/>
          </a:p>
          <a:p>
            <a:pPr algn="l" marL="114300" indent="-114300">
              <a:spcAft>
                <a:spcPts val="100"/>
              </a:spcAft>
              <a:buSzPct val="100000"/>
              <a:buChar char="•"/>
            </a:pPr>
            <a:r>
              <a:rPr lang="en-US" sz="950" dirty="0">
                <a:solidFill>
                  <a:schemeClr val="tx1"/>
                </a:solidFill>
              </a:rPr>
              <a:t>Amazon payout lag 14 days. In transit inventory is funded by the business.</a:t>
            </a:r>
            <a:endParaRPr lang="en-US" sz="950" dirty="0"/>
          </a:p>
          <a:p>
            <a:pPr algn="l" marL="114300" indent="-114300">
              <a:spcAft>
                <a:spcPts val="100"/>
              </a:spcAft>
              <a:buSzPct val="100000"/>
              <a:buChar char="•"/>
            </a:pPr>
            <a:r>
              <a:rPr lang="en-US" sz="950" dirty="0">
                <a:solidFill>
                  <a:schemeClr val="tx1"/>
                </a:solidFill>
              </a:rPr>
              <a:t>Balance shown before new funding; the line of credit is sized at 1.2 times the peak need.</a:t>
            </a:r>
            <a:endParaRPr lang="en-US" sz="9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Funding plan</a:t>
            </a:r>
            <a:endParaRPr lang="en-US" sz="3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7223760" cy="914400"/>
        </p:xfrm>
        <a:graphic>
          <a:graphicData uri="http://schemas.openxmlformats.org/drawingml/2006/table">
            <a:tbl>
              <a:tblPr/>
              <a:tblGrid>
                <a:gridCol w="3200400"/>
                <a:gridCol w="1280160"/>
                <a:gridCol w="1371600"/>
                <a:gridCol w="1371600"/>
              </a:tblGrid>
              <a:tr h="457200">
                <a:tc>
                  <a:txBody>
                    <a:bodyPr/>
                    <a:lstStyle/>
                    <a:p>
                      <a:pPr algn="l" indent="0" marL="0">
                        <a:buNone/>
                      </a:pP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150" b="1" dirty="0">
                          <a:solidFill>
                            <a:srgbClr val="2DE2FF"/>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150" b="1" dirty="0">
                          <a:solidFill>
                            <a:srgbClr val="2DE2FF"/>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150" b="1" dirty="0">
                          <a:solidFill>
                            <a:srgbClr val="2DE2FF"/>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457200">
                <a:tc>
                  <a:txBody>
                    <a:bodyPr/>
                    <a:lstStyle/>
                    <a:p>
                      <a:pPr algn="l" indent="0" marL="0">
                        <a:buNone/>
                      </a:pPr>
                      <a:r>
                        <a:rPr lang="en-US" sz="1150" dirty="0">
                          <a:solidFill>
                            <a:srgbClr val="F3F6FF"/>
                          </a:solidFill>
                          <a:latin typeface="Calibri" pitchFamily="34" charset="0"/>
                          <a:ea typeface="Calibri" pitchFamily="34" charset="-122"/>
                          <a:cs typeface="Calibri" pitchFamily="34" charset="-120"/>
                        </a:rPr>
                        <a:t>Opening capital (Lucy, self funded)</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50" dirty="0">
                          <a:solidFill>
                            <a:srgbClr val="F3F6FF"/>
                          </a:solidFill>
                          <a:latin typeface="Calibri" pitchFamily="34" charset="0"/>
                          <a:ea typeface="Calibri" pitchFamily="34" charset="-122"/>
                          <a:cs typeface="Calibri" pitchFamily="34" charset="-120"/>
                        </a:rPr>
                        <a:t>$39K</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50" b="1" dirty="0">
                          <a:solidFill>
                            <a:srgbClr val="2DE2FF"/>
                          </a:solidFill>
                          <a:latin typeface="Calibri" pitchFamily="34" charset="0"/>
                          <a:ea typeface="Calibri" pitchFamily="34" charset="-122"/>
                          <a:cs typeface="Calibri" pitchFamily="34" charset="-120"/>
                        </a:rPr>
                        <a:t>$39K</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50" dirty="0">
                          <a:solidFill>
                            <a:srgbClr val="F3F6FF"/>
                          </a:solidFill>
                          <a:latin typeface="Calibri" pitchFamily="34" charset="0"/>
                          <a:ea typeface="Calibri" pitchFamily="34" charset="-122"/>
                          <a:cs typeface="Calibri" pitchFamily="34" charset="-120"/>
                        </a:rPr>
                        <a:t>$39K</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57200">
                <a:tc>
                  <a:txBody>
                    <a:bodyPr/>
                    <a:lstStyle/>
                    <a:p>
                      <a:pPr algn="l" indent="0" marL="0">
                        <a:buNone/>
                      </a:pPr>
                      <a:r>
                        <a:rPr lang="en-US" sz="1150" dirty="0">
                          <a:solidFill>
                            <a:srgbClr val="F3F6FF"/>
                          </a:solidFill>
                          <a:latin typeface="Calibri" pitchFamily="34" charset="0"/>
                          <a:ea typeface="Calibri" pitchFamily="34" charset="-122"/>
                          <a:cs typeface="Calibri" pitchFamily="34" charset="-120"/>
                        </a:rPr>
                        <a:t>Peak cash need before funding</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50" dirty="0">
                          <a:solidFill>
                            <a:srgbClr val="F3F6FF"/>
                          </a:solidFill>
                          <a:latin typeface="Calibri" pitchFamily="34" charset="0"/>
                          <a:ea typeface="Calibri" pitchFamily="34" charset="-122"/>
                          <a:cs typeface="Calibri" pitchFamily="34" charset="-120"/>
                        </a:rPr>
                        <a:t>$114K</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50" b="1" dirty="0">
                          <a:solidFill>
                            <a:srgbClr val="2DE2FF"/>
                          </a:solidFill>
                          <a:latin typeface="Calibri" pitchFamily="34" charset="0"/>
                          <a:ea typeface="Calibri" pitchFamily="34" charset="-122"/>
                          <a:cs typeface="Calibri" pitchFamily="34" charset="-120"/>
                        </a:rPr>
                        <a:t>$96K</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50" dirty="0">
                          <a:solidFill>
                            <a:srgbClr val="F3F6FF"/>
                          </a:solidFill>
                          <a:latin typeface="Calibri" pitchFamily="34" charset="0"/>
                          <a:ea typeface="Calibri" pitchFamily="34" charset="-122"/>
                          <a:cs typeface="Calibri" pitchFamily="34" charset="-120"/>
                        </a:rPr>
                        <a:t>$34K</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57200">
                <a:tc>
                  <a:txBody>
                    <a:bodyPr/>
                    <a:lstStyle/>
                    <a:p>
                      <a:pPr algn="l" indent="0" marL="0">
                        <a:buNone/>
                      </a:pPr>
                      <a:r>
                        <a:rPr lang="en-US" sz="1150" dirty="0">
                          <a:solidFill>
                            <a:srgbClr val="F3F6FF"/>
                          </a:solidFill>
                          <a:latin typeface="Calibri" pitchFamily="34" charset="0"/>
                          <a:ea typeface="Calibri" pitchFamily="34" charset="-122"/>
                          <a:cs typeface="Calibri" pitchFamily="34" charset="-120"/>
                        </a:rPr>
                        <a:t>Month of the peak need</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50" dirty="0">
                          <a:solidFill>
                            <a:srgbClr val="F3F6FF"/>
                          </a:solidFill>
                          <a:latin typeface="Calibri" pitchFamily="34" charset="0"/>
                          <a:ea typeface="Calibri" pitchFamily="34" charset="-122"/>
                          <a:cs typeface="Calibri" pitchFamily="34" charset="-120"/>
                        </a:rPr>
                        <a:t>Month 24</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50" b="1" dirty="0">
                          <a:solidFill>
                            <a:srgbClr val="2DE2FF"/>
                          </a:solidFill>
                          <a:latin typeface="Calibri" pitchFamily="34" charset="0"/>
                          <a:ea typeface="Calibri" pitchFamily="34" charset="-122"/>
                          <a:cs typeface="Calibri" pitchFamily="34" charset="-120"/>
                        </a:rPr>
                        <a:t>Month 12</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50" dirty="0">
                          <a:solidFill>
                            <a:srgbClr val="F3F6FF"/>
                          </a:solidFill>
                          <a:latin typeface="Calibri" pitchFamily="34" charset="0"/>
                          <a:ea typeface="Calibri" pitchFamily="34" charset="-122"/>
                          <a:cs typeface="Calibri" pitchFamily="34" charset="-120"/>
                        </a:rPr>
                        <a:t>Month 7</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57200">
                <a:tc>
                  <a:txBody>
                    <a:bodyPr/>
                    <a:lstStyle/>
                    <a:p>
                      <a:pPr algn="l" indent="0" marL="0">
                        <a:buNone/>
                      </a:pPr>
                      <a:r>
                        <a:rPr lang="en-US" sz="1150" dirty="0">
                          <a:solidFill>
                            <a:srgbClr val="F3F6FF"/>
                          </a:solidFill>
                          <a:latin typeface="Calibri" pitchFamily="34" charset="0"/>
                          <a:ea typeface="Calibri" pitchFamily="34" charset="-122"/>
                          <a:cs typeface="Calibri" pitchFamily="34" charset="-120"/>
                        </a:rPr>
                        <a:t>Line of credit or investor amount (1.2 times peak)</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50" dirty="0">
                          <a:solidFill>
                            <a:srgbClr val="F3F6FF"/>
                          </a:solidFill>
                          <a:latin typeface="Calibri" pitchFamily="34" charset="0"/>
                          <a:ea typeface="Calibri" pitchFamily="34" charset="-122"/>
                          <a:cs typeface="Calibri" pitchFamily="34" charset="-120"/>
                        </a:rPr>
                        <a:t>$136K</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50" b="1" dirty="0">
                          <a:solidFill>
                            <a:srgbClr val="2DE2FF"/>
                          </a:solidFill>
                          <a:latin typeface="Calibri" pitchFamily="34" charset="0"/>
                          <a:ea typeface="Calibri" pitchFamily="34" charset="-122"/>
                          <a:cs typeface="Calibri" pitchFamily="34" charset="-120"/>
                        </a:rPr>
                        <a:t>$116K</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50" dirty="0">
                          <a:solidFill>
                            <a:srgbClr val="F3F6FF"/>
                          </a:solidFill>
                          <a:latin typeface="Calibri" pitchFamily="34" charset="0"/>
                          <a:ea typeface="Calibri" pitchFamily="34" charset="-122"/>
                          <a:cs typeface="Calibri" pitchFamily="34" charset="-120"/>
                        </a:rPr>
                        <a:t>$41K</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57200">
                <a:tc>
                  <a:txBody>
                    <a:bodyPr/>
                    <a:lstStyle/>
                    <a:p>
                      <a:pPr algn="l" indent="0" marL="0">
                        <a:buNone/>
                      </a:pPr>
                      <a:r>
                        <a:rPr lang="en-US" sz="1150" dirty="0">
                          <a:solidFill>
                            <a:srgbClr val="F3F6FF"/>
                          </a:solidFill>
                          <a:latin typeface="Calibri" pitchFamily="34" charset="0"/>
                          <a:ea typeface="Calibri" pitchFamily="34" charset="-122"/>
                          <a:cs typeface="Calibri" pitchFamily="34" charset="-120"/>
                        </a:rPr>
                        <a:t>Must be in place by</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50" dirty="0">
                          <a:solidFill>
                            <a:srgbClr val="F3F6FF"/>
                          </a:solidFill>
                          <a:latin typeface="Calibri" pitchFamily="34" charset="0"/>
                          <a:ea typeface="Calibri" pitchFamily="34" charset="-122"/>
                          <a:cs typeface="Calibri" pitchFamily="34" charset="-120"/>
                        </a:rPr>
                        <a:t>Month 2</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50" b="1" dirty="0">
                          <a:solidFill>
                            <a:srgbClr val="2DE2FF"/>
                          </a:solidFill>
                          <a:latin typeface="Calibri" pitchFamily="34" charset="0"/>
                          <a:ea typeface="Calibri" pitchFamily="34" charset="-122"/>
                          <a:cs typeface="Calibri" pitchFamily="34" charset="-120"/>
                        </a:rPr>
                        <a:t>Month 2</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50" dirty="0">
                          <a:solidFill>
                            <a:srgbClr val="F3F6FF"/>
                          </a:solidFill>
                          <a:latin typeface="Calibri" pitchFamily="34" charset="0"/>
                          <a:ea typeface="Calibri" pitchFamily="34" charset="-122"/>
                          <a:cs typeface="Calibri" pitchFamily="34" charset="-120"/>
                        </a:rPr>
                        <a:t>Month 1</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57200">
                <a:tc>
                  <a:txBody>
                    <a:bodyPr/>
                    <a:lstStyle/>
                    <a:p>
                      <a:pPr algn="l" indent="0" marL="0">
                        <a:buNone/>
                      </a:pPr>
                      <a:r>
                        <a:rPr lang="en-US" sz="1150" dirty="0">
                          <a:solidFill>
                            <a:srgbClr val="F3F6FF"/>
                          </a:solidFill>
                          <a:latin typeface="Calibri" pitchFamily="34" charset="0"/>
                          <a:ea typeface="Calibri" pitchFamily="34" charset="-122"/>
                          <a:cs typeface="Calibri" pitchFamily="34" charset="-120"/>
                        </a:rPr>
                        <a:t>Runway at Day 90 after funding</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50" dirty="0">
                          <a:solidFill>
                            <a:srgbClr val="F3F6FF"/>
                          </a:solidFill>
                          <a:latin typeface="Calibri" pitchFamily="34" charset="0"/>
                          <a:ea typeface="Calibri" pitchFamily="34" charset="-122"/>
                          <a:cs typeface="Calibri" pitchFamily="34" charset="-120"/>
                        </a:rPr>
                        <a:t>15.3 months</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50" b="1" dirty="0">
                          <a:solidFill>
                            <a:srgbClr val="2DE2FF"/>
                          </a:solidFill>
                          <a:latin typeface="Calibri" pitchFamily="34" charset="0"/>
                          <a:ea typeface="Calibri" pitchFamily="34" charset="-122"/>
                          <a:cs typeface="Calibri" pitchFamily="34" charset="-120"/>
                        </a:rPr>
                        <a:t>10.2 months</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50" dirty="0">
                          <a:solidFill>
                            <a:srgbClr val="F3F6FF"/>
                          </a:solidFill>
                          <a:latin typeface="Calibri" pitchFamily="34" charset="0"/>
                          <a:ea typeface="Calibri" pitchFamily="34" charset="-122"/>
                          <a:cs typeface="Calibri" pitchFamily="34" charset="-120"/>
                        </a:rPr>
                        <a:t>4.0 months</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57200">
                <a:tc>
                  <a:txBody>
                    <a:bodyPr/>
                    <a:lstStyle/>
                    <a:p>
                      <a:pPr algn="l" indent="0" marL="0">
                        <a:buNone/>
                      </a:pPr>
                      <a:r>
                        <a:rPr lang="en-US" sz="1150" dirty="0">
                          <a:solidFill>
                            <a:srgbClr val="F3F6FF"/>
                          </a:solidFill>
                          <a:latin typeface="Calibri" pitchFamily="34" charset="0"/>
                          <a:ea typeface="Calibri" pitchFamily="34" charset="-122"/>
                          <a:cs typeface="Calibri" pitchFamily="34" charset="-120"/>
                        </a:rPr>
                        <a:t>Cash at end of Month 24 after funding</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50" dirty="0">
                          <a:solidFill>
                            <a:srgbClr val="F3F6FF"/>
                          </a:solidFill>
                          <a:latin typeface="Calibri" pitchFamily="34" charset="0"/>
                          <a:ea typeface="Calibri" pitchFamily="34" charset="-122"/>
                          <a:cs typeface="Calibri" pitchFamily="34" charset="-120"/>
                        </a:rPr>
                        <a:t>$23K</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50" b="1" dirty="0">
                          <a:solidFill>
                            <a:srgbClr val="2DE2FF"/>
                          </a:solidFill>
                          <a:latin typeface="Calibri" pitchFamily="34" charset="0"/>
                          <a:ea typeface="Calibri" pitchFamily="34" charset="-122"/>
                          <a:cs typeface="Calibri" pitchFamily="34" charset="-120"/>
                        </a:rPr>
                        <a:t>$186K</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150" dirty="0">
                          <a:solidFill>
                            <a:srgbClr val="F3F6FF"/>
                          </a:solidFill>
                          <a:latin typeface="Calibri" pitchFamily="34" charset="0"/>
                          <a:ea typeface="Calibri" pitchFamily="34" charset="-122"/>
                          <a:cs typeface="Calibri" pitchFamily="34" charset="-120"/>
                        </a:rPr>
                        <a:t>$577K</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57200">
                <a:tc>
                  <a:txBody>
                    <a:bodyPr/>
                    <a:lstStyle/>
                    <a:p>
                      <a:pPr algn="l" indent="0" marL="0">
                        <a:buNone/>
                      </a:pPr>
                      <a:r>
                        <a:rPr lang="en-US" sz="1150" dirty="0">
                          <a:solidFill>
                            <a:srgbClr val="F3F6FF"/>
                          </a:solidFill>
                          <a:latin typeface="Calibri" pitchFamily="34" charset="0"/>
                          <a:ea typeface="Calibri" pitchFamily="34" charset="-122"/>
                          <a:cs typeface="Calibri" pitchFamily="34" charset="-120"/>
                        </a:rPr>
                        <a:t>Cash at end of Year 5 after funding</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50" dirty="0">
                          <a:solidFill>
                            <a:srgbClr val="F3F6FF"/>
                          </a:solidFill>
                          <a:latin typeface="Calibri" pitchFamily="34" charset="0"/>
                          <a:ea typeface="Calibri" pitchFamily="34" charset="-122"/>
                          <a:cs typeface="Calibri" pitchFamily="34" charset="-120"/>
                        </a:rPr>
                        <a:t>$63K</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50" b="1" dirty="0">
                          <a:solidFill>
                            <a:srgbClr val="2DE2FF"/>
                          </a:solidFill>
                          <a:latin typeface="Calibri" pitchFamily="34" charset="0"/>
                          <a:ea typeface="Calibri" pitchFamily="34" charset="-122"/>
                          <a:cs typeface="Calibri" pitchFamily="34" charset="-120"/>
                        </a:rPr>
                        <a:t>$1,401K</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150" dirty="0">
                          <a:solidFill>
                            <a:srgbClr val="F3F6FF"/>
                          </a:solidFill>
                          <a:latin typeface="Calibri" pitchFamily="34" charset="0"/>
                          <a:ea typeface="Calibri" pitchFamily="34" charset="-122"/>
                          <a:cs typeface="Calibri" pitchFamily="34" charset="-120"/>
                        </a:rPr>
                        <a:t>$4,492K</a:t>
                      </a:r>
                      <a:endParaRPr lang="en-US" sz="11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bl>
          </a:graphicData>
        </a:graphic>
      </p:graphicFrame>
      <p:sp>
        <p:nvSpPr>
          <p:cNvPr id="5" name="card"/>
          <p:cNvSpPr/>
          <p:nvPr/>
        </p:nvSpPr>
        <p:spPr>
          <a:xfrm>
            <a:off x="7955280" y="1188720"/>
            <a:ext cx="3776472" cy="5029200"/>
          </a:xfrm>
          <a:prstGeom prst="roundRect">
            <a:avLst>
              <a:gd name="adj" fmla="val 2906"/>
            </a:avLst>
          </a:prstGeom>
          <a:solidFill>
            <a:schemeClr val="bg2"/>
          </a:solidFill>
          <a:ln w="12700">
            <a:solidFill>
              <a:srgbClr val="141C36"/>
            </a:solidFill>
            <a:prstDash val="solid"/>
          </a:ln>
        </p:spPr>
      </p:sp>
      <p:sp>
        <p:nvSpPr>
          <p:cNvPr id="6" name="Text 2"/>
          <p:cNvSpPr txBox="1"/>
          <p:nvPr/>
        </p:nvSpPr>
        <p:spPr>
          <a:xfrm>
            <a:off x="8183880" y="1325880"/>
            <a:ext cx="3383280" cy="365760"/>
          </a:xfrm>
          <a:prstGeom prst="rect">
            <a:avLst/>
          </a:prstGeom>
          <a:noFill/>
          <a:ln/>
        </p:spPr>
        <p:txBody>
          <a:bodyPr wrap="square" lIns="0" tIns="0" rIns="0" bIns="0" rtlCol="0" anchor="t"/>
          <a:lstStyle/>
          <a:p>
            <a:pPr algn="l" indent="0" marL="0">
              <a:buNone/>
            </a:pPr>
            <a:r>
              <a:rPr lang="en-US" sz="1600" b="1" dirty="0">
                <a:solidFill>
                  <a:schemeClr val="accent1"/>
                </a:solidFill>
              </a:rPr>
              <a:t>Order of funding</a:t>
            </a:r>
            <a:endParaRPr lang="en-US" sz="1600" dirty="0"/>
          </a:p>
        </p:txBody>
      </p:sp>
      <p:sp>
        <p:nvSpPr>
          <p:cNvPr id="7" name="Text 3"/>
          <p:cNvSpPr txBox="1"/>
          <p:nvPr/>
        </p:nvSpPr>
        <p:spPr>
          <a:xfrm>
            <a:off x="8183880" y="1828800"/>
            <a:ext cx="3337560" cy="1005840"/>
          </a:xfrm>
          <a:prstGeom prst="rect">
            <a:avLst/>
          </a:prstGeom>
          <a:noFill/>
          <a:ln/>
        </p:spPr>
        <p:txBody>
          <a:bodyPr wrap="square" lIns="0" tIns="0" rIns="0" bIns="0" rtlCol="0" anchor="t"/>
          <a:lstStyle/>
          <a:p>
            <a:pPr algn="l" indent="0" marL="0">
              <a:buNone/>
            </a:pPr>
            <a:r>
              <a:rPr lang="en-US" sz="1250" dirty="0">
                <a:solidFill>
                  <a:schemeClr val="tx1"/>
                </a:solidFill>
              </a:rPr>
              <a:t>1. Retained earnings first: every dollar of net stays in the LLC until Year 3.</a:t>
            </a:r>
            <a:endParaRPr lang="en-US" sz="1250" dirty="0"/>
          </a:p>
        </p:txBody>
      </p:sp>
      <p:sp>
        <p:nvSpPr>
          <p:cNvPr id="8" name="Text 4"/>
          <p:cNvSpPr txBox="1"/>
          <p:nvPr/>
        </p:nvSpPr>
        <p:spPr>
          <a:xfrm>
            <a:off x="8183880" y="2880360"/>
            <a:ext cx="3337560" cy="1005840"/>
          </a:xfrm>
          <a:prstGeom prst="rect">
            <a:avLst/>
          </a:prstGeom>
          <a:noFill/>
          <a:ln/>
        </p:spPr>
        <p:txBody>
          <a:bodyPr wrap="square" lIns="0" tIns="0" rIns="0" bIns="0" rtlCol="0" anchor="t"/>
          <a:lstStyle/>
          <a:p>
            <a:pPr algn="l" indent="0" marL="0">
              <a:buNone/>
            </a:pPr>
            <a:r>
              <a:rPr lang="en-US" sz="1250" dirty="0">
                <a:solidFill>
                  <a:schemeClr val="tx1"/>
                </a:solidFill>
              </a:rPr>
              <a:t>2. A line of credit of $116K (Medium) drawn as needed from Month 2; an investor amount of the same size is the alternative.</a:t>
            </a:r>
            <a:endParaRPr lang="en-US" sz="1250" dirty="0"/>
          </a:p>
        </p:txBody>
      </p:sp>
      <p:sp>
        <p:nvSpPr>
          <p:cNvPr id="9" name="Text 5"/>
          <p:cNvSpPr txBox="1"/>
          <p:nvPr/>
        </p:nvSpPr>
        <p:spPr>
          <a:xfrm>
            <a:off x="8183880" y="3931920"/>
            <a:ext cx="3337560" cy="1005840"/>
          </a:xfrm>
          <a:prstGeom prst="rect">
            <a:avLst/>
          </a:prstGeom>
          <a:noFill/>
          <a:ln/>
        </p:spPr>
        <p:txBody>
          <a:bodyPr wrap="square" lIns="0" tIns="0" rIns="0" bIns="0" rtlCol="0" anchor="t"/>
          <a:lstStyle/>
          <a:p>
            <a:pPr algn="l" indent="0" marL="0">
              <a:buNone/>
            </a:pPr>
            <a:r>
              <a:rPr lang="en-US" sz="1250" dirty="0">
                <a:solidFill>
                  <a:schemeClr val="tx1"/>
                </a:solidFill>
              </a:rPr>
              <a:t>3. The fiber ruling cuts the Medium funding gap to $71K; the stress case raises it to $133K.</a:t>
            </a:r>
            <a:endParaRPr lang="en-US" sz="1250" dirty="0"/>
          </a:p>
        </p:txBody>
      </p:sp>
      <p:sp>
        <p:nvSpPr>
          <p:cNvPr id="10" name="Text 6"/>
          <p:cNvSpPr txBox="1"/>
          <p:nvPr/>
        </p:nvSpPr>
        <p:spPr>
          <a:xfrm>
            <a:off x="8183880" y="4983480"/>
            <a:ext cx="3337560" cy="1005840"/>
          </a:xfrm>
          <a:prstGeom prst="rect">
            <a:avLst/>
          </a:prstGeom>
          <a:noFill/>
          <a:ln/>
        </p:spPr>
        <p:txBody>
          <a:bodyPr wrap="square" lIns="0" tIns="0" rIns="0" bIns="0" rtlCol="0" anchor="t"/>
          <a:lstStyle/>
          <a:p>
            <a:pPr algn="l" indent="0" marL="0">
              <a:buNone/>
            </a:pPr>
            <a:r>
              <a:rPr lang="en-US" sz="1250" dirty="0">
                <a:solidFill>
                  <a:schemeClr val="tx1"/>
                </a:solidFill>
              </a:rPr>
              <a:t>4. Owner draws start only after the Month 12 gate passes and the line is repaid.</a:t>
            </a:r>
            <a:endParaRPr lang="en-US" sz="12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Sensitivity: what moves Year 5 net</a:t>
            </a:r>
            <a:endParaRPr lang="en-US" sz="3200" dirty="0"/>
          </a:p>
        </p:txBody>
      </p:sp>
      <p:graphicFrame>
        <p:nvGraphicFramePr>
          <p:cNvPr id="4" name="Chart 0" descr=""/>
          <p:cNvGraphicFramePr/>
          <p:nvPr/>
        </p:nvGraphicFramePr>
        <p:xfrm>
          <a:off x="457200" y="1188720"/>
          <a:ext cx="5943600" cy="448056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57200" y="5715000"/>
            <a:ext cx="5943600" cy="274320"/>
          </a:xfrm>
          <a:prstGeom prst="rect">
            <a:avLst/>
          </a:prstGeom>
          <a:noFill/>
          <a:ln/>
        </p:spPr>
        <p:txBody>
          <a:bodyPr wrap="square" lIns="0" tIns="0" rIns="0" bIns="0" rtlCol="0" anchor="t"/>
          <a:lstStyle/>
          <a:p>
            <a:pPr algn="l" indent="0" marL="0">
              <a:buNone/>
            </a:pPr>
            <a:r>
              <a:rPr lang="en-US" sz="1150" b="1" dirty="0">
                <a:solidFill>
                  <a:schemeClr val="accent1"/>
                </a:solidFill>
              </a:rPr>
              <a:t>Base: Medium Year 5 net $613K</a:t>
            </a:r>
            <a:endParaRPr lang="en-US" sz="1150" dirty="0"/>
          </a:p>
        </p:txBody>
      </p:sp>
      <p:sp>
        <p:nvSpPr>
          <p:cNvPr id="6" name="Text 2"/>
          <p:cNvSpPr txBox="1"/>
          <p:nvPr/>
        </p:nvSpPr>
        <p:spPr>
          <a:xfrm>
            <a:off x="457200" y="5989320"/>
            <a:ext cx="5943600" cy="411480"/>
          </a:xfrm>
          <a:prstGeom prst="rect">
            <a:avLst/>
          </a:prstGeom>
          <a:noFill/>
          <a:ln/>
        </p:spPr>
        <p:txBody>
          <a:bodyPr wrap="square" lIns="0" tIns="0" rIns="0" bIns="0" rtlCol="0" anchor="t"/>
          <a:lstStyle/>
          <a:p>
            <a:pPr algn="l" indent="0" marL="0">
              <a:buNone/>
            </a:pPr>
            <a:r>
              <a:rPr lang="en-US" sz="1000" dirty="0">
                <a:solidFill>
                  <a:schemeClr val="tx2"/>
                </a:solidFill>
              </a:rPr>
              <a:t>One way sensitivity of Medium Year 5 net, live formulas in the Sensitivity tab. The factory cost bar is cut off on purpose: at the Alibaba benchmark Year 5 net is ($1.35M).</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675120" y="1188720"/>
          <a:ext cx="5056632" cy="914400"/>
        </p:xfrm>
        <a:graphic>
          <a:graphicData uri="http://schemas.openxmlformats.org/drawingml/2006/table">
            <a:tbl>
              <a:tblPr/>
              <a:tblGrid>
                <a:gridCol w="1417320"/>
                <a:gridCol w="1097280"/>
                <a:gridCol w="731520"/>
                <a:gridCol w="1097280"/>
                <a:gridCol w="713232"/>
              </a:tblGrid>
              <a:tr h="475488">
                <a:tc>
                  <a:txBody>
                    <a:bodyPr/>
                    <a:lstStyle/>
                    <a:p>
                      <a:pPr algn="l" indent="0" marL="0">
                        <a:buNone/>
                      </a:pPr>
                      <a:r>
                        <a:rPr lang="en-US" sz="1000" b="1" dirty="0">
                          <a:solidFill>
                            <a:srgbClr val="2DE2FF"/>
                          </a:solidFill>
                          <a:latin typeface="Calibri" pitchFamily="34" charset="0"/>
                          <a:ea typeface="Calibri" pitchFamily="34" charset="-122"/>
                          <a:cs typeface="Calibri" pitchFamily="34" charset="-120"/>
                        </a:rPr>
                        <a:t>Driver</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000" b="1" dirty="0">
                          <a:solidFill>
                            <a:srgbClr val="2DE2FF"/>
                          </a:solidFill>
                          <a:latin typeface="Calibri" pitchFamily="34" charset="0"/>
                          <a:ea typeface="Calibri" pitchFamily="34" charset="-122"/>
                          <a:cs typeface="Calibri" pitchFamily="34" charset="-120"/>
                        </a:rPr>
                        <a:t>Downside case</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000" b="1" dirty="0">
                          <a:solidFill>
                            <a:srgbClr val="2DE2FF"/>
                          </a:solidFill>
                          <a:latin typeface="Calibri" pitchFamily="34" charset="0"/>
                          <a:ea typeface="Calibri" pitchFamily="34" charset="-122"/>
                          <a:cs typeface="Calibri" pitchFamily="34" charset="-120"/>
                        </a:rPr>
                        <a:t>Year 5 net</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000" b="1" dirty="0">
                          <a:solidFill>
                            <a:srgbClr val="2DE2FF"/>
                          </a:solidFill>
                          <a:latin typeface="Calibri" pitchFamily="34" charset="0"/>
                          <a:ea typeface="Calibri" pitchFamily="34" charset="-122"/>
                          <a:cs typeface="Calibri" pitchFamily="34" charset="-120"/>
                        </a:rPr>
                        <a:t>Upside case</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000" b="1" dirty="0">
                          <a:solidFill>
                            <a:srgbClr val="2DE2FF"/>
                          </a:solidFill>
                          <a:latin typeface="Calibri" pitchFamily="34" charset="0"/>
                          <a:ea typeface="Calibri" pitchFamily="34" charset="-122"/>
                          <a:cs typeface="Calibri" pitchFamily="34" charset="-120"/>
                        </a:rPr>
                        <a:t>Year 5 net</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475488">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Factory cost (FOB)</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Alibaba benchmark</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00" dirty="0">
                          <a:solidFill>
                            <a:srgbClr val="FF4FD8"/>
                          </a:solidFill>
                          <a:latin typeface="Calibri" pitchFamily="34" charset="0"/>
                          <a:ea typeface="Calibri" pitchFamily="34" charset="-122"/>
                          <a:cs typeface="Calibri" pitchFamily="34" charset="-120"/>
                        </a:rPr>
                        <a:t>($1,345K)</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minus 10%</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00" dirty="0">
                          <a:solidFill>
                            <a:srgbClr val="3DDC97"/>
                          </a:solidFill>
                          <a:latin typeface="Calibri" pitchFamily="34" charset="0"/>
                          <a:ea typeface="Calibri" pitchFamily="34" charset="-122"/>
                          <a:cs typeface="Calibri" pitchFamily="34" charset="-120"/>
                        </a:rPr>
                        <a:t>$732K</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75488">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Duty rate</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Stress 50.1%</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00" dirty="0">
                          <a:solidFill>
                            <a:srgbClr val="F3F6FF"/>
                          </a:solidFill>
                          <a:latin typeface="Calibri" pitchFamily="34" charset="0"/>
                          <a:ea typeface="Calibri" pitchFamily="34" charset="-122"/>
                          <a:cs typeface="Calibri" pitchFamily="34" charset="-120"/>
                        </a:rPr>
                        <a:t>$528K</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Fiber 12.5%</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00" dirty="0">
                          <a:solidFill>
                            <a:srgbClr val="3DDC97"/>
                          </a:solidFill>
                          <a:latin typeface="Calibri" pitchFamily="34" charset="0"/>
                          <a:ea typeface="Calibri" pitchFamily="34" charset="-122"/>
                          <a:cs typeface="Calibri" pitchFamily="34" charset="-120"/>
                        </a:rPr>
                        <a:t>$848K</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75488">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ASP</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minus 10%</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00" dirty="0">
                          <a:solidFill>
                            <a:srgbClr val="F3F6FF"/>
                          </a:solidFill>
                          <a:latin typeface="Calibri" pitchFamily="34" charset="0"/>
                          <a:ea typeface="Calibri" pitchFamily="34" charset="-122"/>
                          <a:cs typeface="Calibri" pitchFamily="34" charset="-120"/>
                        </a:rPr>
                        <a:t>$462K</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plus 10%</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00" dirty="0">
                          <a:solidFill>
                            <a:srgbClr val="3DDC97"/>
                          </a:solidFill>
                          <a:latin typeface="Calibri" pitchFamily="34" charset="0"/>
                          <a:ea typeface="Calibri" pitchFamily="34" charset="-122"/>
                          <a:cs typeface="Calibri" pitchFamily="34" charset="-120"/>
                        </a:rPr>
                        <a:t>$763K</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75488">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Ad spend</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plus 3 points</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00" dirty="0">
                          <a:solidFill>
                            <a:srgbClr val="F3F6FF"/>
                          </a:solidFill>
                          <a:latin typeface="Calibri" pitchFamily="34" charset="0"/>
                          <a:ea typeface="Calibri" pitchFamily="34" charset="-122"/>
                          <a:cs typeface="Calibri" pitchFamily="34" charset="-120"/>
                        </a:rPr>
                        <a:t>$475K</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minus 3 points</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00" dirty="0">
                          <a:solidFill>
                            <a:srgbClr val="3DDC97"/>
                          </a:solidFill>
                          <a:latin typeface="Calibri" pitchFamily="34" charset="0"/>
                          <a:ea typeface="Calibri" pitchFamily="34" charset="-122"/>
                          <a:cs typeface="Calibri" pitchFamily="34" charset="-120"/>
                        </a:rPr>
                        <a:t>$750K</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475488">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FX (KRW per USD)</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1,300</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00" dirty="0">
                          <a:solidFill>
                            <a:srgbClr val="F3F6FF"/>
                          </a:solidFill>
                          <a:latin typeface="Calibri" pitchFamily="34" charset="0"/>
                          <a:ea typeface="Calibri" pitchFamily="34" charset="-122"/>
                          <a:cs typeface="Calibri" pitchFamily="34" charset="-120"/>
                        </a:rPr>
                        <a:t>$528K</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1,550</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00" dirty="0">
                          <a:solidFill>
                            <a:srgbClr val="3DDC97"/>
                          </a:solidFill>
                          <a:latin typeface="Calibri" pitchFamily="34" charset="0"/>
                          <a:ea typeface="Calibri" pitchFamily="34" charset="-122"/>
                          <a:cs typeface="Calibri" pitchFamily="34" charset="-120"/>
                        </a:rPr>
                        <a:t>$679K</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475488">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Return rate</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00" dirty="0">
                          <a:solidFill>
                            <a:srgbClr val="F3F6FF"/>
                          </a:solidFill>
                          <a:latin typeface="Calibri" pitchFamily="34" charset="0"/>
                          <a:ea typeface="Calibri" pitchFamily="34" charset="-122"/>
                          <a:cs typeface="Calibri" pitchFamily="34" charset="-120"/>
                        </a:rPr>
                        <a:t>$498K</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00" dirty="0">
                          <a:solidFill>
                            <a:srgbClr val="F3F6FF"/>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00" dirty="0">
                          <a:solidFill>
                            <a:srgbClr val="3DDC97"/>
                          </a:solidFill>
                          <a:latin typeface="Calibri" pitchFamily="34" charset="0"/>
                          <a:ea typeface="Calibri" pitchFamily="34" charset="-122"/>
                          <a:cs typeface="Calibri" pitchFamily="34" charset="-120"/>
                        </a:rPr>
                        <a:t>$636K</a:t>
                      </a:r>
                      <a:endParaRPr lang="en-US" sz="100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Twelve levers and what each one moves</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77295" cy="914400"/>
        </p:xfrm>
        <a:graphic>
          <a:graphicData uri="http://schemas.openxmlformats.org/drawingml/2006/table">
            <a:tbl>
              <a:tblPr/>
              <a:tblGrid>
                <a:gridCol w="320040"/>
                <a:gridCol w="2834640"/>
                <a:gridCol w="1920240"/>
                <a:gridCol w="1188720"/>
                <a:gridCol w="1828800"/>
                <a:gridCol w="1051560"/>
                <a:gridCol w="1097280"/>
                <a:gridCol w="1033272"/>
              </a:tblGrid>
              <a:tr h="365760">
                <a:tc>
                  <a:txBody>
                    <a:bodyPr/>
                    <a:lstStyle/>
                    <a:p>
                      <a:pPr algn="l" indent="0" marL="0">
                        <a:buNone/>
                      </a:pPr>
                      <a:r>
                        <a:rPr lang="en-US" sz="950" b="1" dirty="0">
                          <a:solidFill>
                            <a:srgbClr val="2DE2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950" b="1" dirty="0">
                          <a:solidFill>
                            <a:srgbClr val="2DE2FF"/>
                          </a:solidFill>
                          <a:latin typeface="Calibri" pitchFamily="34" charset="0"/>
                          <a:ea typeface="Calibri" pitchFamily="34" charset="-122"/>
                          <a:cs typeface="Calibri" pitchFamily="34" charset="-120"/>
                        </a:rPr>
                        <a:t>Lever</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950" b="1" dirty="0">
                          <a:solidFill>
                            <a:srgbClr val="2DE2FF"/>
                          </a:solidFill>
                          <a:latin typeface="Calibri" pitchFamily="34" charset="0"/>
                          <a:ea typeface="Calibri" pitchFamily="34" charset="-122"/>
                          <a:cs typeface="Calibri" pitchFamily="34" charset="-120"/>
                        </a:rPr>
                        <a:t>Moves</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950" b="1" dirty="0">
                          <a:solidFill>
                            <a:srgbClr val="2DE2FF"/>
                          </a:solidFill>
                          <a:latin typeface="Calibri" pitchFamily="34" charset="0"/>
                          <a:ea typeface="Calibri" pitchFamily="34" charset="-122"/>
                          <a:cs typeface="Calibri" pitchFamily="34" charset="-120"/>
                        </a:rPr>
                        <a:t>From</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950" b="1" dirty="0">
                          <a:solidFill>
                            <a:srgbClr val="2DE2FF"/>
                          </a:solidFill>
                          <a:latin typeface="Calibri" pitchFamily="34" charset="0"/>
                          <a:ea typeface="Calibri" pitchFamily="34" charset="-122"/>
                          <a:cs typeface="Calibri" pitchFamily="34" charset="-120"/>
                        </a:rPr>
                        <a:t>To</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950" b="1" dirty="0">
                          <a:solidFill>
                            <a:srgbClr val="2DE2FF"/>
                          </a:solidFill>
                          <a:latin typeface="Calibri" pitchFamily="34" charset="0"/>
                          <a:ea typeface="Calibri" pitchFamily="34" charset="-122"/>
                          <a:cs typeface="Calibri" pitchFamily="34" charset="-120"/>
                        </a:rPr>
                        <a:t>Owner</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950" b="1" dirty="0">
                          <a:solidFill>
                            <a:srgbClr val="2DE2FF"/>
                          </a:solidFill>
                          <a:latin typeface="Calibri" pitchFamily="34" charset="0"/>
                          <a:ea typeface="Calibri" pitchFamily="34" charset="-122"/>
                          <a:cs typeface="Calibri" pitchFamily="34" charset="-120"/>
                        </a:rPr>
                        <a:t>18 month net effect</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950" b="1" dirty="0">
                          <a:solidFill>
                            <a:srgbClr val="2DE2FF"/>
                          </a:solidFill>
                          <a:latin typeface="Calibri" pitchFamily="34" charset="0"/>
                          <a:ea typeface="Calibri" pitchFamily="34" charset="-122"/>
                          <a:cs typeface="Calibri" pitchFamily="34" charset="-120"/>
                        </a:rPr>
                        <a:t>Basis</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365760">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CBP binding ruling: fiber classification 8544.70.00</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Duty rate, landed COGS %</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38%</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33.5%</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Broker, Mark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dirty="0">
                          <a:solidFill>
                            <a:srgbClr val="3DDC97"/>
                          </a:solidFill>
                          <a:latin typeface="Calibri" pitchFamily="34" charset="0"/>
                          <a:ea typeface="Calibri" pitchFamily="34" charset="-122"/>
                          <a:cs typeface="Calibri" pitchFamily="34" charset="-120"/>
                        </a:rPr>
                        <a:t>$53K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August deck lever</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65760">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Air to ocean freight after the Day 90 gate</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Freight per unit, landed COGS %</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air $8.50 per kg</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ocean $1.10 per kg</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Lucy, 3PL</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950" dirty="0">
                          <a:solidFill>
                            <a:srgbClr val="3DDC97"/>
                          </a:solidFill>
                          <a:latin typeface="Calibri" pitchFamily="34" charset="0"/>
                          <a:ea typeface="Calibri" pitchFamily="34" charset="-122"/>
                          <a:cs typeface="Calibri" pitchFamily="34" charset="-120"/>
                        </a:rPr>
                        <a:t>$42K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August deck lever</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65760">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Direction proof connector design</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Return rate</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2.5% (target 2%)</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Lucy, factory</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dirty="0">
                          <a:solidFill>
                            <a:srgbClr val="3DDC97"/>
                          </a:solidFill>
                          <a:latin typeface="Calibri" pitchFamily="34" charset="0"/>
                          <a:ea typeface="Calibri" pitchFamily="34" charset="-122"/>
                          <a:cs typeface="Calibri" pitchFamily="34" charset="-120"/>
                        </a:rPr>
                        <a:t>$6K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August deck lever</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65760">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Keyword pruning and negative keywords</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Ad spend %</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phase rate</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minus 2 points</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Mark, VA</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950" dirty="0">
                          <a:solidFill>
                            <a:srgbClr val="3DDC97"/>
                          </a:solidFill>
                          <a:latin typeface="Calibri" pitchFamily="34" charset="0"/>
                          <a:ea typeface="Calibri" pitchFamily="34" charset="-122"/>
                          <a:cs typeface="Calibri" pitchFamily="34" charset="-120"/>
                        </a:rPr>
                        <a:t>$23K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August deck lever</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65760">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Review velocity (Vine, insert card, Brand Registry follow up)</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Conversion, unit ramp</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base ramp</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plus 10% units</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Mark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dirty="0">
                          <a:solidFill>
                            <a:srgbClr val="3DDC97"/>
                          </a:solidFill>
                          <a:latin typeface="Calibri" pitchFamily="34" charset="0"/>
                          <a:ea typeface="Calibri" pitchFamily="34" charset="-122"/>
                          <a:cs typeface="Calibri" pitchFamily="34" charset="-120"/>
                        </a:rPr>
                        <a:t>$18K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August deck lever</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65760">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Length variations under one parent ASIN</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Conversion, review pooling, ad efficiency</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separate ASINs</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one parent</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Mark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950" dirty="0">
                          <a:solidFill>
                            <a:srgbClr val="9AA5C4"/>
                          </a:solidFill>
                          <a:latin typeface="Calibri" pitchFamily="34" charset="0"/>
                          <a:ea typeface="Calibri" pitchFamily="34" charset="-122"/>
                          <a:cs typeface="Calibri" pitchFamily="34" charset="-120"/>
                        </a:rPr>
                        <a:t>supports levers 4 and 5</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August deck lever</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65760">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Factory volume pricing tiers</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FOB cost</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H2 base</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minus 5% at 5,000 units per quarter</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Lucy</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dirty="0">
                          <a:solidFill>
                            <a:srgbClr val="3DDC97"/>
                          </a:solidFill>
                          <a:latin typeface="Calibri" pitchFamily="34" charset="0"/>
                          <a:ea typeface="Calibri" pitchFamily="34" charset="-122"/>
                          <a:cs typeface="Calibri" pitchFamily="34" charset="-120"/>
                        </a:rPr>
                        <a:t>$13K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Management estimate</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65760">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Packaging to a smaller FBA size tier</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FBA fee per unit</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$5.50</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$4.75 on 7 m and 10 m</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Lucy, factory</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950" dirty="0">
                          <a:solidFill>
                            <a:srgbClr val="3DDC97"/>
                          </a:solidFill>
                          <a:latin typeface="Calibri" pitchFamily="34" charset="0"/>
                          <a:ea typeface="Calibri" pitchFamily="34" charset="-122"/>
                          <a:cs typeface="Calibri" pitchFamily="34" charset="-120"/>
                        </a:rPr>
                        <a:t>$21K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Management estimate</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65760">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3PL feeding FBA, avoid aged inventory surcharges</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Storage and inbound %</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3PL, Lucy</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dirty="0">
                          <a:solidFill>
                            <a:srgbClr val="3DDC97"/>
                          </a:solidFill>
                          <a:latin typeface="Calibri" pitchFamily="34" charset="0"/>
                          <a:ea typeface="Calibri" pitchFamily="34" charset="-122"/>
                          <a:cs typeface="Calibri" pitchFamily="34" charset="-120"/>
                        </a:rPr>
                        <a:t>$6K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Management estimate</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65760">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Price ladder and coupons (list versus sale price)</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ASP</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$42</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plus or minus 5% test</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Mark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950" dirty="0">
                          <a:solidFill>
                            <a:srgbClr val="3DDC97"/>
                          </a:solidFill>
                          <a:latin typeface="Calibri" pitchFamily="34" charset="0"/>
                          <a:ea typeface="Calibri" pitchFamily="34" charset="-122"/>
                          <a:cs typeface="Calibri" pitchFamily="34" charset="-120"/>
                        </a:rPr>
                        <a:t>$17K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Management estimate</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65760">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11</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Off Amazon email list (Spec Match finder, trade up registration)</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DTC revenue, ad %</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DTC from Year 3 ($100K)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Mark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dirty="0">
                          <a:solidFill>
                            <a:srgbClr val="3DDC97"/>
                          </a:solidFill>
                          <a:latin typeface="Calibri" pitchFamily="34" charset="0"/>
                          <a:ea typeface="Calibri" pitchFamily="34" charset="-122"/>
                          <a:cs typeface="Calibri" pitchFamily="34" charset="-120"/>
                        </a:rPr>
                        <a:t>$16K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Management estimate</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65760">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B2B installer program (AV integrators, custom installers)</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B2B channel revenue</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Year 2 $120K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Mark, Lucy</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950" dirty="0">
                          <a:solidFill>
                            <a:srgbClr val="3DDC97"/>
                          </a:solidFill>
                          <a:latin typeface="Calibri" pitchFamily="34" charset="0"/>
                          <a:ea typeface="Calibri" pitchFamily="34" charset="-122"/>
                          <a:cs typeface="Calibri" pitchFamily="34" charset="-120"/>
                        </a:rPr>
                        <a:t>$14K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Management estimate</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Marketing playbook</a:t>
            </a:r>
            <a:endParaRPr lang="en-US" sz="3200" dirty="0"/>
          </a:p>
        </p:txBody>
      </p:sp>
      <p:sp>
        <p:nvSpPr>
          <p:cNvPr id="4" name="card"/>
          <p:cNvSpPr/>
          <p:nvPr/>
        </p:nvSpPr>
        <p:spPr>
          <a:xfrm>
            <a:off x="457200" y="1188720"/>
            <a:ext cx="3576218" cy="2377440"/>
          </a:xfrm>
          <a:prstGeom prst="roundRect">
            <a:avLst>
              <a:gd name="adj" fmla="val 4615"/>
            </a:avLst>
          </a:prstGeom>
          <a:solidFill>
            <a:schemeClr val="bg2"/>
          </a:solidFill>
          <a:ln w="12700">
            <a:solidFill>
              <a:srgbClr val="141C36"/>
            </a:solidFill>
            <a:prstDash val="solid"/>
          </a:ln>
        </p:spPr>
      </p:sp>
      <p:sp>
        <p:nvSpPr>
          <p:cNvPr id="5" name="Shape 2"/>
          <p:cNvSpPr/>
          <p:nvPr/>
        </p:nvSpPr>
        <p:spPr>
          <a:xfrm>
            <a:off x="640080" y="1353312"/>
            <a:ext cx="502920" cy="502920"/>
          </a:xfrm>
          <a:prstGeom prst="ellipse">
            <a:avLst/>
          </a:prstGeom>
          <a:solidFill>
            <a:srgbClr val="1B2447"/>
          </a:solidFill>
          <a:ln w="12700">
            <a:solidFill>
              <a:srgbClr val="1B2447"/>
            </a:solidFill>
            <a:prstDash val="solid"/>
          </a:ln>
        </p:spPr>
      </p:sp>
      <p:pic>
        <p:nvPicPr>
          <p:cNvPr id="6" name="Image 0" descr="preencoded.png">    </p:cNvPr>
          <p:cNvPicPr>
            <a:picLocks noChangeAspect="1"/>
          </p:cNvPicPr>
          <p:nvPr/>
        </p:nvPicPr>
        <p:blipFill>
          <a:blip r:embed="rId1"/>
          <a:stretch>
            <a:fillRect/>
          </a:stretch>
        </p:blipFill>
        <p:spPr>
          <a:xfrm>
            <a:off x="750722" y="1463954"/>
            <a:ext cx="281635" cy="281635"/>
          </a:xfrm>
          <a:prstGeom prst="rect">
            <a:avLst/>
          </a:prstGeom>
        </p:spPr>
      </p:pic>
      <p:sp>
        <p:nvSpPr>
          <p:cNvPr id="7" name="Text 3"/>
          <p:cNvSpPr txBox="1"/>
          <p:nvPr/>
        </p:nvSpPr>
        <p:spPr>
          <a:xfrm>
            <a:off x="1280160" y="1353312"/>
            <a:ext cx="2570378" cy="502920"/>
          </a:xfrm>
          <a:prstGeom prst="rect">
            <a:avLst/>
          </a:prstGeom>
          <a:noFill/>
          <a:ln/>
        </p:spPr>
        <p:txBody>
          <a:bodyPr wrap="square" lIns="0" tIns="0" rIns="0" bIns="0" rtlCol="0" anchor="ctr"/>
          <a:lstStyle/>
          <a:p>
            <a:pPr algn="l" indent="0" marL="0">
              <a:buNone/>
            </a:pPr>
            <a:r>
              <a:rPr lang="en-US" sz="1500" b="1" dirty="0">
                <a:solidFill>
                  <a:schemeClr val="tx1"/>
                </a:solidFill>
              </a:rPr>
              <a:t>Ad spend by phase</a:t>
            </a:r>
            <a:endParaRPr lang="en-US" sz="1500" dirty="0"/>
          </a:p>
        </p:txBody>
      </p:sp>
      <p:sp>
        <p:nvSpPr>
          <p:cNvPr id="8" name="Text 4"/>
          <p:cNvSpPr txBox="1"/>
          <p:nvPr/>
        </p:nvSpPr>
        <p:spPr>
          <a:xfrm>
            <a:off x="640080" y="2011680"/>
            <a:ext cx="3210458" cy="1463040"/>
          </a:xfrm>
          <a:prstGeom prst="rect">
            <a:avLst/>
          </a:prstGeom>
          <a:noFill/>
          <a:ln/>
        </p:spPr>
        <p:txBody>
          <a:bodyPr wrap="square" lIns="0" tIns="0" rIns="0" bIns="0" rtlCol="0" anchor="t"/>
          <a:lstStyle/>
          <a:p>
            <a:pPr algn="l" indent="0" marL="0">
              <a:buNone/>
            </a:pPr>
            <a:r>
              <a:rPr lang="en-US" sz="1400" dirty="0">
                <a:solidFill>
                  <a:schemeClr val="tx1"/>
                </a:solidFill>
              </a:rPr>
              <a:t>30% of revenue in Months 1 to 3, 22% in Months 4 to 6, 15% in Months 7 to 12, 11% in Months 13 to 18. Never below 8%. TACOS gate: 30% at Month 3, 15% at Month 12.</a:t>
            </a:r>
            <a:endParaRPr lang="en-US" sz="1400" dirty="0"/>
          </a:p>
        </p:txBody>
      </p:sp>
      <p:sp>
        <p:nvSpPr>
          <p:cNvPr id="9" name="card"/>
          <p:cNvSpPr/>
          <p:nvPr/>
        </p:nvSpPr>
        <p:spPr>
          <a:xfrm>
            <a:off x="4307738" y="1188720"/>
            <a:ext cx="3576218" cy="2377440"/>
          </a:xfrm>
          <a:prstGeom prst="roundRect">
            <a:avLst>
              <a:gd name="adj" fmla="val 4615"/>
            </a:avLst>
          </a:prstGeom>
          <a:solidFill>
            <a:schemeClr val="bg2"/>
          </a:solidFill>
          <a:ln w="12700">
            <a:solidFill>
              <a:srgbClr val="141C36"/>
            </a:solidFill>
            <a:prstDash val="solid"/>
          </a:ln>
        </p:spPr>
      </p:sp>
      <p:sp>
        <p:nvSpPr>
          <p:cNvPr id="10" name="Shape 6"/>
          <p:cNvSpPr/>
          <p:nvPr/>
        </p:nvSpPr>
        <p:spPr>
          <a:xfrm>
            <a:off x="4490618" y="1353312"/>
            <a:ext cx="502920" cy="502920"/>
          </a:xfrm>
          <a:prstGeom prst="ellipse">
            <a:avLst/>
          </a:prstGeom>
          <a:solidFill>
            <a:srgbClr val="1B2447"/>
          </a:solidFill>
          <a:ln w="12700">
            <a:solidFill>
              <a:srgbClr val="1B2447"/>
            </a:solidFill>
            <a:prstDash val="solid"/>
          </a:ln>
        </p:spPr>
      </p:sp>
      <p:pic>
        <p:nvPicPr>
          <p:cNvPr id="11" name="Image 1" descr="preencoded.png">    </p:cNvPr>
          <p:cNvPicPr>
            <a:picLocks noChangeAspect="1"/>
          </p:cNvPicPr>
          <p:nvPr/>
        </p:nvPicPr>
        <p:blipFill>
          <a:blip r:embed="rId2"/>
          <a:stretch>
            <a:fillRect/>
          </a:stretch>
        </p:blipFill>
        <p:spPr>
          <a:xfrm>
            <a:off x="4601261" y="1463954"/>
            <a:ext cx="281635" cy="281635"/>
          </a:xfrm>
          <a:prstGeom prst="rect">
            <a:avLst/>
          </a:prstGeom>
        </p:spPr>
      </p:pic>
      <p:sp>
        <p:nvSpPr>
          <p:cNvPr id="12" name="Text 7"/>
          <p:cNvSpPr txBox="1"/>
          <p:nvPr/>
        </p:nvSpPr>
        <p:spPr>
          <a:xfrm>
            <a:off x="5130698" y="1353312"/>
            <a:ext cx="2570378" cy="502920"/>
          </a:xfrm>
          <a:prstGeom prst="rect">
            <a:avLst/>
          </a:prstGeom>
          <a:noFill/>
          <a:ln/>
        </p:spPr>
        <p:txBody>
          <a:bodyPr wrap="square" lIns="0" tIns="0" rIns="0" bIns="0" rtlCol="0" anchor="ctr"/>
          <a:lstStyle/>
          <a:p>
            <a:pPr algn="l" indent="0" marL="0">
              <a:buNone/>
            </a:pPr>
            <a:r>
              <a:rPr lang="en-US" sz="1500" b="1" dirty="0">
                <a:solidFill>
                  <a:schemeClr val="tx1"/>
                </a:solidFill>
              </a:rPr>
              <a:t>Review velocity</a:t>
            </a:r>
            <a:endParaRPr lang="en-US" sz="1500" dirty="0"/>
          </a:p>
        </p:txBody>
      </p:sp>
      <p:sp>
        <p:nvSpPr>
          <p:cNvPr id="13" name="Text 8"/>
          <p:cNvSpPr txBox="1"/>
          <p:nvPr/>
        </p:nvSpPr>
        <p:spPr>
          <a:xfrm>
            <a:off x="4490618" y="2011680"/>
            <a:ext cx="3210458" cy="1463040"/>
          </a:xfrm>
          <a:prstGeom prst="rect">
            <a:avLst/>
          </a:prstGeom>
          <a:noFill/>
          <a:ln/>
        </p:spPr>
        <p:txBody>
          <a:bodyPr wrap="square" lIns="0" tIns="0" rIns="0" bIns="0" rtlCol="0" anchor="t"/>
          <a:lstStyle/>
          <a:p>
            <a:pPr algn="l" indent="0" marL="0">
              <a:buNone/>
            </a:pPr>
            <a:r>
              <a:rPr lang="en-US" sz="1400" dirty="0">
                <a:solidFill>
                  <a:schemeClr val="tx1"/>
                </a:solidFill>
              </a:rPr>
              <a:t>Vine on launch, insert card with the guarantee registration, Brand Registry follow up messages. Target: reviews pooled on one parent ASIN.</a:t>
            </a:r>
            <a:endParaRPr lang="en-US" sz="1400" dirty="0"/>
          </a:p>
        </p:txBody>
      </p:sp>
      <p:sp>
        <p:nvSpPr>
          <p:cNvPr id="14" name="card"/>
          <p:cNvSpPr/>
          <p:nvPr/>
        </p:nvSpPr>
        <p:spPr>
          <a:xfrm>
            <a:off x="8158277" y="1188720"/>
            <a:ext cx="3576218" cy="2377440"/>
          </a:xfrm>
          <a:prstGeom prst="roundRect">
            <a:avLst>
              <a:gd name="adj" fmla="val 4615"/>
            </a:avLst>
          </a:prstGeom>
          <a:solidFill>
            <a:schemeClr val="bg2"/>
          </a:solidFill>
          <a:ln w="12700">
            <a:solidFill>
              <a:srgbClr val="141C36"/>
            </a:solidFill>
            <a:prstDash val="solid"/>
          </a:ln>
        </p:spPr>
      </p:sp>
      <p:sp>
        <p:nvSpPr>
          <p:cNvPr id="15" name="Shape 10"/>
          <p:cNvSpPr/>
          <p:nvPr/>
        </p:nvSpPr>
        <p:spPr>
          <a:xfrm>
            <a:off x="8341157" y="1353312"/>
            <a:ext cx="502920" cy="502920"/>
          </a:xfrm>
          <a:prstGeom prst="ellipse">
            <a:avLst/>
          </a:prstGeom>
          <a:solidFill>
            <a:srgbClr val="1B2447"/>
          </a:solidFill>
          <a:ln w="12700">
            <a:solidFill>
              <a:srgbClr val="1B2447"/>
            </a:solidFill>
            <a:prstDash val="solid"/>
          </a:ln>
        </p:spPr>
      </p:sp>
      <p:pic>
        <p:nvPicPr>
          <p:cNvPr id="16" name="Image 2" descr="preencoded.png">    </p:cNvPr>
          <p:cNvPicPr>
            <a:picLocks noChangeAspect="1"/>
          </p:cNvPicPr>
          <p:nvPr/>
        </p:nvPicPr>
        <p:blipFill>
          <a:blip r:embed="rId3"/>
          <a:stretch>
            <a:fillRect/>
          </a:stretch>
        </p:blipFill>
        <p:spPr>
          <a:xfrm>
            <a:off x="8451799" y="1463954"/>
            <a:ext cx="281635" cy="281635"/>
          </a:xfrm>
          <a:prstGeom prst="rect">
            <a:avLst/>
          </a:prstGeom>
        </p:spPr>
      </p:pic>
      <p:sp>
        <p:nvSpPr>
          <p:cNvPr id="17" name="Text 11"/>
          <p:cNvSpPr txBox="1"/>
          <p:nvPr/>
        </p:nvSpPr>
        <p:spPr>
          <a:xfrm>
            <a:off x="8981237" y="1353312"/>
            <a:ext cx="2570378" cy="502920"/>
          </a:xfrm>
          <a:prstGeom prst="rect">
            <a:avLst/>
          </a:prstGeom>
          <a:noFill/>
          <a:ln/>
        </p:spPr>
        <p:txBody>
          <a:bodyPr wrap="square" lIns="0" tIns="0" rIns="0" bIns="0" rtlCol="0" anchor="ctr"/>
          <a:lstStyle/>
          <a:p>
            <a:pPr algn="l" indent="0" marL="0">
              <a:buNone/>
            </a:pPr>
            <a:r>
              <a:rPr lang="en-US" sz="1500" b="1" dirty="0">
                <a:solidFill>
                  <a:schemeClr val="tx1"/>
                </a:solidFill>
              </a:rPr>
              <a:t>Content</a:t>
            </a:r>
            <a:endParaRPr lang="en-US" sz="1500" dirty="0"/>
          </a:p>
        </p:txBody>
      </p:sp>
      <p:sp>
        <p:nvSpPr>
          <p:cNvPr id="18" name="Text 12"/>
          <p:cNvSpPr txBox="1"/>
          <p:nvPr/>
        </p:nvSpPr>
        <p:spPr>
          <a:xfrm>
            <a:off x="8341157" y="2011680"/>
            <a:ext cx="3210458" cy="1463040"/>
          </a:xfrm>
          <a:prstGeom prst="rect">
            <a:avLst/>
          </a:prstGeom>
          <a:noFill/>
          <a:ln/>
        </p:spPr>
        <p:txBody>
          <a:bodyPr wrap="square" lIns="0" tIns="0" rIns="0" bIns="0" rtlCol="0" anchor="t"/>
          <a:lstStyle/>
          <a:p>
            <a:pPr algn="l" indent="0" marL="0">
              <a:buNone/>
            </a:pPr>
            <a:r>
              <a:rPr lang="en-US" sz="1400" dirty="0">
                <a:solidFill>
                  <a:schemeClr val="tx1"/>
                </a:solidFill>
              </a:rPr>
              <a:t>7 image slots plus the video slot, A+ content with 7 modules, Brand Store. Titles state 48Gbps and 8K; category name only, no version numbers.</a:t>
            </a:r>
            <a:endParaRPr lang="en-US" sz="1400" dirty="0"/>
          </a:p>
        </p:txBody>
      </p:sp>
      <p:sp>
        <p:nvSpPr>
          <p:cNvPr id="19" name="card"/>
          <p:cNvSpPr/>
          <p:nvPr/>
        </p:nvSpPr>
        <p:spPr>
          <a:xfrm>
            <a:off x="457200" y="3840480"/>
            <a:ext cx="3576218" cy="2377440"/>
          </a:xfrm>
          <a:prstGeom prst="roundRect">
            <a:avLst>
              <a:gd name="adj" fmla="val 4615"/>
            </a:avLst>
          </a:prstGeom>
          <a:solidFill>
            <a:schemeClr val="bg2"/>
          </a:solidFill>
          <a:ln w="12700">
            <a:solidFill>
              <a:srgbClr val="141C36"/>
            </a:solidFill>
            <a:prstDash val="solid"/>
          </a:ln>
        </p:spPr>
      </p:sp>
      <p:sp>
        <p:nvSpPr>
          <p:cNvPr id="20" name="Shape 14"/>
          <p:cNvSpPr/>
          <p:nvPr/>
        </p:nvSpPr>
        <p:spPr>
          <a:xfrm>
            <a:off x="640080" y="4005072"/>
            <a:ext cx="502920" cy="502920"/>
          </a:xfrm>
          <a:prstGeom prst="ellipse">
            <a:avLst/>
          </a:prstGeom>
          <a:solidFill>
            <a:srgbClr val="1B2447"/>
          </a:solidFill>
          <a:ln w="12700">
            <a:solidFill>
              <a:srgbClr val="1B2447"/>
            </a:solidFill>
            <a:prstDash val="solid"/>
          </a:ln>
        </p:spPr>
      </p:sp>
      <p:pic>
        <p:nvPicPr>
          <p:cNvPr id="21" name="Image 3" descr="preencoded.png">    </p:cNvPr>
          <p:cNvPicPr>
            <a:picLocks noChangeAspect="1"/>
          </p:cNvPicPr>
          <p:nvPr/>
        </p:nvPicPr>
        <p:blipFill>
          <a:blip r:embed="rId4"/>
          <a:stretch>
            <a:fillRect/>
          </a:stretch>
        </p:blipFill>
        <p:spPr>
          <a:xfrm>
            <a:off x="750722" y="4115714"/>
            <a:ext cx="281635" cy="281635"/>
          </a:xfrm>
          <a:prstGeom prst="rect">
            <a:avLst/>
          </a:prstGeom>
        </p:spPr>
      </p:pic>
      <p:sp>
        <p:nvSpPr>
          <p:cNvPr id="22" name="Text 15"/>
          <p:cNvSpPr txBox="1"/>
          <p:nvPr/>
        </p:nvSpPr>
        <p:spPr>
          <a:xfrm>
            <a:off x="1280160" y="4005072"/>
            <a:ext cx="2570378" cy="502920"/>
          </a:xfrm>
          <a:prstGeom prst="rect">
            <a:avLst/>
          </a:prstGeom>
          <a:noFill/>
          <a:ln/>
        </p:spPr>
        <p:txBody>
          <a:bodyPr wrap="square" lIns="0" tIns="0" rIns="0" bIns="0" rtlCol="0" anchor="ctr"/>
          <a:lstStyle/>
          <a:p>
            <a:pPr algn="l" indent="0" marL="0">
              <a:buNone/>
            </a:pPr>
            <a:r>
              <a:rPr lang="en-US" sz="1500" b="1" dirty="0">
                <a:solidFill>
                  <a:schemeClr val="tx1"/>
                </a:solidFill>
              </a:rPr>
              <a:t>Keyword discipline</a:t>
            </a:r>
            <a:endParaRPr lang="en-US" sz="1500" dirty="0"/>
          </a:p>
        </p:txBody>
      </p:sp>
      <p:sp>
        <p:nvSpPr>
          <p:cNvPr id="23" name="Text 16"/>
          <p:cNvSpPr txBox="1"/>
          <p:nvPr/>
        </p:nvSpPr>
        <p:spPr>
          <a:xfrm>
            <a:off x="640080" y="4663440"/>
            <a:ext cx="3210458" cy="1463040"/>
          </a:xfrm>
          <a:prstGeom prst="rect">
            <a:avLst/>
          </a:prstGeom>
          <a:noFill/>
          <a:ln/>
        </p:spPr>
        <p:txBody>
          <a:bodyPr wrap="square" lIns="0" tIns="0" rIns="0" bIns="0" rtlCol="0" anchor="t"/>
          <a:lstStyle/>
          <a:p>
            <a:pPr algn="l" indent="0" marL="0">
              <a:buNone/>
            </a:pPr>
            <a:r>
              <a:rPr lang="en-US" sz="1400" dirty="0">
                <a:solidFill>
                  <a:schemeClr val="tx1"/>
                </a:solidFill>
              </a:rPr>
              <a:t>Weekly pruning and negative keywords (lever 4). Rank for long length and fiber terms, not for cheap copper terms.</a:t>
            </a:r>
            <a:endParaRPr lang="en-US" sz="1400" dirty="0"/>
          </a:p>
        </p:txBody>
      </p:sp>
      <p:sp>
        <p:nvSpPr>
          <p:cNvPr id="24" name="card"/>
          <p:cNvSpPr/>
          <p:nvPr/>
        </p:nvSpPr>
        <p:spPr>
          <a:xfrm>
            <a:off x="4307738" y="3840480"/>
            <a:ext cx="3576218" cy="2377440"/>
          </a:xfrm>
          <a:prstGeom prst="roundRect">
            <a:avLst>
              <a:gd name="adj" fmla="val 4615"/>
            </a:avLst>
          </a:prstGeom>
          <a:solidFill>
            <a:schemeClr val="bg2"/>
          </a:solidFill>
          <a:ln w="12700">
            <a:solidFill>
              <a:srgbClr val="141C36"/>
            </a:solidFill>
            <a:prstDash val="solid"/>
          </a:ln>
        </p:spPr>
      </p:sp>
      <p:sp>
        <p:nvSpPr>
          <p:cNvPr id="25" name="Shape 18"/>
          <p:cNvSpPr/>
          <p:nvPr/>
        </p:nvSpPr>
        <p:spPr>
          <a:xfrm>
            <a:off x="4490618" y="4005072"/>
            <a:ext cx="502920" cy="502920"/>
          </a:xfrm>
          <a:prstGeom prst="ellipse">
            <a:avLst/>
          </a:prstGeom>
          <a:solidFill>
            <a:srgbClr val="1B2447"/>
          </a:solidFill>
          <a:ln w="12700">
            <a:solidFill>
              <a:srgbClr val="1B2447"/>
            </a:solidFill>
            <a:prstDash val="solid"/>
          </a:ln>
        </p:spPr>
      </p:sp>
      <p:pic>
        <p:nvPicPr>
          <p:cNvPr id="26" name="Image 4" descr="preencoded.png">    </p:cNvPr>
          <p:cNvPicPr>
            <a:picLocks noChangeAspect="1"/>
          </p:cNvPicPr>
          <p:nvPr/>
        </p:nvPicPr>
        <p:blipFill>
          <a:blip r:embed="rId5"/>
          <a:stretch>
            <a:fillRect/>
          </a:stretch>
        </p:blipFill>
        <p:spPr>
          <a:xfrm>
            <a:off x="4601261" y="4115714"/>
            <a:ext cx="281635" cy="281635"/>
          </a:xfrm>
          <a:prstGeom prst="rect">
            <a:avLst/>
          </a:prstGeom>
        </p:spPr>
      </p:pic>
      <p:sp>
        <p:nvSpPr>
          <p:cNvPr id="27" name="Text 19"/>
          <p:cNvSpPr txBox="1"/>
          <p:nvPr/>
        </p:nvSpPr>
        <p:spPr>
          <a:xfrm>
            <a:off x="5130698" y="4005072"/>
            <a:ext cx="2570378" cy="502920"/>
          </a:xfrm>
          <a:prstGeom prst="rect">
            <a:avLst/>
          </a:prstGeom>
          <a:noFill/>
          <a:ln/>
        </p:spPr>
        <p:txBody>
          <a:bodyPr wrap="square" lIns="0" tIns="0" rIns="0" bIns="0" rtlCol="0" anchor="ctr"/>
          <a:lstStyle/>
          <a:p>
            <a:pPr algn="l" indent="0" marL="0">
              <a:buNone/>
            </a:pPr>
            <a:r>
              <a:rPr lang="en-US" sz="1500" b="1" dirty="0">
                <a:solidFill>
                  <a:schemeClr val="tx1"/>
                </a:solidFill>
              </a:rPr>
              <a:t>Price ladder and coupons</a:t>
            </a:r>
            <a:endParaRPr lang="en-US" sz="1500" dirty="0"/>
          </a:p>
        </p:txBody>
      </p:sp>
      <p:sp>
        <p:nvSpPr>
          <p:cNvPr id="28" name="Text 20"/>
          <p:cNvSpPr txBox="1"/>
          <p:nvPr/>
        </p:nvSpPr>
        <p:spPr>
          <a:xfrm>
            <a:off x="4490618" y="4663440"/>
            <a:ext cx="3210458" cy="1463040"/>
          </a:xfrm>
          <a:prstGeom prst="rect">
            <a:avLst/>
          </a:prstGeom>
          <a:noFill/>
          <a:ln/>
        </p:spPr>
        <p:txBody>
          <a:bodyPr wrap="square" lIns="0" tIns="0" rIns="0" bIns="0" rtlCol="0" anchor="t"/>
          <a:lstStyle/>
          <a:p>
            <a:pPr algn="l" indent="0" marL="0">
              <a:buNone/>
            </a:pPr>
            <a:r>
              <a:rPr lang="en-US" sz="1400" dirty="0">
                <a:solidFill>
                  <a:schemeClr val="tx1"/>
                </a:solidFill>
              </a:rPr>
              <a:t>List price $59.99 anchors the hero at $44.99. Coupons test plus or minus 5% (lever 10). The Amazon price floor is set before any Temu test.</a:t>
            </a:r>
            <a:endParaRPr lang="en-US" sz="1400" dirty="0"/>
          </a:p>
        </p:txBody>
      </p:sp>
      <p:sp>
        <p:nvSpPr>
          <p:cNvPr id="29" name="card"/>
          <p:cNvSpPr/>
          <p:nvPr/>
        </p:nvSpPr>
        <p:spPr>
          <a:xfrm>
            <a:off x="8158277" y="3840480"/>
            <a:ext cx="3576218" cy="2377440"/>
          </a:xfrm>
          <a:prstGeom prst="roundRect">
            <a:avLst>
              <a:gd name="adj" fmla="val 4615"/>
            </a:avLst>
          </a:prstGeom>
          <a:solidFill>
            <a:schemeClr val="bg2"/>
          </a:solidFill>
          <a:ln w="12700">
            <a:solidFill>
              <a:srgbClr val="141C36"/>
            </a:solidFill>
            <a:prstDash val="solid"/>
          </a:ln>
        </p:spPr>
      </p:sp>
      <p:sp>
        <p:nvSpPr>
          <p:cNvPr id="30" name="Shape 22"/>
          <p:cNvSpPr/>
          <p:nvPr/>
        </p:nvSpPr>
        <p:spPr>
          <a:xfrm>
            <a:off x="8341157" y="4005072"/>
            <a:ext cx="502920" cy="502920"/>
          </a:xfrm>
          <a:prstGeom prst="ellipse">
            <a:avLst/>
          </a:prstGeom>
          <a:solidFill>
            <a:srgbClr val="1B2447"/>
          </a:solidFill>
          <a:ln w="12700">
            <a:solidFill>
              <a:srgbClr val="1B2447"/>
            </a:solidFill>
            <a:prstDash val="solid"/>
          </a:ln>
        </p:spPr>
      </p:sp>
      <p:pic>
        <p:nvPicPr>
          <p:cNvPr id="31" name="Image 5" descr="preencoded.png">    </p:cNvPr>
          <p:cNvPicPr>
            <a:picLocks noChangeAspect="1"/>
          </p:cNvPicPr>
          <p:nvPr/>
        </p:nvPicPr>
        <p:blipFill>
          <a:blip r:embed="rId6"/>
          <a:stretch>
            <a:fillRect/>
          </a:stretch>
        </p:blipFill>
        <p:spPr>
          <a:xfrm>
            <a:off x="8451799" y="4115714"/>
            <a:ext cx="281635" cy="281635"/>
          </a:xfrm>
          <a:prstGeom prst="rect">
            <a:avLst/>
          </a:prstGeom>
        </p:spPr>
      </p:pic>
      <p:sp>
        <p:nvSpPr>
          <p:cNvPr id="32" name="Text 23"/>
          <p:cNvSpPr txBox="1"/>
          <p:nvPr/>
        </p:nvSpPr>
        <p:spPr>
          <a:xfrm>
            <a:off x="8981237" y="4005072"/>
            <a:ext cx="2570378" cy="502920"/>
          </a:xfrm>
          <a:prstGeom prst="rect">
            <a:avLst/>
          </a:prstGeom>
          <a:noFill/>
          <a:ln/>
        </p:spPr>
        <p:txBody>
          <a:bodyPr wrap="square" lIns="0" tIns="0" rIns="0" bIns="0" rtlCol="0" anchor="ctr"/>
          <a:lstStyle/>
          <a:p>
            <a:pPr algn="l" indent="0" marL="0">
              <a:buNone/>
            </a:pPr>
            <a:r>
              <a:rPr lang="en-US" sz="1500" b="1" dirty="0">
                <a:solidFill>
                  <a:schemeClr val="tx1"/>
                </a:solidFill>
              </a:rPr>
              <a:t>Off Amazon list</a:t>
            </a:r>
            <a:endParaRPr lang="en-US" sz="1500" dirty="0"/>
          </a:p>
        </p:txBody>
      </p:sp>
      <p:sp>
        <p:nvSpPr>
          <p:cNvPr id="33" name="Text 24"/>
          <p:cNvSpPr txBox="1"/>
          <p:nvPr/>
        </p:nvSpPr>
        <p:spPr>
          <a:xfrm>
            <a:off x="8341157" y="4663440"/>
            <a:ext cx="3210458" cy="1463040"/>
          </a:xfrm>
          <a:prstGeom prst="rect">
            <a:avLst/>
          </a:prstGeom>
          <a:noFill/>
          <a:ln/>
        </p:spPr>
        <p:txBody>
          <a:bodyPr wrap="square" lIns="0" tIns="0" rIns="0" bIns="0" rtlCol="0" anchor="t"/>
          <a:lstStyle/>
          <a:p>
            <a:pPr algn="l" indent="0" marL="0">
              <a:buNone/>
            </a:pPr>
            <a:r>
              <a:rPr lang="en-US" sz="1400" dirty="0">
                <a:solidFill>
                  <a:schemeClr val="tx1"/>
                </a:solidFill>
              </a:rPr>
              <a:t>Spec Match finder and trade up registration collect emails at zero ad cost. Feeds the DTC site in Year 3 (lever 11) and the installer program (lever 12).</a:t>
            </a:r>
            <a:endParaRPr lang="en-US" sz="1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Operating model and team</a:t>
            </a:r>
            <a:endParaRPr lang="en-US" sz="3200" dirty="0"/>
          </a:p>
        </p:txBody>
      </p:sp>
      <p:sp>
        <p:nvSpPr>
          <p:cNvPr id="4" name="card"/>
          <p:cNvSpPr/>
          <p:nvPr/>
        </p:nvSpPr>
        <p:spPr>
          <a:xfrm>
            <a:off x="457200" y="1188720"/>
            <a:ext cx="3566160" cy="2331720"/>
          </a:xfrm>
          <a:prstGeom prst="roundRect">
            <a:avLst>
              <a:gd name="adj" fmla="val 4706"/>
            </a:avLst>
          </a:prstGeom>
          <a:solidFill>
            <a:schemeClr val="bg2"/>
          </a:solidFill>
          <a:ln w="12700">
            <a:solidFill>
              <a:srgbClr val="141C36"/>
            </a:solidFill>
            <a:prstDash val="solid"/>
          </a:ln>
        </p:spPr>
      </p:sp>
      <p:sp>
        <p:nvSpPr>
          <p:cNvPr id="5" name="Shape 2"/>
          <p:cNvSpPr/>
          <p:nvPr/>
        </p:nvSpPr>
        <p:spPr>
          <a:xfrm>
            <a:off x="640080" y="1353312"/>
            <a:ext cx="502920" cy="502920"/>
          </a:xfrm>
          <a:prstGeom prst="ellipse">
            <a:avLst/>
          </a:prstGeom>
          <a:solidFill>
            <a:srgbClr val="1B2447"/>
          </a:solidFill>
          <a:ln w="12700">
            <a:solidFill>
              <a:srgbClr val="1B2447"/>
            </a:solidFill>
            <a:prstDash val="solid"/>
          </a:ln>
        </p:spPr>
      </p:sp>
      <p:pic>
        <p:nvPicPr>
          <p:cNvPr id="6" name="Image 0" descr="preencoded.png">    </p:cNvPr>
          <p:cNvPicPr>
            <a:picLocks noChangeAspect="1"/>
          </p:cNvPicPr>
          <p:nvPr/>
        </p:nvPicPr>
        <p:blipFill>
          <a:blip r:embed="rId1"/>
          <a:stretch>
            <a:fillRect/>
          </a:stretch>
        </p:blipFill>
        <p:spPr>
          <a:xfrm>
            <a:off x="750722" y="1463954"/>
            <a:ext cx="281635" cy="281635"/>
          </a:xfrm>
          <a:prstGeom prst="rect">
            <a:avLst/>
          </a:prstGeom>
        </p:spPr>
      </p:pic>
      <p:sp>
        <p:nvSpPr>
          <p:cNvPr id="7" name="Text 3"/>
          <p:cNvSpPr txBox="1"/>
          <p:nvPr/>
        </p:nvSpPr>
        <p:spPr>
          <a:xfrm>
            <a:off x="1280160" y="1353312"/>
            <a:ext cx="2560320" cy="502920"/>
          </a:xfrm>
          <a:prstGeom prst="rect">
            <a:avLst/>
          </a:prstGeom>
          <a:noFill/>
          <a:ln/>
        </p:spPr>
        <p:txBody>
          <a:bodyPr wrap="square" lIns="0" tIns="0" rIns="0" bIns="0" rtlCol="0" anchor="ctr"/>
          <a:lstStyle/>
          <a:p>
            <a:pPr algn="l" indent="0" marL="0">
              <a:buNone/>
            </a:pPr>
            <a:r>
              <a:rPr lang="en-US" sz="1400" b="1" dirty="0">
                <a:solidFill>
                  <a:schemeClr val="tx1"/>
                </a:solidFill>
              </a:rPr>
              <a:t>Lucy (Hyejin Yoo), owner</a:t>
            </a:r>
            <a:endParaRPr lang="en-US" sz="1400" dirty="0"/>
          </a:p>
        </p:txBody>
      </p:sp>
      <p:sp>
        <p:nvSpPr>
          <p:cNvPr id="8" name="Text 4"/>
          <p:cNvSpPr txBox="1"/>
          <p:nvPr/>
        </p:nvSpPr>
        <p:spPr>
          <a:xfrm>
            <a:off x="640080" y="2011680"/>
            <a:ext cx="3200400" cy="1417320"/>
          </a:xfrm>
          <a:prstGeom prst="rect">
            <a:avLst/>
          </a:prstGeom>
          <a:noFill/>
          <a:ln/>
        </p:spPr>
        <p:txBody>
          <a:bodyPr wrap="square" lIns="0" tIns="0" rIns="0" bIns="0" rtlCol="0" anchor="t"/>
          <a:lstStyle/>
          <a:p>
            <a:pPr algn="l" indent="0" marL="0">
              <a:buNone/>
            </a:pPr>
            <a:r>
              <a:rPr lang="en-US" sz="1200" dirty="0">
                <a:solidFill>
                  <a:schemeClr val="tx1"/>
                </a:solidFill>
              </a:rPr>
              <a:t>Owns BRAND LLC 100%. Factory relationship, purchasing, QC, Korea filings, capital. Decides at every gate.</a:t>
            </a:r>
            <a:endParaRPr lang="en-US" sz="1200" dirty="0"/>
          </a:p>
        </p:txBody>
      </p:sp>
      <p:sp>
        <p:nvSpPr>
          <p:cNvPr id="9" name="card"/>
          <p:cNvSpPr/>
          <p:nvPr/>
        </p:nvSpPr>
        <p:spPr>
          <a:xfrm>
            <a:off x="4297680" y="1188720"/>
            <a:ext cx="3566160" cy="2331720"/>
          </a:xfrm>
          <a:prstGeom prst="roundRect">
            <a:avLst>
              <a:gd name="adj" fmla="val 4706"/>
            </a:avLst>
          </a:prstGeom>
          <a:solidFill>
            <a:schemeClr val="bg2"/>
          </a:solidFill>
          <a:ln w="12700">
            <a:solidFill>
              <a:srgbClr val="141C36"/>
            </a:solidFill>
            <a:prstDash val="solid"/>
          </a:ln>
        </p:spPr>
      </p:sp>
      <p:sp>
        <p:nvSpPr>
          <p:cNvPr id="10" name="Shape 6"/>
          <p:cNvSpPr/>
          <p:nvPr/>
        </p:nvSpPr>
        <p:spPr>
          <a:xfrm>
            <a:off x="4480560" y="1353312"/>
            <a:ext cx="502920" cy="502920"/>
          </a:xfrm>
          <a:prstGeom prst="ellipse">
            <a:avLst/>
          </a:prstGeom>
          <a:solidFill>
            <a:srgbClr val="1B2447"/>
          </a:solidFill>
          <a:ln w="12700">
            <a:solidFill>
              <a:srgbClr val="1B2447"/>
            </a:solidFill>
            <a:prstDash val="solid"/>
          </a:ln>
        </p:spPr>
      </p:sp>
      <p:pic>
        <p:nvPicPr>
          <p:cNvPr id="11" name="Image 1" descr="preencoded.png">    </p:cNvPr>
          <p:cNvPicPr>
            <a:picLocks noChangeAspect="1"/>
          </p:cNvPicPr>
          <p:nvPr/>
        </p:nvPicPr>
        <p:blipFill>
          <a:blip r:embed="rId2"/>
          <a:stretch>
            <a:fillRect/>
          </a:stretch>
        </p:blipFill>
        <p:spPr>
          <a:xfrm>
            <a:off x="4591202" y="1463954"/>
            <a:ext cx="281635" cy="281635"/>
          </a:xfrm>
          <a:prstGeom prst="rect">
            <a:avLst/>
          </a:prstGeom>
        </p:spPr>
      </p:pic>
      <p:sp>
        <p:nvSpPr>
          <p:cNvPr id="12" name="Text 7"/>
          <p:cNvSpPr txBox="1"/>
          <p:nvPr/>
        </p:nvSpPr>
        <p:spPr>
          <a:xfrm>
            <a:off x="5120640" y="1353312"/>
            <a:ext cx="2560320" cy="502920"/>
          </a:xfrm>
          <a:prstGeom prst="rect">
            <a:avLst/>
          </a:prstGeom>
          <a:noFill/>
          <a:ln/>
        </p:spPr>
        <p:txBody>
          <a:bodyPr wrap="square" lIns="0" tIns="0" rIns="0" bIns="0" rtlCol="0" anchor="ctr"/>
          <a:lstStyle/>
          <a:p>
            <a:pPr algn="l" indent="0" marL="0">
              <a:buNone/>
            </a:pPr>
            <a:r>
              <a:rPr lang="en-US" sz="1400" b="1" dirty="0">
                <a:solidFill>
                  <a:schemeClr val="tx1"/>
                </a:solidFill>
              </a:rPr>
              <a:t>Mark Taylor, US operations support</a:t>
            </a:r>
            <a:endParaRPr lang="en-US" sz="1400" dirty="0"/>
          </a:p>
        </p:txBody>
      </p:sp>
      <p:sp>
        <p:nvSpPr>
          <p:cNvPr id="13" name="Text 8"/>
          <p:cNvSpPr txBox="1"/>
          <p:nvPr/>
        </p:nvSpPr>
        <p:spPr>
          <a:xfrm>
            <a:off x="4480560" y="2011680"/>
            <a:ext cx="3200400" cy="1417320"/>
          </a:xfrm>
          <a:prstGeom prst="rect">
            <a:avLst/>
          </a:prstGeom>
          <a:noFill/>
          <a:ln/>
        </p:spPr>
        <p:txBody>
          <a:bodyPr wrap="square" lIns="0" tIns="0" rIns="0" bIns="0" rtlCol="0" anchor="t"/>
          <a:lstStyle/>
          <a:p>
            <a:pPr algn="l" indent="0" marL="0">
              <a:buNone/>
            </a:pPr>
            <a:r>
              <a:rPr lang="en-US" sz="1200" dirty="0">
                <a:solidFill>
                  <a:schemeClr val="tx1"/>
                </a:solidFill>
              </a:rPr>
              <a:t>Written consulting or commission agreement, no equity. Listings, PPC, broker and 3PL coordination, gate preparation, B2B program. Not an agent who negotiates or signs contracts.</a:t>
            </a:r>
            <a:endParaRPr lang="en-US" sz="1200" dirty="0"/>
          </a:p>
        </p:txBody>
      </p:sp>
      <p:sp>
        <p:nvSpPr>
          <p:cNvPr id="14" name="card"/>
          <p:cNvSpPr/>
          <p:nvPr/>
        </p:nvSpPr>
        <p:spPr>
          <a:xfrm>
            <a:off x="457200" y="3794760"/>
            <a:ext cx="3566160" cy="2331720"/>
          </a:xfrm>
          <a:prstGeom prst="roundRect">
            <a:avLst>
              <a:gd name="adj" fmla="val 4706"/>
            </a:avLst>
          </a:prstGeom>
          <a:solidFill>
            <a:schemeClr val="bg2"/>
          </a:solidFill>
          <a:ln w="12700">
            <a:solidFill>
              <a:srgbClr val="141C36"/>
            </a:solidFill>
            <a:prstDash val="solid"/>
          </a:ln>
        </p:spPr>
      </p:sp>
      <p:sp>
        <p:nvSpPr>
          <p:cNvPr id="15" name="Shape 10"/>
          <p:cNvSpPr/>
          <p:nvPr/>
        </p:nvSpPr>
        <p:spPr>
          <a:xfrm>
            <a:off x="640080" y="3959352"/>
            <a:ext cx="502920" cy="502920"/>
          </a:xfrm>
          <a:prstGeom prst="ellipse">
            <a:avLst/>
          </a:prstGeom>
          <a:solidFill>
            <a:srgbClr val="1B2447"/>
          </a:solidFill>
          <a:ln w="12700">
            <a:solidFill>
              <a:srgbClr val="1B2447"/>
            </a:solidFill>
            <a:prstDash val="solid"/>
          </a:ln>
        </p:spPr>
      </p:sp>
      <p:pic>
        <p:nvPicPr>
          <p:cNvPr id="16" name="Image 2" descr="preencoded.png">    </p:cNvPr>
          <p:cNvPicPr>
            <a:picLocks noChangeAspect="1"/>
          </p:cNvPicPr>
          <p:nvPr/>
        </p:nvPicPr>
        <p:blipFill>
          <a:blip r:embed="rId3"/>
          <a:stretch>
            <a:fillRect/>
          </a:stretch>
        </p:blipFill>
        <p:spPr>
          <a:xfrm>
            <a:off x="750722" y="4069994"/>
            <a:ext cx="281635" cy="281635"/>
          </a:xfrm>
          <a:prstGeom prst="rect">
            <a:avLst/>
          </a:prstGeom>
        </p:spPr>
      </p:pic>
      <p:sp>
        <p:nvSpPr>
          <p:cNvPr id="17" name="Text 11"/>
          <p:cNvSpPr txBox="1"/>
          <p:nvPr/>
        </p:nvSpPr>
        <p:spPr>
          <a:xfrm>
            <a:off x="1280160" y="3959352"/>
            <a:ext cx="2560320" cy="502920"/>
          </a:xfrm>
          <a:prstGeom prst="rect">
            <a:avLst/>
          </a:prstGeom>
          <a:noFill/>
          <a:ln/>
        </p:spPr>
        <p:txBody>
          <a:bodyPr wrap="square" lIns="0" tIns="0" rIns="0" bIns="0" rtlCol="0" anchor="ctr"/>
          <a:lstStyle/>
          <a:p>
            <a:pPr algn="l" indent="0" marL="0">
              <a:buNone/>
            </a:pPr>
            <a:r>
              <a:rPr lang="en-US" sz="1400" b="1" dirty="0">
                <a:solidFill>
                  <a:schemeClr val="tx1"/>
                </a:solidFill>
              </a:rPr>
              <a:t>Attorney, broker, Korean tax accountant, US CPA</a:t>
            </a:r>
            <a:endParaRPr lang="en-US" sz="1400" dirty="0"/>
          </a:p>
        </p:txBody>
      </p:sp>
      <p:sp>
        <p:nvSpPr>
          <p:cNvPr id="18" name="Text 12"/>
          <p:cNvSpPr txBox="1"/>
          <p:nvPr/>
        </p:nvSpPr>
        <p:spPr>
          <a:xfrm>
            <a:off x="640080" y="4617720"/>
            <a:ext cx="3200400" cy="1417320"/>
          </a:xfrm>
          <a:prstGeom prst="rect">
            <a:avLst/>
          </a:prstGeom>
          <a:noFill/>
          <a:ln/>
        </p:spPr>
        <p:txBody>
          <a:bodyPr wrap="square" lIns="0" tIns="0" rIns="0" bIns="0" rtlCol="0" anchor="t"/>
          <a:lstStyle/>
          <a:p>
            <a:pPr algn="l" indent="0" marL="0">
              <a:buNone/>
            </a:pPr>
            <a:r>
              <a:rPr lang="en-US" sz="1200" dirty="0">
                <a:solidFill>
                  <a:schemeClr val="tx1"/>
                </a:solidFill>
              </a:rPr>
              <a:t>Trademark and LLC; customs entries, bond and the binding ruling; ODI and Korean reports; Form 5472 and the California nexus question.</a:t>
            </a:r>
            <a:endParaRPr lang="en-US" sz="1200" dirty="0"/>
          </a:p>
        </p:txBody>
      </p:sp>
      <p:sp>
        <p:nvSpPr>
          <p:cNvPr id="19" name="card"/>
          <p:cNvSpPr/>
          <p:nvPr/>
        </p:nvSpPr>
        <p:spPr>
          <a:xfrm>
            <a:off x="4297680" y="3794760"/>
            <a:ext cx="3566160" cy="2331720"/>
          </a:xfrm>
          <a:prstGeom prst="roundRect">
            <a:avLst>
              <a:gd name="adj" fmla="val 4706"/>
            </a:avLst>
          </a:prstGeom>
          <a:solidFill>
            <a:schemeClr val="bg2"/>
          </a:solidFill>
          <a:ln w="12700">
            <a:solidFill>
              <a:srgbClr val="141C36"/>
            </a:solidFill>
            <a:prstDash val="solid"/>
          </a:ln>
        </p:spPr>
      </p:sp>
      <p:sp>
        <p:nvSpPr>
          <p:cNvPr id="20" name="Shape 14"/>
          <p:cNvSpPr/>
          <p:nvPr/>
        </p:nvSpPr>
        <p:spPr>
          <a:xfrm>
            <a:off x="4480560" y="3959352"/>
            <a:ext cx="502920" cy="502920"/>
          </a:xfrm>
          <a:prstGeom prst="ellipse">
            <a:avLst/>
          </a:prstGeom>
          <a:solidFill>
            <a:srgbClr val="1B2447"/>
          </a:solidFill>
          <a:ln w="12700">
            <a:solidFill>
              <a:srgbClr val="1B2447"/>
            </a:solidFill>
            <a:prstDash val="solid"/>
          </a:ln>
        </p:spPr>
      </p:sp>
      <p:pic>
        <p:nvPicPr>
          <p:cNvPr id="21" name="Image 3" descr="preencoded.png">    </p:cNvPr>
          <p:cNvPicPr>
            <a:picLocks noChangeAspect="1"/>
          </p:cNvPicPr>
          <p:nvPr/>
        </p:nvPicPr>
        <p:blipFill>
          <a:blip r:embed="rId4"/>
          <a:stretch>
            <a:fillRect/>
          </a:stretch>
        </p:blipFill>
        <p:spPr>
          <a:xfrm>
            <a:off x="4591202" y="4069994"/>
            <a:ext cx="281635" cy="281635"/>
          </a:xfrm>
          <a:prstGeom prst="rect">
            <a:avLst/>
          </a:prstGeom>
        </p:spPr>
      </p:pic>
      <p:sp>
        <p:nvSpPr>
          <p:cNvPr id="22" name="Text 15"/>
          <p:cNvSpPr txBox="1"/>
          <p:nvPr/>
        </p:nvSpPr>
        <p:spPr>
          <a:xfrm>
            <a:off x="5120640" y="3959352"/>
            <a:ext cx="2560320" cy="502920"/>
          </a:xfrm>
          <a:prstGeom prst="rect">
            <a:avLst/>
          </a:prstGeom>
          <a:noFill/>
          <a:ln/>
        </p:spPr>
        <p:txBody>
          <a:bodyPr wrap="square" lIns="0" tIns="0" rIns="0" bIns="0" rtlCol="0" anchor="ctr"/>
          <a:lstStyle/>
          <a:p>
            <a:pPr algn="l" indent="0" marL="0">
              <a:buNone/>
            </a:pPr>
            <a:r>
              <a:rPr lang="en-US" sz="1400" b="1" dirty="0">
                <a:solidFill>
                  <a:schemeClr val="tx1"/>
                </a:solidFill>
              </a:rPr>
              <a:t>Factory, 3PL, virtual assistant</a:t>
            </a:r>
            <a:endParaRPr lang="en-US" sz="1400" dirty="0"/>
          </a:p>
        </p:txBody>
      </p:sp>
      <p:sp>
        <p:nvSpPr>
          <p:cNvPr id="23" name="Text 16"/>
          <p:cNvSpPr txBox="1"/>
          <p:nvPr/>
        </p:nvSpPr>
        <p:spPr>
          <a:xfrm>
            <a:off x="4480560" y="4617720"/>
            <a:ext cx="3200400" cy="1417320"/>
          </a:xfrm>
          <a:prstGeom prst="rect">
            <a:avLst/>
          </a:prstGeom>
          <a:noFill/>
          <a:ln/>
        </p:spPr>
        <p:txBody>
          <a:bodyPr wrap="square" lIns="0" tIns="0" rIns="0" bIns="0" rtlCol="0" anchor="t"/>
          <a:lstStyle/>
          <a:p>
            <a:pPr algn="l" indent="0" marL="0">
              <a:buNone/>
            </a:pPr>
            <a:r>
              <a:rPr lang="en-US" sz="1200" dirty="0">
                <a:solidFill>
                  <a:schemeClr val="tx1"/>
                </a:solidFill>
              </a:rPr>
              <a:t>HDMI Adopter factory with FNSKU labels at source; 3PL holds bulk and feeds FBA; a VA from Year 3 for customer service and keyword work.</a:t>
            </a:r>
            <a:endParaRPr lang="en-US" sz="1200" dirty="0"/>
          </a:p>
        </p:txBody>
      </p:sp>
      <p:sp>
        <p:nvSpPr>
          <p:cNvPr id="24" name="Text 17"/>
          <p:cNvSpPr txBox="1"/>
          <p:nvPr/>
        </p:nvSpPr>
        <p:spPr>
          <a:xfrm>
            <a:off x="8138160" y="1188720"/>
            <a:ext cx="3596335" cy="320040"/>
          </a:xfrm>
          <a:prstGeom prst="rect">
            <a:avLst/>
          </a:prstGeom>
          <a:noFill/>
          <a:ln/>
        </p:spPr>
        <p:txBody>
          <a:bodyPr wrap="square" lIns="0" tIns="0" rIns="0" bIns="0" rtlCol="0" anchor="t"/>
          <a:lstStyle/>
          <a:p>
            <a:pPr algn="l" indent="0" marL="0">
              <a:buNone/>
            </a:pPr>
            <a:r>
              <a:rPr lang="en-US" sz="1250" b="1" dirty="0">
                <a:solidFill>
                  <a:schemeClr val="accent1"/>
                </a:solidFill>
              </a:rPr>
              <a:t>Fixed cost ramp (Medium, from the model)</a:t>
            </a:r>
            <a:endParaRPr lang="en-US" sz="12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8138160" y="1554480"/>
          <a:ext cx="3596335" cy="914400"/>
        </p:xfrm>
        <a:graphic>
          <a:graphicData uri="http://schemas.openxmlformats.org/drawingml/2006/table">
            <a:tbl>
              <a:tblPr/>
              <a:tblGrid>
                <a:gridCol w="640080"/>
                <a:gridCol w="640080"/>
                <a:gridCol w="2316175"/>
              </a:tblGrid>
              <a:tr h="896112">
                <a:tc>
                  <a:txBody>
                    <a:bodyPr/>
                    <a:lstStyle/>
                    <a:p>
                      <a:pPr algn="l" indent="0" marL="0">
                        <a:buNone/>
                      </a:pPr>
                      <a:r>
                        <a:rPr lang="en-US" sz="950" b="1" dirty="0">
                          <a:solidFill>
                            <a:srgbClr val="F3F6FF"/>
                          </a:solidFill>
                          <a:latin typeface="Calibri" pitchFamily="34" charset="0"/>
                          <a:ea typeface="Calibri" pitchFamily="34" charset="-122"/>
                          <a:cs typeface="Calibri" pitchFamily="34" charset="-120"/>
                        </a:rPr>
                        <a:t>Year 1</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b="1" dirty="0">
                          <a:solidFill>
                            <a:srgbClr val="3DDC97"/>
                          </a:solidFill>
                          <a:latin typeface="Calibri" pitchFamily="34" charset="0"/>
                          <a:ea typeface="Calibri" pitchFamily="34" charset="-122"/>
                          <a:cs typeface="Calibri" pitchFamily="34" charset="-120"/>
                        </a:rPr>
                        <a:t>$11K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software, insurance, misc at $850 per month plus the $39.99 seller fee. Launch costs of $9,500 are shown separately in Month 1</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896112">
                <a:tc>
                  <a:txBody>
                    <a:bodyPr/>
                    <a:lstStyle/>
                    <a:p>
                      <a:pPr algn="l" indent="0" marL="0">
                        <a:buNone/>
                      </a:pPr>
                      <a:r>
                        <a:rPr lang="en-US" sz="950" b="1" dirty="0">
                          <a:solidFill>
                            <a:srgbClr val="F3F6FF"/>
                          </a:solidFill>
                          <a:latin typeface="Calibri" pitchFamily="34" charset="0"/>
                          <a:ea typeface="Calibri" pitchFamily="34" charset="-122"/>
                          <a:cs typeface="Calibri" pitchFamily="34" charset="-120"/>
                        </a:rPr>
                        <a:t>Year 2</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950" b="1" dirty="0">
                          <a:solidFill>
                            <a:srgbClr val="3DDC97"/>
                          </a:solidFill>
                          <a:latin typeface="Calibri" pitchFamily="34" charset="0"/>
                          <a:ea typeface="Calibri" pitchFamily="34" charset="-122"/>
                          <a:cs typeface="Calibri" pitchFamily="34" charset="-120"/>
                        </a:rPr>
                        <a:t>$17K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plus compliance: Form 5472 preparation, Wyoming report, bond, product liability insurance</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896112">
                <a:tc>
                  <a:txBody>
                    <a:bodyPr/>
                    <a:lstStyle/>
                    <a:p>
                      <a:pPr algn="l" indent="0" marL="0">
                        <a:buNone/>
                      </a:pPr>
                      <a:r>
                        <a:rPr lang="en-US" sz="950" b="1" dirty="0">
                          <a:solidFill>
                            <a:srgbClr val="F3F6FF"/>
                          </a:solidFill>
                          <a:latin typeface="Calibri" pitchFamily="34" charset="0"/>
                          <a:ea typeface="Calibri" pitchFamily="34" charset="-122"/>
                          <a:cs typeface="Calibri" pitchFamily="34" charset="-120"/>
                        </a:rPr>
                        <a:t>Year 3</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b="1" dirty="0">
                          <a:solidFill>
                            <a:srgbClr val="3DDC97"/>
                          </a:solidFill>
                          <a:latin typeface="Calibri" pitchFamily="34" charset="0"/>
                          <a:ea typeface="Calibri" pitchFamily="34" charset="-122"/>
                          <a:cs typeface="Calibri" pitchFamily="34" charset="-120"/>
                        </a:rPr>
                        <a:t>$51K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adds Mark consulting retainer, virtual assistant, tools and insurance</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896112">
                <a:tc>
                  <a:txBody>
                    <a:bodyPr/>
                    <a:lstStyle/>
                    <a:p>
                      <a:pPr algn="l" indent="0" marL="0">
                        <a:buNone/>
                      </a:pPr>
                      <a:r>
                        <a:rPr lang="en-US" sz="950" b="1" dirty="0">
                          <a:solidFill>
                            <a:srgbClr val="F3F6FF"/>
                          </a:solidFill>
                          <a:latin typeface="Calibri" pitchFamily="34" charset="0"/>
                          <a:ea typeface="Calibri" pitchFamily="34" charset="-122"/>
                          <a:cs typeface="Calibri" pitchFamily="34" charset="-120"/>
                        </a:rPr>
                        <a:t>Year 4</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950" b="1" dirty="0">
                          <a:solidFill>
                            <a:srgbClr val="3DDC97"/>
                          </a:solidFill>
                          <a:latin typeface="Calibri" pitchFamily="34" charset="0"/>
                          <a:ea typeface="Calibri" pitchFamily="34" charset="-122"/>
                          <a:cs typeface="Calibri" pitchFamily="34" charset="-120"/>
                        </a:rPr>
                        <a:t>$87K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part time operations help</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896112">
                <a:tc>
                  <a:txBody>
                    <a:bodyPr/>
                    <a:lstStyle/>
                    <a:p>
                      <a:pPr algn="l" indent="0" marL="0">
                        <a:buNone/>
                      </a:pPr>
                      <a:r>
                        <a:rPr lang="en-US" sz="950" b="1" dirty="0">
                          <a:solidFill>
                            <a:srgbClr val="F3F6FF"/>
                          </a:solidFill>
                          <a:latin typeface="Calibri" pitchFamily="34" charset="0"/>
                          <a:ea typeface="Calibri" pitchFamily="34" charset="-122"/>
                          <a:cs typeface="Calibri" pitchFamily="34" charset="-120"/>
                        </a:rPr>
                        <a:t>Year 5</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950" b="1" dirty="0">
                          <a:solidFill>
                            <a:srgbClr val="3DDC97"/>
                          </a:solidFill>
                          <a:latin typeface="Calibri" pitchFamily="34" charset="0"/>
                          <a:ea typeface="Calibri" pitchFamily="34" charset="-122"/>
                          <a:cs typeface="Calibri" pitchFamily="34" charset="-120"/>
                        </a:rPr>
                        <a:t>$123K</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950" dirty="0">
                          <a:solidFill>
                            <a:srgbClr val="F3F6FF"/>
                          </a:solidFill>
                          <a:latin typeface="Calibri" pitchFamily="34" charset="0"/>
                          <a:ea typeface="Calibri" pitchFamily="34" charset="-122"/>
                          <a:cs typeface="Calibri" pitchFamily="34" charset="-120"/>
                        </a:rPr>
                        <a:t>small team, still no US office or employees</a:t>
                      </a:r>
                      <a:endParaRPr lang="en-US" sz="9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Risk register summary: top 8</a:t>
            </a:r>
            <a:endParaRPr lang="en-US" sz="3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77295" cy="914400"/>
        </p:xfrm>
        <a:graphic>
          <a:graphicData uri="http://schemas.openxmlformats.org/drawingml/2006/table">
            <a:tbl>
              <a:tblPr/>
              <a:tblGrid>
                <a:gridCol w="3017520"/>
                <a:gridCol w="2651760"/>
                <a:gridCol w="4416552"/>
                <a:gridCol w="1188720"/>
              </a:tblGrid>
              <a:tr h="512064">
                <a:tc>
                  <a:txBody>
                    <a:bodyPr/>
                    <a:lstStyle/>
                    <a:p>
                      <a:pPr algn="l" indent="0" marL="0">
                        <a:buNone/>
                      </a:pPr>
                      <a:r>
                        <a:rPr lang="en-US" sz="1050" b="1" dirty="0">
                          <a:solidFill>
                            <a:srgbClr val="2DE2FF"/>
                          </a:solidFill>
                          <a:latin typeface="Calibri" pitchFamily="34" charset="0"/>
                          <a:ea typeface="Calibri" pitchFamily="34" charset="-122"/>
                          <a:cs typeface="Calibri" pitchFamily="34" charset="-120"/>
                        </a:rPr>
                        <a:t>Risk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050" b="1" dirty="0">
                          <a:solidFill>
                            <a:srgbClr val="2DE2FF"/>
                          </a:solidFill>
                          <a:latin typeface="Calibri" pitchFamily="34" charset="0"/>
                          <a:ea typeface="Calibri" pitchFamily="34" charset="-122"/>
                          <a:cs typeface="Calibri" pitchFamily="34" charset="-120"/>
                        </a:rPr>
                        <a:t>Early warning signal</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050" b="1" dirty="0">
                          <a:solidFill>
                            <a:srgbClr val="2DE2FF"/>
                          </a:solidFill>
                          <a:latin typeface="Calibri" pitchFamily="34" charset="0"/>
                          <a:ea typeface="Calibri" pitchFamily="34" charset="-122"/>
                          <a:cs typeface="Calibri" pitchFamily="34" charset="-120"/>
                        </a:rPr>
                        <a:t>Mitigation</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l" indent="0" marL="0">
                        <a:buNone/>
                      </a:pPr>
                      <a:r>
                        <a:rPr lang="en-US" sz="1050" b="1" dirty="0">
                          <a:solidFill>
                            <a:srgbClr val="2DE2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512064">
                <a:tc>
                  <a:txBody>
                    <a:bodyPr/>
                    <a:lstStyle/>
                    <a:p>
                      <a:pPr algn="l" indent="0" marL="0">
                        <a:buNone/>
                      </a:pPr>
                      <a:r>
                        <a:rPr lang="en-US" sz="1050" b="1" dirty="0">
                          <a:solidFill>
                            <a:srgbClr val="F3F6FF"/>
                          </a:solidFill>
                          <a:latin typeface="Calibri" pitchFamily="34" charset="0"/>
                          <a:ea typeface="Calibri" pitchFamily="34" charset="-122"/>
                          <a:cs typeface="Calibri" pitchFamily="34" charset="-120"/>
                        </a:rPr>
                        <a:t>Factory cost gap (H2 base versus Alibaba benchmark)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Written FOB quote above the H2 base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Quote in week 1; reprice the ladder or stop before the LLC is formed</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Lucy</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512064">
                <a:tc>
                  <a:txBody>
                    <a:bodyPr/>
                    <a:lstStyle/>
                    <a:p>
                      <a:pPr algn="l" indent="0" marL="0">
                        <a:buNone/>
                      </a:pPr>
                      <a:r>
                        <a:rPr lang="en-US" sz="1050" b="1" dirty="0">
                          <a:solidFill>
                            <a:srgbClr val="F3F6FF"/>
                          </a:solidFill>
                          <a:latin typeface="Calibri" pitchFamily="34" charset="0"/>
                          <a:ea typeface="Calibri" pitchFamily="34" charset="-122"/>
                          <a:cs typeface="Calibri" pitchFamily="34" charset="-120"/>
                        </a:rPr>
                        <a:t>Duty classification lands at copper or worse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Ruling answer; second Section 301 action</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Model carries the copper rate; stress case funded; ocean lots wait for the ruling</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Broker, Mark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512064">
                <a:tc>
                  <a:txBody>
                    <a:bodyPr/>
                    <a:lstStyle/>
                    <a:p>
                      <a:pPr algn="l" indent="0" marL="0">
                        <a:buNone/>
                      </a:pPr>
                      <a:r>
                        <a:rPr lang="en-US" sz="1050" b="1" dirty="0">
                          <a:solidFill>
                            <a:srgbClr val="F3F6FF"/>
                          </a:solidFill>
                          <a:latin typeface="Calibri" pitchFamily="34" charset="0"/>
                          <a:ea typeface="Calibri" pitchFamily="34" charset="-122"/>
                          <a:cs typeface="Calibri" pitchFamily="34" charset="-120"/>
                        </a:rPr>
                        <a:t>HDMI LA seizure or licensing complaint</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Missing Adopter proof or ATC report</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No shipment without the documents; category name only on packaging</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Lucy</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512064">
                <a:tc>
                  <a:txBody>
                    <a:bodyPr/>
                    <a:lstStyle/>
                    <a:p>
                      <a:pPr algn="l" indent="0" marL="0">
                        <a:buNone/>
                      </a:pPr>
                      <a:r>
                        <a:rPr lang="en-US" sz="1050" b="1" dirty="0">
                          <a:solidFill>
                            <a:srgbClr val="F3F6FF"/>
                          </a:solidFill>
                          <a:latin typeface="Calibri" pitchFamily="34" charset="0"/>
                          <a:ea typeface="Calibri" pitchFamily="34" charset="-122"/>
                          <a:cs typeface="Calibri" pitchFamily="34" charset="-120"/>
                        </a:rPr>
                        <a:t>Account suspension or listing suppression</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Account health notice; IP complaint</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Brand Registry, compliant claims, 14 day response rule; one lost quarter is in the Low case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Mark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512064">
                <a:tc>
                  <a:txBody>
                    <a:bodyPr/>
                    <a:lstStyle/>
                    <a:p>
                      <a:pPr algn="l" indent="0" marL="0">
                        <a:buNone/>
                      </a:pPr>
                      <a:r>
                        <a:rPr lang="en-US" sz="1050" b="1" dirty="0">
                          <a:solidFill>
                            <a:srgbClr val="F3F6FF"/>
                          </a:solidFill>
                          <a:latin typeface="Calibri" pitchFamily="34" charset="0"/>
                          <a:ea typeface="Calibri" pitchFamily="34" charset="-122"/>
                          <a:cs typeface="Calibri" pitchFamily="34" charset="-120"/>
                        </a:rPr>
                        <a:t>Cash: inventory bought ahead of sales</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Balance below the funding trigger</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Line of credit $116K in place by Month 2; cover months by scenario</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Lucy</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512064">
                <a:tc>
                  <a:txBody>
                    <a:bodyPr/>
                    <a:lstStyle/>
                    <a:p>
                      <a:pPr algn="l" indent="0" marL="0">
                        <a:buNone/>
                      </a:pPr>
                      <a:r>
                        <a:rPr lang="en-US" sz="1050" b="1" dirty="0">
                          <a:solidFill>
                            <a:srgbClr val="F3F6FF"/>
                          </a:solidFill>
                          <a:latin typeface="Calibri" pitchFamily="34" charset="0"/>
                          <a:ea typeface="Calibri" pitchFamily="34" charset="-122"/>
                          <a:cs typeface="Calibri" pitchFamily="34" charset="-120"/>
                        </a:rPr>
                        <a:t>Returns from direction confusion</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Return rate above 4%</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Direction proof design, QR setup video, guarantee replacement process</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Lucy, factory</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512064">
                <a:tc>
                  <a:txBody>
                    <a:bodyPr/>
                    <a:lstStyle/>
                    <a:p>
                      <a:pPr algn="l" indent="0" marL="0">
                        <a:buNone/>
                      </a:pPr>
                      <a:r>
                        <a:rPr lang="en-US" sz="1050" b="1" dirty="0">
                          <a:solidFill>
                            <a:srgbClr val="F3F6FF"/>
                          </a:solidFill>
                          <a:latin typeface="Calibri" pitchFamily="34" charset="0"/>
                          <a:ea typeface="Calibri" pitchFamily="34" charset="-122"/>
                          <a:cs typeface="Calibri" pitchFamily="34" charset="-120"/>
                        </a:rPr>
                        <a:t>Korea or US filing missed (ODI, Form 5472)</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Calendar item overdue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Compliance calendar; ODI before capital; Form 5472 penalty $25,000</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Lucy, accountants</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512064">
                <a:tc>
                  <a:txBody>
                    <a:bodyPr/>
                    <a:lstStyle/>
                    <a:p>
                      <a:pPr algn="l" indent="0" marL="0">
                        <a:buNone/>
                      </a:pPr>
                      <a:r>
                        <a:rPr lang="en-US" sz="1050" b="1" dirty="0">
                          <a:solidFill>
                            <a:srgbClr val="F3F6FF"/>
                          </a:solidFill>
                          <a:latin typeface="Calibri" pitchFamily="34" charset="0"/>
                          <a:ea typeface="Calibri" pitchFamily="34" charset="-122"/>
                          <a:cs typeface="Calibri" pitchFamily="34" charset="-120"/>
                        </a:rPr>
                        <a:t>Key person (Lucy or Mark unavailable)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Missed weekly review</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Written SOPs (05_Operating_Processes), VA from Year 3, shared logins</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Both</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bl>
          </a:graphicData>
        </a:graphic>
      </p:graphicFrame>
      <p:sp>
        <p:nvSpPr>
          <p:cNvPr id="5" name="Text 1"/>
          <p:cNvSpPr txBox="1"/>
          <p:nvPr/>
        </p:nvSpPr>
        <p:spPr>
          <a:xfrm>
            <a:off x="457200" y="5897880"/>
            <a:ext cx="11277295" cy="411480"/>
          </a:xfrm>
          <a:prstGeom prst="rect">
            <a:avLst/>
          </a:prstGeom>
          <a:noFill/>
          <a:ln/>
        </p:spPr>
        <p:txBody>
          <a:bodyPr wrap="square" lIns="0" tIns="0" rIns="0" bIns="0" rtlCol="0" anchor="t"/>
          <a:lstStyle/>
          <a:p>
            <a:pPr algn="l" indent="0" marL="0">
              <a:buNone/>
            </a:pPr>
            <a:r>
              <a:rPr lang="en-US" sz="1050" dirty="0">
                <a:solidFill>
                  <a:schemeClr val="tx2"/>
                </a:solidFill>
              </a:rPr>
              <a:t>Probability and impact scores live in 08_Risk_Register.xlsx (management estimates). This slide lists the eight that can stop the plan.</a:t>
            </a:r>
            <a:endParaRPr lang="en-US" sz="10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Kill criteria and Plan B</a:t>
            </a:r>
            <a:endParaRPr lang="en-US" sz="3200" dirty="0"/>
          </a:p>
        </p:txBody>
      </p:sp>
      <p:sp>
        <p:nvSpPr>
          <p:cNvPr id="4" name="Shape 1"/>
          <p:cNvSpPr/>
          <p:nvPr/>
        </p:nvSpPr>
        <p:spPr>
          <a:xfrm>
            <a:off x="457200" y="1097280"/>
            <a:ext cx="11277295" cy="3212509"/>
          </a:xfrm>
          <a:prstGeom prst="roundRect">
            <a:avLst>
              <a:gd name="adj" fmla="val 2277"/>
            </a:avLst>
          </a:prstGeom>
          <a:solidFill>
            <a:srgbClr val="FFFFFF"/>
          </a:solidFill>
          <a:ln w="12700">
            <a:solidFill>
              <a:srgbClr val="FFFFFF"/>
            </a:solidFill>
            <a:prstDash val="solid"/>
          </a:ln>
        </p:spPr>
      </p:sp>
      <p:pic>
        <p:nvPicPr>
          <p:cNvPr id="5" name="Image 0" descr="/home/user/lakehouse-tracker/BRAND_US_Launch/build/assets/deck_flow/06_day90_scale_or_kill_deck.png">    </p:cNvPr>
          <p:cNvPicPr>
            <a:picLocks noChangeAspect="1"/>
          </p:cNvPicPr>
          <p:nvPr/>
        </p:nvPicPr>
        <p:blipFill>
          <a:blip r:embed="rId1"/>
          <a:stretch>
            <a:fillRect/>
          </a:stretch>
        </p:blipFill>
        <p:spPr>
          <a:xfrm>
            <a:off x="548640" y="1188720"/>
            <a:ext cx="11094415" cy="3029629"/>
          </a:xfrm>
          <a:prstGeom prst="rect">
            <a:avLst/>
          </a:prstGeom>
        </p:spPr>
      </p:pic>
      <p:sp>
        <p:nvSpPr>
          <p:cNvPr id="6" name="Text 2"/>
          <p:cNvSpPr txBox="1"/>
          <p:nvPr/>
        </p:nvSpPr>
        <p:spPr>
          <a:xfrm>
            <a:off x="457200" y="4355509"/>
            <a:ext cx="11277295" cy="274320"/>
          </a:xfrm>
          <a:prstGeom prst="rect">
            <a:avLst/>
          </a:prstGeom>
          <a:noFill/>
          <a:ln/>
        </p:spPr>
        <p:txBody>
          <a:bodyPr wrap="square" lIns="0" tIns="0" rIns="0" bIns="0" rtlCol="0" anchor="t"/>
          <a:lstStyle/>
          <a:p>
            <a:pPr algn="l" indent="0" marL="0">
              <a:buNone/>
            </a:pPr>
            <a:r>
              <a:rPr lang="en-US" sz="1100" dirty="0">
                <a:solidFill>
                  <a:schemeClr val="tx2"/>
                </a:solidFill>
              </a:rPr>
              <a:t>Flowchart 06: the Day 90 decision tree. Month 12 thresholds are on slide 19. Full size version: output/04_Flowcharts/06_day90_scale_or_kill.png</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4693837"/>
          <a:ext cx="6766560" cy="914400"/>
        </p:xfrm>
        <a:graphic>
          <a:graphicData uri="http://schemas.openxmlformats.org/drawingml/2006/table">
            <a:tbl>
              <a:tblPr/>
              <a:tblGrid>
                <a:gridCol w="4297680"/>
                <a:gridCol w="822960"/>
                <a:gridCol w="822960"/>
                <a:gridCol w="822960"/>
              </a:tblGrid>
              <a:tr h="310896">
                <a:tc>
                  <a:txBody>
                    <a:bodyPr/>
                    <a:lstStyle/>
                    <a:p>
                      <a:pPr algn="l" indent="0" marL="0">
                        <a:buNone/>
                      </a:pPr>
                      <a:r>
                        <a:rPr lang="en-US" sz="1050" b="1" dirty="0">
                          <a:solidFill>
                            <a:srgbClr val="2DE2FF"/>
                          </a:solidFill>
                          <a:latin typeface="Calibri" pitchFamily="34" charset="0"/>
                          <a:ea typeface="Calibri" pitchFamily="34" charset="-122"/>
                          <a:cs typeface="Calibri" pitchFamily="34" charset="-120"/>
                        </a:rPr>
                        <a:t>Plan B: B2B installer distribution plus Korea wholesale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Year 1</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Year 2</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c>
                  <a:txBody>
                    <a:bodyPr/>
                    <a:lstStyle/>
                    <a:p>
                      <a:pPr algn="r" indent="0" marL="0">
                        <a:buNone/>
                      </a:pPr>
                      <a:r>
                        <a:rPr lang="en-US" sz="1050" b="1" dirty="0">
                          <a:solidFill>
                            <a:srgbClr val="2DE2FF"/>
                          </a:solidFill>
                          <a:latin typeface="Calibri" pitchFamily="34" charset="0"/>
                          <a:ea typeface="Calibri" pitchFamily="34" charset="-122"/>
                          <a:cs typeface="Calibri" pitchFamily="34" charset="-120"/>
                        </a:rPr>
                        <a:t>Year 3</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B2447"/>
                    </a:solidFill>
                  </a:tcPr>
                </a:tc>
              </a:tr>
              <a:tr h="310896">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B2B revenue (3PL only, no Amazon fees)</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$120K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$300K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$450K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10896">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Korea wholesale gross profit</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$14K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$16K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$19K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r h="310896">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Total revenue</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$188K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$368K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$518K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41C36"/>
                    </a:solidFill>
                  </a:tcPr>
                </a:tc>
              </a:tr>
              <a:tr h="310896">
                <a:tc>
                  <a:txBody>
                    <a:bodyPr/>
                    <a:lstStyle/>
                    <a:p>
                      <a:pPr algn="l" indent="0" marL="0">
                        <a:buNone/>
                      </a:pPr>
                      <a:r>
                        <a:rPr lang="en-US" sz="1050" dirty="0">
                          <a:solidFill>
                            <a:srgbClr val="F3F6FF"/>
                          </a:solidFill>
                          <a:latin typeface="Calibri" pitchFamily="34" charset="0"/>
                          <a:ea typeface="Calibri" pitchFamily="34" charset="-122"/>
                          <a:cs typeface="Calibri" pitchFamily="34" charset="-120"/>
                        </a:rPr>
                        <a:t>Net</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$17K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$32K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c>
                  <a:txBody>
                    <a:bodyPr/>
                    <a:lstStyle/>
                    <a:p>
                      <a:pPr algn="r" indent="0" marL="0">
                        <a:buNone/>
                      </a:pPr>
                      <a:r>
                        <a:rPr lang="en-US" sz="1050" dirty="0">
                          <a:solidFill>
                            <a:srgbClr val="F3F6FF"/>
                          </a:solidFill>
                          <a:latin typeface="Calibri" pitchFamily="34" charset="0"/>
                          <a:ea typeface="Calibri" pitchFamily="34" charset="-122"/>
                          <a:cs typeface="Calibri" pitchFamily="34" charset="-120"/>
                        </a:rPr>
                        <a:t>$50K</a:t>
                      </a:r>
                      <a:endParaRPr lang="en-US" sz="1050" dirty="0">
                        <a:latin typeface="Calibri" charset="0"/>
                        <a:ea typeface="Calibri" charset="0"/>
                        <a:cs typeface="Calibri" charset="0"/>
                      </a:endParaRPr>
                    </a:p>
                  </a:txBody>
                  <a:tcPr marL="64008" marR="64008" marT="36576" marB="36576" anchor="ctr">
                    <a:lnL w="6350" cap="flat" cmpd="sng" algn="ctr">
                      <a:solidFill>
                        <a:srgbClr val="2A3558"/>
                      </a:solidFill>
                      <a:prstDash val="solid"/>
                      <a:round/>
                      <a:headEnd type="none" w="med" len="med"/>
                      <a:tailEnd type="none" w="med" len="med"/>
                    </a:lnL>
                    <a:lnR w="6350" cap="flat" cmpd="sng" algn="ctr">
                      <a:solidFill>
                        <a:srgbClr val="2A3558"/>
                      </a:solidFill>
                      <a:prstDash val="solid"/>
                      <a:round/>
                      <a:headEnd type="none" w="med" len="med"/>
                      <a:tailEnd type="none" w="med" len="med"/>
                    </a:lnR>
                    <a:lnT w="6350" cap="flat" cmpd="sng" algn="ctr">
                      <a:solidFill>
                        <a:srgbClr val="2A3558"/>
                      </a:solidFill>
                      <a:prstDash val="solid"/>
                      <a:round/>
                      <a:headEnd type="none" w="med" len="med"/>
                      <a:tailEnd type="none" w="med" len="med"/>
                    </a:lnT>
                    <a:lnB w="6350" cap="flat" cmpd="sng" algn="ctr">
                      <a:solidFill>
                        <a:srgbClr val="2A3558"/>
                      </a:solidFill>
                      <a:prstDash val="solid"/>
                      <a:round/>
                      <a:headEnd type="none" w="med" len="med"/>
                      <a:tailEnd type="none" w="med" len="med"/>
                    </a:lnB>
                    <a:solidFill>
                      <a:srgbClr val="10172D"/>
                    </a:solidFill>
                  </a:tcPr>
                </a:tc>
              </a:tr>
            </a:tbl>
          </a:graphicData>
        </a:graphic>
      </p:graphicFrame>
      <p:sp>
        <p:nvSpPr>
          <p:cNvPr id="8" name="card"/>
          <p:cNvSpPr/>
          <p:nvPr/>
        </p:nvSpPr>
        <p:spPr>
          <a:xfrm>
            <a:off x="7498080" y="4693837"/>
            <a:ext cx="4236415" cy="1615523"/>
          </a:xfrm>
          <a:prstGeom prst="roundRect">
            <a:avLst>
              <a:gd name="adj" fmla="val 6792"/>
            </a:avLst>
          </a:prstGeom>
          <a:solidFill>
            <a:srgbClr val="10172D"/>
          </a:solidFill>
          <a:ln w="12700">
            <a:solidFill>
              <a:srgbClr val="10172D"/>
            </a:solidFill>
            <a:prstDash val="solid"/>
          </a:ln>
        </p:spPr>
      </p:sp>
      <p:sp>
        <p:nvSpPr>
          <p:cNvPr id="9" name="Text 4"/>
          <p:cNvSpPr txBox="1"/>
          <p:nvPr/>
        </p:nvSpPr>
        <p:spPr>
          <a:xfrm>
            <a:off x="7680960" y="4766989"/>
            <a:ext cx="3870655" cy="292608"/>
          </a:xfrm>
          <a:prstGeom prst="rect">
            <a:avLst/>
          </a:prstGeom>
          <a:noFill/>
          <a:ln/>
        </p:spPr>
        <p:txBody>
          <a:bodyPr wrap="square" lIns="0" tIns="0" rIns="0" bIns="0" rtlCol="0" anchor="t"/>
          <a:lstStyle/>
          <a:p>
            <a:pPr algn="l" indent="0" marL="0">
              <a:buNone/>
            </a:pPr>
            <a:r>
              <a:rPr lang="en-US" sz="1250" b="1" dirty="0">
                <a:solidFill>
                  <a:schemeClr val="accent3"/>
                </a:solidFill>
              </a:rPr>
              <a:t>Kill means</a:t>
            </a:r>
            <a:endParaRPr lang="en-US" sz="1250" dirty="0"/>
          </a:p>
        </p:txBody>
      </p:sp>
      <p:sp>
        <p:nvSpPr>
          <p:cNvPr id="10" name="Text 5"/>
          <p:cNvSpPr txBox="1"/>
          <p:nvPr/>
        </p:nvSpPr>
        <p:spPr>
          <a:xfrm>
            <a:off x="7680960" y="5077885"/>
            <a:ext cx="3870655" cy="777240"/>
          </a:xfrm>
          <a:prstGeom prst="rect">
            <a:avLst/>
          </a:prstGeom>
          <a:noFill/>
          <a:ln/>
        </p:spPr>
        <p:txBody>
          <a:bodyPr wrap="square" lIns="0" tIns="0" rIns="0" bIns="0" rtlCol="0" anchor="t"/>
          <a:lstStyle/>
          <a:p>
            <a:pPr algn="l" indent="0" marL="0">
              <a:buNone/>
            </a:pPr>
            <a:r>
              <a:rPr lang="en-US" sz="1150" dirty="0">
                <a:solidFill>
                  <a:schemeClr val="tx1"/>
                </a:solidFill>
              </a:rPr>
              <a:t>No further capital. Sell down inventory. Delist losers. Move to Plan B. The decision belongs to Lucy; Mark prepares the numbers.</a:t>
            </a:r>
            <a:endParaRPr lang="en-US" sz="1150" dirty="0"/>
          </a:p>
        </p:txBody>
      </p:sp>
      <p:sp>
        <p:nvSpPr>
          <p:cNvPr id="11" name="Text 6"/>
          <p:cNvSpPr txBox="1"/>
          <p:nvPr/>
        </p:nvSpPr>
        <p:spPr>
          <a:xfrm>
            <a:off x="7680960" y="5836837"/>
            <a:ext cx="3870655" cy="426803"/>
          </a:xfrm>
          <a:prstGeom prst="rect">
            <a:avLst/>
          </a:prstGeom>
          <a:noFill/>
          <a:ln/>
        </p:spPr>
        <p:txBody>
          <a:bodyPr wrap="square" lIns="0" tIns="0" rIns="0" bIns="0" rtlCol="0" anchor="t"/>
          <a:lstStyle/>
          <a:p>
            <a:pPr algn="l" indent="0" marL="0">
              <a:buNone/>
            </a:pPr>
            <a:r>
              <a:rPr lang="en-US" sz="1000" dirty="0">
                <a:solidFill>
                  <a:schemeClr val="tx2"/>
                </a:solidFill>
              </a:rPr>
              <a:t>Plan B is a side business, shown honestly: B2B at 60% of retail with 3PL fulfillment, plus four Korea deals a year at the August pace growing 15% per year (management estimate).</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The ask</a:t>
            </a:r>
            <a:endParaRPr lang="en-US" sz="3200" dirty="0"/>
          </a:p>
        </p:txBody>
      </p:sp>
      <p:sp>
        <p:nvSpPr>
          <p:cNvPr id="4" name="card"/>
          <p:cNvSpPr/>
          <p:nvPr/>
        </p:nvSpPr>
        <p:spPr>
          <a:xfrm>
            <a:off x="457200" y="1188720"/>
            <a:ext cx="2613584" cy="2926080"/>
          </a:xfrm>
          <a:prstGeom prst="roundRect">
            <a:avLst>
              <a:gd name="adj" fmla="val 4198"/>
            </a:avLst>
          </a:prstGeom>
          <a:solidFill>
            <a:schemeClr val="bg2"/>
          </a:solidFill>
          <a:ln w="12700">
            <a:solidFill>
              <a:srgbClr val="141C36"/>
            </a:solidFill>
            <a:prstDash val="solid"/>
          </a:ln>
        </p:spPr>
      </p:sp>
      <p:sp>
        <p:nvSpPr>
          <p:cNvPr id="5" name="Text 2"/>
          <p:cNvSpPr txBox="1"/>
          <p:nvPr/>
        </p:nvSpPr>
        <p:spPr>
          <a:xfrm>
            <a:off x="640080" y="1280160"/>
            <a:ext cx="640080" cy="640080"/>
          </a:xfrm>
          <a:prstGeom prst="rect">
            <a:avLst/>
          </a:prstGeom>
          <a:noFill/>
          <a:ln/>
        </p:spPr>
        <p:txBody>
          <a:bodyPr wrap="square" lIns="0" tIns="0" rIns="0" bIns="0" rtlCol="0" anchor="t"/>
          <a:lstStyle/>
          <a:p>
            <a:pPr algn="l" indent="0" marL="0">
              <a:buNone/>
            </a:pPr>
            <a:r>
              <a:rPr lang="en-US" sz="3400" b="1" dirty="0">
                <a:solidFill>
                  <a:schemeClr val="accent1"/>
                </a:solidFill>
              </a:rPr>
              <a:t>1</a:t>
            </a:r>
            <a:endParaRPr lang="en-US" sz="3400" dirty="0"/>
          </a:p>
        </p:txBody>
      </p:sp>
      <p:sp>
        <p:nvSpPr>
          <p:cNvPr id="6" name="Text 3"/>
          <p:cNvSpPr txBox="1"/>
          <p:nvPr/>
        </p:nvSpPr>
        <p:spPr>
          <a:xfrm>
            <a:off x="1280160" y="1371600"/>
            <a:ext cx="1607744" cy="457200"/>
          </a:xfrm>
          <a:prstGeom prst="rect">
            <a:avLst/>
          </a:prstGeom>
          <a:noFill/>
          <a:ln/>
        </p:spPr>
        <p:txBody>
          <a:bodyPr wrap="square" lIns="0" tIns="0" rIns="0" bIns="0" rtlCol="0" anchor="ctr"/>
          <a:lstStyle/>
          <a:p>
            <a:pPr algn="l" indent="0" marL="0">
              <a:buNone/>
            </a:pPr>
            <a:r>
              <a:rPr lang="en-US" sz="1700" b="1" dirty="0">
                <a:solidFill>
                  <a:schemeClr val="tx1"/>
                </a:solidFill>
              </a:rPr>
              <a:t>Capital</a:t>
            </a:r>
            <a:endParaRPr lang="en-US" sz="1700" dirty="0"/>
          </a:p>
        </p:txBody>
      </p:sp>
      <p:sp>
        <p:nvSpPr>
          <p:cNvPr id="7" name="Text 4"/>
          <p:cNvSpPr txBox="1"/>
          <p:nvPr/>
        </p:nvSpPr>
        <p:spPr>
          <a:xfrm>
            <a:off x="640080" y="2011680"/>
            <a:ext cx="2247824" cy="2011680"/>
          </a:xfrm>
          <a:prstGeom prst="rect">
            <a:avLst/>
          </a:prstGeom>
          <a:noFill/>
          <a:ln/>
        </p:spPr>
        <p:txBody>
          <a:bodyPr wrap="square" lIns="0" tIns="0" rIns="0" bIns="0" rtlCol="0" anchor="t"/>
          <a:lstStyle/>
          <a:p>
            <a:pPr algn="l" indent="0" marL="0">
              <a:buNone/>
            </a:pPr>
            <a:r>
              <a:rPr lang="en-US" sz="1400" dirty="0">
                <a:solidFill>
                  <a:schemeClr val="tx1"/>
                </a:solidFill>
              </a:rPr>
              <a:t>$39K of self funded opening capital now, and a line of credit or investor commitment of $116K in place by Month 2 (Medium). Low would need $136K, High $41K.</a:t>
            </a:r>
            <a:endParaRPr lang="en-US" sz="1400" dirty="0"/>
          </a:p>
        </p:txBody>
      </p:sp>
      <p:sp>
        <p:nvSpPr>
          <p:cNvPr id="8" name="card"/>
          <p:cNvSpPr/>
          <p:nvPr/>
        </p:nvSpPr>
        <p:spPr>
          <a:xfrm>
            <a:off x="3345104" y="1188720"/>
            <a:ext cx="2613584" cy="2926080"/>
          </a:xfrm>
          <a:prstGeom prst="roundRect">
            <a:avLst>
              <a:gd name="adj" fmla="val 4198"/>
            </a:avLst>
          </a:prstGeom>
          <a:solidFill>
            <a:schemeClr val="bg2"/>
          </a:solidFill>
          <a:ln w="12700">
            <a:solidFill>
              <a:srgbClr val="141C36"/>
            </a:solidFill>
            <a:prstDash val="solid"/>
          </a:ln>
        </p:spPr>
      </p:sp>
      <p:sp>
        <p:nvSpPr>
          <p:cNvPr id="9" name="Text 6"/>
          <p:cNvSpPr txBox="1"/>
          <p:nvPr/>
        </p:nvSpPr>
        <p:spPr>
          <a:xfrm>
            <a:off x="3527984" y="1280160"/>
            <a:ext cx="640080" cy="640080"/>
          </a:xfrm>
          <a:prstGeom prst="rect">
            <a:avLst/>
          </a:prstGeom>
          <a:noFill/>
          <a:ln/>
        </p:spPr>
        <p:txBody>
          <a:bodyPr wrap="square" lIns="0" tIns="0" rIns="0" bIns="0" rtlCol="0" anchor="t"/>
          <a:lstStyle/>
          <a:p>
            <a:pPr algn="l" indent="0" marL="0">
              <a:buNone/>
            </a:pPr>
            <a:r>
              <a:rPr lang="en-US" sz="3400" b="1" dirty="0">
                <a:solidFill>
                  <a:schemeClr val="accent1"/>
                </a:solidFill>
              </a:rPr>
              <a:t>2</a:t>
            </a:r>
            <a:endParaRPr lang="en-US" sz="3400" dirty="0"/>
          </a:p>
        </p:txBody>
      </p:sp>
      <p:sp>
        <p:nvSpPr>
          <p:cNvPr id="10" name="Text 7"/>
          <p:cNvSpPr txBox="1"/>
          <p:nvPr/>
        </p:nvSpPr>
        <p:spPr>
          <a:xfrm>
            <a:off x="4168064" y="1371600"/>
            <a:ext cx="1607744" cy="457200"/>
          </a:xfrm>
          <a:prstGeom prst="rect">
            <a:avLst/>
          </a:prstGeom>
          <a:noFill/>
          <a:ln/>
        </p:spPr>
        <p:txBody>
          <a:bodyPr wrap="square" lIns="0" tIns="0" rIns="0" bIns="0" rtlCol="0" anchor="ctr"/>
          <a:lstStyle/>
          <a:p>
            <a:pPr algn="l" indent="0" marL="0">
              <a:buNone/>
            </a:pPr>
            <a:r>
              <a:rPr lang="en-US" sz="1700" b="1" dirty="0">
                <a:solidFill>
                  <a:schemeClr val="tx1"/>
                </a:solidFill>
              </a:rPr>
              <a:t>Structure</a:t>
            </a:r>
            <a:endParaRPr lang="en-US" sz="1700" dirty="0"/>
          </a:p>
        </p:txBody>
      </p:sp>
      <p:sp>
        <p:nvSpPr>
          <p:cNvPr id="11" name="Text 8"/>
          <p:cNvSpPr txBox="1"/>
          <p:nvPr/>
        </p:nvSpPr>
        <p:spPr>
          <a:xfrm>
            <a:off x="3527984" y="2011680"/>
            <a:ext cx="2247824" cy="2011680"/>
          </a:xfrm>
          <a:prstGeom prst="rect">
            <a:avLst/>
          </a:prstGeom>
          <a:noFill/>
          <a:ln/>
        </p:spPr>
        <p:txBody>
          <a:bodyPr wrap="square" lIns="0" tIns="0" rIns="0" bIns="0" rtlCol="0" anchor="t"/>
          <a:lstStyle/>
          <a:p>
            <a:pPr algn="l" indent="0" marL="0">
              <a:buNone/>
            </a:pPr>
            <a:r>
              <a:rPr lang="en-US" sz="1400" dirty="0">
                <a:solidFill>
                  <a:schemeClr val="tx1"/>
                </a:solidFill>
              </a:rPr>
              <a:t>Approve BRAND LLC in Wyoming, Lucy as 100% owner, Mark under a consulting or commission agreement. Engage the attorney and the customs broker in week 1.</a:t>
            </a:r>
            <a:endParaRPr lang="en-US" sz="1400" dirty="0"/>
          </a:p>
        </p:txBody>
      </p:sp>
      <p:sp>
        <p:nvSpPr>
          <p:cNvPr id="12" name="card"/>
          <p:cNvSpPr/>
          <p:nvPr/>
        </p:nvSpPr>
        <p:spPr>
          <a:xfrm>
            <a:off x="6233008" y="1188720"/>
            <a:ext cx="2613584" cy="2926080"/>
          </a:xfrm>
          <a:prstGeom prst="roundRect">
            <a:avLst>
              <a:gd name="adj" fmla="val 4198"/>
            </a:avLst>
          </a:prstGeom>
          <a:solidFill>
            <a:schemeClr val="bg2"/>
          </a:solidFill>
          <a:ln w="12700">
            <a:solidFill>
              <a:srgbClr val="141C36"/>
            </a:solidFill>
            <a:prstDash val="solid"/>
          </a:ln>
        </p:spPr>
      </p:sp>
      <p:sp>
        <p:nvSpPr>
          <p:cNvPr id="13" name="Text 10"/>
          <p:cNvSpPr txBox="1"/>
          <p:nvPr/>
        </p:nvSpPr>
        <p:spPr>
          <a:xfrm>
            <a:off x="6415888" y="1280160"/>
            <a:ext cx="640080" cy="640080"/>
          </a:xfrm>
          <a:prstGeom prst="rect">
            <a:avLst/>
          </a:prstGeom>
          <a:noFill/>
          <a:ln/>
        </p:spPr>
        <p:txBody>
          <a:bodyPr wrap="square" lIns="0" tIns="0" rIns="0" bIns="0" rtlCol="0" anchor="t"/>
          <a:lstStyle/>
          <a:p>
            <a:pPr algn="l" indent="0" marL="0">
              <a:buNone/>
            </a:pPr>
            <a:r>
              <a:rPr lang="en-US" sz="3400" b="1" dirty="0">
                <a:solidFill>
                  <a:schemeClr val="accent1"/>
                </a:solidFill>
              </a:rPr>
              <a:t>3</a:t>
            </a:r>
            <a:endParaRPr lang="en-US" sz="3400" dirty="0"/>
          </a:p>
        </p:txBody>
      </p:sp>
      <p:sp>
        <p:nvSpPr>
          <p:cNvPr id="14" name="Text 11"/>
          <p:cNvSpPr txBox="1"/>
          <p:nvPr/>
        </p:nvSpPr>
        <p:spPr>
          <a:xfrm>
            <a:off x="7055968" y="1371600"/>
            <a:ext cx="1607744" cy="457200"/>
          </a:xfrm>
          <a:prstGeom prst="rect">
            <a:avLst/>
          </a:prstGeom>
          <a:noFill/>
          <a:ln/>
        </p:spPr>
        <p:txBody>
          <a:bodyPr wrap="square" lIns="0" tIns="0" rIns="0" bIns="0" rtlCol="0" anchor="ctr"/>
          <a:lstStyle/>
          <a:p>
            <a:pPr algn="l" indent="0" marL="0">
              <a:buNone/>
            </a:pPr>
            <a:r>
              <a:rPr lang="en-US" sz="1700" b="1" dirty="0">
                <a:solidFill>
                  <a:schemeClr val="tx1"/>
                </a:solidFill>
              </a:rPr>
              <a:t>Facts before money</a:t>
            </a:r>
            <a:endParaRPr lang="en-US" sz="1700" dirty="0"/>
          </a:p>
        </p:txBody>
      </p:sp>
      <p:sp>
        <p:nvSpPr>
          <p:cNvPr id="15" name="Text 12"/>
          <p:cNvSpPr txBox="1"/>
          <p:nvPr/>
        </p:nvSpPr>
        <p:spPr>
          <a:xfrm>
            <a:off x="6415888" y="2011680"/>
            <a:ext cx="2247824" cy="2011680"/>
          </a:xfrm>
          <a:prstGeom prst="rect">
            <a:avLst/>
          </a:prstGeom>
          <a:noFill/>
          <a:ln/>
        </p:spPr>
        <p:txBody>
          <a:bodyPr wrap="square" lIns="0" tIns="0" rIns="0" bIns="0" rtlCol="0" anchor="t"/>
          <a:lstStyle/>
          <a:p>
            <a:pPr algn="l" indent="0" marL="0">
              <a:buNone/>
            </a:pPr>
            <a:r>
              <a:rPr lang="en-US" sz="1400" dirty="0">
                <a:solidFill>
                  <a:schemeClr val="tx1"/>
                </a:solidFill>
              </a:rPr>
              <a:t>Written FOB quote, HDMI Adopter proof, ATC, FCC and CL3 documents from the factory. The brand name shortlist by week 2.</a:t>
            </a:r>
            <a:endParaRPr lang="en-US" sz="1400" dirty="0"/>
          </a:p>
        </p:txBody>
      </p:sp>
      <p:sp>
        <p:nvSpPr>
          <p:cNvPr id="16" name="card"/>
          <p:cNvSpPr/>
          <p:nvPr/>
        </p:nvSpPr>
        <p:spPr>
          <a:xfrm>
            <a:off x="9120911" y="1188720"/>
            <a:ext cx="2613584" cy="2926080"/>
          </a:xfrm>
          <a:prstGeom prst="roundRect">
            <a:avLst>
              <a:gd name="adj" fmla="val 4198"/>
            </a:avLst>
          </a:prstGeom>
          <a:solidFill>
            <a:schemeClr val="bg2"/>
          </a:solidFill>
          <a:ln w="12700">
            <a:solidFill>
              <a:srgbClr val="141C36"/>
            </a:solidFill>
            <a:prstDash val="solid"/>
          </a:ln>
        </p:spPr>
      </p:sp>
      <p:sp>
        <p:nvSpPr>
          <p:cNvPr id="17" name="Text 14"/>
          <p:cNvSpPr txBox="1"/>
          <p:nvPr/>
        </p:nvSpPr>
        <p:spPr>
          <a:xfrm>
            <a:off x="9303791" y="1280160"/>
            <a:ext cx="640080" cy="640080"/>
          </a:xfrm>
          <a:prstGeom prst="rect">
            <a:avLst/>
          </a:prstGeom>
          <a:noFill/>
          <a:ln/>
        </p:spPr>
        <p:txBody>
          <a:bodyPr wrap="square" lIns="0" tIns="0" rIns="0" bIns="0" rtlCol="0" anchor="t"/>
          <a:lstStyle/>
          <a:p>
            <a:pPr algn="l" indent="0" marL="0">
              <a:buNone/>
            </a:pPr>
            <a:r>
              <a:rPr lang="en-US" sz="3400" b="1" dirty="0">
                <a:solidFill>
                  <a:schemeClr val="accent1"/>
                </a:solidFill>
              </a:rPr>
              <a:t>4</a:t>
            </a:r>
            <a:endParaRPr lang="en-US" sz="3400" dirty="0"/>
          </a:p>
        </p:txBody>
      </p:sp>
      <p:sp>
        <p:nvSpPr>
          <p:cNvPr id="18" name="Text 15"/>
          <p:cNvSpPr txBox="1"/>
          <p:nvPr/>
        </p:nvSpPr>
        <p:spPr>
          <a:xfrm>
            <a:off x="9943871" y="1371600"/>
            <a:ext cx="1607744" cy="457200"/>
          </a:xfrm>
          <a:prstGeom prst="rect">
            <a:avLst/>
          </a:prstGeom>
          <a:noFill/>
          <a:ln/>
        </p:spPr>
        <p:txBody>
          <a:bodyPr wrap="square" lIns="0" tIns="0" rIns="0" bIns="0" rtlCol="0" anchor="ctr"/>
          <a:lstStyle/>
          <a:p>
            <a:pPr algn="l" indent="0" marL="0">
              <a:buNone/>
            </a:pPr>
            <a:r>
              <a:rPr lang="en-US" sz="1700" b="1" dirty="0">
                <a:solidFill>
                  <a:schemeClr val="tx1"/>
                </a:solidFill>
              </a:rPr>
              <a:t>Discipline</a:t>
            </a:r>
            <a:endParaRPr lang="en-US" sz="1700" dirty="0"/>
          </a:p>
        </p:txBody>
      </p:sp>
      <p:sp>
        <p:nvSpPr>
          <p:cNvPr id="19" name="Text 16"/>
          <p:cNvSpPr txBox="1"/>
          <p:nvPr/>
        </p:nvSpPr>
        <p:spPr>
          <a:xfrm>
            <a:off x="9303791" y="2011680"/>
            <a:ext cx="2247824" cy="2011680"/>
          </a:xfrm>
          <a:prstGeom prst="rect">
            <a:avLst/>
          </a:prstGeom>
          <a:noFill/>
          <a:ln/>
        </p:spPr>
        <p:txBody>
          <a:bodyPr wrap="square" lIns="0" tIns="0" rIns="0" bIns="0" rtlCol="0" anchor="t"/>
          <a:lstStyle/>
          <a:p>
            <a:pPr algn="l" indent="0" marL="0">
              <a:buNone/>
            </a:pPr>
            <a:r>
              <a:rPr lang="en-US" sz="1400" dirty="0">
                <a:solidFill>
                  <a:schemeClr val="tx1"/>
                </a:solidFill>
              </a:rPr>
              <a:t>Agree the Day 90 and Month 12 gate numbers on slide 19 before the first purchase order, and the kill rule: no further capital if a trigger fires.</a:t>
            </a:r>
            <a:endParaRPr lang="en-US" sz="1400" dirty="0"/>
          </a:p>
        </p:txBody>
      </p:sp>
      <p:sp>
        <p:nvSpPr>
          <p:cNvPr id="20" name="card"/>
          <p:cNvSpPr/>
          <p:nvPr/>
        </p:nvSpPr>
        <p:spPr>
          <a:xfrm>
            <a:off x="457200" y="4343400"/>
            <a:ext cx="11277295" cy="1874520"/>
          </a:xfrm>
          <a:prstGeom prst="roundRect">
            <a:avLst>
              <a:gd name="adj" fmla="val 5854"/>
            </a:avLst>
          </a:prstGeom>
          <a:solidFill>
            <a:srgbClr val="10172D"/>
          </a:solidFill>
          <a:ln w="12700">
            <a:solidFill>
              <a:srgbClr val="10172D"/>
            </a:solidFill>
            <a:prstDash val="solid"/>
          </a:ln>
        </p:spPr>
      </p:sp>
      <p:sp>
        <p:nvSpPr>
          <p:cNvPr id="21" name="Text 18"/>
          <p:cNvSpPr txBox="1"/>
          <p:nvPr/>
        </p:nvSpPr>
        <p:spPr>
          <a:xfrm>
            <a:off x="731520" y="4480560"/>
            <a:ext cx="5486400" cy="365760"/>
          </a:xfrm>
          <a:prstGeom prst="rect">
            <a:avLst/>
          </a:prstGeom>
          <a:noFill/>
          <a:ln/>
        </p:spPr>
        <p:txBody>
          <a:bodyPr wrap="square" lIns="0" tIns="0" rIns="0" bIns="0" rtlCol="0" anchor="t"/>
          <a:lstStyle/>
          <a:p>
            <a:pPr algn="l" indent="0" marL="0">
              <a:buNone/>
            </a:pPr>
            <a:r>
              <a:rPr lang="en-US" sz="1500" b="1" dirty="0">
                <a:solidFill>
                  <a:schemeClr val="accent4"/>
                </a:solidFill>
              </a:rPr>
              <a:t>What it buys in the Medium case</a:t>
            </a:r>
            <a:endParaRPr lang="en-US" sz="1500" dirty="0"/>
          </a:p>
        </p:txBody>
      </p:sp>
      <p:sp>
        <p:nvSpPr>
          <p:cNvPr id="22" name="Text 19"/>
          <p:cNvSpPr txBox="1"/>
          <p:nvPr/>
        </p:nvSpPr>
        <p:spPr>
          <a:xfrm>
            <a:off x="731520" y="4892040"/>
            <a:ext cx="10728655" cy="1188720"/>
          </a:xfrm>
          <a:prstGeom prst="rect">
            <a:avLst/>
          </a:prstGeom>
          <a:noFill/>
          <a:ln/>
        </p:spPr>
        <p:txBody>
          <a:bodyPr wrap="square" lIns="0" tIns="0" rIns="0" bIns="0" rtlCol="0" anchor="t"/>
          <a:lstStyle/>
          <a:p>
            <a:pPr algn="l" indent="0" marL="0">
              <a:buNone/>
            </a:pPr>
            <a:r>
              <a:rPr lang="en-US" sz="1500" dirty="0">
                <a:solidFill>
                  <a:schemeClr val="tx1"/>
                </a:solidFill>
              </a:rPr>
              <a:t>$153K of net in 18 months, $4.58M of revenue in Year 5 at 13.4%, and $1.93M of cumulative net over five years from the same product that earns $1.86 a unit in Korea wholesale today.</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First 30 days</a:t>
            </a:r>
            <a:endParaRPr lang="en-US" sz="3200" dirty="0"/>
          </a:p>
        </p:txBody>
      </p:sp>
      <p:sp>
        <p:nvSpPr>
          <p:cNvPr id="4" name="card"/>
          <p:cNvSpPr/>
          <p:nvPr/>
        </p:nvSpPr>
        <p:spPr>
          <a:xfrm>
            <a:off x="457200" y="1188720"/>
            <a:ext cx="2613584" cy="3246120"/>
          </a:xfrm>
          <a:prstGeom prst="roundRect">
            <a:avLst>
              <a:gd name="adj" fmla="val 4198"/>
            </a:avLst>
          </a:prstGeom>
          <a:solidFill>
            <a:schemeClr val="bg2"/>
          </a:solidFill>
          <a:ln w="12700">
            <a:solidFill>
              <a:srgbClr val="141C36"/>
            </a:solidFill>
            <a:prstDash val="solid"/>
          </a:ln>
        </p:spPr>
      </p:sp>
      <p:sp>
        <p:nvSpPr>
          <p:cNvPr id="5" name="Text 2"/>
          <p:cNvSpPr txBox="1"/>
          <p:nvPr/>
        </p:nvSpPr>
        <p:spPr>
          <a:xfrm>
            <a:off x="640080" y="1280160"/>
            <a:ext cx="2247824" cy="411480"/>
          </a:xfrm>
          <a:prstGeom prst="rect">
            <a:avLst/>
          </a:prstGeom>
          <a:noFill/>
          <a:ln/>
        </p:spPr>
        <p:txBody>
          <a:bodyPr wrap="square" lIns="0" tIns="0" rIns="0" bIns="0" rtlCol="0" anchor="t"/>
          <a:lstStyle/>
          <a:p>
            <a:pPr algn="l" indent="0" marL="0">
              <a:buNone/>
            </a:pPr>
            <a:r>
              <a:rPr lang="en-US" sz="1700" b="1" dirty="0">
                <a:solidFill>
                  <a:schemeClr val="accent1"/>
                </a:solidFill>
              </a:rPr>
              <a:t>Week 1</a:t>
            </a:r>
            <a:endParaRPr lang="en-US" sz="1700" dirty="0"/>
          </a:p>
        </p:txBody>
      </p:sp>
      <p:sp>
        <p:nvSpPr>
          <p:cNvPr id="6" name="Text 3"/>
          <p:cNvSpPr txBox="1"/>
          <p:nvPr/>
        </p:nvSpPr>
        <p:spPr>
          <a:xfrm>
            <a:off x="640080" y="1737360"/>
            <a:ext cx="2247824" cy="2651760"/>
          </a:xfrm>
          <a:prstGeom prst="rect">
            <a:avLst/>
          </a:prstGeom>
          <a:noFill/>
          <a:ln/>
        </p:spPr>
        <p:txBody>
          <a:bodyPr wrap="square" lIns="0" tIns="0" rIns="0" bIns="0" rtlCol="0" anchor="t"/>
          <a:lstStyle/>
          <a:p>
            <a:pPr algn="l" marL="139700" indent="-139700">
              <a:spcAft>
                <a:spcPts val="400"/>
              </a:spcAft>
              <a:buSzPct val="100000"/>
              <a:buChar char="•"/>
            </a:pPr>
            <a:r>
              <a:rPr lang="en-US" sz="1200" dirty="0">
                <a:solidFill>
                  <a:schemeClr val="tx1"/>
                </a:solidFill>
              </a:rPr>
              <a:t>Factory: written FOB quote, HDMI Adopter certificate, ATC, FCC and CL3 documents</a:t>
            </a:r>
            <a:endParaRPr lang="en-US" sz="1200" dirty="0"/>
          </a:p>
          <a:p>
            <a:pPr algn="l" marL="139700" indent="-139700">
              <a:spcAft>
                <a:spcPts val="400"/>
              </a:spcAft>
              <a:buSzPct val="100000"/>
              <a:buChar char="•"/>
            </a:pPr>
            <a:r>
              <a:rPr lang="en-US" sz="1200" dirty="0">
                <a:solidFill>
                  <a:schemeClr val="tx1"/>
                </a:solidFill>
              </a:rPr>
              <a:t>Attorney engaged: trademark search, Wyoming LLC filing</a:t>
            </a:r>
            <a:endParaRPr lang="en-US" sz="1200" dirty="0"/>
          </a:p>
          <a:p>
            <a:pPr algn="l" marL="139700" indent="-139700">
              <a:spcAft>
                <a:spcPts val="400"/>
              </a:spcAft>
              <a:buSzPct val="100000"/>
              <a:buChar char="•"/>
            </a:pPr>
            <a:r>
              <a:rPr lang="en-US" sz="1200" dirty="0">
                <a:solidFill>
                  <a:schemeClr val="tx1"/>
                </a:solidFill>
              </a:rPr>
              <a:t>Customs broker engaged, continuous bond, binding ruling request filed</a:t>
            </a:r>
            <a:endParaRPr lang="en-US" sz="1200" dirty="0"/>
          </a:p>
          <a:p>
            <a:pPr algn="l" marL="139700" indent="-139700">
              <a:spcAft>
                <a:spcPts val="400"/>
              </a:spcAft>
              <a:buSzPct val="100000"/>
              <a:buChar char="•"/>
            </a:pPr>
            <a:r>
              <a:rPr lang="en-US" sz="1200" dirty="0">
                <a:solidFill>
                  <a:schemeClr val="tx1"/>
                </a:solidFill>
              </a:rPr>
              <a:t>Brand name shortlist</a:t>
            </a:r>
            <a:endParaRPr lang="en-US" sz="1200" dirty="0"/>
          </a:p>
        </p:txBody>
      </p:sp>
      <p:sp>
        <p:nvSpPr>
          <p:cNvPr id="7" name="card"/>
          <p:cNvSpPr/>
          <p:nvPr/>
        </p:nvSpPr>
        <p:spPr>
          <a:xfrm>
            <a:off x="3345104" y="1188720"/>
            <a:ext cx="2613584" cy="3246120"/>
          </a:xfrm>
          <a:prstGeom prst="roundRect">
            <a:avLst>
              <a:gd name="adj" fmla="val 4198"/>
            </a:avLst>
          </a:prstGeom>
          <a:solidFill>
            <a:schemeClr val="bg2"/>
          </a:solidFill>
          <a:ln w="12700">
            <a:solidFill>
              <a:srgbClr val="141C36"/>
            </a:solidFill>
            <a:prstDash val="solid"/>
          </a:ln>
        </p:spPr>
      </p:sp>
      <p:sp>
        <p:nvSpPr>
          <p:cNvPr id="8" name="Text 5"/>
          <p:cNvSpPr txBox="1"/>
          <p:nvPr/>
        </p:nvSpPr>
        <p:spPr>
          <a:xfrm>
            <a:off x="3527984" y="1280160"/>
            <a:ext cx="2247824" cy="411480"/>
          </a:xfrm>
          <a:prstGeom prst="rect">
            <a:avLst/>
          </a:prstGeom>
          <a:noFill/>
          <a:ln/>
        </p:spPr>
        <p:txBody>
          <a:bodyPr wrap="square" lIns="0" tIns="0" rIns="0" bIns="0" rtlCol="0" anchor="t"/>
          <a:lstStyle/>
          <a:p>
            <a:pPr algn="l" indent="0" marL="0">
              <a:buNone/>
            </a:pPr>
            <a:r>
              <a:rPr lang="en-US" sz="1700" b="1" dirty="0">
                <a:solidFill>
                  <a:schemeClr val="accent1"/>
                </a:solidFill>
              </a:rPr>
              <a:t>Week 2</a:t>
            </a:r>
            <a:endParaRPr lang="en-US" sz="1700" dirty="0"/>
          </a:p>
        </p:txBody>
      </p:sp>
      <p:sp>
        <p:nvSpPr>
          <p:cNvPr id="9" name="Text 6"/>
          <p:cNvSpPr txBox="1"/>
          <p:nvPr/>
        </p:nvSpPr>
        <p:spPr>
          <a:xfrm>
            <a:off x="3527984" y="1737360"/>
            <a:ext cx="2247824" cy="2651760"/>
          </a:xfrm>
          <a:prstGeom prst="rect">
            <a:avLst/>
          </a:prstGeom>
          <a:noFill/>
          <a:ln/>
        </p:spPr>
        <p:txBody>
          <a:bodyPr wrap="square" lIns="0" tIns="0" rIns="0" bIns="0" rtlCol="0" anchor="t"/>
          <a:lstStyle/>
          <a:p>
            <a:pPr algn="l" marL="139700" indent="-139700">
              <a:spcAft>
                <a:spcPts val="400"/>
              </a:spcAft>
              <a:buSzPct val="100000"/>
              <a:buChar char="•"/>
            </a:pPr>
            <a:r>
              <a:rPr lang="en-US" sz="1200" dirty="0">
                <a:solidFill>
                  <a:schemeClr val="tx1"/>
                </a:solidFill>
              </a:rPr>
              <a:t>EIN with Form SS-4 by phone or fax</a:t>
            </a:r>
            <a:endParaRPr lang="en-US" sz="1200" dirty="0"/>
          </a:p>
          <a:p>
            <a:pPr algn="l" marL="139700" indent="-139700">
              <a:spcAft>
                <a:spcPts val="400"/>
              </a:spcAft>
              <a:buSzPct val="100000"/>
              <a:buChar char="•"/>
            </a:pPr>
            <a:r>
              <a:rPr lang="en-US" sz="1200" dirty="0">
                <a:solidFill>
                  <a:schemeClr val="tx1"/>
                </a:solidFill>
              </a:rPr>
              <a:t>ODI report at the foreign exchange bank</a:t>
            </a:r>
            <a:endParaRPr lang="en-US" sz="1200" dirty="0"/>
          </a:p>
          <a:p>
            <a:pPr algn="l" marL="139700" indent="-139700">
              <a:spcAft>
                <a:spcPts val="400"/>
              </a:spcAft>
              <a:buSzPct val="100000"/>
              <a:buChar char="•"/>
            </a:pPr>
            <a:r>
              <a:rPr lang="en-US" sz="1200" dirty="0">
                <a:solidFill>
                  <a:schemeClr val="tx1"/>
                </a:solidFill>
              </a:rPr>
              <a:t>Trademark application filed</a:t>
            </a:r>
            <a:endParaRPr lang="en-US" sz="1200" dirty="0"/>
          </a:p>
          <a:p>
            <a:pPr algn="l" marL="139700" indent="-139700">
              <a:spcAft>
                <a:spcPts val="400"/>
              </a:spcAft>
              <a:buSzPct val="100000"/>
              <a:buChar char="•"/>
            </a:pPr>
            <a:r>
              <a:rPr lang="en-US" sz="1200" dirty="0">
                <a:solidFill>
                  <a:schemeClr val="tx1"/>
                </a:solidFill>
              </a:rPr>
              <a:t>Korean tax accountant meeting: incorporate H2 question, overseas account report</a:t>
            </a:r>
            <a:endParaRPr lang="en-US" sz="1200" dirty="0"/>
          </a:p>
        </p:txBody>
      </p:sp>
      <p:sp>
        <p:nvSpPr>
          <p:cNvPr id="10" name="card"/>
          <p:cNvSpPr/>
          <p:nvPr/>
        </p:nvSpPr>
        <p:spPr>
          <a:xfrm>
            <a:off x="6233008" y="1188720"/>
            <a:ext cx="2613584" cy="3246120"/>
          </a:xfrm>
          <a:prstGeom prst="roundRect">
            <a:avLst>
              <a:gd name="adj" fmla="val 4198"/>
            </a:avLst>
          </a:prstGeom>
          <a:solidFill>
            <a:schemeClr val="bg2"/>
          </a:solidFill>
          <a:ln w="12700">
            <a:solidFill>
              <a:srgbClr val="141C36"/>
            </a:solidFill>
            <a:prstDash val="solid"/>
          </a:ln>
        </p:spPr>
      </p:sp>
      <p:sp>
        <p:nvSpPr>
          <p:cNvPr id="11" name="Text 8"/>
          <p:cNvSpPr txBox="1"/>
          <p:nvPr/>
        </p:nvSpPr>
        <p:spPr>
          <a:xfrm>
            <a:off x="6415888" y="1280160"/>
            <a:ext cx="2247824" cy="411480"/>
          </a:xfrm>
          <a:prstGeom prst="rect">
            <a:avLst/>
          </a:prstGeom>
          <a:noFill/>
          <a:ln/>
        </p:spPr>
        <p:txBody>
          <a:bodyPr wrap="square" lIns="0" tIns="0" rIns="0" bIns="0" rtlCol="0" anchor="t"/>
          <a:lstStyle/>
          <a:p>
            <a:pPr algn="l" indent="0" marL="0">
              <a:buNone/>
            </a:pPr>
            <a:r>
              <a:rPr lang="en-US" sz="1700" b="1" dirty="0">
                <a:solidFill>
                  <a:schemeClr val="accent1"/>
                </a:solidFill>
              </a:rPr>
              <a:t>Week 3</a:t>
            </a:r>
            <a:endParaRPr lang="en-US" sz="1700" dirty="0"/>
          </a:p>
        </p:txBody>
      </p:sp>
      <p:sp>
        <p:nvSpPr>
          <p:cNvPr id="12" name="Text 9"/>
          <p:cNvSpPr txBox="1"/>
          <p:nvPr/>
        </p:nvSpPr>
        <p:spPr>
          <a:xfrm>
            <a:off x="6415888" y="1737360"/>
            <a:ext cx="2247824" cy="2651760"/>
          </a:xfrm>
          <a:prstGeom prst="rect">
            <a:avLst/>
          </a:prstGeom>
          <a:noFill/>
          <a:ln/>
        </p:spPr>
        <p:txBody>
          <a:bodyPr wrap="square" lIns="0" tIns="0" rIns="0" bIns="0" rtlCol="0" anchor="t"/>
          <a:lstStyle/>
          <a:p>
            <a:pPr algn="l" marL="139700" indent="-139700">
              <a:spcAft>
                <a:spcPts val="400"/>
              </a:spcAft>
              <a:buSzPct val="100000"/>
              <a:buChar char="•"/>
            </a:pPr>
            <a:r>
              <a:rPr lang="en-US" sz="1200" dirty="0">
                <a:solidFill>
                  <a:schemeClr val="tx1"/>
                </a:solidFill>
              </a:rPr>
              <a:t>USD bank account (Mercury or Relay; Payoneer or WorldFirst as fallback)</a:t>
            </a:r>
            <a:endParaRPr lang="en-US" sz="1200" dirty="0"/>
          </a:p>
          <a:p>
            <a:pPr algn="l" marL="139700" indent="-139700">
              <a:spcAft>
                <a:spcPts val="400"/>
              </a:spcAft>
              <a:buSzPct val="100000"/>
              <a:buChar char="•"/>
            </a:pPr>
            <a:r>
              <a:rPr lang="en-US" sz="1200" dirty="0">
                <a:solidFill>
                  <a:schemeClr val="tx1"/>
                </a:solidFill>
              </a:rPr>
              <a:t>Capital transfer, only after the ODI report</a:t>
            </a:r>
            <a:endParaRPr lang="en-US" sz="1200" dirty="0"/>
          </a:p>
          <a:p>
            <a:pPr algn="l" marL="139700" indent="-139700">
              <a:spcAft>
                <a:spcPts val="400"/>
              </a:spcAft>
              <a:buSzPct val="100000"/>
              <a:buChar char="•"/>
            </a:pPr>
            <a:r>
              <a:rPr lang="en-US" sz="1200" dirty="0">
                <a:solidFill>
                  <a:schemeClr val="tx1"/>
                </a:solidFill>
              </a:rPr>
              <a:t>Amazon Professional account, tax interview as a foreign owned entity, identity verification</a:t>
            </a:r>
            <a:endParaRPr lang="en-US" sz="1200" dirty="0"/>
          </a:p>
          <a:p>
            <a:pPr algn="l" marL="139700" indent="-139700">
              <a:spcAft>
                <a:spcPts val="400"/>
              </a:spcAft>
              <a:buSzPct val="100000"/>
              <a:buChar char="•"/>
            </a:pPr>
            <a:r>
              <a:rPr lang="en-US" sz="1200" dirty="0">
                <a:solidFill>
                  <a:schemeClr val="tx1"/>
                </a:solidFill>
              </a:rPr>
              <a:t>Product liability insurance quote</a:t>
            </a:r>
            <a:endParaRPr lang="en-US" sz="1200" dirty="0"/>
          </a:p>
        </p:txBody>
      </p:sp>
      <p:sp>
        <p:nvSpPr>
          <p:cNvPr id="13" name="card"/>
          <p:cNvSpPr/>
          <p:nvPr/>
        </p:nvSpPr>
        <p:spPr>
          <a:xfrm>
            <a:off x="9120911" y="1188720"/>
            <a:ext cx="2613584" cy="3246120"/>
          </a:xfrm>
          <a:prstGeom prst="roundRect">
            <a:avLst>
              <a:gd name="adj" fmla="val 4198"/>
            </a:avLst>
          </a:prstGeom>
          <a:solidFill>
            <a:schemeClr val="bg2"/>
          </a:solidFill>
          <a:ln w="12700">
            <a:solidFill>
              <a:srgbClr val="141C36"/>
            </a:solidFill>
            <a:prstDash val="solid"/>
          </a:ln>
        </p:spPr>
      </p:sp>
      <p:sp>
        <p:nvSpPr>
          <p:cNvPr id="14" name="Text 11"/>
          <p:cNvSpPr txBox="1"/>
          <p:nvPr/>
        </p:nvSpPr>
        <p:spPr>
          <a:xfrm>
            <a:off x="9303791" y="1280160"/>
            <a:ext cx="2247824" cy="411480"/>
          </a:xfrm>
          <a:prstGeom prst="rect">
            <a:avLst/>
          </a:prstGeom>
          <a:noFill/>
          <a:ln/>
        </p:spPr>
        <p:txBody>
          <a:bodyPr wrap="square" lIns="0" tIns="0" rIns="0" bIns="0" rtlCol="0" anchor="t"/>
          <a:lstStyle/>
          <a:p>
            <a:pPr algn="l" indent="0" marL="0">
              <a:buNone/>
            </a:pPr>
            <a:r>
              <a:rPr lang="en-US" sz="1700" b="1" dirty="0">
                <a:solidFill>
                  <a:schemeClr val="accent1"/>
                </a:solidFill>
              </a:rPr>
              <a:t>Week 4</a:t>
            </a:r>
            <a:endParaRPr lang="en-US" sz="1700" dirty="0"/>
          </a:p>
        </p:txBody>
      </p:sp>
      <p:sp>
        <p:nvSpPr>
          <p:cNvPr id="15" name="Text 12"/>
          <p:cNvSpPr txBox="1"/>
          <p:nvPr/>
        </p:nvSpPr>
        <p:spPr>
          <a:xfrm>
            <a:off x="9303791" y="1737360"/>
            <a:ext cx="2247824" cy="2651760"/>
          </a:xfrm>
          <a:prstGeom prst="rect">
            <a:avLst/>
          </a:prstGeom>
          <a:noFill/>
          <a:ln/>
        </p:spPr>
        <p:txBody>
          <a:bodyPr wrap="square" lIns="0" tIns="0" rIns="0" bIns="0" rtlCol="0" anchor="t"/>
          <a:lstStyle/>
          <a:p>
            <a:pPr algn="l" marL="139700" indent="-139700">
              <a:spcAft>
                <a:spcPts val="400"/>
              </a:spcAft>
              <a:buSzPct val="100000"/>
              <a:buChar char="•"/>
            </a:pPr>
            <a:r>
              <a:rPr lang="en-US" sz="1200" dirty="0">
                <a:solidFill>
                  <a:schemeClr val="tx1"/>
                </a:solidFill>
              </a:rPr>
              <a:t>Brand Registry with the pending application</a:t>
            </a:r>
            <a:endParaRPr lang="en-US" sz="1200" dirty="0"/>
          </a:p>
          <a:p>
            <a:pPr algn="l" marL="139700" indent="-139700">
              <a:spcAft>
                <a:spcPts val="400"/>
              </a:spcAft>
              <a:buSzPct val="100000"/>
              <a:buChar char="•"/>
            </a:pPr>
            <a:r>
              <a:rPr lang="en-US" sz="1200" dirty="0">
                <a:solidFill>
                  <a:schemeClr val="tx1"/>
                </a:solidFill>
              </a:rPr>
              <a:t>Test inventory PO: 5 hero SKUs, 100 to 300 units each, air DDP, third party QC booked</a:t>
            </a:r>
            <a:endParaRPr lang="en-US" sz="1200" dirty="0"/>
          </a:p>
          <a:p>
            <a:pPr algn="l" marL="139700" indent="-139700">
              <a:spcAft>
                <a:spcPts val="400"/>
              </a:spcAft>
              <a:buSzPct val="100000"/>
              <a:buChar char="•"/>
            </a:pPr>
            <a:r>
              <a:rPr lang="en-US" sz="1200" dirty="0">
                <a:solidFill>
                  <a:schemeClr val="tx1"/>
                </a:solidFill>
              </a:rPr>
              <a:t>Photography and video brief, listing drafts from 09_Amazon_Listing_Kit</a:t>
            </a:r>
            <a:endParaRPr lang="en-US" sz="1200" dirty="0"/>
          </a:p>
          <a:p>
            <a:pPr algn="l" marL="139700" indent="-139700">
              <a:spcAft>
                <a:spcPts val="400"/>
              </a:spcAft>
              <a:buSzPct val="100000"/>
              <a:buChar char="•"/>
            </a:pPr>
            <a:r>
              <a:rPr lang="en-US" sz="1200" dirty="0">
                <a:solidFill>
                  <a:schemeClr val="tx1"/>
                </a:solidFill>
              </a:rPr>
              <a:t>Compliance calendar and SOPs live (05 and 06)</a:t>
            </a:r>
            <a:endParaRPr lang="en-US" sz="1200" dirty="0"/>
          </a:p>
        </p:txBody>
      </p:sp>
      <p:sp>
        <p:nvSpPr>
          <p:cNvPr id="16" name="card"/>
          <p:cNvSpPr/>
          <p:nvPr/>
        </p:nvSpPr>
        <p:spPr>
          <a:xfrm>
            <a:off x="457200" y="4617720"/>
            <a:ext cx="11277295" cy="1645920"/>
          </a:xfrm>
          <a:prstGeom prst="roundRect">
            <a:avLst>
              <a:gd name="adj" fmla="val 6667"/>
            </a:avLst>
          </a:prstGeom>
          <a:solidFill>
            <a:srgbClr val="10172D"/>
          </a:solidFill>
          <a:ln w="12700">
            <a:solidFill>
              <a:srgbClr val="10172D"/>
            </a:solidFill>
            <a:prstDash val="solid"/>
          </a:ln>
        </p:spPr>
      </p:sp>
      <p:sp>
        <p:nvSpPr>
          <p:cNvPr id="17" name="Text 14"/>
          <p:cNvSpPr txBox="1"/>
          <p:nvPr/>
        </p:nvSpPr>
        <p:spPr>
          <a:xfrm>
            <a:off x="731520" y="4709160"/>
            <a:ext cx="5486400" cy="320040"/>
          </a:xfrm>
          <a:prstGeom prst="rect">
            <a:avLst/>
          </a:prstGeom>
          <a:noFill/>
          <a:ln/>
        </p:spPr>
        <p:txBody>
          <a:bodyPr wrap="square" lIns="0" tIns="0" rIns="0" bIns="0" rtlCol="0" anchor="t"/>
          <a:lstStyle/>
          <a:p>
            <a:pPr algn="l" indent="0" marL="0">
              <a:buNone/>
            </a:pPr>
            <a:r>
              <a:rPr lang="en-US" sz="1500" b="1" dirty="0">
                <a:solidFill>
                  <a:schemeClr val="accent4"/>
                </a:solidFill>
              </a:rPr>
              <a:t>Monday morning, three actions for Lucy</a:t>
            </a:r>
            <a:endParaRPr lang="en-US" sz="1500" dirty="0"/>
          </a:p>
        </p:txBody>
      </p:sp>
      <p:sp>
        <p:nvSpPr>
          <p:cNvPr id="18" name="Text 15"/>
          <p:cNvSpPr txBox="1"/>
          <p:nvPr/>
        </p:nvSpPr>
        <p:spPr>
          <a:xfrm>
            <a:off x="731520" y="5120640"/>
            <a:ext cx="3393338" cy="1005840"/>
          </a:xfrm>
          <a:prstGeom prst="rect">
            <a:avLst/>
          </a:prstGeom>
          <a:noFill/>
          <a:ln/>
        </p:spPr>
        <p:txBody>
          <a:bodyPr wrap="square" lIns="0" tIns="0" rIns="0" bIns="0" rtlCol="0" anchor="t"/>
          <a:lstStyle/>
          <a:p>
            <a:pPr algn="l" indent="0" marL="0">
              <a:buNone/>
            </a:pPr>
            <a:r>
              <a:rPr lang="en-US" sz="1350" dirty="0">
                <a:solidFill>
                  <a:schemeClr val="tx1"/>
                </a:solidFill>
              </a:rPr>
              <a:t>1. Email the factory for the FOB quote sheet and the four compliance documents.</a:t>
            </a:r>
            <a:endParaRPr lang="en-US" sz="1350" dirty="0"/>
          </a:p>
        </p:txBody>
      </p:sp>
      <p:sp>
        <p:nvSpPr>
          <p:cNvPr id="19" name="Text 16"/>
          <p:cNvSpPr txBox="1"/>
          <p:nvPr/>
        </p:nvSpPr>
        <p:spPr>
          <a:xfrm>
            <a:off x="4490618" y="5120640"/>
            <a:ext cx="3393338" cy="1005840"/>
          </a:xfrm>
          <a:prstGeom prst="rect">
            <a:avLst/>
          </a:prstGeom>
          <a:noFill/>
          <a:ln/>
        </p:spPr>
        <p:txBody>
          <a:bodyPr wrap="square" lIns="0" tIns="0" rIns="0" bIns="0" rtlCol="0" anchor="t"/>
          <a:lstStyle/>
          <a:p>
            <a:pPr algn="l" indent="0" marL="0">
              <a:buNone/>
            </a:pPr>
            <a:r>
              <a:rPr lang="en-US" sz="1350" dirty="0">
                <a:solidFill>
                  <a:schemeClr val="tx1"/>
                </a:solidFill>
              </a:rPr>
              <a:t>2. Book the attorney and the customs broker calls.</a:t>
            </a:r>
            <a:endParaRPr lang="en-US" sz="1350" dirty="0"/>
          </a:p>
        </p:txBody>
      </p:sp>
      <p:sp>
        <p:nvSpPr>
          <p:cNvPr id="20" name="Text 17"/>
          <p:cNvSpPr txBox="1"/>
          <p:nvPr/>
        </p:nvSpPr>
        <p:spPr>
          <a:xfrm>
            <a:off x="8249717" y="5120640"/>
            <a:ext cx="3393338" cy="1005840"/>
          </a:xfrm>
          <a:prstGeom prst="rect">
            <a:avLst/>
          </a:prstGeom>
          <a:noFill/>
          <a:ln/>
        </p:spPr>
        <p:txBody>
          <a:bodyPr wrap="square" lIns="0" tIns="0" rIns="0" bIns="0" rtlCol="0" anchor="t"/>
          <a:lstStyle/>
          <a:p>
            <a:pPr algn="l" indent="0" marL="0">
              <a:buNone/>
            </a:pPr>
            <a:r>
              <a:rPr lang="en-US" sz="1350" dirty="0">
                <a:solidFill>
                  <a:schemeClr val="tx1"/>
                </a:solidFill>
              </a:rPr>
              <a:t>3. Book the Korean tax accountant to prepare the ODI report.</a:t>
            </a:r>
            <a:endParaRPr lang="en-US" sz="13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7295" cy="731520"/>
          </a:xfrm>
          <a:prstGeom prst="rect">
            <a:avLst/>
          </a:prstGeom>
          <a:noFill/>
          <a:ln/>
        </p:spPr>
        <p:txBody>
          <a:bodyPr wrap="square" lIns="0" tIns="0" rIns="0" bIns="0" rtlCol="0" anchor="ctr"/>
          <a:lstStyle/>
          <a:p>
            <a:pPr indent="0" marL="0">
              <a:buNone/>
            </a:pPr>
            <a:r>
              <a:rPr lang="en-US" sz="3200" b="1" dirty="0">
                <a:solidFill>
                  <a:srgbClr val="F3F6FF"/>
                </a:solidFill>
              </a:rPr>
              <a:t>Glossary</a:t>
            </a:r>
            <a:endParaRPr lang="en-US" sz="3200" dirty="0"/>
          </a:p>
        </p:txBody>
      </p:sp>
      <p:sp>
        <p:nvSpPr>
          <p:cNvPr id="4" name="card"/>
          <p:cNvSpPr/>
          <p:nvPr/>
        </p:nvSpPr>
        <p:spPr>
          <a:xfrm>
            <a:off x="457200" y="1143000"/>
            <a:ext cx="3576218" cy="5120640"/>
          </a:xfrm>
          <a:prstGeom prst="roundRect">
            <a:avLst>
              <a:gd name="adj" fmla="val 3068"/>
            </a:avLst>
          </a:prstGeom>
          <a:solidFill>
            <a:schemeClr val="bg2"/>
          </a:solidFill>
          <a:ln w="12700">
            <a:solidFill>
              <a:srgbClr val="141C36"/>
            </a:solidFill>
            <a:prstDash val="solid"/>
          </a:ln>
        </p:spPr>
      </p:sp>
      <p:sp>
        <p:nvSpPr>
          <p:cNvPr id="5" name="Text 2"/>
          <p:cNvSpPr txBox="1"/>
          <p:nvPr/>
        </p:nvSpPr>
        <p:spPr>
          <a:xfrm>
            <a:off x="640080" y="1280160"/>
            <a:ext cx="3210458" cy="4846320"/>
          </a:xfrm>
          <a:prstGeom prst="rect">
            <a:avLst/>
          </a:prstGeom>
          <a:noFill/>
          <a:ln/>
        </p:spPr>
        <p:txBody>
          <a:bodyPr wrap="square" lIns="0" tIns="0" rIns="0" bIns="0" rtlCol="0" anchor="t"/>
          <a:lstStyle/>
          <a:p>
            <a:pPr algn="l" indent="0" marL="0">
              <a:buNone/>
            </a:pPr>
            <a:r>
              <a:rPr lang="en-US" sz="1200" b="1" dirty="0">
                <a:solidFill>
                  <a:schemeClr val="accent1"/>
                </a:solidFill>
              </a:rPr>
              <a:t>AOC: </a:t>
            </a:r>
            <a:pPr algn="l" indent="0" marL="0">
              <a:spcAft>
                <a:spcPts val="400"/>
              </a:spcAft>
              <a:buNone/>
            </a:pPr>
            <a:r>
              <a:rPr lang="en-US" sz="1200" dirty="0">
                <a:solidFill>
                  <a:schemeClr val="tx1"/>
                </a:solidFill>
              </a:rPr>
              <a:t>active optical cable</a:t>
            </a:r>
            <a:endParaRPr lang="en-US" sz="1200" dirty="0"/>
          </a:p>
          <a:p>
            <a:pPr algn="l" indent="0" marL="0">
              <a:buNone/>
            </a:pPr>
            <a:r>
              <a:rPr lang="en-US" sz="1200" b="1" dirty="0">
                <a:solidFill>
                  <a:schemeClr val="accent1"/>
                </a:solidFill>
              </a:rPr>
              <a:t>HDMI: </a:t>
            </a:r>
            <a:pPr algn="l" indent="0" marL="0">
              <a:spcAft>
                <a:spcPts val="400"/>
              </a:spcAft>
              <a:buNone/>
            </a:pPr>
            <a:r>
              <a:rPr lang="en-US" sz="1200" dirty="0">
                <a:solidFill>
                  <a:schemeClr val="tx1"/>
                </a:solidFill>
              </a:rPr>
              <a:t>High Definition Multimedia Interface</a:t>
            </a:r>
            <a:endParaRPr lang="en-US" sz="1200" dirty="0"/>
          </a:p>
          <a:p>
            <a:pPr algn="l" indent="0" marL="0">
              <a:buNone/>
            </a:pPr>
            <a:r>
              <a:rPr lang="en-US" sz="1200" b="1" dirty="0">
                <a:solidFill>
                  <a:schemeClr val="accent1"/>
                </a:solidFill>
              </a:rPr>
              <a:t>ASP: </a:t>
            </a:r>
            <a:pPr algn="l" indent="0" marL="0">
              <a:spcAft>
                <a:spcPts val="400"/>
              </a:spcAft>
              <a:buNone/>
            </a:pPr>
            <a:r>
              <a:rPr lang="en-US" sz="1200" dirty="0">
                <a:solidFill>
                  <a:schemeClr val="tx1"/>
                </a:solidFill>
              </a:rPr>
              <a:t>average selling price</a:t>
            </a:r>
            <a:endParaRPr lang="en-US" sz="1200" dirty="0"/>
          </a:p>
          <a:p>
            <a:pPr algn="l" indent="0" marL="0">
              <a:buNone/>
            </a:pPr>
            <a:r>
              <a:rPr lang="en-US" sz="1200" b="1" dirty="0">
                <a:solidFill>
                  <a:schemeClr val="accent1"/>
                </a:solidFill>
              </a:rPr>
              <a:t>COGS: </a:t>
            </a:r>
            <a:pPr algn="l" indent="0" marL="0">
              <a:spcAft>
                <a:spcPts val="400"/>
              </a:spcAft>
              <a:buNone/>
            </a:pPr>
            <a:r>
              <a:rPr lang="en-US" sz="1200" dirty="0">
                <a:solidFill>
                  <a:schemeClr val="tx1"/>
                </a:solidFill>
              </a:rPr>
              <a:t>cost of goods sold</a:t>
            </a:r>
            <a:endParaRPr lang="en-US" sz="1200" dirty="0"/>
          </a:p>
          <a:p>
            <a:pPr algn="l" indent="0" marL="0">
              <a:buNone/>
            </a:pPr>
            <a:r>
              <a:rPr lang="en-US" sz="1200" b="1" dirty="0">
                <a:solidFill>
                  <a:schemeClr val="accent1"/>
                </a:solidFill>
              </a:rPr>
              <a:t>FOB: </a:t>
            </a:r>
            <a:pPr algn="l" indent="0" marL="0">
              <a:spcAft>
                <a:spcPts val="400"/>
              </a:spcAft>
              <a:buNone/>
            </a:pPr>
            <a:r>
              <a:rPr lang="en-US" sz="1200" dirty="0">
                <a:solidFill>
                  <a:schemeClr val="tx1"/>
                </a:solidFill>
              </a:rPr>
              <a:t>free on board (the price at the factory's port)</a:t>
            </a:r>
            <a:endParaRPr lang="en-US" sz="1200" dirty="0"/>
          </a:p>
          <a:p>
            <a:pPr algn="l" indent="0" marL="0">
              <a:buNone/>
            </a:pPr>
            <a:r>
              <a:rPr lang="en-US" sz="1200" b="1" dirty="0">
                <a:solidFill>
                  <a:schemeClr val="accent1"/>
                </a:solidFill>
              </a:rPr>
              <a:t>DDP: </a:t>
            </a:r>
            <a:pPr algn="l" indent="0" marL="0">
              <a:spcAft>
                <a:spcPts val="400"/>
              </a:spcAft>
              <a:buNone/>
            </a:pPr>
            <a:r>
              <a:rPr lang="en-US" sz="1200" dirty="0">
                <a:solidFill>
                  <a:schemeClr val="tx1"/>
                </a:solidFill>
              </a:rPr>
              <a:t>delivered duty paid</a:t>
            </a:r>
            <a:endParaRPr lang="en-US" sz="1200" dirty="0"/>
          </a:p>
          <a:p>
            <a:pPr algn="l" indent="0" marL="0">
              <a:buNone/>
            </a:pPr>
            <a:r>
              <a:rPr lang="en-US" sz="1200" b="1" dirty="0">
                <a:solidFill>
                  <a:schemeClr val="accent1"/>
                </a:solidFill>
              </a:rPr>
              <a:t>FBA: </a:t>
            </a:r>
            <a:pPr algn="l" indent="0" marL="0">
              <a:spcAft>
                <a:spcPts val="400"/>
              </a:spcAft>
              <a:buNone/>
            </a:pPr>
            <a:r>
              <a:rPr lang="en-US" sz="1200" dirty="0">
                <a:solidFill>
                  <a:schemeClr val="tx1"/>
                </a:solidFill>
              </a:rPr>
              <a:t>Fulfillment by Amazon</a:t>
            </a:r>
            <a:endParaRPr lang="en-US" sz="1200" dirty="0"/>
          </a:p>
          <a:p>
            <a:pPr algn="l" indent="0" marL="0">
              <a:buNone/>
            </a:pPr>
            <a:r>
              <a:rPr lang="en-US" sz="1200" b="1" dirty="0">
                <a:solidFill>
                  <a:schemeClr val="accent1"/>
                </a:solidFill>
              </a:rPr>
              <a:t>FNSKU: </a:t>
            </a:r>
            <a:pPr algn="l" indent="0" marL="0">
              <a:spcAft>
                <a:spcPts val="400"/>
              </a:spcAft>
              <a:buNone/>
            </a:pPr>
            <a:r>
              <a:rPr lang="en-US" sz="1200" dirty="0">
                <a:solidFill>
                  <a:schemeClr val="tx1"/>
                </a:solidFill>
              </a:rPr>
              <a:t>Fulfillment Network Stock Keeping Unit (Amazon's barcode)</a:t>
            </a:r>
            <a:endParaRPr lang="en-US" sz="1200" dirty="0"/>
          </a:p>
          <a:p>
            <a:pPr algn="l" indent="0" marL="0">
              <a:buNone/>
            </a:pPr>
            <a:r>
              <a:rPr lang="en-US" sz="1200" b="1" dirty="0">
                <a:solidFill>
                  <a:schemeClr val="accent1"/>
                </a:solidFill>
              </a:rPr>
              <a:t>ASIN: </a:t>
            </a:r>
            <a:pPr algn="l" indent="0" marL="0">
              <a:spcAft>
                <a:spcPts val="400"/>
              </a:spcAft>
              <a:buNone/>
            </a:pPr>
            <a:r>
              <a:rPr lang="en-US" sz="1200" dirty="0">
                <a:solidFill>
                  <a:schemeClr val="tx1"/>
                </a:solidFill>
              </a:rPr>
              <a:t>Amazon Standard Identification Number</a:t>
            </a:r>
            <a:endParaRPr lang="en-US" sz="1200" dirty="0"/>
          </a:p>
          <a:p>
            <a:pPr algn="l" indent="0" marL="0">
              <a:buNone/>
            </a:pPr>
            <a:r>
              <a:rPr lang="en-US" sz="1200" b="1" dirty="0">
                <a:solidFill>
                  <a:schemeClr val="accent1"/>
                </a:solidFill>
              </a:rPr>
              <a:t>ACOS: </a:t>
            </a:r>
            <a:pPr algn="l" indent="0" marL="0">
              <a:spcAft>
                <a:spcPts val="400"/>
              </a:spcAft>
              <a:buNone/>
            </a:pPr>
            <a:r>
              <a:rPr lang="en-US" sz="1200" dirty="0">
                <a:solidFill>
                  <a:schemeClr val="tx1"/>
                </a:solidFill>
              </a:rPr>
              <a:t>advertising cost of sales (ad spend divided by ad attributed sales)</a:t>
            </a:r>
            <a:endParaRPr lang="en-US" sz="1200" dirty="0"/>
          </a:p>
          <a:p>
            <a:pPr algn="l" indent="0" marL="0">
              <a:buNone/>
            </a:pPr>
            <a:r>
              <a:rPr lang="en-US" sz="1200" b="1" dirty="0">
                <a:solidFill>
                  <a:schemeClr val="accent1"/>
                </a:solidFill>
              </a:rPr>
              <a:t>TACOS: </a:t>
            </a:r>
            <a:pPr algn="l" indent="0" marL="0">
              <a:spcAft>
                <a:spcPts val="400"/>
              </a:spcAft>
              <a:buNone/>
            </a:pPr>
            <a:r>
              <a:rPr lang="en-US" sz="1200" dirty="0">
                <a:solidFill>
                  <a:schemeClr val="tx1"/>
                </a:solidFill>
              </a:rPr>
              <a:t>total advertising cost of sales (ad spend divided by total sales)</a:t>
            </a:r>
            <a:endParaRPr lang="en-US" sz="1200" dirty="0"/>
          </a:p>
          <a:p>
            <a:pPr algn="l" indent="0" marL="0">
              <a:buNone/>
            </a:pPr>
            <a:r>
              <a:rPr lang="en-US" sz="1200" b="1" dirty="0">
                <a:solidFill>
                  <a:schemeClr val="accent1"/>
                </a:solidFill>
              </a:rPr>
              <a:t>PPC: </a:t>
            </a:r>
            <a:pPr algn="l" indent="0" marL="0">
              <a:spcAft>
                <a:spcPts val="400"/>
              </a:spcAft>
              <a:buNone/>
            </a:pPr>
            <a:r>
              <a:rPr lang="en-US" sz="1200" dirty="0">
                <a:solidFill>
                  <a:schemeClr val="tx1"/>
                </a:solidFill>
              </a:rPr>
              <a:t>pay per click advertising</a:t>
            </a:r>
            <a:endParaRPr lang="en-US" sz="1200" dirty="0"/>
          </a:p>
          <a:p>
            <a:pPr algn="l" indent="0" marL="0">
              <a:buNone/>
            </a:pPr>
            <a:r>
              <a:rPr lang="en-US" sz="1200" b="1" dirty="0">
                <a:solidFill>
                  <a:schemeClr val="accent1"/>
                </a:solidFill>
              </a:rPr>
              <a:t>3PL: </a:t>
            </a:r>
            <a:pPr algn="l" indent="0" marL="0">
              <a:spcAft>
                <a:spcPts val="400"/>
              </a:spcAft>
              <a:buNone/>
            </a:pPr>
            <a:r>
              <a:rPr lang="en-US" sz="1200" dirty="0">
                <a:solidFill>
                  <a:schemeClr val="tx1"/>
                </a:solidFill>
              </a:rPr>
              <a:t>third party logistics warehouse</a:t>
            </a:r>
            <a:endParaRPr lang="en-US" sz="1200" dirty="0"/>
          </a:p>
          <a:p>
            <a:pPr algn="l" indent="0" marL="0">
              <a:buNone/>
            </a:pPr>
            <a:r>
              <a:rPr lang="en-US" sz="1200" b="1" dirty="0">
                <a:solidFill>
                  <a:schemeClr val="accent1"/>
                </a:solidFill>
              </a:rPr>
              <a:t>HTS: </a:t>
            </a:r>
            <a:pPr algn="l" indent="0" marL="0">
              <a:spcAft>
                <a:spcPts val="400"/>
              </a:spcAft>
              <a:buNone/>
            </a:pPr>
            <a:r>
              <a:rPr lang="en-US" sz="1200" dirty="0">
                <a:solidFill>
                  <a:schemeClr val="tx1"/>
                </a:solidFill>
              </a:rPr>
              <a:t>Harmonized Tariff Schedule</a:t>
            </a:r>
            <a:endParaRPr lang="en-US" sz="1200" dirty="0"/>
          </a:p>
          <a:p>
            <a:pPr algn="l" indent="0" marL="0">
              <a:buNone/>
            </a:pPr>
            <a:r>
              <a:rPr lang="en-US" sz="1200" b="1" dirty="0">
                <a:solidFill>
                  <a:schemeClr val="accent1"/>
                </a:solidFill>
              </a:rPr>
              <a:t>CBP: </a:t>
            </a:r>
            <a:pPr algn="l" indent="0" marL="0">
              <a:spcAft>
                <a:spcPts val="400"/>
              </a:spcAft>
              <a:buNone/>
            </a:pPr>
            <a:r>
              <a:rPr lang="en-US" sz="1200" dirty="0">
                <a:solidFill>
                  <a:schemeClr val="tx1"/>
                </a:solidFill>
              </a:rPr>
              <a:t>US Customs and Border Protection</a:t>
            </a:r>
            <a:endParaRPr lang="en-US" sz="1200" dirty="0"/>
          </a:p>
          <a:p>
            <a:pPr algn="l" indent="0" marL="0">
              <a:buNone/>
            </a:pPr>
            <a:r>
              <a:rPr lang="en-US" sz="1200" b="1" dirty="0">
                <a:solidFill>
                  <a:schemeClr val="accent1"/>
                </a:solidFill>
              </a:rPr>
              <a:t>MFN: </a:t>
            </a:r>
            <a:pPr algn="l" indent="0" marL="0">
              <a:spcAft>
                <a:spcPts val="400"/>
              </a:spcAft>
              <a:buNone/>
            </a:pPr>
            <a:r>
              <a:rPr lang="en-US" sz="1200" dirty="0">
                <a:solidFill>
                  <a:schemeClr val="tx1"/>
                </a:solidFill>
              </a:rPr>
              <a:t>most favored nation duty rate</a:t>
            </a:r>
            <a:endParaRPr lang="en-US" sz="1200" dirty="0"/>
          </a:p>
        </p:txBody>
      </p:sp>
      <p:sp>
        <p:nvSpPr>
          <p:cNvPr id="6" name="card"/>
          <p:cNvSpPr/>
          <p:nvPr/>
        </p:nvSpPr>
        <p:spPr>
          <a:xfrm>
            <a:off x="4307738" y="1143000"/>
            <a:ext cx="3576218" cy="5120640"/>
          </a:xfrm>
          <a:prstGeom prst="roundRect">
            <a:avLst>
              <a:gd name="adj" fmla="val 3068"/>
            </a:avLst>
          </a:prstGeom>
          <a:solidFill>
            <a:schemeClr val="bg2"/>
          </a:solidFill>
          <a:ln w="12700">
            <a:solidFill>
              <a:srgbClr val="141C36"/>
            </a:solidFill>
            <a:prstDash val="solid"/>
          </a:ln>
        </p:spPr>
      </p:sp>
      <p:sp>
        <p:nvSpPr>
          <p:cNvPr id="7" name="Text 4"/>
          <p:cNvSpPr txBox="1"/>
          <p:nvPr/>
        </p:nvSpPr>
        <p:spPr>
          <a:xfrm>
            <a:off x="4490618" y="1280160"/>
            <a:ext cx="3210458" cy="4846320"/>
          </a:xfrm>
          <a:prstGeom prst="rect">
            <a:avLst/>
          </a:prstGeom>
          <a:noFill/>
          <a:ln/>
        </p:spPr>
        <p:txBody>
          <a:bodyPr wrap="square" lIns="0" tIns="0" rIns="0" bIns="0" rtlCol="0" anchor="t"/>
          <a:lstStyle/>
          <a:p>
            <a:pPr algn="l" indent="0" marL="0">
              <a:buNone/>
            </a:pPr>
            <a:r>
              <a:rPr lang="en-US" sz="1200" b="1" dirty="0">
                <a:solidFill>
                  <a:schemeClr val="accent1"/>
                </a:solidFill>
              </a:rPr>
              <a:t>Section 301: </a:t>
            </a:r>
            <a:pPr algn="l" indent="0" marL="0">
              <a:spcAft>
                <a:spcPts val="400"/>
              </a:spcAft>
              <a:buNone/>
            </a:pPr>
            <a:r>
              <a:rPr lang="en-US" sz="1200" dirty="0">
                <a:solidFill>
                  <a:schemeClr val="tx1"/>
                </a:solidFill>
              </a:rPr>
              <a:t>US trade law tariffs on China origin goods</a:t>
            </a:r>
            <a:endParaRPr lang="en-US" sz="1200" dirty="0"/>
          </a:p>
          <a:p>
            <a:pPr algn="l" indent="0" marL="0">
              <a:buNone/>
            </a:pPr>
            <a:r>
              <a:rPr lang="en-US" sz="1200" b="1" dirty="0">
                <a:solidFill>
                  <a:schemeClr val="accent1"/>
                </a:solidFill>
              </a:rPr>
              <a:t>IEEPA: </a:t>
            </a:r>
            <a:pPr algn="l" indent="0" marL="0">
              <a:spcAft>
                <a:spcPts val="400"/>
              </a:spcAft>
              <a:buNone/>
            </a:pPr>
            <a:r>
              <a:rPr lang="en-US" sz="1200" dirty="0">
                <a:solidFill>
                  <a:schemeClr val="tx1"/>
                </a:solidFill>
              </a:rPr>
              <a:t>International Emergency Economic Powers Act</a:t>
            </a:r>
            <a:endParaRPr lang="en-US" sz="1200" dirty="0"/>
          </a:p>
          <a:p>
            <a:pPr algn="l" indent="0" marL="0">
              <a:buNone/>
            </a:pPr>
            <a:r>
              <a:rPr lang="en-US" sz="1200" b="1" dirty="0">
                <a:solidFill>
                  <a:schemeClr val="accent1"/>
                </a:solidFill>
              </a:rPr>
              <a:t>EIN: </a:t>
            </a:r>
            <a:pPr algn="l" indent="0" marL="0">
              <a:spcAft>
                <a:spcPts val="400"/>
              </a:spcAft>
              <a:buNone/>
            </a:pPr>
            <a:r>
              <a:rPr lang="en-US" sz="1200" dirty="0">
                <a:solidFill>
                  <a:schemeClr val="tx1"/>
                </a:solidFill>
              </a:rPr>
              <a:t>Employer Identification Number</a:t>
            </a:r>
            <a:endParaRPr lang="en-US" sz="1200" dirty="0"/>
          </a:p>
          <a:p>
            <a:pPr algn="l" indent="0" marL="0">
              <a:buNone/>
            </a:pPr>
            <a:r>
              <a:rPr lang="en-US" sz="1200" b="1" dirty="0">
                <a:solidFill>
                  <a:schemeClr val="accent1"/>
                </a:solidFill>
              </a:rPr>
              <a:t>LLC: </a:t>
            </a:r>
            <a:pPr algn="l" indent="0" marL="0">
              <a:spcAft>
                <a:spcPts val="400"/>
              </a:spcAft>
              <a:buNone/>
            </a:pPr>
            <a:r>
              <a:rPr lang="en-US" sz="1200" dirty="0">
                <a:solidFill>
                  <a:schemeClr val="tx1"/>
                </a:solidFill>
              </a:rPr>
              <a:t>limited liability company</a:t>
            </a:r>
            <a:endParaRPr lang="en-US" sz="1200" dirty="0"/>
          </a:p>
          <a:p>
            <a:pPr algn="l" indent="0" marL="0">
              <a:buNone/>
            </a:pPr>
            <a:r>
              <a:rPr lang="en-US" sz="1200" b="1" dirty="0">
                <a:solidFill>
                  <a:schemeClr val="accent1"/>
                </a:solidFill>
              </a:rPr>
              <a:t>IRS: </a:t>
            </a:r>
            <a:pPr algn="l" indent="0" marL="0">
              <a:spcAft>
                <a:spcPts val="400"/>
              </a:spcAft>
              <a:buNone/>
            </a:pPr>
            <a:r>
              <a:rPr lang="en-US" sz="1200" dirty="0">
                <a:solidFill>
                  <a:schemeClr val="tx1"/>
                </a:solidFill>
              </a:rPr>
              <a:t>Internal Revenue Service</a:t>
            </a:r>
            <a:endParaRPr lang="en-US" sz="1200" dirty="0"/>
          </a:p>
          <a:p>
            <a:pPr algn="l" indent="0" marL="0">
              <a:buNone/>
            </a:pPr>
            <a:r>
              <a:rPr lang="en-US" sz="1200" b="1" dirty="0">
                <a:solidFill>
                  <a:schemeClr val="accent1"/>
                </a:solidFill>
              </a:rPr>
              <a:t>PE: </a:t>
            </a:r>
            <a:pPr algn="l" indent="0" marL="0">
              <a:spcAft>
                <a:spcPts val="400"/>
              </a:spcAft>
              <a:buNone/>
            </a:pPr>
            <a:r>
              <a:rPr lang="en-US" sz="1200" dirty="0">
                <a:solidFill>
                  <a:schemeClr val="tx1"/>
                </a:solidFill>
              </a:rPr>
              <a:t>permanent establishment</a:t>
            </a:r>
            <a:endParaRPr lang="en-US" sz="1200" dirty="0"/>
          </a:p>
          <a:p>
            <a:pPr algn="l" indent="0" marL="0">
              <a:buNone/>
            </a:pPr>
            <a:r>
              <a:rPr lang="en-US" sz="1200" b="1" dirty="0">
                <a:solidFill>
                  <a:schemeClr val="accent1"/>
                </a:solidFill>
              </a:rPr>
              <a:t>ODI: </a:t>
            </a:r>
            <a:pPr algn="l" indent="0" marL="0">
              <a:spcAft>
                <a:spcPts val="400"/>
              </a:spcAft>
              <a:buNone/>
            </a:pPr>
            <a:r>
              <a:rPr lang="en-US" sz="1200" dirty="0">
                <a:solidFill>
                  <a:schemeClr val="tx1"/>
                </a:solidFill>
              </a:rPr>
              <a:t>overseas direct investment report, in Korean </a:t>
            </a:r>
            <a:pPr algn="l" indent="0" marL="0">
              <a:spcAft>
                <a:spcPts val="400"/>
              </a:spcAft>
              <a:buNone/>
            </a:pPr>
            <a:r>
              <a:rPr lang="en-US" sz="1200" dirty="0">
                <a:solidFill>
                  <a:schemeClr val="tx1"/>
                </a:solidFill>
                <a:latin typeface="Noto Sans KR" pitchFamily="34" charset="0"/>
                <a:ea typeface="Noto Sans KR" pitchFamily="34" charset="-122"/>
                <a:cs typeface="Noto Sans KR" pitchFamily="34" charset="-120"/>
              </a:rPr>
              <a:t>해외직접투자</a:t>
            </a:r>
            <a:pPr algn="l" indent="0" marL="0">
              <a:spcAft>
                <a:spcPts val="400"/>
              </a:spcAft>
              <a:buNone/>
            </a:pPr>
            <a:r>
              <a:rPr lang="en-US" sz="1200" dirty="0">
                <a:solidFill>
                  <a:schemeClr val="tx1"/>
                </a:solidFill>
              </a:rPr>
              <a:t> </a:t>
            </a:r>
            <a:pPr algn="l" indent="0" marL="0">
              <a:spcAft>
                <a:spcPts val="400"/>
              </a:spcAft>
              <a:buNone/>
            </a:pPr>
            <a:r>
              <a:rPr lang="en-US" sz="1200" dirty="0">
                <a:solidFill>
                  <a:schemeClr val="tx1"/>
                </a:solidFill>
                <a:latin typeface="Noto Sans KR" pitchFamily="34" charset="0"/>
                <a:ea typeface="Noto Sans KR" pitchFamily="34" charset="-122"/>
                <a:cs typeface="Noto Sans KR" pitchFamily="34" charset="-120"/>
              </a:rPr>
              <a:t>신고</a:t>
            </a:r>
            <a:endParaRPr lang="en-US" sz="1200" dirty="0"/>
          </a:p>
          <a:p>
            <a:pPr algn="l" indent="0" marL="0">
              <a:buNone/>
            </a:pPr>
            <a:r>
              <a:rPr lang="en-US" sz="1200" b="1" dirty="0">
                <a:solidFill>
                  <a:schemeClr val="accent1"/>
                </a:solidFill>
              </a:rPr>
              <a:t>Tax accountant: </a:t>
            </a:r>
            <a:pPr algn="l" indent="0" marL="0">
              <a:spcAft>
                <a:spcPts val="400"/>
              </a:spcAft>
              <a:buNone/>
            </a:pPr>
            <a:r>
              <a:rPr lang="en-US" sz="1200" dirty="0">
                <a:solidFill>
                  <a:schemeClr val="tx1"/>
                </a:solidFill>
              </a:rPr>
              <a:t>Korean licensed tax accountant, in Korean </a:t>
            </a:r>
            <a:pPr algn="l" indent="0" marL="0">
              <a:spcAft>
                <a:spcPts val="400"/>
              </a:spcAft>
              <a:buNone/>
            </a:pPr>
            <a:r>
              <a:rPr lang="en-US" sz="1200" dirty="0">
                <a:solidFill>
                  <a:schemeClr val="tx1"/>
                </a:solidFill>
                <a:latin typeface="Noto Sans KR" pitchFamily="34" charset="0"/>
                <a:ea typeface="Noto Sans KR" pitchFamily="34" charset="-122"/>
                <a:cs typeface="Noto Sans KR" pitchFamily="34" charset="-120"/>
              </a:rPr>
              <a:t>세무사</a:t>
            </a:r>
            <a:endParaRPr lang="en-US" sz="1200" dirty="0"/>
          </a:p>
          <a:p>
            <a:pPr algn="l" indent="0" marL="0">
              <a:buNone/>
            </a:pPr>
            <a:r>
              <a:rPr lang="en-US" sz="1200" b="1" dirty="0">
                <a:solidFill>
                  <a:schemeClr val="accent1"/>
                </a:solidFill>
              </a:rPr>
              <a:t>FTA: </a:t>
            </a:r>
            <a:pPr algn="l" indent="0" marL="0">
              <a:spcAft>
                <a:spcPts val="400"/>
              </a:spcAft>
              <a:buNone/>
            </a:pPr>
            <a:r>
              <a:rPr lang="en-US" sz="1200" dirty="0">
                <a:solidFill>
                  <a:schemeClr val="tx1"/>
                </a:solidFill>
              </a:rPr>
              <a:t>Foreign Exchange Transactions Act, in Korean </a:t>
            </a:r>
            <a:pPr algn="l" indent="0" marL="0">
              <a:spcAft>
                <a:spcPts val="400"/>
              </a:spcAft>
              <a:buNone/>
            </a:pPr>
            <a:r>
              <a:rPr lang="en-US" sz="1200" dirty="0">
                <a:solidFill>
                  <a:schemeClr val="tx1"/>
                </a:solidFill>
                <a:latin typeface="Noto Sans KR" pitchFamily="34" charset="0"/>
                <a:ea typeface="Noto Sans KR" pitchFamily="34" charset="-122"/>
                <a:cs typeface="Noto Sans KR" pitchFamily="34" charset="-120"/>
              </a:rPr>
              <a:t>외국환거래법</a:t>
            </a:r>
            <a:endParaRPr lang="en-US" sz="1200" dirty="0"/>
          </a:p>
          <a:p>
            <a:pPr algn="l" indent="0" marL="0">
              <a:buNone/>
            </a:pPr>
            <a:r>
              <a:rPr lang="en-US" sz="1200" b="1" dirty="0">
                <a:solidFill>
                  <a:schemeClr val="accent1"/>
                </a:solidFill>
              </a:rPr>
              <a:t>USPTO: </a:t>
            </a:r>
            <a:pPr algn="l" indent="0" marL="0">
              <a:spcAft>
                <a:spcPts val="400"/>
              </a:spcAft>
              <a:buNone/>
            </a:pPr>
            <a:r>
              <a:rPr lang="en-US" sz="1200" dirty="0">
                <a:solidFill>
                  <a:schemeClr val="tx1"/>
                </a:solidFill>
              </a:rPr>
              <a:t>United States Patent and Trademark Office</a:t>
            </a:r>
            <a:endParaRPr lang="en-US" sz="1200" dirty="0"/>
          </a:p>
          <a:p>
            <a:pPr algn="l" indent="0" marL="0">
              <a:buNone/>
            </a:pPr>
            <a:r>
              <a:rPr lang="en-US" sz="1200" b="1" dirty="0">
                <a:solidFill>
                  <a:schemeClr val="accent1"/>
                </a:solidFill>
              </a:rPr>
              <a:t>ATC: </a:t>
            </a:r>
            <a:pPr algn="l" indent="0" marL="0">
              <a:spcAft>
                <a:spcPts val="400"/>
              </a:spcAft>
              <a:buNone/>
            </a:pPr>
            <a:r>
              <a:rPr lang="en-US" sz="1200" dirty="0">
                <a:solidFill>
                  <a:schemeClr val="tx1"/>
                </a:solidFill>
              </a:rPr>
              <a:t>HDMI Authorized Test Center</a:t>
            </a:r>
            <a:endParaRPr lang="en-US" sz="1200" dirty="0"/>
          </a:p>
          <a:p>
            <a:pPr algn="l" indent="0" marL="0">
              <a:buNone/>
            </a:pPr>
            <a:r>
              <a:rPr lang="en-US" sz="1200" b="1" dirty="0">
                <a:solidFill>
                  <a:schemeClr val="accent1"/>
                </a:solidFill>
              </a:rPr>
              <a:t>HDMI LA: </a:t>
            </a:r>
            <a:pPr algn="l" indent="0" marL="0">
              <a:spcAft>
                <a:spcPts val="400"/>
              </a:spcAft>
              <a:buNone/>
            </a:pPr>
            <a:r>
              <a:rPr lang="en-US" sz="1200" dirty="0">
                <a:solidFill>
                  <a:schemeClr val="tx1"/>
                </a:solidFill>
              </a:rPr>
              <a:t>HDMI Licensing Administrator</a:t>
            </a:r>
            <a:endParaRPr lang="en-US" sz="1200" dirty="0"/>
          </a:p>
          <a:p>
            <a:pPr algn="l" indent="0" marL="0">
              <a:buNone/>
            </a:pPr>
            <a:r>
              <a:rPr lang="en-US" sz="1200" b="1" dirty="0">
                <a:solidFill>
                  <a:schemeClr val="accent1"/>
                </a:solidFill>
              </a:rPr>
              <a:t>FCC: </a:t>
            </a:r>
            <a:pPr algn="l" indent="0" marL="0">
              <a:spcAft>
                <a:spcPts val="400"/>
              </a:spcAft>
              <a:buNone/>
            </a:pPr>
            <a:r>
              <a:rPr lang="en-US" sz="1200" dirty="0">
                <a:solidFill>
                  <a:schemeClr val="tx1"/>
                </a:solidFill>
              </a:rPr>
              <a:t>Federal Communications Commission</a:t>
            </a:r>
            <a:endParaRPr lang="en-US" sz="1200" dirty="0"/>
          </a:p>
          <a:p>
            <a:pPr algn="l" indent="0" marL="0">
              <a:buNone/>
            </a:pPr>
            <a:r>
              <a:rPr lang="en-US" sz="1200" b="1" dirty="0">
                <a:solidFill>
                  <a:schemeClr val="accent1"/>
                </a:solidFill>
              </a:rPr>
              <a:t>Prop 65: </a:t>
            </a:r>
            <a:pPr algn="l" indent="0" marL="0">
              <a:spcAft>
                <a:spcPts val="400"/>
              </a:spcAft>
              <a:buNone/>
            </a:pPr>
            <a:r>
              <a:rPr lang="en-US" sz="1200" dirty="0">
                <a:solidFill>
                  <a:schemeClr val="tx1"/>
                </a:solidFill>
              </a:rPr>
              <a:t>California Proposition 65 warning label</a:t>
            </a:r>
            <a:endParaRPr lang="en-US" sz="1200" dirty="0"/>
          </a:p>
          <a:p>
            <a:pPr algn="l" indent="0" marL="0">
              <a:buNone/>
            </a:pPr>
            <a:r>
              <a:rPr lang="en-US" sz="1200" b="1" dirty="0">
                <a:solidFill>
                  <a:schemeClr val="accent1"/>
                </a:solidFill>
              </a:rPr>
              <a:t>CL3: </a:t>
            </a:r>
            <a:pPr algn="l" indent="0" marL="0">
              <a:spcAft>
                <a:spcPts val="400"/>
              </a:spcAft>
              <a:buNone/>
            </a:pPr>
            <a:r>
              <a:rPr lang="en-US" sz="1200" dirty="0">
                <a:solidFill>
                  <a:schemeClr val="tx1"/>
                </a:solidFill>
              </a:rPr>
              <a:t>in wall cable fire rating (Class 3)</a:t>
            </a:r>
            <a:endParaRPr lang="en-US" sz="1200" dirty="0"/>
          </a:p>
        </p:txBody>
      </p:sp>
      <p:sp>
        <p:nvSpPr>
          <p:cNvPr id="8" name="card"/>
          <p:cNvSpPr/>
          <p:nvPr/>
        </p:nvSpPr>
        <p:spPr>
          <a:xfrm>
            <a:off x="8158277" y="1143000"/>
            <a:ext cx="3576218" cy="5120640"/>
          </a:xfrm>
          <a:prstGeom prst="roundRect">
            <a:avLst>
              <a:gd name="adj" fmla="val 3068"/>
            </a:avLst>
          </a:prstGeom>
          <a:solidFill>
            <a:schemeClr val="bg2"/>
          </a:solidFill>
          <a:ln w="12700">
            <a:solidFill>
              <a:srgbClr val="141C36"/>
            </a:solidFill>
            <a:prstDash val="solid"/>
          </a:ln>
        </p:spPr>
      </p:sp>
      <p:sp>
        <p:nvSpPr>
          <p:cNvPr id="9" name="Text 6"/>
          <p:cNvSpPr txBox="1"/>
          <p:nvPr/>
        </p:nvSpPr>
        <p:spPr>
          <a:xfrm>
            <a:off x="8341157" y="1280160"/>
            <a:ext cx="3210458" cy="4846320"/>
          </a:xfrm>
          <a:prstGeom prst="rect">
            <a:avLst/>
          </a:prstGeom>
          <a:noFill/>
          <a:ln/>
        </p:spPr>
        <p:txBody>
          <a:bodyPr wrap="square" lIns="0" tIns="0" rIns="0" bIns="0" rtlCol="0" anchor="t"/>
          <a:lstStyle/>
          <a:p>
            <a:pPr algn="l" indent="0" marL="0">
              <a:buNone/>
            </a:pPr>
            <a:r>
              <a:rPr lang="en-US" sz="1200" b="1" dirty="0">
                <a:solidFill>
                  <a:schemeClr val="accent1"/>
                </a:solidFill>
              </a:rPr>
              <a:t>KVM: </a:t>
            </a:r>
            <a:pPr algn="l" indent="0" marL="0">
              <a:spcAft>
                <a:spcPts val="400"/>
              </a:spcAft>
              <a:buNone/>
            </a:pPr>
            <a:r>
              <a:rPr lang="en-US" sz="1200" dirty="0">
                <a:solidFill>
                  <a:schemeClr val="tx1"/>
                </a:solidFill>
              </a:rPr>
              <a:t>keyboard, video and mouse extension</a:t>
            </a:r>
            <a:endParaRPr lang="en-US" sz="1200" dirty="0"/>
          </a:p>
          <a:p>
            <a:pPr algn="l" indent="0" marL="0">
              <a:buNone/>
            </a:pPr>
            <a:r>
              <a:rPr lang="en-US" sz="1200" b="1" dirty="0">
                <a:solidFill>
                  <a:schemeClr val="accent1"/>
                </a:solidFill>
              </a:rPr>
              <a:t>DTC: </a:t>
            </a:r>
            <a:pPr algn="l" indent="0" marL="0">
              <a:spcAft>
                <a:spcPts val="400"/>
              </a:spcAft>
              <a:buNone/>
            </a:pPr>
            <a:r>
              <a:rPr lang="en-US" sz="1200" dirty="0">
                <a:solidFill>
                  <a:schemeClr val="tx1"/>
                </a:solidFill>
              </a:rPr>
              <a:t>direct to consumer website</a:t>
            </a:r>
            <a:endParaRPr lang="en-US" sz="1200" dirty="0"/>
          </a:p>
          <a:p>
            <a:pPr algn="l" indent="0" marL="0">
              <a:buNone/>
            </a:pPr>
            <a:r>
              <a:rPr lang="en-US" sz="1200" b="1" dirty="0">
                <a:solidFill>
                  <a:schemeClr val="accent1"/>
                </a:solidFill>
              </a:rPr>
              <a:t>LOC: </a:t>
            </a:r>
            <a:pPr algn="l" indent="0" marL="0">
              <a:spcAft>
                <a:spcPts val="400"/>
              </a:spcAft>
              <a:buNone/>
            </a:pPr>
            <a:r>
              <a:rPr lang="en-US" sz="1200" dirty="0">
                <a:solidFill>
                  <a:schemeClr val="tx1"/>
                </a:solidFill>
              </a:rPr>
              <a:t>line of credit</a:t>
            </a:r>
            <a:endParaRPr lang="en-US" sz="1200" dirty="0"/>
          </a:p>
          <a:p>
            <a:pPr algn="l" indent="0" marL="0">
              <a:buNone/>
            </a:pPr>
            <a:r>
              <a:rPr lang="en-US" sz="1200" b="1" dirty="0">
                <a:solidFill>
                  <a:schemeClr val="accent1"/>
                </a:solidFill>
              </a:rPr>
              <a:t>QC: </a:t>
            </a:r>
            <a:pPr algn="l" indent="0" marL="0">
              <a:spcAft>
                <a:spcPts val="400"/>
              </a:spcAft>
              <a:buNone/>
            </a:pPr>
            <a:r>
              <a:rPr lang="en-US" sz="1200" dirty="0">
                <a:solidFill>
                  <a:schemeClr val="tx1"/>
                </a:solidFill>
              </a:rPr>
              <a:t>quality control</a:t>
            </a:r>
            <a:endParaRPr lang="en-US" sz="1200" dirty="0"/>
          </a:p>
          <a:p>
            <a:pPr algn="l" indent="0" marL="0">
              <a:buNone/>
            </a:pPr>
            <a:r>
              <a:rPr lang="en-US" sz="1200" b="1" dirty="0">
                <a:solidFill>
                  <a:schemeClr val="accent1"/>
                </a:solidFill>
              </a:rPr>
              <a:t>PO: </a:t>
            </a:r>
            <a:pPr algn="l" indent="0" marL="0">
              <a:spcAft>
                <a:spcPts val="400"/>
              </a:spcAft>
              <a:buNone/>
            </a:pPr>
            <a:r>
              <a:rPr lang="en-US" sz="1200" dirty="0">
                <a:solidFill>
                  <a:schemeClr val="tx1"/>
                </a:solidFill>
              </a:rPr>
              <a:t>purchase order</a:t>
            </a:r>
            <a:endParaRPr lang="en-US" sz="1200" dirty="0"/>
          </a:p>
          <a:p>
            <a:pPr algn="l" indent="0" marL="0">
              <a:buNone/>
            </a:pPr>
            <a:r>
              <a:rPr lang="en-US" sz="1200" b="1" dirty="0">
                <a:solidFill>
                  <a:schemeClr val="accent1"/>
                </a:solidFill>
              </a:rPr>
              <a:t>SKU: </a:t>
            </a:r>
            <a:pPr algn="l" indent="0" marL="0">
              <a:spcAft>
                <a:spcPts val="400"/>
              </a:spcAft>
              <a:buNone/>
            </a:pPr>
            <a:r>
              <a:rPr lang="en-US" sz="1200" dirty="0">
                <a:solidFill>
                  <a:schemeClr val="tx1"/>
                </a:solidFill>
              </a:rPr>
              <a:t>stock keeping unit</a:t>
            </a:r>
            <a:endParaRPr lang="en-US" sz="1200" dirty="0"/>
          </a:p>
          <a:p>
            <a:pPr algn="l" indent="0" marL="0">
              <a:buNone/>
            </a:pPr>
            <a:r>
              <a:rPr lang="en-US" sz="1200" b="1" dirty="0">
                <a:solidFill>
                  <a:schemeClr val="accent1"/>
                </a:solidFill>
              </a:rPr>
              <a:t>KPI: </a:t>
            </a:r>
            <a:pPr algn="l" indent="0" marL="0">
              <a:spcAft>
                <a:spcPts val="400"/>
              </a:spcAft>
              <a:buNone/>
            </a:pPr>
            <a:r>
              <a:rPr lang="en-US" sz="1200" dirty="0">
                <a:solidFill>
                  <a:schemeClr val="tx1"/>
                </a:solidFill>
              </a:rPr>
              <a:t>key performance indicator</a:t>
            </a:r>
            <a:endParaRPr lang="en-US" sz="1200" dirty="0"/>
          </a:p>
          <a:p>
            <a:pPr algn="l" indent="0" marL="0">
              <a:buNone/>
            </a:pPr>
            <a:r>
              <a:rPr lang="en-US" sz="1200" b="1" dirty="0">
                <a:solidFill>
                  <a:schemeClr val="accent1"/>
                </a:solidFill>
              </a:rPr>
              <a:t>SOP: </a:t>
            </a:r>
            <a:pPr algn="l" indent="0" marL="0">
              <a:spcAft>
                <a:spcPts val="400"/>
              </a:spcAft>
              <a:buNone/>
            </a:pPr>
            <a:r>
              <a:rPr lang="en-US" sz="1200" dirty="0">
                <a:solidFill>
                  <a:schemeClr val="tx1"/>
                </a:solidFill>
              </a:rPr>
              <a:t>standard operating procedure</a:t>
            </a:r>
            <a:endParaRPr lang="en-US" sz="1200" dirty="0"/>
          </a:p>
          <a:p>
            <a:pPr algn="l" indent="0" marL="0">
              <a:buNone/>
            </a:pPr>
            <a:r>
              <a:rPr lang="en-US" sz="1200" b="1" dirty="0">
                <a:solidFill>
                  <a:schemeClr val="accent1"/>
                </a:solidFill>
              </a:rPr>
              <a:t>VA: </a:t>
            </a:r>
            <a:pPr algn="l" indent="0" marL="0">
              <a:spcAft>
                <a:spcPts val="400"/>
              </a:spcAft>
              <a:buNone/>
            </a:pPr>
            <a:r>
              <a:rPr lang="en-US" sz="1200" dirty="0">
                <a:solidFill>
                  <a:schemeClr val="tx1"/>
                </a:solidFill>
              </a:rPr>
              <a:t>virtual assistant</a:t>
            </a:r>
            <a:endParaRPr lang="en-US" sz="1200" dirty="0"/>
          </a:p>
          <a:p>
            <a:pPr algn="l" indent="0" marL="0">
              <a:buNone/>
            </a:pPr>
            <a:r>
              <a:rPr lang="en-US" sz="1200" b="1" dirty="0">
                <a:solidFill>
                  <a:schemeClr val="accent1"/>
                </a:solidFill>
              </a:rPr>
              <a:t>eARC: </a:t>
            </a:r>
            <a:pPr algn="l" indent="0" marL="0">
              <a:spcAft>
                <a:spcPts val="400"/>
              </a:spcAft>
              <a:buNone/>
            </a:pPr>
            <a:r>
              <a:rPr lang="en-US" sz="1200" dirty="0">
                <a:solidFill>
                  <a:schemeClr val="tx1"/>
                </a:solidFill>
              </a:rPr>
              <a:t>enhanced audio return channel</a:t>
            </a:r>
            <a:endParaRPr lang="en-US" sz="1200" dirty="0"/>
          </a:p>
          <a:p>
            <a:pPr algn="l" indent="0" marL="0">
              <a:buNone/>
            </a:pPr>
            <a:r>
              <a:rPr lang="en-US" sz="1200" b="1" dirty="0">
                <a:solidFill>
                  <a:schemeClr val="accent1"/>
                </a:solidFill>
              </a:rPr>
              <a:t>Gbps: </a:t>
            </a:r>
            <a:pPr algn="l" indent="0" marL="0">
              <a:spcAft>
                <a:spcPts val="400"/>
              </a:spcAft>
              <a:buNone/>
            </a:pPr>
            <a:r>
              <a:rPr lang="en-US" sz="1200" dirty="0">
                <a:solidFill>
                  <a:schemeClr val="tx1"/>
                </a:solidFill>
              </a:rPr>
              <a:t>gigabits per second</a:t>
            </a:r>
            <a:endParaRPr lang="en-US" sz="1200" dirty="0"/>
          </a:p>
          <a:p>
            <a:pPr algn="l" indent="0" marL="0">
              <a:buNone/>
            </a:pPr>
            <a:r>
              <a:rPr lang="en-US" sz="1200" b="1" dirty="0">
                <a:solidFill>
                  <a:schemeClr val="accent1"/>
                </a:solidFill>
              </a:rPr>
              <a:t>B2B: </a:t>
            </a:r>
            <a:pPr algn="l" indent="0" marL="0">
              <a:spcAft>
                <a:spcPts val="400"/>
              </a:spcAft>
              <a:buNone/>
            </a:pPr>
            <a:r>
              <a:rPr lang="en-US" sz="1200" dirty="0">
                <a:solidFill>
                  <a:schemeClr val="tx1"/>
                </a:solidFill>
              </a:rPr>
              <a:t>business to business</a:t>
            </a:r>
            <a:endParaRPr lang="en-US" sz="1200" dirty="0"/>
          </a:p>
          <a:p>
            <a:pPr algn="l" indent="0" marL="0">
              <a:buNone/>
            </a:pPr>
            <a:r>
              <a:rPr lang="en-US" sz="1200" b="1" dirty="0">
                <a:solidFill>
                  <a:schemeClr val="accent1"/>
                </a:solidFill>
              </a:rPr>
              <a:t>IP: </a:t>
            </a:r>
            <a:pPr algn="l" indent="0" marL="0">
              <a:spcAft>
                <a:spcPts val="400"/>
              </a:spcAft>
              <a:buNone/>
            </a:pPr>
            <a:r>
              <a:rPr lang="en-US" sz="1200" dirty="0">
                <a:solidFill>
                  <a:schemeClr val="tx1"/>
                </a:solidFill>
              </a:rPr>
              <a:t>intellectual property</a:t>
            </a:r>
            <a:endParaRPr lang="en-US" sz="1200" dirty="0"/>
          </a:p>
          <a:p>
            <a:pPr algn="l" indent="0" marL="0">
              <a:buNone/>
            </a:pPr>
            <a:r>
              <a:rPr lang="en-US" sz="1200" b="1" dirty="0">
                <a:solidFill>
                  <a:schemeClr val="accent1"/>
                </a:solidFill>
              </a:rPr>
              <a:t>BOI: </a:t>
            </a:r>
            <a:pPr algn="l" indent="0" marL="0">
              <a:spcAft>
                <a:spcPts val="400"/>
              </a:spcAft>
              <a:buNone/>
            </a:pPr>
            <a:r>
              <a:rPr lang="en-US" sz="1200" dirty="0">
                <a:solidFill>
                  <a:schemeClr val="tx1"/>
                </a:solidFill>
              </a:rPr>
              <a:t>beneficial ownership information report</a:t>
            </a:r>
            <a:endParaRPr lang="en-US" sz="1200" dirty="0"/>
          </a:p>
          <a:p>
            <a:pPr algn="l" indent="0" marL="0">
              <a:buNone/>
            </a:pPr>
            <a:r>
              <a:rPr lang="en-US" sz="1200" b="1" dirty="0">
                <a:solidFill>
                  <a:schemeClr val="accent1"/>
                </a:solidFill>
              </a:rPr>
              <a:t>AV: </a:t>
            </a:r>
            <a:pPr algn="l" indent="0" marL="0">
              <a:spcAft>
                <a:spcPts val="400"/>
              </a:spcAft>
              <a:buNone/>
            </a:pPr>
            <a:r>
              <a:rPr lang="en-US" sz="1200" dirty="0">
                <a:solidFill>
                  <a:schemeClr val="tx1"/>
                </a:solidFill>
              </a:rPr>
              <a:t>audio video</a:t>
            </a:r>
            <a:endParaRPr lang="en-US" sz="1200" dirty="0"/>
          </a:p>
          <a:p>
            <a:pPr algn="l" indent="0" marL="0">
              <a:buNone/>
            </a:pPr>
            <a:r>
              <a:rPr lang="en-US" sz="1200" b="1" dirty="0">
                <a:solidFill>
                  <a:schemeClr val="accent1"/>
                </a:solidFill>
              </a:rPr>
              <a:t>DP: </a:t>
            </a:r>
            <a:pPr algn="l" indent="0" marL="0">
              <a:spcAft>
                <a:spcPts val="400"/>
              </a:spcAft>
              <a:buNone/>
            </a:pPr>
            <a:r>
              <a:rPr lang="en-US" sz="1200" dirty="0">
                <a:solidFill>
                  <a:schemeClr val="tx1"/>
                </a:solidFill>
              </a:rPr>
              <a:t>DisplayPort</a:t>
            </a:r>
            <a:endParaRPr lang="en-US" sz="1200" dirty="0"/>
          </a:p>
          <a:p>
            <a:pPr algn="l" indent="0" marL="0">
              <a:buNone/>
            </a:pPr>
            <a:r>
              <a:rPr lang="en-US" sz="1200" b="1" dirty="0">
                <a:solidFill>
                  <a:schemeClr val="accent1"/>
                </a:solidFill>
              </a:rPr>
              <a:t>SSN: </a:t>
            </a:r>
            <a:pPr algn="l" indent="0" marL="0">
              <a:spcAft>
                <a:spcPts val="400"/>
              </a:spcAft>
              <a:buNone/>
            </a:pPr>
            <a:r>
              <a:rPr lang="en-US" sz="1200" dirty="0">
                <a:solidFill>
                  <a:schemeClr val="tx1"/>
                </a:solidFill>
              </a:rPr>
              <a:t>Social Security Number</a:t>
            </a:r>
            <a:endParaRPr lang="en-US" sz="1200" dirty="0"/>
          </a:p>
          <a:p>
            <a:pPr algn="l" indent="0" marL="0">
              <a:buNone/>
            </a:pPr>
            <a:r>
              <a:rPr lang="en-US" sz="1200" b="1" dirty="0">
                <a:solidFill>
                  <a:schemeClr val="accent1"/>
                </a:solidFill>
              </a:rPr>
              <a:t>CPA: </a:t>
            </a:r>
            <a:pPr algn="l" indent="0" marL="0">
              <a:spcAft>
                <a:spcPts val="400"/>
              </a:spcAft>
              <a:buNone/>
            </a:pPr>
            <a:r>
              <a:rPr lang="en-US" sz="1200" dirty="0">
                <a:solidFill>
                  <a:schemeClr val="tx1"/>
                </a:solidFill>
              </a:rPr>
              <a:t>certified public accountant (US tax preparer)</a:t>
            </a:r>
            <a:endParaRPr lang="en-US" sz="1200" dirty="0"/>
          </a:p>
          <a:p>
            <a:pPr algn="l" indent="0" marL="0">
              <a:buNone/>
            </a:pPr>
            <a:r>
              <a:rPr lang="en-US" sz="1200" b="1" dirty="0">
                <a:solidFill>
                  <a:schemeClr val="accent1"/>
                </a:solidFill>
              </a:rPr>
              <a:t>FX: </a:t>
            </a:r>
            <a:pPr algn="l" indent="0" marL="0">
              <a:spcAft>
                <a:spcPts val="400"/>
              </a:spcAft>
              <a:buNone/>
            </a:pPr>
            <a:r>
              <a:rPr lang="en-US" sz="1200" dirty="0">
                <a:solidFill>
                  <a:schemeClr val="tx1"/>
                </a:solidFill>
              </a:rPr>
              <a:t>foreign exchange rate</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5C4"/>
                </a:solidFill>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BRAND Fiber">
  <a:themeElements>
    <a:clrScheme name="BRAND Fiber">
      <a:dk1>
        <a:srgbClr val="F3F6FF"/>
      </a:dk1>
      <a:lt1>
        <a:srgbClr val="0A0F1E"/>
      </a:lt1>
      <a:dk2>
        <a:srgbClr val="9AA5C4"/>
      </a:dk2>
      <a:lt2>
        <a:srgbClr val="141C36"/>
      </a:lt2>
      <a:accent1>
        <a:srgbClr val="2DE2FF"/>
      </a:accent1>
      <a:accent2>
        <a:srgbClr val="8B5CF6"/>
      </a:accent2>
      <a:accent3>
        <a:srgbClr val="FF4FD8"/>
      </a:accent3>
      <a:accent4>
        <a:srgbClr val="3DDC97"/>
      </a:accent4>
      <a:accent5>
        <a:srgbClr val="FFB547"/>
      </a:accent5>
      <a:accent6>
        <a:srgbClr val="4F7CFF"/>
      </a:accent6>
      <a:hlink>
        <a:srgbClr val="2DE2FF"/>
      </a:hlink>
      <a:folHlink>
        <a:srgbClr val="8B5CF6"/>
      </a:folHlink>
    </a:clrScheme>
    <a:fontScheme name="BRAND Fib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Sell the signal, not the cable</dc:title>
  <dc:subject>BRAND US launch proposal</dc:subject>
  <dc:creator>H2 Company and BRAND LLC</dc:creator>
  <cp:lastModifiedBy>H2 Company and BRAND LLC</cp:lastModifiedBy>
  <cp:revision>1</cp:revision>
  <dcterms:created xsi:type="dcterms:W3CDTF">2026-10-08T20:28:02Z</dcterms:created>
  <dcterms:modified xsi:type="dcterms:W3CDTF">2026-10-08T20:28:02Z</dcterms:modified>
</cp:coreProperties>
</file>